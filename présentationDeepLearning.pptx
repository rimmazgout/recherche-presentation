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handoutMasterIdLst>
    <p:handoutMasterId r:id="rId77"/>
  </p:handoutMasterIdLst>
  <p:sldIdLst>
    <p:sldId id="527" r:id="rId2"/>
    <p:sldId id="285" r:id="rId3"/>
    <p:sldId id="530" r:id="rId4"/>
    <p:sldId id="458" r:id="rId5"/>
    <p:sldId id="258" r:id="rId6"/>
    <p:sldId id="259" r:id="rId7"/>
    <p:sldId id="526" r:id="rId8"/>
    <p:sldId id="528" r:id="rId9"/>
    <p:sldId id="523" r:id="rId10"/>
    <p:sldId id="264" r:id="rId11"/>
    <p:sldId id="265" r:id="rId12"/>
    <p:sldId id="271" r:id="rId13"/>
    <p:sldId id="267" r:id="rId14"/>
    <p:sldId id="273" r:id="rId15"/>
    <p:sldId id="278" r:id="rId16"/>
    <p:sldId id="276" r:id="rId17"/>
    <p:sldId id="279" r:id="rId18"/>
    <p:sldId id="280" r:id="rId19"/>
    <p:sldId id="277" r:id="rId20"/>
    <p:sldId id="274" r:id="rId21"/>
    <p:sldId id="275" r:id="rId22"/>
    <p:sldId id="282" r:id="rId23"/>
    <p:sldId id="339" r:id="rId24"/>
    <p:sldId id="283" r:id="rId25"/>
    <p:sldId id="292" r:id="rId26"/>
    <p:sldId id="525" r:id="rId27"/>
    <p:sldId id="288" r:id="rId28"/>
    <p:sldId id="284" r:id="rId29"/>
    <p:sldId id="289" r:id="rId30"/>
    <p:sldId id="291" r:id="rId31"/>
    <p:sldId id="290" r:id="rId32"/>
    <p:sldId id="302" r:id="rId33"/>
    <p:sldId id="298" r:id="rId34"/>
    <p:sldId id="306" r:id="rId35"/>
    <p:sldId id="293" r:id="rId36"/>
    <p:sldId id="294" r:id="rId37"/>
    <p:sldId id="296" r:id="rId38"/>
    <p:sldId id="303" r:id="rId39"/>
    <p:sldId id="299" r:id="rId40"/>
    <p:sldId id="524" r:id="rId41"/>
    <p:sldId id="464" r:id="rId42"/>
    <p:sldId id="531" r:id="rId43"/>
    <p:sldId id="532" r:id="rId44"/>
    <p:sldId id="533" r:id="rId45"/>
    <p:sldId id="534" r:id="rId46"/>
    <p:sldId id="535" r:id="rId47"/>
    <p:sldId id="536" r:id="rId48"/>
    <p:sldId id="537" r:id="rId49"/>
    <p:sldId id="538" r:id="rId50"/>
    <p:sldId id="539" r:id="rId51"/>
    <p:sldId id="540" r:id="rId52"/>
    <p:sldId id="541" r:id="rId53"/>
    <p:sldId id="543" r:id="rId54"/>
    <p:sldId id="544" r:id="rId55"/>
    <p:sldId id="545" r:id="rId56"/>
    <p:sldId id="546" r:id="rId57"/>
    <p:sldId id="547" r:id="rId58"/>
    <p:sldId id="548" r:id="rId59"/>
    <p:sldId id="549" r:id="rId60"/>
    <p:sldId id="550" r:id="rId61"/>
    <p:sldId id="551" r:id="rId62"/>
    <p:sldId id="552" r:id="rId63"/>
    <p:sldId id="553" r:id="rId64"/>
    <p:sldId id="554" r:id="rId65"/>
    <p:sldId id="555" r:id="rId66"/>
    <p:sldId id="556" r:id="rId67"/>
    <p:sldId id="557" r:id="rId68"/>
    <p:sldId id="558" r:id="rId69"/>
    <p:sldId id="559" r:id="rId70"/>
    <p:sldId id="560" r:id="rId71"/>
    <p:sldId id="561" r:id="rId72"/>
    <p:sldId id="562" r:id="rId73"/>
    <p:sldId id="563" r:id="rId74"/>
    <p:sldId id="469" r:id="rId75"/>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0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464"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1800" cy="458788"/>
          </a:xfrm>
          <a:prstGeom prst="rect">
            <a:avLst/>
          </a:prstGeom>
          <a:noFill/>
          <a:ln>
            <a:noFill/>
          </a:ln>
        </p:spPr>
        <p:txBody>
          <a:bodyPr vert="horz" wrap="square" lIns="91440" tIns="45720" rIns="91440" bIns="4572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Date Placeholder 2"/>
          <p:cNvSpPr txBox="1">
            <a:spLocks noGrp="1"/>
          </p:cNvSpPr>
          <p:nvPr>
            <p:ph type="dt" sz="quarter" idx="1"/>
          </p:nvPr>
        </p:nvSpPr>
        <p:spPr>
          <a:xfrm>
            <a:off x="3884613" y="0"/>
            <a:ext cx="2971800" cy="458788"/>
          </a:xfrm>
          <a:prstGeom prst="rect">
            <a:avLst/>
          </a:prstGeom>
          <a:noFill/>
          <a:ln>
            <a:noFill/>
          </a:ln>
        </p:spPr>
        <p:txBody>
          <a:bodyPr vert="horz" wrap="square" lIns="91440" tIns="45720" rIns="91440" bIns="45720" anchor="t"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fld id="{1ADFCDCD-E255-42FD-8D66-90516010A588}" type="datetime1">
              <a:rPr kumimoji="0" lang="id-ID" sz="1200" b="0" i="0" u="none" strike="noStrike" kern="1200" cap="none" spc="0" normalizeH="0" baseline="0" noProof="0" smtClean="0">
                <a:ln>
                  <a:noFill/>
                </a:ln>
                <a:solidFill>
                  <a:srgbClr val="000000"/>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p:cNvSpPr txBox="1">
            <a:spLocks noGrp="1"/>
          </p:cNvSpPr>
          <p:nvPr>
            <p:ph type="ftr" sz="quarter" idx="2"/>
          </p:nvPr>
        </p:nvSpPr>
        <p:spPr>
          <a:xfrm>
            <a:off x="0" y="8685213"/>
            <a:ext cx="2971800" cy="458788"/>
          </a:xfrm>
          <a:prstGeom prst="rect">
            <a:avLst/>
          </a:prstGeom>
          <a:noFill/>
          <a:ln>
            <a:noFill/>
          </a:ln>
        </p:spPr>
        <p:txBody>
          <a:bodyPr vert="horz" wrap="square" lIns="91440" tIns="45720" rIns="91440" bIns="45720" anchor="b"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5" name="Slide Number Placeholder 4"/>
          <p:cNvSpPr txBox="1">
            <a:spLocks noGrp="1"/>
          </p:cNvSpPr>
          <p:nvPr>
            <p:ph type="sldNum" sz="quarter" idx="3"/>
          </p:nvPr>
        </p:nvSpPr>
        <p:spPr>
          <a:xfrm>
            <a:off x="3884613" y="8685213"/>
            <a:ext cx="2971800" cy="458788"/>
          </a:xfrm>
          <a:prstGeom prst="rect">
            <a:avLst/>
          </a:prstGeom>
          <a:noFill/>
          <a:ln>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fld id="{461FB3A9-D442-4714-95AF-EBA3F09A5CCE}" type="slidenum">
              <a:rPr kumimoji="0" lang="id-ID" sz="1200" b="0" i="0" u="none" strike="noStrike" kern="1200" cap="none" spc="0" normalizeH="0" baseline="0" noProof="0" smtClean="0">
                <a:ln>
                  <a:noFill/>
                </a:ln>
                <a:solidFill>
                  <a:srgbClr val="000000"/>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1800" cy="458788"/>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defRPr lang="id-ID" sz="1200" b="0" i="0" u="none" strike="noStrike" kern="1200" cap="none" spc="0" baseline="0">
                <a:solidFill>
                  <a:srgbClr val="000000"/>
                </a:solidFill>
                <a:uFillTx/>
                <a:latin typeface="Calibri" panose="020F0502020204030204"/>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Date Placeholder 2"/>
          <p:cNvSpPr txBox="1">
            <a:spLocks noGrp="1"/>
          </p:cNvSpPr>
          <p:nvPr>
            <p:ph type="dt" idx="1"/>
          </p:nvPr>
        </p:nvSpPr>
        <p:spPr>
          <a:xfrm>
            <a:off x="3884613" y="0"/>
            <a:ext cx="2971800" cy="458788"/>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defRPr lang="id-ID" sz="1200" b="0" i="0" u="none" strike="noStrike" kern="1200" cap="none" spc="0" baseline="0">
                <a:solidFill>
                  <a:srgbClr val="000000"/>
                </a:solidFill>
                <a:uFillTx/>
                <a:latin typeface="Calibri" panose="020F0502020204030204"/>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AE8566D1-6972-42A2-B765-120C37D3C98C}" type="datetime1">
              <a:rPr kumimoji="0" lang="id-ID" sz="1200" b="0" i="0" u="none" strike="noStrike" kern="1200" cap="none" spc="0" normalizeH="0" baseline="0" noProof="0" smtClean="0">
                <a:ln>
                  <a:noFill/>
                </a:ln>
                <a:solidFill>
                  <a:srgbClr val="000000"/>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7652" name="Slide Image Placeholder 3"/>
          <p:cNvSpPr>
            <a:spLocks noGrp="1" noRot="1" noChangeAspect="1"/>
          </p:cNvSpPr>
          <p:nvPr>
            <p:ph type="sldImg" idx="2"/>
          </p:nvPr>
        </p:nvSpPr>
        <p:spPr>
          <a:xfrm>
            <a:off x="685800" y="1143000"/>
            <a:ext cx="5486400" cy="3086100"/>
          </a:xfrm>
          <a:prstGeom prst="rect">
            <a:avLst/>
          </a:prstGeom>
          <a:noFill/>
          <a:ln w="12701" cap="flat" cmpd="sng">
            <a:solidFill>
              <a:srgbClr val="000000"/>
            </a:solidFill>
            <a:prstDash val="solid"/>
            <a:miter/>
            <a:headEnd type="none" w="med" len="med"/>
            <a:tailEnd type="none" w="med" len="med"/>
          </a:ln>
        </p:spPr>
      </p:sp>
      <p:sp>
        <p:nvSpPr>
          <p:cNvPr id="5" name="Notes Placeholder 4"/>
          <p:cNvSpPr txBox="1">
            <a:spLocks noGrp="1"/>
          </p:cNvSpPr>
          <p:nvPr>
            <p:ph type="body" sz="quarter" idx="3"/>
          </p:nvPr>
        </p:nvSpPr>
        <p:spPr>
          <a:xfrm>
            <a:off x="685800" y="4400550"/>
            <a:ext cx="5486400" cy="3600450"/>
          </a:xfrm>
          <a:prstGeom prst="rect">
            <a:avLst/>
          </a:prstGeom>
          <a:noFill/>
          <a:ln>
            <a:noFill/>
          </a:ln>
        </p:spPr>
        <p:txBody>
          <a:bodyPr vert="horz" wrap="square" lIns="91440" tIns="45720" rIns="91440" bIns="4572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rgbClr val="000000"/>
                </a:solidFill>
                <a:effectLst/>
                <a:uLnTx/>
                <a:uFillTx/>
                <a:latin typeface="Calibri" panose="020F0502020204030204"/>
              </a:rPr>
              <a:t>Click to edit Master text styles</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rgbClr val="000000"/>
                </a:solidFill>
                <a:effectLst/>
                <a:uLnTx/>
                <a:uFillTx/>
                <a:latin typeface="Calibri" panose="020F0502020204030204"/>
              </a:rPr>
              <a:t>Second level</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rgbClr val="000000"/>
                </a:solidFill>
                <a:effectLst/>
                <a:uLnTx/>
                <a:uFillTx/>
                <a:latin typeface="Calibri" panose="020F0502020204030204"/>
              </a:rPr>
              <a:t>Third level</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rgbClr val="000000"/>
                </a:solidFill>
                <a:effectLst/>
                <a:uLnTx/>
                <a:uFillTx/>
                <a:latin typeface="Calibri" panose="020F0502020204030204"/>
              </a:rPr>
              <a:t>Fourth level</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rgbClr val="000000"/>
                </a:solidFill>
                <a:effectLst/>
                <a:uLnTx/>
                <a:uFillTx/>
                <a:latin typeface="Calibri" panose="020F0502020204030204"/>
              </a:rPr>
              <a:t>Fifth level</a:t>
            </a:r>
            <a:endParaRPr kumimoji="0" lang="id-ID" sz="1200" b="0" i="0" u="none" strike="noStrike" kern="1200" cap="none" spc="0" normalizeH="0" baseline="0" noProof="0">
              <a:ln>
                <a:noFill/>
              </a:ln>
              <a:solidFill>
                <a:srgbClr val="000000"/>
              </a:solidFill>
              <a:effectLst/>
              <a:uLnTx/>
              <a:uFillTx/>
              <a:latin typeface="Calibri" panose="020F0502020204030204"/>
            </a:endParaRPr>
          </a:p>
        </p:txBody>
      </p:sp>
      <p:sp>
        <p:nvSpPr>
          <p:cNvPr id="6" name="Footer Placeholder 5"/>
          <p:cNvSpPr txBox="1">
            <a:spLocks noGrp="1"/>
          </p:cNvSpPr>
          <p:nvPr>
            <p:ph type="ftr" sz="quarter" idx="4"/>
          </p:nvPr>
        </p:nvSpPr>
        <p:spPr>
          <a:xfrm>
            <a:off x="0" y="8685213"/>
            <a:ext cx="2971800" cy="458788"/>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defRPr lang="id-ID" sz="1200" b="0" i="0" u="none" strike="noStrike" kern="1200" cap="none" spc="0" baseline="0">
                <a:solidFill>
                  <a:srgbClr val="000000"/>
                </a:solidFill>
                <a:uFillTx/>
                <a:latin typeface="Calibri" panose="020F0502020204030204"/>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 name="Slide Number Placeholder 6"/>
          <p:cNvSpPr txBox="1">
            <a:spLocks noGrp="1"/>
          </p:cNvSpPr>
          <p:nvPr>
            <p:ph type="sldNum" sz="quarter" idx="5"/>
          </p:nvPr>
        </p:nvSpPr>
        <p:spPr>
          <a:xfrm>
            <a:off x="3884613" y="8685213"/>
            <a:ext cx="2971800" cy="458788"/>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defRPr lang="id-ID" sz="1200" b="0" i="0" u="none" strike="noStrike" kern="1200" cap="none" spc="0" baseline="0">
                <a:solidFill>
                  <a:srgbClr val="000000"/>
                </a:solidFill>
                <a:uFillTx/>
                <a:latin typeface="Calibri" panose="020F0502020204030204"/>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440A455-1EBF-4AD6-AD46-2C2AD893F468}" type="slidenum">
              <a:rPr kumimoji="0" lang="id-ID" sz="1200" b="0" i="0" u="none" strike="noStrike" kern="1200" cap="none" spc="0" normalizeH="0" baseline="0" noProof="0" smtClean="0">
                <a:ln>
                  <a:noFill/>
                </a:ln>
                <a:solidFill>
                  <a:srgbClr val="000000"/>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marR="0" lvl="0"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1pPr>
    <a:lvl2pPr marL="457200" marR="0" lvl="1"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2pPr>
    <a:lvl3pPr marL="914400" marR="0" lvl="2"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3pPr>
    <a:lvl4pPr marL="1371600" marR="0" lvl="3"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4pPr>
    <a:lvl5pPr marL="1828800" marR="0" lvl="4" indent="0" algn="l" defTabSz="914400" rtl="0" fontAlgn="auto" hangingPunct="1">
      <a:lnSpc>
        <a:spcPct val="100000"/>
      </a:lnSpc>
      <a:spcBef>
        <a:spcPts val="0"/>
      </a:spcBef>
      <a:spcAft>
        <a:spcPts val="0"/>
      </a:spcAft>
      <a:buNone/>
      <a:defRPr lang="en-US" sz="1200" b="0" i="0" u="none" strike="noStrike" kern="1200" cap="none" spc="0" baseline="0">
        <a:solidFill>
          <a:srgbClr val="000000"/>
        </a:solidFill>
        <a:uFillTx/>
        <a:latin typeface="Calibri" panose="020F0502020204030204"/>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p:sp>
      <p:sp>
        <p:nvSpPr>
          <p:cNvPr id="43011" name="Notes Placeholder 2"/>
          <p:cNvSpPr>
            <a:spLocks noGrp="1"/>
          </p:cNvSpPr>
          <p:nvPr>
            <p:ph type="body" sz="quarter" idx="1"/>
          </p:nvPr>
        </p:nvSpPr>
        <p:spPr/>
        <p:txBody>
          <a:bodyPr wrap="square" lIns="91440" tIns="45720" rIns="91440" bIns="45720" anchor="t" anchorCtr="0"/>
          <a:lstStyle/>
          <a:p>
            <a:pPr lvl="0" eaLnBrk="1"/>
            <a:endParaRPr dirty="0"/>
          </a:p>
        </p:txBody>
      </p:sp>
      <p:sp>
        <p:nvSpPr>
          <p:cNvPr id="4301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fld id="{9A0DB2DC-4C9A-4742-B13C-FB6460FD3503}" type="slidenum">
              <a:rPr lang="id-ID" altLang="x-none" sz="1200" dirty="0">
                <a:solidFill>
                  <a:srgbClr val="000000"/>
                </a:solidFill>
              </a:rPr>
              <a:t>15</a:t>
            </a:fld>
            <a:endParaRPr lang="id-ID" altLang="x-none" sz="1200"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FFFFF"/>
        </a:solidFill>
        <a:effectLst/>
      </p:bgPr>
    </p:bg>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bg>
      <p:bgPr>
        <a:solidFill>
          <a:srgbClr val="FFFFFF"/>
        </a:solidFill>
        <a:effectLst/>
      </p:bgPr>
    </p:bg>
    <p:spTree>
      <p:nvGrpSpPr>
        <p:cNvPr id="1" name=""/>
        <p:cNvGrpSpPr/>
        <p:nvPr/>
      </p:nvGrpSpPr>
      <p:grpSpPr>
        <a:xfrm>
          <a:off x="0" y="0"/>
          <a:ext cx="0" cy="0"/>
          <a:chOff x="0" y="0"/>
          <a:chExt cx="0" cy="0"/>
        </a:xfrm>
      </p:grpSpPr>
      <p:sp>
        <p:nvSpPr>
          <p:cNvPr id="3074" name="Rectangle 6"/>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3075"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3076"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3077" name="Group 5"/>
          <p:cNvGrpSpPr/>
          <p:nvPr/>
        </p:nvGrpSpPr>
        <p:grpSpPr>
          <a:xfrm>
            <a:off x="347663" y="6408738"/>
            <a:ext cx="223837" cy="222250"/>
            <a:chOff x="347417" y="6409322"/>
            <a:chExt cx="224082" cy="221156"/>
          </a:xfrm>
        </p:grpSpPr>
        <p:sp>
          <p:nvSpPr>
            <p:cNvPr id="3084" name="Freeform 7">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3085" name="Freeform 8">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3078" name="Group 9"/>
          <p:cNvGrpSpPr/>
          <p:nvPr/>
        </p:nvGrpSpPr>
        <p:grpSpPr>
          <a:xfrm>
            <a:off x="933450" y="6408738"/>
            <a:ext cx="223838" cy="222250"/>
            <a:chOff x="933712" y="6409322"/>
            <a:chExt cx="224082" cy="221156"/>
          </a:xfrm>
        </p:grpSpPr>
        <p:sp>
          <p:nvSpPr>
            <p:cNvPr id="3082" name="Freeform 10">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3083" name="Freeform 11">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3079" name="Straight Connector 3"/>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2_Title Slide">
    <p:bg>
      <p:bgPr>
        <a:solidFill>
          <a:srgbClr val="FFFFFF"/>
        </a:solidFill>
        <a:effectLst/>
      </p:bgPr>
    </p:bg>
    <p:spTree>
      <p:nvGrpSpPr>
        <p:cNvPr id="1" name=""/>
        <p:cNvGrpSpPr/>
        <p:nvPr/>
      </p:nvGrpSpPr>
      <p:grpSpPr>
        <a:xfrm>
          <a:off x="0" y="0"/>
          <a:ext cx="0" cy="0"/>
          <a:chOff x="0" y="0"/>
          <a:chExt cx="0" cy="0"/>
        </a:xfrm>
      </p:grpSpPr>
      <p:sp>
        <p:nvSpPr>
          <p:cNvPr id="4098" name="Rectangle 6"/>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4099"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4100"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p:bg>
      <p:bgPr>
        <a:solidFill>
          <a:srgbClr val="FFFFFF"/>
        </a:solidFill>
        <a:effectLst/>
      </p:bgPr>
    </p:bg>
    <p:spTree>
      <p:nvGrpSpPr>
        <p:cNvPr id="1" name=""/>
        <p:cNvGrpSpPr/>
        <p:nvPr/>
      </p:nvGrpSpPr>
      <p:grpSpPr>
        <a:xfrm>
          <a:off x="0" y="0"/>
          <a:ext cx="0" cy="0"/>
          <a:chOff x="0" y="0"/>
          <a:chExt cx="0" cy="0"/>
        </a:xfrm>
      </p:grpSpPr>
      <p:sp>
        <p:nvSpPr>
          <p:cNvPr id="7" name="Rectangle 7"/>
          <p:cNvSpPr/>
          <p:nvPr/>
        </p:nvSpPr>
        <p:spPr>
          <a:xfrm>
            <a:off x="0" y="0"/>
            <a:ext cx="12192000" cy="4152900"/>
          </a:xfrm>
          <a:prstGeom prst="rect">
            <a:avLst/>
          </a:prstGeom>
          <a:blipFill rotWithShape="1">
            <a:blip r:embed="rId2"/>
          </a:blip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5123" name="Rectangle 1"/>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5124"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dirty="0">
              <a:solidFill>
                <a:srgbClr val="FFFFFF"/>
              </a:solidFill>
              <a:latin typeface="Calibri" panose="020F0502020204030204" pitchFamily="34" charset="0"/>
            </a:endParaRPr>
          </a:p>
        </p:txBody>
      </p:sp>
      <p:sp>
        <p:nvSpPr>
          <p:cNvPr id="5125"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5126" name="Group 15"/>
          <p:cNvGrpSpPr/>
          <p:nvPr/>
        </p:nvGrpSpPr>
        <p:grpSpPr>
          <a:xfrm>
            <a:off x="347663" y="6408738"/>
            <a:ext cx="223837" cy="222250"/>
            <a:chOff x="347417" y="6409322"/>
            <a:chExt cx="224082" cy="221156"/>
          </a:xfrm>
        </p:grpSpPr>
        <p:sp>
          <p:nvSpPr>
            <p:cNvPr id="5133" name="Freeform 16">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5134" name="Freeform 17">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5127" name="Group 18"/>
          <p:cNvGrpSpPr/>
          <p:nvPr/>
        </p:nvGrpSpPr>
        <p:grpSpPr>
          <a:xfrm>
            <a:off x="933450" y="6408738"/>
            <a:ext cx="223838" cy="222250"/>
            <a:chOff x="933712" y="6409322"/>
            <a:chExt cx="224082" cy="221156"/>
          </a:xfrm>
        </p:grpSpPr>
        <p:sp>
          <p:nvSpPr>
            <p:cNvPr id="5131" name="Freeform 19">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5132" name="Freeform 20">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5128" name="Straight Connector 21"/>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6" name="Picture Placeholder 3"/>
          <p:cNvSpPr txBox="1">
            <a:spLocks noGrp="1"/>
          </p:cNvSpPr>
          <p:nvPr>
            <p:ph type="pic" idx="4294967295"/>
          </p:nvPr>
        </p:nvSpPr>
        <p:spPr>
          <a:xfrm>
            <a:off x="5265736" y="921257"/>
            <a:ext cx="1660522" cy="1658941"/>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itle Slide">
    <p:bg>
      <p:bgPr>
        <a:solidFill>
          <a:srgbClr val="FFFFFF"/>
        </a:solidFill>
        <a:effectLst/>
      </p:bgPr>
    </p:bg>
    <p:spTree>
      <p:nvGrpSpPr>
        <p:cNvPr id="1" name=""/>
        <p:cNvGrpSpPr/>
        <p:nvPr/>
      </p:nvGrpSpPr>
      <p:grpSpPr>
        <a:xfrm>
          <a:off x="0" y="0"/>
          <a:ext cx="0" cy="0"/>
          <a:chOff x="0" y="0"/>
          <a:chExt cx="0" cy="0"/>
        </a:xfrm>
      </p:grpSpPr>
      <p:sp>
        <p:nvSpPr>
          <p:cNvPr id="6146" name="Rectangle 6"/>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dirty="0">
              <a:solidFill>
                <a:srgbClr val="88A945"/>
              </a:solidFill>
              <a:latin typeface="Calibri" panose="020F0502020204030204" pitchFamily="34" charset="0"/>
            </a:endParaRPr>
          </a:p>
        </p:txBody>
      </p:sp>
      <p:sp>
        <p:nvSpPr>
          <p:cNvPr id="6147"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dirty="0">
              <a:solidFill>
                <a:srgbClr val="88A945"/>
              </a:solidFill>
              <a:latin typeface="Calibri" panose="020F0502020204030204" pitchFamily="34" charset="0"/>
            </a:endParaRPr>
          </a:p>
        </p:txBody>
      </p:sp>
      <p:sp>
        <p:nvSpPr>
          <p:cNvPr id="6148"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6149" name="Group 16"/>
          <p:cNvGrpSpPr/>
          <p:nvPr/>
        </p:nvGrpSpPr>
        <p:grpSpPr>
          <a:xfrm>
            <a:off x="347663" y="6408738"/>
            <a:ext cx="223837" cy="222250"/>
            <a:chOff x="347417" y="6409322"/>
            <a:chExt cx="224082" cy="221156"/>
          </a:xfrm>
        </p:grpSpPr>
        <p:sp>
          <p:nvSpPr>
            <p:cNvPr id="6156" name="Freeform 17">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6157" name="Freeform 18">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6150" name="Group 19"/>
          <p:cNvGrpSpPr/>
          <p:nvPr/>
        </p:nvGrpSpPr>
        <p:grpSpPr>
          <a:xfrm>
            <a:off x="933450" y="6408738"/>
            <a:ext cx="223838" cy="222250"/>
            <a:chOff x="933712" y="6409322"/>
            <a:chExt cx="224082" cy="221156"/>
          </a:xfrm>
        </p:grpSpPr>
        <p:sp>
          <p:nvSpPr>
            <p:cNvPr id="6154" name="Freeform 20">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6155" name="Freeform 21">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6151" name="Straight Connector 22"/>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5" name="Picture Placeholder 3"/>
          <p:cNvSpPr txBox="1">
            <a:spLocks noGrp="1"/>
          </p:cNvSpPr>
          <p:nvPr>
            <p:ph type="pic" idx="4294967295"/>
          </p:nvPr>
        </p:nvSpPr>
        <p:spPr>
          <a:xfrm>
            <a:off x="8116671" y="1993245"/>
            <a:ext cx="4059268" cy="2635319"/>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6" name="Picture Placeholder 3"/>
          <p:cNvSpPr txBox="1">
            <a:spLocks noGrp="1"/>
          </p:cNvSpPr>
          <p:nvPr>
            <p:ph type="pic" idx="9"/>
          </p:nvPr>
        </p:nvSpPr>
        <p:spPr>
          <a:xfrm>
            <a:off x="0" y="1993245"/>
            <a:ext cx="4058335" cy="2635319"/>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itle Slide">
    <p:bg>
      <p:bgPr>
        <a:solidFill>
          <a:srgbClr val="FFFFFF"/>
        </a:solidFill>
        <a:effectLst/>
      </p:bgPr>
    </p:bg>
    <p:spTree>
      <p:nvGrpSpPr>
        <p:cNvPr id="1" name=""/>
        <p:cNvGrpSpPr/>
        <p:nvPr/>
      </p:nvGrpSpPr>
      <p:grpSpPr>
        <a:xfrm>
          <a:off x="0" y="0"/>
          <a:ext cx="0" cy="0"/>
          <a:chOff x="0" y="0"/>
          <a:chExt cx="0" cy="0"/>
        </a:xfrm>
      </p:grpSpPr>
      <p:sp>
        <p:nvSpPr>
          <p:cNvPr id="7170" name="Rectangle 6"/>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dirty="0">
              <a:solidFill>
                <a:srgbClr val="88A945"/>
              </a:solidFill>
              <a:latin typeface="Calibri" panose="020F0502020204030204" pitchFamily="34" charset="0"/>
            </a:endParaRPr>
          </a:p>
        </p:txBody>
      </p:sp>
      <p:sp>
        <p:nvSpPr>
          <p:cNvPr id="7171"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dirty="0">
              <a:solidFill>
                <a:srgbClr val="88A945"/>
              </a:solidFill>
              <a:latin typeface="Calibri" panose="020F0502020204030204" pitchFamily="34" charset="0"/>
            </a:endParaRPr>
          </a:p>
        </p:txBody>
      </p:sp>
      <p:sp>
        <p:nvSpPr>
          <p:cNvPr id="7172"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7173" name="Group 14"/>
          <p:cNvGrpSpPr/>
          <p:nvPr/>
        </p:nvGrpSpPr>
        <p:grpSpPr>
          <a:xfrm>
            <a:off x="347663" y="6408738"/>
            <a:ext cx="223837" cy="222250"/>
            <a:chOff x="347417" y="6409322"/>
            <a:chExt cx="224082" cy="221156"/>
          </a:xfrm>
        </p:grpSpPr>
        <p:sp>
          <p:nvSpPr>
            <p:cNvPr id="7180" name="Freeform 15">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7181" name="Freeform 16">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7174" name="Group 17"/>
          <p:cNvGrpSpPr/>
          <p:nvPr/>
        </p:nvGrpSpPr>
        <p:grpSpPr>
          <a:xfrm>
            <a:off x="933450" y="6408738"/>
            <a:ext cx="223838" cy="222250"/>
            <a:chOff x="933712" y="6409322"/>
            <a:chExt cx="224082" cy="221156"/>
          </a:xfrm>
        </p:grpSpPr>
        <p:sp>
          <p:nvSpPr>
            <p:cNvPr id="7178" name="Freeform 18">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7179" name="Freeform 19">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7175" name="Straight Connector 20"/>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5" name="Picture Placeholder 3"/>
          <p:cNvSpPr txBox="1">
            <a:spLocks noGrp="1"/>
          </p:cNvSpPr>
          <p:nvPr>
            <p:ph type="pic" idx="4294967295"/>
          </p:nvPr>
        </p:nvSpPr>
        <p:spPr>
          <a:xfrm>
            <a:off x="0" y="1993245"/>
            <a:ext cx="12191996" cy="2635319"/>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Title Slide">
    <p:bg>
      <p:bgPr>
        <a:solidFill>
          <a:srgbClr val="FFFFFF"/>
        </a:solidFill>
        <a:effectLst/>
      </p:bgPr>
    </p:bg>
    <p:spTree>
      <p:nvGrpSpPr>
        <p:cNvPr id="1" name=""/>
        <p:cNvGrpSpPr/>
        <p:nvPr/>
      </p:nvGrpSpPr>
      <p:grpSpPr>
        <a:xfrm>
          <a:off x="0" y="0"/>
          <a:ext cx="0" cy="0"/>
          <a:chOff x="0" y="0"/>
          <a:chExt cx="0" cy="0"/>
        </a:xfrm>
      </p:grpSpPr>
      <p:sp>
        <p:nvSpPr>
          <p:cNvPr id="8194" name="Rectangle 1"/>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200" dirty="0">
              <a:solidFill>
                <a:srgbClr val="88A945"/>
              </a:solidFill>
              <a:latin typeface="Calibri" panose="020F0502020204030204" pitchFamily="34" charset="0"/>
            </a:endParaRPr>
          </a:p>
        </p:txBody>
      </p:sp>
      <p:sp>
        <p:nvSpPr>
          <p:cNvPr id="8195"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200" dirty="0">
              <a:solidFill>
                <a:srgbClr val="88A945"/>
              </a:solidFill>
              <a:latin typeface="Calibri" panose="020F0502020204030204" pitchFamily="34" charset="0"/>
            </a:endParaRPr>
          </a:p>
        </p:txBody>
      </p:sp>
      <p:sp>
        <p:nvSpPr>
          <p:cNvPr id="20" name="TextBox 6"/>
          <p:cNvSpPr txBox="1"/>
          <p:nvPr/>
        </p:nvSpPr>
        <p:spPr>
          <a:xfrm>
            <a:off x="11583988" y="304800"/>
            <a:ext cx="352425" cy="261938"/>
          </a:xfrm>
          <a:prstGeom prst="rect">
            <a:avLst/>
          </a:prstGeom>
          <a:noFill/>
          <a:ln cap="flat">
            <a:noFill/>
          </a:ln>
        </p:spPr>
        <p:txBody>
          <a:bodyPr vert="horz" wrap="none" lIns="91440" tIns="45720" rIns="91440" bIns="45720"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fld id="{5E908BC0-41DE-43F7-BCC0-8FF93E3FA1C7}" type="slidenum">
              <a:rPr kumimoji="0" lang="id-ID" sz="1050" b="1" i="0" u="none" strike="noStrike" kern="1200" cap="none" spc="0" normalizeH="0" baseline="0" noProof="0" smtClean="0">
                <a:ln>
                  <a:noFill/>
                </a:ln>
                <a:solidFill>
                  <a:srgbClr val="88A945"/>
                </a:solidFill>
                <a:effectLst/>
                <a:uLnTx/>
                <a:uFillTx/>
                <a:latin typeface="Calibri" panose="020F0502020204030204"/>
                <a:ea typeface="+mn-ea"/>
                <a:cs typeface="+mn-cs"/>
              </a:rPr>
              <a:t>‹N°›</a:t>
            </a:fld>
            <a:endParaRPr kumimoji="0" lang="id-ID" sz="1050" b="0" i="0" u="none" strike="noStrike" kern="1200" cap="none" spc="0" normalizeH="0" baseline="0" noProof="0">
              <a:ln>
                <a:noFill/>
              </a:ln>
              <a:solidFill>
                <a:srgbClr val="88A945"/>
              </a:solidFill>
              <a:effectLst/>
              <a:uLnTx/>
              <a:uFillTx/>
              <a:latin typeface="Calibri" panose="020F0502020204030204"/>
              <a:ea typeface="+mn-ea"/>
              <a:cs typeface="+mn-cs"/>
            </a:endParaRPr>
          </a:p>
        </p:txBody>
      </p:sp>
      <p:sp>
        <p:nvSpPr>
          <p:cNvPr id="2" name="Picture Placeholder 3"/>
          <p:cNvSpPr txBox="1">
            <a:spLocks noGrp="1"/>
          </p:cNvSpPr>
          <p:nvPr>
            <p:ph type="pic" idx="4294967295"/>
          </p:nvPr>
        </p:nvSpPr>
        <p:spPr>
          <a:xfrm>
            <a:off x="0"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0"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3"/>
          <p:cNvSpPr txBox="1">
            <a:spLocks noGrp="1"/>
          </p:cNvSpPr>
          <p:nvPr>
            <p:ph type="pic" idx="19"/>
          </p:nvPr>
        </p:nvSpPr>
        <p:spPr>
          <a:xfrm>
            <a:off x="0"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5" name="Picture Placeholder 3"/>
          <p:cNvSpPr txBox="1">
            <a:spLocks noGrp="1"/>
          </p:cNvSpPr>
          <p:nvPr>
            <p:ph type="pic" idx="29"/>
          </p:nvPr>
        </p:nvSpPr>
        <p:spPr>
          <a:xfrm>
            <a:off x="2037319"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6" name="Picture Placeholder 3"/>
          <p:cNvSpPr txBox="1">
            <a:spLocks noGrp="1"/>
          </p:cNvSpPr>
          <p:nvPr>
            <p:ph type="pic" idx="39"/>
          </p:nvPr>
        </p:nvSpPr>
        <p:spPr>
          <a:xfrm>
            <a:off x="2037319"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7" name="Picture Placeholder 3"/>
          <p:cNvSpPr txBox="1">
            <a:spLocks noGrp="1"/>
          </p:cNvSpPr>
          <p:nvPr>
            <p:ph type="pic" idx="49"/>
          </p:nvPr>
        </p:nvSpPr>
        <p:spPr>
          <a:xfrm>
            <a:off x="2037319"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8" name="Picture Placeholder 3"/>
          <p:cNvSpPr txBox="1">
            <a:spLocks noGrp="1"/>
          </p:cNvSpPr>
          <p:nvPr>
            <p:ph type="pic" idx="59"/>
          </p:nvPr>
        </p:nvSpPr>
        <p:spPr>
          <a:xfrm>
            <a:off x="4071320"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9" name="Picture Placeholder 3"/>
          <p:cNvSpPr txBox="1">
            <a:spLocks noGrp="1"/>
          </p:cNvSpPr>
          <p:nvPr>
            <p:ph type="pic" idx="69"/>
          </p:nvPr>
        </p:nvSpPr>
        <p:spPr>
          <a:xfrm>
            <a:off x="4071320"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0" name="Picture Placeholder 3"/>
          <p:cNvSpPr txBox="1">
            <a:spLocks noGrp="1"/>
          </p:cNvSpPr>
          <p:nvPr>
            <p:ph type="pic" idx="79"/>
          </p:nvPr>
        </p:nvSpPr>
        <p:spPr>
          <a:xfrm>
            <a:off x="4071320"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1" name="Picture Placeholder 3"/>
          <p:cNvSpPr txBox="1">
            <a:spLocks noGrp="1"/>
          </p:cNvSpPr>
          <p:nvPr>
            <p:ph type="pic" idx="89"/>
          </p:nvPr>
        </p:nvSpPr>
        <p:spPr>
          <a:xfrm>
            <a:off x="6108640"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2" name="Picture Placeholder 3"/>
          <p:cNvSpPr txBox="1">
            <a:spLocks noGrp="1"/>
          </p:cNvSpPr>
          <p:nvPr>
            <p:ph type="pic" idx="99"/>
          </p:nvPr>
        </p:nvSpPr>
        <p:spPr>
          <a:xfrm>
            <a:off x="6108640"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3" name="Picture Placeholder 3"/>
          <p:cNvSpPr txBox="1">
            <a:spLocks noGrp="1"/>
          </p:cNvSpPr>
          <p:nvPr>
            <p:ph type="pic" idx="109"/>
          </p:nvPr>
        </p:nvSpPr>
        <p:spPr>
          <a:xfrm>
            <a:off x="6108640"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4" name="Picture Placeholder 3"/>
          <p:cNvSpPr txBox="1">
            <a:spLocks noGrp="1"/>
          </p:cNvSpPr>
          <p:nvPr>
            <p:ph type="pic" idx="119"/>
          </p:nvPr>
        </p:nvSpPr>
        <p:spPr>
          <a:xfrm>
            <a:off x="8139321"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5" name="Picture Placeholder 3"/>
          <p:cNvSpPr txBox="1">
            <a:spLocks noGrp="1"/>
          </p:cNvSpPr>
          <p:nvPr>
            <p:ph type="pic" idx="129"/>
          </p:nvPr>
        </p:nvSpPr>
        <p:spPr>
          <a:xfrm>
            <a:off x="8139321"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6" name="Picture Placeholder 3"/>
          <p:cNvSpPr txBox="1">
            <a:spLocks noGrp="1"/>
          </p:cNvSpPr>
          <p:nvPr>
            <p:ph type="pic" idx="139"/>
          </p:nvPr>
        </p:nvSpPr>
        <p:spPr>
          <a:xfrm>
            <a:off x="8139321"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7" name="Picture Placeholder 3"/>
          <p:cNvSpPr txBox="1">
            <a:spLocks noGrp="1"/>
          </p:cNvSpPr>
          <p:nvPr>
            <p:ph type="pic" idx="149"/>
          </p:nvPr>
        </p:nvSpPr>
        <p:spPr>
          <a:xfrm>
            <a:off x="10176641" y="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8" name="Picture Placeholder 3"/>
          <p:cNvSpPr txBox="1">
            <a:spLocks noGrp="1"/>
          </p:cNvSpPr>
          <p:nvPr>
            <p:ph type="pic" idx="159"/>
          </p:nvPr>
        </p:nvSpPr>
        <p:spPr>
          <a:xfrm>
            <a:off x="10176641" y="2286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19" name="Picture Placeholder 3"/>
          <p:cNvSpPr txBox="1">
            <a:spLocks noGrp="1"/>
          </p:cNvSpPr>
          <p:nvPr>
            <p:ph type="pic" idx="169"/>
          </p:nvPr>
        </p:nvSpPr>
        <p:spPr>
          <a:xfrm>
            <a:off x="10176641" y="4572000"/>
            <a:ext cx="2034000" cy="2286000"/>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21" name="Espace réservé de la date 20"/>
          <p:cNvSpPr>
            <a:spLocks noGrp="1"/>
          </p:cNvSpPr>
          <p:nvPr>
            <p:ph type="dt" sz="half" idx="17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22" name="Espace réservé du pied de page 21"/>
          <p:cNvSpPr>
            <a:spLocks noGrp="1"/>
          </p:cNvSpPr>
          <p:nvPr>
            <p:ph type="ftr" sz="quarter" idx="17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23" name="Espace réservé du numéro de diapositive 22"/>
          <p:cNvSpPr>
            <a:spLocks noGrp="1"/>
          </p:cNvSpPr>
          <p:nvPr>
            <p:ph type="sldNum" sz="quarter" idx="17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Title Slide">
    <p:bg>
      <p:bgPr>
        <a:solidFill>
          <a:srgbClr val="FFFFFF"/>
        </a:solidFill>
        <a:effectLst/>
      </p:bgPr>
    </p:bg>
    <p:spTree>
      <p:nvGrpSpPr>
        <p:cNvPr id="1" name=""/>
        <p:cNvGrpSpPr/>
        <p:nvPr/>
      </p:nvGrpSpPr>
      <p:grpSpPr>
        <a:xfrm>
          <a:off x="0" y="0"/>
          <a:ext cx="0" cy="0"/>
          <a:chOff x="0" y="0"/>
          <a:chExt cx="0" cy="0"/>
        </a:xfrm>
      </p:grpSpPr>
      <p:sp>
        <p:nvSpPr>
          <p:cNvPr id="9218" name="Rectangle 6"/>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9219"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9220"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9221" name="Group 15"/>
          <p:cNvGrpSpPr/>
          <p:nvPr/>
        </p:nvGrpSpPr>
        <p:grpSpPr>
          <a:xfrm>
            <a:off x="347663" y="6408738"/>
            <a:ext cx="223837" cy="222250"/>
            <a:chOff x="347417" y="6409322"/>
            <a:chExt cx="224082" cy="221156"/>
          </a:xfrm>
        </p:grpSpPr>
        <p:sp>
          <p:nvSpPr>
            <p:cNvPr id="9228" name="Freeform 16">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9229" name="Freeform 17">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9222" name="Group 18"/>
          <p:cNvGrpSpPr/>
          <p:nvPr/>
        </p:nvGrpSpPr>
        <p:grpSpPr>
          <a:xfrm>
            <a:off x="933450" y="6408738"/>
            <a:ext cx="223838" cy="222250"/>
            <a:chOff x="933712" y="6409322"/>
            <a:chExt cx="224082" cy="221156"/>
          </a:xfrm>
        </p:grpSpPr>
        <p:sp>
          <p:nvSpPr>
            <p:cNvPr id="9226" name="Freeform 19">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9227" name="Freeform 20">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9223" name="Straight Connector 21"/>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5" name="Picture Placeholder 3"/>
          <p:cNvSpPr txBox="1">
            <a:spLocks noGrp="1"/>
          </p:cNvSpPr>
          <p:nvPr>
            <p:ph type="pic" idx="4294967295"/>
          </p:nvPr>
        </p:nvSpPr>
        <p:spPr>
          <a:xfrm>
            <a:off x="1450174"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6" name="Picture Placeholder 3"/>
          <p:cNvSpPr txBox="1">
            <a:spLocks noGrp="1"/>
          </p:cNvSpPr>
          <p:nvPr>
            <p:ph type="pic" idx="9"/>
          </p:nvPr>
        </p:nvSpPr>
        <p:spPr>
          <a:xfrm>
            <a:off x="3971860"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7" name="Picture Placeholder 3"/>
          <p:cNvSpPr txBox="1">
            <a:spLocks noGrp="1"/>
          </p:cNvSpPr>
          <p:nvPr>
            <p:ph type="pic" idx="19"/>
          </p:nvPr>
        </p:nvSpPr>
        <p:spPr>
          <a:xfrm>
            <a:off x="6508781"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8" name="Picture Placeholder 3"/>
          <p:cNvSpPr txBox="1">
            <a:spLocks noGrp="1"/>
          </p:cNvSpPr>
          <p:nvPr>
            <p:ph type="pic" idx="29"/>
          </p:nvPr>
        </p:nvSpPr>
        <p:spPr>
          <a:xfrm>
            <a:off x="9030477"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3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3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3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7_Title Slide">
    <p:bg>
      <p:bgPr>
        <a:solidFill>
          <a:srgbClr val="FFFFFF"/>
        </a:solidFill>
        <a:effectLst/>
      </p:bgPr>
    </p:bg>
    <p:spTree>
      <p:nvGrpSpPr>
        <p:cNvPr id="1" name=""/>
        <p:cNvGrpSpPr/>
        <p:nvPr/>
      </p:nvGrpSpPr>
      <p:grpSpPr>
        <a:xfrm>
          <a:off x="0" y="0"/>
          <a:ext cx="0" cy="0"/>
          <a:chOff x="0" y="0"/>
          <a:chExt cx="0" cy="0"/>
        </a:xfrm>
      </p:grpSpPr>
      <p:sp>
        <p:nvSpPr>
          <p:cNvPr id="10242" name="Rectangle 1"/>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0243" name="Rectangle 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0244" name="TextBox 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0245" name="Group 13"/>
          <p:cNvGrpSpPr/>
          <p:nvPr/>
        </p:nvGrpSpPr>
        <p:grpSpPr>
          <a:xfrm>
            <a:off x="347663" y="6408738"/>
            <a:ext cx="223837" cy="222250"/>
            <a:chOff x="347417" y="6409322"/>
            <a:chExt cx="224082" cy="221156"/>
          </a:xfrm>
        </p:grpSpPr>
        <p:sp>
          <p:nvSpPr>
            <p:cNvPr id="10252" name="Freeform 1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0253" name="Freeform 1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0246" name="Group 16"/>
          <p:cNvGrpSpPr/>
          <p:nvPr/>
        </p:nvGrpSpPr>
        <p:grpSpPr>
          <a:xfrm>
            <a:off x="933450" y="6408738"/>
            <a:ext cx="223838" cy="222250"/>
            <a:chOff x="933712" y="6409322"/>
            <a:chExt cx="224082" cy="221156"/>
          </a:xfrm>
        </p:grpSpPr>
        <p:sp>
          <p:nvSpPr>
            <p:cNvPr id="10250" name="Freeform 1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0251" name="Freeform 1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0247" name="Straight Connector 1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244489" y="211349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_Title Slide">
    <p:bg>
      <p:bgPr>
        <a:solidFill>
          <a:srgbClr val="FFFFFF"/>
        </a:solidFill>
        <a:effectLst/>
      </p:bgPr>
    </p:bg>
    <p:spTree>
      <p:nvGrpSpPr>
        <p:cNvPr id="1" name=""/>
        <p:cNvGrpSpPr/>
        <p:nvPr/>
      </p:nvGrpSpPr>
      <p:grpSpPr>
        <a:xfrm>
          <a:off x="0" y="0"/>
          <a:ext cx="0" cy="0"/>
          <a:chOff x="0" y="0"/>
          <a:chExt cx="0" cy="0"/>
        </a:xfrm>
      </p:grpSpPr>
      <p:sp>
        <p:nvSpPr>
          <p:cNvPr id="11266" name="Rectangle 15"/>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1267" name="Rectangle 16"/>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1268" name="TextBox 24"/>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1269" name="Group 25"/>
          <p:cNvGrpSpPr/>
          <p:nvPr/>
        </p:nvGrpSpPr>
        <p:grpSpPr>
          <a:xfrm>
            <a:off x="347663" y="6408738"/>
            <a:ext cx="223837" cy="222250"/>
            <a:chOff x="347417" y="6409322"/>
            <a:chExt cx="224082" cy="221156"/>
          </a:xfrm>
        </p:grpSpPr>
        <p:sp>
          <p:nvSpPr>
            <p:cNvPr id="11276" name="Freeform 26">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1277" name="Freeform 27">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1270" name="Group 28"/>
          <p:cNvGrpSpPr/>
          <p:nvPr/>
        </p:nvGrpSpPr>
        <p:grpSpPr>
          <a:xfrm>
            <a:off x="933450" y="6408738"/>
            <a:ext cx="223838" cy="222250"/>
            <a:chOff x="933712" y="6409322"/>
            <a:chExt cx="224082" cy="221156"/>
          </a:xfrm>
        </p:grpSpPr>
        <p:sp>
          <p:nvSpPr>
            <p:cNvPr id="11274" name="Freeform 29">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1275" name="Freeform 30">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1271" name="Straight Connector 31"/>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450174"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3971860"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3"/>
          <p:cNvSpPr txBox="1">
            <a:spLocks noGrp="1"/>
          </p:cNvSpPr>
          <p:nvPr>
            <p:ph type="pic" idx="19"/>
          </p:nvPr>
        </p:nvSpPr>
        <p:spPr>
          <a:xfrm>
            <a:off x="6508781"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5" name="Picture Placeholder 3"/>
          <p:cNvSpPr txBox="1">
            <a:spLocks noGrp="1"/>
          </p:cNvSpPr>
          <p:nvPr>
            <p:ph type="pic" idx="29"/>
          </p:nvPr>
        </p:nvSpPr>
        <p:spPr>
          <a:xfrm>
            <a:off x="9030477" y="2284948"/>
            <a:ext cx="1697848" cy="1697848"/>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6" name="Espace réservé de la date 5"/>
          <p:cNvSpPr>
            <a:spLocks noGrp="1"/>
          </p:cNvSpPr>
          <p:nvPr>
            <p:ph type="dt" sz="half" idx="3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7" name="Espace réservé du pied de page 6"/>
          <p:cNvSpPr>
            <a:spLocks noGrp="1"/>
          </p:cNvSpPr>
          <p:nvPr>
            <p:ph type="ftr" sz="quarter" idx="3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8" name="Espace réservé du numéro de diapositive 7"/>
          <p:cNvSpPr>
            <a:spLocks noGrp="1"/>
          </p:cNvSpPr>
          <p:nvPr>
            <p:ph type="sldNum" sz="quarter" idx="3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9_Title Slide">
    <p:bg>
      <p:bgPr>
        <a:solidFill>
          <a:srgbClr val="FFFFFF"/>
        </a:solidFill>
        <a:effectLst/>
      </p:bgPr>
    </p:bg>
    <p:spTree>
      <p:nvGrpSpPr>
        <p:cNvPr id="1" name=""/>
        <p:cNvGrpSpPr/>
        <p:nvPr/>
      </p:nvGrpSpPr>
      <p:grpSpPr>
        <a:xfrm>
          <a:off x="0" y="0"/>
          <a:ext cx="0" cy="0"/>
          <a:chOff x="0" y="0"/>
          <a:chExt cx="0" cy="0"/>
        </a:xfrm>
      </p:grpSpPr>
      <p:sp>
        <p:nvSpPr>
          <p:cNvPr id="12290" name="Rectangle 12"/>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2291" name="Rectangle 20"/>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2292" name="TextBox 21"/>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2293" name="Group 22"/>
          <p:cNvGrpSpPr/>
          <p:nvPr/>
        </p:nvGrpSpPr>
        <p:grpSpPr>
          <a:xfrm>
            <a:off x="347663" y="6408738"/>
            <a:ext cx="223837" cy="222250"/>
            <a:chOff x="347417" y="6409322"/>
            <a:chExt cx="224082" cy="221156"/>
          </a:xfrm>
        </p:grpSpPr>
        <p:sp>
          <p:nvSpPr>
            <p:cNvPr id="12300" name="Freeform 23">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2301" name="Freeform 24">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2294" name="Group 25"/>
          <p:cNvGrpSpPr/>
          <p:nvPr/>
        </p:nvGrpSpPr>
        <p:grpSpPr>
          <a:xfrm>
            <a:off x="933450" y="6408738"/>
            <a:ext cx="223838" cy="222250"/>
            <a:chOff x="933712" y="6409322"/>
            <a:chExt cx="224082" cy="221156"/>
          </a:xfrm>
        </p:grpSpPr>
        <p:sp>
          <p:nvSpPr>
            <p:cNvPr id="12298" name="Freeform 26">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2299" name="Freeform 27">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2295" name="Straight Connector 28"/>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4943475" y="1228725"/>
            <a:ext cx="2362196" cy="3260722"/>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_Title Slide">
    <p:bg>
      <p:bgPr>
        <a:solidFill>
          <a:srgbClr val="FFFFFF"/>
        </a:solidFill>
        <a:effectLst/>
      </p:bgPr>
    </p:bg>
    <p:spTree>
      <p:nvGrpSpPr>
        <p:cNvPr id="1" name=""/>
        <p:cNvGrpSpPr/>
        <p:nvPr/>
      </p:nvGrpSpPr>
      <p:grpSpPr>
        <a:xfrm>
          <a:off x="0" y="0"/>
          <a:ext cx="0" cy="0"/>
          <a:chOff x="0" y="0"/>
          <a:chExt cx="0" cy="0"/>
        </a:xfrm>
      </p:grpSpPr>
      <p:sp>
        <p:nvSpPr>
          <p:cNvPr id="10" name="Freeform 5"/>
          <p:cNvSpPr/>
          <p:nvPr/>
        </p:nvSpPr>
        <p:spPr>
          <a:xfrm flipH="1">
            <a:off x="8353425" y="2454275"/>
            <a:ext cx="520700" cy="520700"/>
          </a:xfrm>
          <a:custGeom>
            <a:avLst/>
            <a:gdLst>
              <a:gd name="txL" fmla="*/ 0 w 1169"/>
              <a:gd name="txT" fmla="*/ 0 h 1169"/>
              <a:gd name="txR" fmla="*/ 1169 w 1169"/>
              <a:gd name="txB" fmla="*/ 1169 h 1169"/>
            </a:gdLst>
            <a:ahLst/>
            <a:cxnLst>
              <a:cxn ang="17694720">
                <a:pos x="260878" y="0"/>
              </a:cxn>
              <a:cxn ang="0">
                <a:pos x="521756" y="260878"/>
              </a:cxn>
              <a:cxn ang="5898240">
                <a:pos x="260878" y="521756"/>
              </a:cxn>
              <a:cxn ang="11796480">
                <a:pos x="0" y="260878"/>
              </a:cxn>
              <a:cxn ang="0">
                <a:pos x="326265" y="0"/>
              </a:cxn>
              <a:cxn ang="0">
                <a:pos x="0" y="0"/>
              </a:cxn>
              <a:cxn ang="0">
                <a:pos x="0" y="326265"/>
              </a:cxn>
              <a:cxn ang="0">
                <a:pos x="195937" y="521756"/>
              </a:cxn>
              <a:cxn ang="0">
                <a:pos x="521756" y="521756"/>
              </a:cxn>
              <a:cxn ang="0">
                <a:pos x="521756" y="195937"/>
              </a:cxn>
              <a:cxn ang="0">
                <a:pos x="326265" y="0"/>
              </a:cxn>
            </a:cxnLst>
            <a:rect l="txL" t="txT" r="txR" b="tx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rgbClr val="D9D9D9">
              <a:alpha val="14902"/>
            </a:srgbClr>
          </a:solidFill>
          <a:ln w="9525">
            <a:noFill/>
          </a:ln>
        </p:spPr>
        <p:txBody>
          <a:bodyPr/>
          <a:lstStyle/>
          <a:p>
            <a:endParaRPr lang="fr-FR" altLang="en-US"/>
          </a:p>
        </p:txBody>
      </p:sp>
      <p:sp>
        <p:nvSpPr>
          <p:cNvPr id="13317" name="Rectangle 20"/>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3318" name="Rectangle 21"/>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3319" name="TextBox 22"/>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3320" name="Group 30"/>
          <p:cNvGrpSpPr/>
          <p:nvPr/>
        </p:nvGrpSpPr>
        <p:grpSpPr>
          <a:xfrm>
            <a:off x="347663" y="6408738"/>
            <a:ext cx="223837" cy="222250"/>
            <a:chOff x="347417" y="6409322"/>
            <a:chExt cx="224082" cy="221156"/>
          </a:xfrm>
        </p:grpSpPr>
        <p:sp>
          <p:nvSpPr>
            <p:cNvPr id="13327" name="Freeform 31">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3328" name="Freeform 32">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3321" name="Group 33"/>
          <p:cNvGrpSpPr/>
          <p:nvPr/>
        </p:nvGrpSpPr>
        <p:grpSpPr>
          <a:xfrm>
            <a:off x="933450" y="6408738"/>
            <a:ext cx="223838" cy="222250"/>
            <a:chOff x="933712" y="6409322"/>
            <a:chExt cx="224082" cy="221156"/>
          </a:xfrm>
        </p:grpSpPr>
        <p:sp>
          <p:nvSpPr>
            <p:cNvPr id="13325" name="Freeform 34">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3326" name="Freeform 35">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3322" name="Straight Connector 36"/>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9" name="Freeform 5"/>
          <p:cNvSpPr/>
          <p:nvPr/>
        </p:nvSpPr>
        <p:spPr>
          <a:xfrm flipH="1">
            <a:off x="10869613" y="3856038"/>
            <a:ext cx="522287" cy="520700"/>
          </a:xfrm>
          <a:custGeom>
            <a:avLst/>
            <a:gdLst>
              <a:gd name="txL" fmla="*/ 0 w 1169"/>
              <a:gd name="txT" fmla="*/ 0 h 1169"/>
              <a:gd name="txR" fmla="*/ 1169 w 1169"/>
              <a:gd name="txB" fmla="*/ 1169 h 1169"/>
            </a:gdLst>
            <a:ahLst/>
            <a:cxnLst>
              <a:cxn ang="17694720">
                <a:pos x="260718" y="0"/>
              </a:cxn>
              <a:cxn ang="0">
                <a:pos x="521436" y="260718"/>
              </a:cxn>
              <a:cxn ang="5898240">
                <a:pos x="260718" y="521436"/>
              </a:cxn>
              <a:cxn ang="11796480">
                <a:pos x="0" y="260718"/>
              </a:cxn>
              <a:cxn ang="0">
                <a:pos x="326065" y="0"/>
              </a:cxn>
              <a:cxn ang="0">
                <a:pos x="0" y="0"/>
              </a:cxn>
              <a:cxn ang="0">
                <a:pos x="0" y="326065"/>
              </a:cxn>
              <a:cxn ang="0">
                <a:pos x="195817" y="521436"/>
              </a:cxn>
              <a:cxn ang="0">
                <a:pos x="521436" y="521436"/>
              </a:cxn>
              <a:cxn ang="0">
                <a:pos x="521436" y="195817"/>
              </a:cxn>
              <a:cxn ang="0">
                <a:pos x="326065" y="0"/>
              </a:cxn>
            </a:cxnLst>
            <a:rect l="txL" t="txT" r="txR" b="tx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rgbClr val="D9D9D9">
              <a:alpha val="14902"/>
            </a:srgbClr>
          </a:solidFill>
          <a:ln w="9525">
            <a:noFill/>
          </a:ln>
        </p:spPr>
        <p:txBody>
          <a:bodyPr/>
          <a:lstStyle/>
          <a:p>
            <a:endParaRPr lang="fr-FR" altLang="en-US"/>
          </a:p>
        </p:txBody>
      </p:sp>
      <p:sp>
        <p:nvSpPr>
          <p:cNvPr id="8" name="Freeform 5"/>
          <p:cNvSpPr/>
          <p:nvPr/>
        </p:nvSpPr>
        <p:spPr>
          <a:xfrm flipH="1">
            <a:off x="9305925" y="2655888"/>
            <a:ext cx="1336675" cy="1336675"/>
          </a:xfrm>
          <a:custGeom>
            <a:avLst/>
            <a:gdLst>
              <a:gd name="txL" fmla="*/ 0 w 1169"/>
              <a:gd name="txT" fmla="*/ 0 h 1169"/>
              <a:gd name="txR" fmla="*/ 1169 w 1169"/>
              <a:gd name="txB" fmla="*/ 1169 h 1169"/>
            </a:gdLst>
            <a:ahLst/>
            <a:cxnLst>
              <a:cxn ang="17694720">
                <a:pos x="668733" y="0"/>
              </a:cxn>
              <a:cxn ang="0">
                <a:pos x="1337465" y="668733"/>
              </a:cxn>
              <a:cxn ang="5898240">
                <a:pos x="668733" y="1337465"/>
              </a:cxn>
              <a:cxn ang="11796480">
                <a:pos x="0" y="668733"/>
              </a:cxn>
              <a:cxn ang="0">
                <a:pos x="836345" y="0"/>
              </a:cxn>
              <a:cxn ang="0">
                <a:pos x="0" y="0"/>
              </a:cxn>
              <a:cxn ang="0">
                <a:pos x="0" y="836345"/>
              </a:cxn>
              <a:cxn ang="0">
                <a:pos x="502264" y="1337465"/>
              </a:cxn>
              <a:cxn ang="0">
                <a:pos x="1337465" y="1337465"/>
              </a:cxn>
              <a:cxn ang="0">
                <a:pos x="1337465" y="502264"/>
              </a:cxn>
              <a:cxn ang="0">
                <a:pos x="836345" y="0"/>
              </a:cxn>
            </a:cxnLst>
            <a:rect l="txL" t="txT" r="txR" b="tx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rgbClr val="D9D9D9">
              <a:alpha val="14902"/>
            </a:srgbClr>
          </a:solidFill>
          <a:ln w="9525">
            <a:noFill/>
          </a:ln>
        </p:spPr>
        <p:txBody>
          <a:bodyPr/>
          <a:lstStyle/>
          <a:p>
            <a:endParaRPr lang="fr-FR" altLang="en-US"/>
          </a:p>
        </p:txBody>
      </p:sp>
      <p:sp>
        <p:nvSpPr>
          <p:cNvPr id="2" name="Picture Placeholder 2"/>
          <p:cNvSpPr txBox="1">
            <a:spLocks noGrp="1"/>
          </p:cNvSpPr>
          <p:nvPr>
            <p:ph type="pic" idx="4294967295"/>
          </p:nvPr>
        </p:nvSpPr>
        <p:spPr>
          <a:xfrm>
            <a:off x="1222379" y="1945431"/>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2"/>
          <p:cNvSpPr txBox="1">
            <a:spLocks noGrp="1"/>
          </p:cNvSpPr>
          <p:nvPr>
            <p:ph type="pic" idx="9"/>
          </p:nvPr>
        </p:nvSpPr>
        <p:spPr>
          <a:xfrm>
            <a:off x="4533787" y="1945431"/>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2"/>
          <p:cNvSpPr txBox="1">
            <a:spLocks noGrp="1"/>
          </p:cNvSpPr>
          <p:nvPr>
            <p:ph type="pic" idx="19"/>
          </p:nvPr>
        </p:nvSpPr>
        <p:spPr>
          <a:xfrm>
            <a:off x="7858051" y="1945431"/>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5" name="Picture Placeholder 2"/>
          <p:cNvSpPr txBox="1">
            <a:spLocks noGrp="1"/>
          </p:cNvSpPr>
          <p:nvPr>
            <p:ph type="pic" idx="29"/>
          </p:nvPr>
        </p:nvSpPr>
        <p:spPr>
          <a:xfrm>
            <a:off x="1222379" y="4177344"/>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6" name="Picture Placeholder 2"/>
          <p:cNvSpPr txBox="1">
            <a:spLocks noGrp="1"/>
          </p:cNvSpPr>
          <p:nvPr>
            <p:ph type="pic" idx="39"/>
          </p:nvPr>
        </p:nvSpPr>
        <p:spPr>
          <a:xfrm>
            <a:off x="4533787" y="4177344"/>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7" name="Picture Placeholder 2"/>
          <p:cNvSpPr txBox="1">
            <a:spLocks noGrp="1"/>
          </p:cNvSpPr>
          <p:nvPr>
            <p:ph type="pic" idx="49"/>
          </p:nvPr>
        </p:nvSpPr>
        <p:spPr>
          <a:xfrm>
            <a:off x="7858051" y="4177344"/>
            <a:ext cx="3106738" cy="2016215"/>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11" name="Espace réservé de la date 10"/>
          <p:cNvSpPr>
            <a:spLocks noGrp="1"/>
          </p:cNvSpPr>
          <p:nvPr>
            <p:ph type="dt" sz="half" idx="5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12" name="Espace réservé du pied de page 11"/>
          <p:cNvSpPr>
            <a:spLocks noGrp="1"/>
          </p:cNvSpPr>
          <p:nvPr>
            <p:ph type="ftr" sz="quarter" idx="5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13" name="Espace réservé du numéro de diapositive 12"/>
          <p:cNvSpPr>
            <a:spLocks noGrp="1"/>
          </p:cNvSpPr>
          <p:nvPr>
            <p:ph type="sldNum" sz="quarter" idx="5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ppt_x</p:attrName>
                                        </p:attrNameLst>
                                      </p:cBhvr>
                                      <p:tavLst>
                                        <p:tav tm="0">
                                          <p:val>
                                            <p:strVal val="1+#ppt_w/2"/>
                                          </p:val>
                                        </p:tav>
                                        <p:tav tm="100000">
                                          <p:val>
                                            <p:strVal val="#ppt_x"/>
                                          </p:val>
                                        </p:tav>
                                      </p:tavLst>
                                    </p:anim>
                                    <p:anim calcmode="lin" valueType="num">
                                      <p:cBhvr>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ppt_x</p:attrName>
                                        </p:attrNameLst>
                                      </p:cBhvr>
                                      <p:tavLst>
                                        <p:tav tm="0">
                                          <p:val>
                                            <p:strVal val="1+#ppt_w/2"/>
                                          </p:val>
                                        </p:tav>
                                        <p:tav tm="100000">
                                          <p:val>
                                            <p:strVal val="#ppt_x"/>
                                          </p:val>
                                        </p:tav>
                                      </p:tavLst>
                                    </p:anim>
                                    <p:anim calcmode="lin" valueType="num">
                                      <p:cBhvr>
                                        <p:cTn id="12" dur="500" fill="hold"/>
                                        <p:tgtEl>
                                          <p:spTgt spid="7"/>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ppt_x</p:attrName>
                                        </p:attrNameLst>
                                      </p:cBhvr>
                                      <p:tavLst>
                                        <p:tav tm="0">
                                          <p:val>
                                            <p:strVal val="1+#ppt_w/2"/>
                                          </p:val>
                                        </p:tav>
                                        <p:tav tm="100000">
                                          <p:val>
                                            <p:strVal val="#ppt_x"/>
                                          </p:val>
                                        </p:tav>
                                      </p:tavLst>
                                    </p:anim>
                                    <p:anim calcmode="lin" valueType="num">
                                      <p:cBhvr>
                                        <p:cTn id="16"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7" grpId="0" animBg="1"/>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0_Title Slide">
    <p:bg>
      <p:bgPr>
        <a:solidFill>
          <a:srgbClr val="FFFFFF"/>
        </a:solidFill>
        <a:effectLst/>
      </p:bgPr>
    </p:bg>
    <p:spTree>
      <p:nvGrpSpPr>
        <p:cNvPr id="1" name=""/>
        <p:cNvGrpSpPr/>
        <p:nvPr/>
      </p:nvGrpSpPr>
      <p:grpSpPr>
        <a:xfrm>
          <a:off x="0" y="0"/>
          <a:ext cx="0" cy="0"/>
          <a:chOff x="0" y="0"/>
          <a:chExt cx="0" cy="0"/>
        </a:xfrm>
      </p:grpSpPr>
      <p:sp>
        <p:nvSpPr>
          <p:cNvPr id="14338" name="Rectangle 24"/>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4339" name="Rectangle 25"/>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4340" name="TextBox 26"/>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4341" name="Group 27"/>
          <p:cNvGrpSpPr/>
          <p:nvPr/>
        </p:nvGrpSpPr>
        <p:grpSpPr>
          <a:xfrm>
            <a:off x="347663" y="6408738"/>
            <a:ext cx="223837" cy="222250"/>
            <a:chOff x="347417" y="6409322"/>
            <a:chExt cx="224082" cy="221156"/>
          </a:xfrm>
        </p:grpSpPr>
        <p:sp>
          <p:nvSpPr>
            <p:cNvPr id="14348" name="Freeform 28">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4349" name="Freeform 29">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4342" name="Group 30"/>
          <p:cNvGrpSpPr/>
          <p:nvPr/>
        </p:nvGrpSpPr>
        <p:grpSpPr>
          <a:xfrm>
            <a:off x="933450" y="6408738"/>
            <a:ext cx="223838" cy="222250"/>
            <a:chOff x="933712" y="6409322"/>
            <a:chExt cx="224082" cy="221156"/>
          </a:xfrm>
        </p:grpSpPr>
        <p:sp>
          <p:nvSpPr>
            <p:cNvPr id="14346" name="Freeform 31">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4347" name="Freeform 32">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4343" name="Straight Connector 33"/>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14"/>
          <p:cNvSpPr txBox="1">
            <a:spLocks noGrp="1"/>
          </p:cNvSpPr>
          <p:nvPr>
            <p:ph type="pic" idx="4294967295"/>
          </p:nvPr>
        </p:nvSpPr>
        <p:spPr>
          <a:xfrm>
            <a:off x="1192213" y="2152653"/>
            <a:ext cx="3206745" cy="3138485"/>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14"/>
          <p:cNvSpPr txBox="1">
            <a:spLocks noGrp="1"/>
          </p:cNvSpPr>
          <p:nvPr>
            <p:ph type="pic" idx="9"/>
          </p:nvPr>
        </p:nvSpPr>
        <p:spPr>
          <a:xfrm>
            <a:off x="4487820" y="2152653"/>
            <a:ext cx="3206745" cy="3138485"/>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14"/>
          <p:cNvSpPr txBox="1">
            <a:spLocks noGrp="1"/>
          </p:cNvSpPr>
          <p:nvPr>
            <p:ph type="pic" idx="19"/>
          </p:nvPr>
        </p:nvSpPr>
        <p:spPr>
          <a:xfrm>
            <a:off x="7809926" y="2152653"/>
            <a:ext cx="3206745" cy="3138485"/>
          </a:xfrm>
        </p:spPr>
        <p:txBody>
          <a:bodyPr vert="horz" wrap="square" lIns="91440" tIns="45720" rIns="91440" bIns="45720" anchor="t" anchorCtr="0" compatLnSpc="1">
            <a:normAutofit/>
          </a:bodyPr>
          <a:lstStyle>
            <a:lvl1pPr>
              <a:defRPr lang="id-ID" sz="1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88A945"/>
              </a:solidFill>
              <a:effectLst/>
              <a:uLnTx/>
              <a:uFillTx/>
              <a:latin typeface="Calibri" panose="020F0502020204030204"/>
            </a:endParaRPr>
          </a:p>
        </p:txBody>
      </p:sp>
      <p:sp>
        <p:nvSpPr>
          <p:cNvPr id="5" name="Espace réservé de la date 4"/>
          <p:cNvSpPr>
            <a:spLocks noGrp="1"/>
          </p:cNvSpPr>
          <p:nvPr>
            <p:ph type="dt" sz="half"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pied de page 5"/>
          <p:cNvSpPr>
            <a:spLocks noGrp="1"/>
          </p:cNvSpPr>
          <p:nvPr>
            <p:ph type="ftr" sz="quarter" idx="2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7" name="Espace réservé du numéro de diapositive 6"/>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_Title Slide">
    <p:bg>
      <p:bgPr>
        <a:solidFill>
          <a:srgbClr val="FFFFFF"/>
        </a:solidFill>
        <a:effectLst/>
      </p:bgPr>
    </p:bg>
    <p:spTree>
      <p:nvGrpSpPr>
        <p:cNvPr id="1" name=""/>
        <p:cNvGrpSpPr/>
        <p:nvPr/>
      </p:nvGrpSpPr>
      <p:grpSpPr>
        <a:xfrm>
          <a:off x="0" y="0"/>
          <a:ext cx="0" cy="0"/>
          <a:chOff x="0" y="0"/>
          <a:chExt cx="0" cy="0"/>
        </a:xfrm>
      </p:grpSpPr>
      <p:sp>
        <p:nvSpPr>
          <p:cNvPr id="15362"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5363"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5364" name="TextBox 1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5365" name="Group 23"/>
          <p:cNvGrpSpPr/>
          <p:nvPr/>
        </p:nvGrpSpPr>
        <p:grpSpPr>
          <a:xfrm>
            <a:off x="347663" y="6408738"/>
            <a:ext cx="223837" cy="222250"/>
            <a:chOff x="347417" y="6409322"/>
            <a:chExt cx="224082" cy="221156"/>
          </a:xfrm>
        </p:grpSpPr>
        <p:sp>
          <p:nvSpPr>
            <p:cNvPr id="15372"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5373"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5366" name="Group 26"/>
          <p:cNvGrpSpPr/>
          <p:nvPr/>
        </p:nvGrpSpPr>
        <p:grpSpPr>
          <a:xfrm>
            <a:off x="933450" y="6408738"/>
            <a:ext cx="223838" cy="222250"/>
            <a:chOff x="933712" y="6409322"/>
            <a:chExt cx="224082" cy="221156"/>
          </a:xfrm>
        </p:grpSpPr>
        <p:sp>
          <p:nvSpPr>
            <p:cNvPr id="15370"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5371"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5367"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045470" y="2283009"/>
            <a:ext cx="4969745" cy="3753337"/>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6516764" y="2283009"/>
            <a:ext cx="4969745" cy="3753337"/>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4" name="Espace réservé de la date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pied de page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3_Title Slide">
    <p:bg>
      <p:bgPr>
        <a:solidFill>
          <a:srgbClr val="FFFFFF"/>
        </a:solidFill>
        <a:effectLst/>
      </p:bgPr>
    </p:bg>
    <p:spTree>
      <p:nvGrpSpPr>
        <p:cNvPr id="1" name=""/>
        <p:cNvGrpSpPr/>
        <p:nvPr/>
      </p:nvGrpSpPr>
      <p:grpSpPr>
        <a:xfrm>
          <a:off x="0" y="0"/>
          <a:ext cx="0" cy="0"/>
          <a:chOff x="0" y="0"/>
          <a:chExt cx="0" cy="0"/>
        </a:xfrm>
      </p:grpSpPr>
      <p:sp>
        <p:nvSpPr>
          <p:cNvPr id="16386" name="Rectangle 12"/>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6387" name="Rectangle 13"/>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6388" name="TextBox 21"/>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6389" name="Group 22"/>
          <p:cNvGrpSpPr/>
          <p:nvPr/>
        </p:nvGrpSpPr>
        <p:grpSpPr>
          <a:xfrm>
            <a:off x="347663" y="6408738"/>
            <a:ext cx="223837" cy="222250"/>
            <a:chOff x="347417" y="6409322"/>
            <a:chExt cx="224082" cy="221156"/>
          </a:xfrm>
        </p:grpSpPr>
        <p:sp>
          <p:nvSpPr>
            <p:cNvPr id="16396" name="Freeform 23">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6397" name="Freeform 24">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6390" name="Group 25"/>
          <p:cNvGrpSpPr/>
          <p:nvPr/>
        </p:nvGrpSpPr>
        <p:grpSpPr>
          <a:xfrm>
            <a:off x="933450" y="6408738"/>
            <a:ext cx="223838" cy="222250"/>
            <a:chOff x="933712" y="6409322"/>
            <a:chExt cx="224082" cy="221156"/>
          </a:xfrm>
        </p:grpSpPr>
        <p:sp>
          <p:nvSpPr>
            <p:cNvPr id="16394" name="Freeform 26">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6395" name="Freeform 27">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6391" name="Straight Connector 28"/>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045470" y="2283009"/>
            <a:ext cx="4969745" cy="3753337"/>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4_Title Slide">
    <p:bg>
      <p:bgPr>
        <a:solidFill>
          <a:srgbClr val="FFFFFF"/>
        </a:solidFill>
        <a:effectLst/>
      </p:bgPr>
    </p:bg>
    <p:spTree>
      <p:nvGrpSpPr>
        <p:cNvPr id="1" name=""/>
        <p:cNvGrpSpPr/>
        <p:nvPr/>
      </p:nvGrpSpPr>
      <p:grpSpPr>
        <a:xfrm>
          <a:off x="0" y="0"/>
          <a:ext cx="0" cy="0"/>
          <a:chOff x="0" y="0"/>
          <a:chExt cx="0" cy="0"/>
        </a:xfrm>
      </p:grpSpPr>
      <p:sp>
        <p:nvSpPr>
          <p:cNvPr id="17410" name="Rectangle 14"/>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7411" name="Rectangle 15"/>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7412" name="TextBox 23"/>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7413" name="Group 24"/>
          <p:cNvGrpSpPr/>
          <p:nvPr/>
        </p:nvGrpSpPr>
        <p:grpSpPr>
          <a:xfrm>
            <a:off x="347663" y="6408738"/>
            <a:ext cx="223837" cy="222250"/>
            <a:chOff x="347417" y="6409322"/>
            <a:chExt cx="224082" cy="221156"/>
          </a:xfrm>
        </p:grpSpPr>
        <p:sp>
          <p:nvSpPr>
            <p:cNvPr id="17420" name="Freeform 25">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7421" name="Freeform 26">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7414" name="Group 27"/>
          <p:cNvGrpSpPr/>
          <p:nvPr/>
        </p:nvGrpSpPr>
        <p:grpSpPr>
          <a:xfrm>
            <a:off x="933450" y="6408738"/>
            <a:ext cx="223838" cy="222250"/>
            <a:chOff x="933712" y="6409322"/>
            <a:chExt cx="224082" cy="221156"/>
          </a:xfrm>
        </p:grpSpPr>
        <p:sp>
          <p:nvSpPr>
            <p:cNvPr id="17418" name="Freeform 28">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7419" name="Freeform 29">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7415" name="Straight Connector 30"/>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0" y="0"/>
            <a:ext cx="12191996" cy="3143250"/>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1456593" y="1280864"/>
            <a:ext cx="1550337" cy="2598989"/>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3"/>
          <p:cNvSpPr txBox="1">
            <a:spLocks noGrp="1"/>
          </p:cNvSpPr>
          <p:nvPr>
            <p:ph type="pic" idx="19"/>
          </p:nvPr>
        </p:nvSpPr>
        <p:spPr>
          <a:xfrm>
            <a:off x="2855744" y="839410"/>
            <a:ext cx="1776414" cy="2977981"/>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5" name="Espace réservé de la date 4"/>
          <p:cNvSpPr>
            <a:spLocks noGrp="1"/>
          </p:cNvSpPr>
          <p:nvPr>
            <p:ph type="dt" sz="half"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pied de page 5"/>
          <p:cNvSpPr>
            <a:spLocks noGrp="1"/>
          </p:cNvSpPr>
          <p:nvPr>
            <p:ph type="ftr" sz="quarter" idx="2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7" name="Espace réservé du numéro de diapositive 6"/>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5_Title Slide">
    <p:bg>
      <p:bgPr>
        <a:solidFill>
          <a:srgbClr val="FFFFFF"/>
        </a:solidFill>
        <a:effectLst/>
      </p:bgPr>
    </p:bg>
    <p:spTree>
      <p:nvGrpSpPr>
        <p:cNvPr id="1" name=""/>
        <p:cNvGrpSpPr/>
        <p:nvPr/>
      </p:nvGrpSpPr>
      <p:grpSpPr>
        <a:xfrm>
          <a:off x="0" y="0"/>
          <a:ext cx="0" cy="0"/>
          <a:chOff x="0" y="0"/>
          <a:chExt cx="0" cy="0"/>
        </a:xfrm>
      </p:grpSpPr>
      <p:sp>
        <p:nvSpPr>
          <p:cNvPr id="18434" name="Rectangle 12"/>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8435" name="Rectangle 13"/>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8436" name="TextBox 21"/>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8437" name="Group 22"/>
          <p:cNvGrpSpPr/>
          <p:nvPr/>
        </p:nvGrpSpPr>
        <p:grpSpPr>
          <a:xfrm>
            <a:off x="347663" y="6408738"/>
            <a:ext cx="223837" cy="222250"/>
            <a:chOff x="347417" y="6409322"/>
            <a:chExt cx="224082" cy="221156"/>
          </a:xfrm>
        </p:grpSpPr>
        <p:sp>
          <p:nvSpPr>
            <p:cNvPr id="18444" name="Freeform 23">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8445" name="Freeform 24">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8438" name="Group 25"/>
          <p:cNvGrpSpPr/>
          <p:nvPr/>
        </p:nvGrpSpPr>
        <p:grpSpPr>
          <a:xfrm>
            <a:off x="933450" y="6408738"/>
            <a:ext cx="223838" cy="222250"/>
            <a:chOff x="933712" y="6409322"/>
            <a:chExt cx="224082" cy="221156"/>
          </a:xfrm>
        </p:grpSpPr>
        <p:sp>
          <p:nvSpPr>
            <p:cNvPr id="18442" name="Freeform 26">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8443" name="Freeform 27">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8439" name="Straight Connector 28"/>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5266294" y="3164619"/>
            <a:ext cx="6819988" cy="4020516"/>
          </a:xfrm>
        </p:spPr>
        <p:txBody>
          <a:bodyPr vert="horz" wrap="square" lIns="91440" tIns="45720" rIns="91440" bIns="45720" anchor="t" anchorCtr="0" compatLnSpc="1">
            <a:normAutofit/>
          </a:bodyPr>
          <a:lstStyle>
            <a:lvl1pPr>
              <a:defRPr lang="id-ID" sz="18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8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6_Title Slide">
    <p:bg>
      <p:bgPr>
        <a:solidFill>
          <a:srgbClr val="FFFFFF"/>
        </a:solidFill>
        <a:effectLst/>
      </p:bgPr>
    </p:bg>
    <p:spTree>
      <p:nvGrpSpPr>
        <p:cNvPr id="1" name=""/>
        <p:cNvGrpSpPr/>
        <p:nvPr/>
      </p:nvGrpSpPr>
      <p:grpSpPr>
        <a:xfrm>
          <a:off x="0" y="0"/>
          <a:ext cx="0" cy="0"/>
          <a:chOff x="0" y="0"/>
          <a:chExt cx="0" cy="0"/>
        </a:xfrm>
      </p:grpSpPr>
      <p:sp>
        <p:nvSpPr>
          <p:cNvPr id="19458"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9459"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19460" name="TextBox 22"/>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19461" name="Group 23"/>
          <p:cNvGrpSpPr/>
          <p:nvPr/>
        </p:nvGrpSpPr>
        <p:grpSpPr>
          <a:xfrm>
            <a:off x="347663" y="6408738"/>
            <a:ext cx="223837" cy="222250"/>
            <a:chOff x="347417" y="6409322"/>
            <a:chExt cx="224082" cy="221156"/>
          </a:xfrm>
        </p:grpSpPr>
        <p:sp>
          <p:nvSpPr>
            <p:cNvPr id="19468"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9469"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19462" name="Group 26"/>
          <p:cNvGrpSpPr/>
          <p:nvPr/>
        </p:nvGrpSpPr>
        <p:grpSpPr>
          <a:xfrm>
            <a:off x="933450" y="6408738"/>
            <a:ext cx="223838" cy="222250"/>
            <a:chOff x="933712" y="6409322"/>
            <a:chExt cx="224082" cy="221156"/>
          </a:xfrm>
        </p:grpSpPr>
        <p:sp>
          <p:nvSpPr>
            <p:cNvPr id="19466"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19467"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19463"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0" y="-23810"/>
            <a:ext cx="12191996" cy="4117972"/>
          </a:xfrm>
        </p:spPr>
        <p:txBody>
          <a:bodyPr vert="horz" wrap="square" lIns="91440" tIns="45720" rIns="91440" bIns="45720" anchor="t" anchorCtr="0" compatLnSpc="1">
            <a:normAutofit/>
          </a:bodyPr>
          <a:lstStyle>
            <a:lvl1pPr>
              <a:defRPr lang="id-ID">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8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6502325" y="662473"/>
            <a:ext cx="2734979" cy="2969861"/>
          </a:xfrm>
        </p:spPr>
        <p:txBody>
          <a:bodyPr vert="horz" wrap="square" lIns="91440" tIns="45720" rIns="91440" bIns="45720" anchor="t" anchorCtr="0" compatLnSpc="1">
            <a:normAutofit/>
          </a:bodyPr>
          <a:lstStyle>
            <a:lvl1pPr>
              <a:defRPr lang="id-ID" sz="1600">
                <a:solidFill>
                  <a:srgbClr val="FFFFFF"/>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600" b="0" i="0" u="none" strike="noStrike" kern="1200" cap="none" spc="0" normalizeH="0" baseline="0" noProof="0">
              <a:ln>
                <a:noFill/>
              </a:ln>
              <a:solidFill>
                <a:srgbClr val="FFFFFF"/>
              </a:solidFill>
              <a:effectLst/>
              <a:uLnTx/>
              <a:uFillTx/>
              <a:latin typeface="Calibri" panose="020F0502020204030204"/>
            </a:endParaRPr>
          </a:p>
        </p:txBody>
      </p:sp>
      <p:sp>
        <p:nvSpPr>
          <p:cNvPr id="4" name="Espace réservé de la date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pied de page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7_Title Slide">
    <p:bg>
      <p:bgPr>
        <a:solidFill>
          <a:srgbClr val="FFFFFF"/>
        </a:solidFill>
        <a:effectLst/>
      </p:bgPr>
    </p:bg>
    <p:spTree>
      <p:nvGrpSpPr>
        <p:cNvPr id="1" name=""/>
        <p:cNvGrpSpPr/>
        <p:nvPr/>
      </p:nvGrpSpPr>
      <p:grpSpPr>
        <a:xfrm>
          <a:off x="0" y="0"/>
          <a:ext cx="0" cy="0"/>
          <a:chOff x="0" y="0"/>
          <a:chExt cx="0" cy="0"/>
        </a:xfrm>
      </p:grpSpPr>
      <p:sp>
        <p:nvSpPr>
          <p:cNvPr id="7" name="Rectangle 8"/>
          <p:cNvSpPr/>
          <p:nvPr/>
        </p:nvSpPr>
        <p:spPr>
          <a:xfrm>
            <a:off x="0" y="0"/>
            <a:ext cx="12187238" cy="4000500"/>
          </a:xfrm>
          <a:prstGeom prst="rect">
            <a:avLst/>
          </a:prstGeom>
          <a:blipFill rotWithShape="1">
            <a:blip r:embed="rId2"/>
          </a:blipFill>
          <a:ln w="9525">
            <a:noFill/>
          </a:ln>
        </p:spPr>
        <p:txBody>
          <a:bodyPr anchor="ctr" anchorCtr="1"/>
          <a:lstStyle/>
          <a:p>
            <a:pPr lvl="0" algn="ctr" eaLnBrk="1" hangingPunct="1"/>
            <a:endParaRPr dirty="0">
              <a:solidFill>
                <a:srgbClr val="FFFFFF"/>
              </a:solidFill>
              <a:latin typeface="Calibri" panose="020F0502020204030204" pitchFamily="34" charset="0"/>
            </a:endParaRPr>
          </a:p>
        </p:txBody>
      </p:sp>
      <p:sp>
        <p:nvSpPr>
          <p:cNvPr id="20483"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0484"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0485" name="TextBox 1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0486" name="Group 23"/>
          <p:cNvGrpSpPr/>
          <p:nvPr/>
        </p:nvGrpSpPr>
        <p:grpSpPr>
          <a:xfrm>
            <a:off x="347663" y="6408738"/>
            <a:ext cx="223837" cy="222250"/>
            <a:chOff x="347417" y="6409322"/>
            <a:chExt cx="224082" cy="221156"/>
          </a:xfrm>
        </p:grpSpPr>
        <p:sp>
          <p:nvSpPr>
            <p:cNvPr id="20493"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0494"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0487" name="Group 26"/>
          <p:cNvGrpSpPr/>
          <p:nvPr/>
        </p:nvGrpSpPr>
        <p:grpSpPr>
          <a:xfrm>
            <a:off x="933450" y="6408738"/>
            <a:ext cx="223838" cy="222250"/>
            <a:chOff x="933712" y="6409322"/>
            <a:chExt cx="224082" cy="221156"/>
          </a:xfrm>
        </p:grpSpPr>
        <p:sp>
          <p:nvSpPr>
            <p:cNvPr id="20491"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0492"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0488"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3" name="Picture Placeholder 2"/>
          <p:cNvSpPr txBox="1">
            <a:spLocks noGrp="1"/>
          </p:cNvSpPr>
          <p:nvPr>
            <p:ph type="pic" idx="4294967295"/>
          </p:nvPr>
        </p:nvSpPr>
        <p:spPr>
          <a:xfrm>
            <a:off x="4265099" y="1704094"/>
            <a:ext cx="3633148" cy="2288468"/>
          </a:xfrm>
        </p:spPr>
        <p:txBody>
          <a:bodyPr vert="horz" wrap="square" lIns="91440" tIns="45720" rIns="91440" bIns="45720" anchor="t" anchorCtr="0" compatLnSpc="1">
            <a:normAutofit/>
          </a:bodyPr>
          <a:lstStyle>
            <a:lvl1pPr>
              <a:defRPr lang="id-ID" sz="20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0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1_Title Slide">
    <p:bg>
      <p:bgPr>
        <a:solidFill>
          <a:srgbClr val="FFFFFF"/>
        </a:solidFill>
        <a:effectLst/>
      </p:bgPr>
    </p:bg>
    <p:spTree>
      <p:nvGrpSpPr>
        <p:cNvPr id="1" name=""/>
        <p:cNvGrpSpPr/>
        <p:nvPr/>
      </p:nvGrpSpPr>
      <p:grpSpPr>
        <a:xfrm>
          <a:off x="0" y="0"/>
          <a:ext cx="0" cy="0"/>
          <a:chOff x="0" y="0"/>
          <a:chExt cx="0" cy="0"/>
        </a:xfrm>
      </p:grpSpPr>
      <p:sp>
        <p:nvSpPr>
          <p:cNvPr id="21506" name="Rectangle 12"/>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1507" name="Rectangle 13"/>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1508" name="TextBox 21"/>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1509" name="Group 22"/>
          <p:cNvGrpSpPr/>
          <p:nvPr/>
        </p:nvGrpSpPr>
        <p:grpSpPr>
          <a:xfrm>
            <a:off x="347663" y="6408738"/>
            <a:ext cx="223837" cy="222250"/>
            <a:chOff x="347417" y="6409322"/>
            <a:chExt cx="224082" cy="221156"/>
          </a:xfrm>
        </p:grpSpPr>
        <p:sp>
          <p:nvSpPr>
            <p:cNvPr id="21516" name="Freeform 23">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1517" name="Freeform 24">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1510" name="Group 25"/>
          <p:cNvGrpSpPr/>
          <p:nvPr/>
        </p:nvGrpSpPr>
        <p:grpSpPr>
          <a:xfrm>
            <a:off x="933450" y="6408738"/>
            <a:ext cx="223838" cy="222250"/>
            <a:chOff x="933712" y="6409322"/>
            <a:chExt cx="224082" cy="221156"/>
          </a:xfrm>
        </p:grpSpPr>
        <p:sp>
          <p:nvSpPr>
            <p:cNvPr id="21514" name="Freeform 26">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1515" name="Freeform 27">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1511" name="Straight Connector 28"/>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2"/>
          <p:cNvSpPr txBox="1">
            <a:spLocks noGrp="1"/>
          </p:cNvSpPr>
          <p:nvPr>
            <p:ph type="pic" idx="4294967295"/>
          </p:nvPr>
        </p:nvSpPr>
        <p:spPr>
          <a:xfrm>
            <a:off x="0" y="2140427"/>
            <a:ext cx="12191996" cy="3241191"/>
          </a:xfrm>
        </p:spPr>
        <p:txBody>
          <a:bodyPr vert="horz" wrap="square" lIns="91440" tIns="45720" rIns="91440" bIns="45720" anchor="t" anchorCtr="0" compatLnSpc="1">
            <a:normAutofit/>
          </a:bodyPr>
          <a:lstStyle>
            <a:lvl1pPr>
              <a:defRPr lang="id-ID">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8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9_Title Slide">
    <p:bg>
      <p:bgPr>
        <a:solidFill>
          <a:srgbClr val="FFFFFF"/>
        </a:solidFill>
        <a:effectLst/>
      </p:bgPr>
    </p:bg>
    <p:spTree>
      <p:nvGrpSpPr>
        <p:cNvPr id="1" name=""/>
        <p:cNvGrpSpPr/>
        <p:nvPr/>
      </p:nvGrpSpPr>
      <p:grpSpPr>
        <a:xfrm>
          <a:off x="0" y="0"/>
          <a:ext cx="0" cy="0"/>
          <a:chOff x="0" y="0"/>
          <a:chExt cx="0" cy="0"/>
        </a:xfrm>
      </p:grpSpPr>
      <p:sp>
        <p:nvSpPr>
          <p:cNvPr id="22530"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2531" name="Rectangle 22"/>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2532" name="TextBox 23"/>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2533" name="Group 24"/>
          <p:cNvGrpSpPr/>
          <p:nvPr/>
        </p:nvGrpSpPr>
        <p:grpSpPr>
          <a:xfrm>
            <a:off x="347663" y="6408738"/>
            <a:ext cx="223837" cy="222250"/>
            <a:chOff x="347417" y="6409322"/>
            <a:chExt cx="224082" cy="221156"/>
          </a:xfrm>
        </p:grpSpPr>
        <p:sp>
          <p:nvSpPr>
            <p:cNvPr id="22540" name="Freeform 25">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2541" name="Freeform 26">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2534" name="Group 27"/>
          <p:cNvGrpSpPr/>
          <p:nvPr/>
        </p:nvGrpSpPr>
        <p:grpSpPr>
          <a:xfrm>
            <a:off x="933450" y="6408738"/>
            <a:ext cx="223838" cy="222250"/>
            <a:chOff x="933712" y="6409322"/>
            <a:chExt cx="224082" cy="221156"/>
          </a:xfrm>
        </p:grpSpPr>
        <p:sp>
          <p:nvSpPr>
            <p:cNvPr id="22538" name="Freeform 28">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2539" name="Freeform 29">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2535" name="Straight Connector 30"/>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296107" y="3516316"/>
            <a:ext cx="1366835" cy="1366835"/>
          </a:xfrm>
          <a:ln w="57150">
            <a:solidFill>
              <a:srgbClr val="77933C"/>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9529053" y="4823213"/>
            <a:ext cx="1366835" cy="1366835"/>
          </a:xfrm>
          <a:ln w="57150">
            <a:solidFill>
              <a:srgbClr val="88A945"/>
            </a:solidFill>
            <a:prstDash val="solid"/>
          </a:ln>
        </p:spPr>
        <p:txBody>
          <a:bodyPr vert="horz" wrap="square" lIns="91440" tIns="45720" rIns="91440" bIns="45720" anchor="t" anchorCtr="0" compatLnSpc="1">
            <a:normAutofit/>
          </a:bodyPr>
          <a:lstStyle>
            <a:lvl1pPr>
              <a:defRPr lang="id-ID" sz="1400">
                <a:solidFill>
                  <a:srgbClr val="C0D498"/>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C0D498"/>
              </a:solidFill>
              <a:effectLst/>
              <a:uLnTx/>
              <a:uFillTx/>
              <a:latin typeface="Calibri" panose="020F0502020204030204"/>
            </a:endParaRPr>
          </a:p>
        </p:txBody>
      </p:sp>
      <p:sp>
        <p:nvSpPr>
          <p:cNvPr id="4" name="Espace réservé de la date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pied de page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8_Title Slide">
    <p:bg>
      <p:bgPr>
        <a:solidFill>
          <a:srgbClr val="FFFFFF"/>
        </a:solidFill>
        <a:effectLst/>
      </p:bgPr>
    </p:bg>
    <p:spTree>
      <p:nvGrpSpPr>
        <p:cNvPr id="1" name=""/>
        <p:cNvGrpSpPr/>
        <p:nvPr/>
      </p:nvGrpSpPr>
      <p:grpSpPr>
        <a:xfrm>
          <a:off x="0" y="0"/>
          <a:ext cx="0" cy="0"/>
          <a:chOff x="0" y="0"/>
          <a:chExt cx="0" cy="0"/>
        </a:xfrm>
      </p:grpSpPr>
      <p:sp>
        <p:nvSpPr>
          <p:cNvPr id="23554" name="Rectangle 2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3555" name="Rectangle 2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3556" name="TextBox 2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3557" name="Group 26"/>
          <p:cNvGrpSpPr/>
          <p:nvPr/>
        </p:nvGrpSpPr>
        <p:grpSpPr>
          <a:xfrm>
            <a:off x="347663" y="6408738"/>
            <a:ext cx="223837" cy="222250"/>
            <a:chOff x="347417" y="6409322"/>
            <a:chExt cx="224082" cy="221156"/>
          </a:xfrm>
        </p:grpSpPr>
        <p:sp>
          <p:nvSpPr>
            <p:cNvPr id="23564" name="Freeform 27">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3565" name="Freeform 28">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3558" name="Group 29"/>
          <p:cNvGrpSpPr/>
          <p:nvPr/>
        </p:nvGrpSpPr>
        <p:grpSpPr>
          <a:xfrm>
            <a:off x="933450" y="6408738"/>
            <a:ext cx="223838" cy="222250"/>
            <a:chOff x="933712" y="6409322"/>
            <a:chExt cx="224082" cy="221156"/>
          </a:xfrm>
        </p:grpSpPr>
        <p:sp>
          <p:nvSpPr>
            <p:cNvPr id="23562" name="Freeform 30">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3563" name="Freeform 31">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3559" name="Straight Connector 32"/>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296107" y="3614787"/>
            <a:ext cx="1366835" cy="1366835"/>
          </a:xfrm>
          <a:ln w="57150">
            <a:solidFill>
              <a:srgbClr val="C0D498"/>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3" name="Picture Placeholder 3"/>
          <p:cNvSpPr txBox="1">
            <a:spLocks noGrp="1"/>
          </p:cNvSpPr>
          <p:nvPr>
            <p:ph type="pic" idx="9"/>
          </p:nvPr>
        </p:nvSpPr>
        <p:spPr>
          <a:xfrm>
            <a:off x="9529053" y="4921684"/>
            <a:ext cx="1366835" cy="1366835"/>
          </a:xfrm>
          <a:ln w="57150">
            <a:solidFill>
              <a:srgbClr val="D0DFB3"/>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4" name="Picture Placeholder 3"/>
          <p:cNvSpPr txBox="1">
            <a:spLocks noGrp="1"/>
          </p:cNvSpPr>
          <p:nvPr>
            <p:ph type="pic" idx="19"/>
          </p:nvPr>
        </p:nvSpPr>
        <p:spPr>
          <a:xfrm>
            <a:off x="1296107" y="971202"/>
            <a:ext cx="1366835" cy="1366835"/>
          </a:xfrm>
          <a:ln w="57150">
            <a:solidFill>
              <a:srgbClr val="9BBB59"/>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5" name="Picture Placeholder 3"/>
          <p:cNvSpPr txBox="1">
            <a:spLocks noGrp="1"/>
          </p:cNvSpPr>
          <p:nvPr>
            <p:ph type="pic" idx="29"/>
          </p:nvPr>
        </p:nvSpPr>
        <p:spPr>
          <a:xfrm>
            <a:off x="9529053" y="2278099"/>
            <a:ext cx="1366835" cy="1366835"/>
          </a:xfrm>
          <a:ln w="57150">
            <a:solidFill>
              <a:srgbClr val="ACC777"/>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6" name="Espace réservé de la date 5"/>
          <p:cNvSpPr>
            <a:spLocks noGrp="1"/>
          </p:cNvSpPr>
          <p:nvPr>
            <p:ph type="dt" sz="half" idx="3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7" name="Espace réservé du pied de page 6"/>
          <p:cNvSpPr>
            <a:spLocks noGrp="1"/>
          </p:cNvSpPr>
          <p:nvPr>
            <p:ph type="ftr" sz="quarter" idx="3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8" name="Espace réservé du numéro de diapositive 7"/>
          <p:cNvSpPr>
            <a:spLocks noGrp="1"/>
          </p:cNvSpPr>
          <p:nvPr>
            <p:ph type="sldNum" sz="quarter" idx="3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0_Title Slide">
    <p:bg>
      <p:bgPr>
        <a:solidFill>
          <a:srgbClr val="FFFFFF"/>
        </a:solidFill>
        <a:effectLst/>
      </p:bgPr>
    </p:bg>
    <p:spTree>
      <p:nvGrpSpPr>
        <p:cNvPr id="1" name=""/>
        <p:cNvGrpSpPr/>
        <p:nvPr/>
      </p:nvGrpSpPr>
      <p:grpSpPr>
        <a:xfrm>
          <a:off x="0" y="0"/>
          <a:ext cx="0" cy="0"/>
          <a:chOff x="0" y="0"/>
          <a:chExt cx="0" cy="0"/>
        </a:xfrm>
      </p:grpSpPr>
      <p:sp>
        <p:nvSpPr>
          <p:cNvPr id="24578"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4579"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4580" name="TextBox 1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4581" name="Group 23"/>
          <p:cNvGrpSpPr/>
          <p:nvPr/>
        </p:nvGrpSpPr>
        <p:grpSpPr>
          <a:xfrm>
            <a:off x="347663" y="6408738"/>
            <a:ext cx="223837" cy="222250"/>
            <a:chOff x="347417" y="6409322"/>
            <a:chExt cx="224082" cy="221156"/>
          </a:xfrm>
        </p:grpSpPr>
        <p:sp>
          <p:nvSpPr>
            <p:cNvPr id="24588"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4589"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4582" name="Group 26"/>
          <p:cNvGrpSpPr/>
          <p:nvPr/>
        </p:nvGrpSpPr>
        <p:grpSpPr>
          <a:xfrm>
            <a:off x="933450" y="6408738"/>
            <a:ext cx="223838" cy="222250"/>
            <a:chOff x="933712" y="6409322"/>
            <a:chExt cx="224082" cy="221156"/>
          </a:xfrm>
        </p:grpSpPr>
        <p:sp>
          <p:nvSpPr>
            <p:cNvPr id="24586"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4587"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4583"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1296107" y="971202"/>
            <a:ext cx="1366835" cy="1366835"/>
          </a:xfrm>
          <a:ln w="57150">
            <a:solidFill>
              <a:srgbClr val="88A945"/>
            </a:solidFill>
            <a:prstDash val="solid"/>
          </a:ln>
        </p:spPr>
        <p:txBody>
          <a:bodyPr vert="horz" wrap="square" lIns="91440" tIns="45720" rIns="91440" bIns="45720" anchor="t" anchorCtr="0" compatLnSpc="1">
            <a:normAutofit/>
          </a:bodyPr>
          <a:lstStyle>
            <a:lvl1pPr>
              <a:defRPr lang="id-ID" sz="1400">
                <a:solidFill>
                  <a:srgbClr val="C0D498"/>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C0D498"/>
              </a:solidFill>
              <a:effectLst/>
              <a:uLnTx/>
              <a:uFillTx/>
              <a:latin typeface="Calibri" panose="020F0502020204030204"/>
            </a:endParaRPr>
          </a:p>
        </p:txBody>
      </p:sp>
      <p:sp>
        <p:nvSpPr>
          <p:cNvPr id="3" name="Picture Placeholder 3"/>
          <p:cNvSpPr txBox="1">
            <a:spLocks noGrp="1"/>
          </p:cNvSpPr>
          <p:nvPr>
            <p:ph type="pic" idx="9"/>
          </p:nvPr>
        </p:nvSpPr>
        <p:spPr>
          <a:xfrm>
            <a:off x="9529053" y="2278099"/>
            <a:ext cx="1366835" cy="1366835"/>
          </a:xfrm>
          <a:ln w="57150">
            <a:solidFill>
              <a:srgbClr val="9BBB59"/>
            </a:solidFill>
            <a:prstDash val="solid"/>
          </a:ln>
        </p:spPr>
        <p:txBody>
          <a:bodyPr vert="horz" wrap="square" lIns="91440" tIns="45720" rIns="91440" bIns="45720" anchor="t" anchorCtr="0" compatLnSpc="1">
            <a:normAutofit/>
          </a:bodyPr>
          <a:lstStyle>
            <a:lvl1pPr>
              <a:defRPr lang="id-ID" sz="1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1400" b="0" i="0" u="none" strike="noStrike" kern="1200" cap="none" spc="0" normalizeH="0" baseline="0" noProof="0">
              <a:ln>
                <a:noFill/>
              </a:ln>
              <a:solidFill>
                <a:srgbClr val="88A945"/>
              </a:solidFill>
              <a:effectLst/>
              <a:uLnTx/>
              <a:uFillTx/>
              <a:latin typeface="Calibri" panose="020F0502020204030204"/>
            </a:endParaRPr>
          </a:p>
        </p:txBody>
      </p:sp>
      <p:sp>
        <p:nvSpPr>
          <p:cNvPr id="4" name="Espace réservé de la date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pied de page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3_Title Slide">
    <p:bg>
      <p:bgPr>
        <a:solidFill>
          <a:srgbClr val="FFFFFF"/>
        </a:solidFill>
        <a:effectLst/>
      </p:bgPr>
    </p:bg>
    <p:spTree>
      <p:nvGrpSpPr>
        <p:cNvPr id="1" name=""/>
        <p:cNvGrpSpPr/>
        <p:nvPr/>
      </p:nvGrpSpPr>
      <p:grpSpPr>
        <a:xfrm>
          <a:off x="0" y="0"/>
          <a:ext cx="0" cy="0"/>
          <a:chOff x="0" y="0"/>
          <a:chExt cx="0" cy="0"/>
        </a:xfrm>
      </p:grpSpPr>
      <p:sp>
        <p:nvSpPr>
          <p:cNvPr id="25602"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5603"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5604" name="TextBox 1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5605" name="Group 23"/>
          <p:cNvGrpSpPr/>
          <p:nvPr/>
        </p:nvGrpSpPr>
        <p:grpSpPr>
          <a:xfrm>
            <a:off x="347663" y="6408738"/>
            <a:ext cx="223837" cy="222250"/>
            <a:chOff x="347417" y="6409322"/>
            <a:chExt cx="224082" cy="221156"/>
          </a:xfrm>
        </p:grpSpPr>
        <p:sp>
          <p:nvSpPr>
            <p:cNvPr id="25612"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5613"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5606" name="Group 26"/>
          <p:cNvGrpSpPr/>
          <p:nvPr/>
        </p:nvGrpSpPr>
        <p:grpSpPr>
          <a:xfrm>
            <a:off x="933450" y="6408738"/>
            <a:ext cx="223838" cy="222250"/>
            <a:chOff x="933712" y="6409322"/>
            <a:chExt cx="224082" cy="221156"/>
          </a:xfrm>
        </p:grpSpPr>
        <p:sp>
          <p:nvSpPr>
            <p:cNvPr id="25610"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5611"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5607"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12" name="Picture Placeholder 2"/>
          <p:cNvSpPr txBox="1">
            <a:spLocks noGrp="1"/>
          </p:cNvSpPr>
          <p:nvPr>
            <p:ph type="pic" idx="4294967295"/>
          </p:nvPr>
        </p:nvSpPr>
        <p:spPr>
          <a:xfrm>
            <a:off x="4937129" y="3083109"/>
            <a:ext cx="2317747" cy="2317747"/>
          </a:xfrm>
          <a:ln w="98426">
            <a:solidFill>
              <a:srgbClr val="D0DFB3"/>
            </a:solidFill>
            <a:prstDash val="solid"/>
          </a:ln>
        </p:spPr>
        <p:txBody>
          <a:bodyPr vert="horz" wrap="square" lIns="91440" tIns="45720" rIns="91440" bIns="45720" anchor="t" anchorCtr="0" compatLnSpc="1">
            <a:normAutofit/>
          </a:bodyPr>
          <a:lstStyle>
            <a:lvl1pPr>
              <a:defRPr lang="id-ID" sz="24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2400" b="0" i="0" u="none" strike="noStrike" kern="1200" cap="none" spc="0" normalizeH="0" baseline="0" noProof="0">
              <a:ln>
                <a:noFill/>
              </a:ln>
              <a:solidFill>
                <a:srgbClr val="88A945"/>
              </a:solidFill>
              <a:effectLst/>
              <a:uLnTx/>
              <a:uFillTx/>
              <a:latin typeface="Calibri" panose="020F0502020204030204"/>
            </a:endParaRPr>
          </a:p>
        </p:txBody>
      </p:sp>
      <p:sp>
        <p:nvSpPr>
          <p:cNvPr id="2" name="Espace réservé de la date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3" name="Espace réservé du pied de page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4_Title Slide">
    <p:bg>
      <p:bgPr>
        <a:solidFill>
          <a:srgbClr val="FFFFFF"/>
        </a:solidFill>
        <a:effectLst/>
      </p:bgPr>
    </p:bg>
    <p:spTree>
      <p:nvGrpSpPr>
        <p:cNvPr id="1" name=""/>
        <p:cNvGrpSpPr/>
        <p:nvPr/>
      </p:nvGrpSpPr>
      <p:grpSpPr>
        <a:xfrm>
          <a:off x="0" y="0"/>
          <a:ext cx="0" cy="0"/>
          <a:chOff x="0" y="0"/>
          <a:chExt cx="0" cy="0"/>
        </a:xfrm>
      </p:grpSpPr>
      <p:sp>
        <p:nvSpPr>
          <p:cNvPr id="26626" name="Rectangle 13"/>
          <p:cNvSpPr/>
          <p:nvPr/>
        </p:nvSpPr>
        <p:spPr>
          <a:xfrm>
            <a:off x="11528425" y="273050"/>
            <a:ext cx="461963" cy="368300"/>
          </a:xfrm>
          <a:prstGeom prst="rect">
            <a:avLst/>
          </a:prstGeom>
          <a:solidFill>
            <a:srgbClr val="88A945"/>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6627" name="Rectangle 14"/>
          <p:cNvSpPr/>
          <p:nvPr/>
        </p:nvSpPr>
        <p:spPr>
          <a:xfrm>
            <a:off x="11528425" y="641350"/>
            <a:ext cx="461963" cy="46038"/>
          </a:xfrm>
          <a:prstGeom prst="rect">
            <a:avLst/>
          </a:prstGeom>
          <a:solidFill>
            <a:srgbClr val="667F34"/>
          </a:solidFill>
          <a:ln w="9525">
            <a:noFill/>
          </a:ln>
        </p:spPr>
        <p:txBody>
          <a:bodyPr anchor="ctr" anchorCtr="1"/>
          <a:lstStyle/>
          <a:p>
            <a:pPr lvl="0" algn="ctr" eaLnBrk="1" hangingPunct="1"/>
            <a:endParaRPr lang="id-ID" altLang="x-none" sz="1400" dirty="0">
              <a:solidFill>
                <a:srgbClr val="FFFFFF"/>
              </a:solidFill>
              <a:latin typeface="Calibri" panose="020F0502020204030204" pitchFamily="34" charset="0"/>
            </a:endParaRPr>
          </a:p>
        </p:txBody>
      </p:sp>
      <p:sp>
        <p:nvSpPr>
          <p:cNvPr id="26628" name="TextBox 15"/>
          <p:cNvSpPr txBox="1"/>
          <p:nvPr/>
        </p:nvSpPr>
        <p:spPr>
          <a:xfrm>
            <a:off x="11560175" y="304800"/>
            <a:ext cx="400050" cy="307975"/>
          </a:xfrm>
          <a:prstGeom prst="rect">
            <a:avLst/>
          </a:prstGeom>
          <a:noFill/>
          <a:ln w="9525">
            <a:noFill/>
          </a:ln>
        </p:spPr>
        <p:txBody>
          <a:bodyPr wrap="none" anchor="t" anchorCtr="1">
            <a:spAutoFit/>
          </a:bodyPr>
          <a:lstStyle/>
          <a:p>
            <a:pPr lvl="0" algn="ctr" eaLnBrk="1" hangingPunct="1"/>
            <a:fld id="{9A0DB2DC-4C9A-4742-B13C-FB6460FD3503}" type="slidenum">
              <a:rPr lang="id-ID" altLang="x-none" sz="1400" b="1" dirty="0">
                <a:solidFill>
                  <a:srgbClr val="FFFFFF"/>
                </a:solidFill>
                <a:latin typeface="Calibri" panose="020F0502020204030204" pitchFamily="34" charset="0"/>
              </a:rPr>
              <a:t>‹N°›</a:t>
            </a:fld>
            <a:endParaRPr lang="id-ID" altLang="x-none" sz="1400" b="1" dirty="0">
              <a:solidFill>
                <a:srgbClr val="FFFFFF"/>
              </a:solidFill>
              <a:latin typeface="Calibri" panose="020F0502020204030204" pitchFamily="34" charset="0"/>
            </a:endParaRPr>
          </a:p>
        </p:txBody>
      </p:sp>
      <p:grpSp>
        <p:nvGrpSpPr>
          <p:cNvPr id="26629" name="Group 23"/>
          <p:cNvGrpSpPr/>
          <p:nvPr/>
        </p:nvGrpSpPr>
        <p:grpSpPr>
          <a:xfrm>
            <a:off x="347663" y="6408738"/>
            <a:ext cx="223837" cy="222250"/>
            <a:chOff x="347417" y="6409322"/>
            <a:chExt cx="224082" cy="221156"/>
          </a:xfrm>
        </p:grpSpPr>
        <p:sp>
          <p:nvSpPr>
            <p:cNvPr id="26636" name="Freeform 24">
              <a:hlinkClick r:id="" action="ppaction://hlinkshowjump?jump=previousslide"/>
            </p:cNvPr>
            <p:cNvSpPr/>
            <p:nvPr/>
          </p:nvSpPr>
          <p:spPr>
            <a:xfrm>
              <a:off x="433270"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6637" name="Freeform 25">
              <a:hlinkClick r:id="" action="ppaction://hlinkshowjump?jump=previousslide"/>
            </p:cNvPr>
            <p:cNvSpPr/>
            <p:nvPr/>
          </p:nvSpPr>
          <p:spPr>
            <a:xfrm>
              <a:off x="347417"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grpSp>
        <p:nvGrpSpPr>
          <p:cNvPr id="26630" name="Group 26"/>
          <p:cNvGrpSpPr/>
          <p:nvPr/>
        </p:nvGrpSpPr>
        <p:grpSpPr>
          <a:xfrm>
            <a:off x="933450" y="6408738"/>
            <a:ext cx="223838" cy="222250"/>
            <a:chOff x="933712" y="6409322"/>
            <a:chExt cx="224082" cy="221156"/>
          </a:xfrm>
        </p:grpSpPr>
        <p:sp>
          <p:nvSpPr>
            <p:cNvPr id="26634" name="Freeform 27">
              <a:hlinkClick r:id="" action="ppaction://hlinkshowjump?jump=nextslide"/>
            </p:cNvPr>
            <p:cNvSpPr/>
            <p:nvPr/>
          </p:nvSpPr>
          <p:spPr>
            <a:xfrm flipH="1">
              <a:off x="1019565" y="6475058"/>
              <a:ext cx="52376" cy="89684"/>
            </a:xfrm>
            <a:custGeom>
              <a:avLst/>
              <a:gdLst>
                <a:gd name="txL" fmla="*/ 0 w 425"/>
                <a:gd name="txT" fmla="*/ 0 h 728"/>
                <a:gd name="txR" fmla="*/ 425 w 425"/>
                <a:gd name="txB" fmla="*/ 728 h 728"/>
              </a:gdLst>
              <a:ahLst/>
              <a:cxnLst>
                <a:cxn ang="17694720">
                  <a:pos x="26188" y="0"/>
                </a:cxn>
                <a:cxn ang="0">
                  <a:pos x="52376" y="44842"/>
                </a:cxn>
                <a:cxn ang="5898240">
                  <a:pos x="26188" y="89684"/>
                </a:cxn>
                <a:cxn ang="11796480">
                  <a:pos x="0" y="44842"/>
                </a:cxn>
                <a:cxn ang="0">
                  <a:pos x="51390" y="9486"/>
                </a:cxn>
                <a:cxn ang="0">
                  <a:pos x="16144" y="44842"/>
                </a:cxn>
                <a:cxn ang="0">
                  <a:pos x="51390" y="80075"/>
                </a:cxn>
                <a:cxn ang="0">
                  <a:pos x="52376" y="82169"/>
                </a:cxn>
                <a:cxn ang="0">
                  <a:pos x="51390" y="84264"/>
                </a:cxn>
                <a:cxn ang="0">
                  <a:pos x="46954" y="88698"/>
                </a:cxn>
                <a:cxn ang="0">
                  <a:pos x="44859" y="89684"/>
                </a:cxn>
                <a:cxn ang="0">
                  <a:pos x="42763" y="88698"/>
                </a:cxn>
                <a:cxn ang="0">
                  <a:pos x="986" y="46936"/>
                </a:cxn>
                <a:cxn ang="0">
                  <a:pos x="0" y="44842"/>
                </a:cxn>
                <a:cxn ang="0">
                  <a:pos x="986" y="42748"/>
                </a:cxn>
                <a:cxn ang="0">
                  <a:pos x="42763" y="862"/>
                </a:cxn>
                <a:cxn ang="0">
                  <a:pos x="44859" y="0"/>
                </a:cxn>
                <a:cxn ang="0">
                  <a:pos x="46954" y="862"/>
                </a:cxn>
                <a:cxn ang="0">
                  <a:pos x="51390" y="5420"/>
                </a:cxn>
                <a:cxn ang="0">
                  <a:pos x="52376" y="7392"/>
                </a:cxn>
                <a:cxn ang="0">
                  <a:pos x="51390" y="9486"/>
                </a:cxn>
              </a:cxnLst>
              <a:rect l="txL" t="txT" r="txR" b="tx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rgbClr val="7F7F7F">
                <a:alpha val="100000"/>
              </a:srgbClr>
            </a:solidFill>
            <a:ln w="9525">
              <a:noFill/>
            </a:ln>
          </p:spPr>
          <p:txBody>
            <a:bodyPr/>
            <a:lstStyle/>
            <a:p>
              <a:endParaRPr lang="fr-FR" altLang="en-US"/>
            </a:p>
          </p:txBody>
        </p:sp>
        <p:sp>
          <p:nvSpPr>
            <p:cNvPr id="26635" name="Freeform 28">
              <a:hlinkClick r:id="" action="ppaction://hlinkshowjump?jump=nextslide"/>
            </p:cNvPr>
            <p:cNvSpPr/>
            <p:nvPr/>
          </p:nvSpPr>
          <p:spPr>
            <a:xfrm flipH="1">
              <a:off x="933712" y="6409322"/>
              <a:ext cx="224082" cy="221156"/>
            </a:xfrm>
            <a:custGeom>
              <a:avLst/>
              <a:gdLst>
                <a:gd name="txL" fmla="*/ 0 w 2753"/>
                <a:gd name="txT" fmla="*/ 0 h 2716"/>
                <a:gd name="txR" fmla="*/ 2753 w 2753"/>
                <a:gd name="txB" fmla="*/ 2716 h 2716"/>
              </a:gdLst>
              <a:ahLst/>
              <a:cxnLst>
                <a:cxn ang="17694720">
                  <a:pos x="112041" y="0"/>
                </a:cxn>
                <a:cxn ang="0">
                  <a:pos x="224082" y="110578"/>
                </a:cxn>
                <a:cxn ang="5898240">
                  <a:pos x="112041" y="221156"/>
                </a:cxn>
                <a:cxn ang="11796480">
                  <a:pos x="0" y="110578"/>
                </a:cxn>
                <a:cxn ang="0">
                  <a:pos x="191687" y="9283"/>
                </a:cxn>
                <a:cxn ang="0">
                  <a:pos x="214803" y="32489"/>
                </a:cxn>
                <a:cxn ang="0">
                  <a:pos x="214803" y="188667"/>
                </a:cxn>
                <a:cxn ang="0">
                  <a:pos x="191687" y="211873"/>
                </a:cxn>
                <a:cxn ang="0">
                  <a:pos x="32395" y="211873"/>
                </a:cxn>
                <a:cxn ang="0">
                  <a:pos x="9198" y="188667"/>
                </a:cxn>
                <a:cxn ang="0">
                  <a:pos x="9198" y="32489"/>
                </a:cxn>
                <a:cxn ang="0">
                  <a:pos x="32395" y="9283"/>
                </a:cxn>
                <a:cxn ang="0">
                  <a:pos x="191687" y="9283"/>
                </a:cxn>
                <a:cxn ang="0">
                  <a:pos x="191687" y="0"/>
                </a:cxn>
                <a:cxn ang="0">
                  <a:pos x="32395" y="0"/>
                </a:cxn>
                <a:cxn ang="0">
                  <a:pos x="0" y="32489"/>
                </a:cxn>
                <a:cxn ang="0">
                  <a:pos x="0" y="188667"/>
                </a:cxn>
                <a:cxn ang="0">
                  <a:pos x="32395" y="221156"/>
                </a:cxn>
                <a:cxn ang="0">
                  <a:pos x="191687" y="221156"/>
                </a:cxn>
                <a:cxn ang="0">
                  <a:pos x="224082" y="188667"/>
                </a:cxn>
                <a:cxn ang="0">
                  <a:pos x="224082" y="32489"/>
                </a:cxn>
                <a:cxn ang="0">
                  <a:pos x="191687" y="0"/>
                </a:cxn>
              </a:cxnLst>
              <a:rect l="txL" t="txT" r="txR" b="tx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rgbClr val="7F7F7F">
                <a:alpha val="100000"/>
              </a:srgbClr>
            </a:solidFill>
            <a:ln w="9525">
              <a:noFill/>
            </a:ln>
          </p:spPr>
          <p:txBody>
            <a:bodyPr/>
            <a:lstStyle/>
            <a:p>
              <a:endParaRPr lang="fr-FR" altLang="en-US"/>
            </a:p>
          </p:txBody>
        </p:sp>
      </p:grpSp>
      <p:cxnSp>
        <p:nvCxnSpPr>
          <p:cNvPr id="26631" name="Straight Connector 29"/>
          <p:cNvCxnSpPr/>
          <p:nvPr/>
        </p:nvCxnSpPr>
        <p:spPr>
          <a:xfrm>
            <a:off x="552450" y="6523038"/>
            <a:ext cx="381000" cy="0"/>
          </a:xfrm>
          <a:prstGeom prst="straightConnector1">
            <a:avLst/>
          </a:prstGeom>
          <a:ln w="12701" cap="flat" cmpd="sng">
            <a:solidFill>
              <a:srgbClr val="D9D9D9"/>
            </a:solidFill>
            <a:prstDash val="solid"/>
            <a:miter/>
            <a:headEnd type="none" w="med" len="med"/>
            <a:tailEnd type="none" w="med" len="med"/>
          </a:ln>
        </p:spPr>
      </p:cxnSp>
      <p:sp>
        <p:nvSpPr>
          <p:cNvPr id="2" name="Picture Placeholder 3"/>
          <p:cNvSpPr txBox="1">
            <a:spLocks noGrp="1"/>
          </p:cNvSpPr>
          <p:nvPr>
            <p:ph type="pic" idx="4294967295"/>
          </p:nvPr>
        </p:nvSpPr>
        <p:spPr>
          <a:xfrm>
            <a:off x="0" y="0"/>
            <a:ext cx="12191996" cy="5399083"/>
          </a:xfrm>
        </p:spPr>
        <p:txBody>
          <a:bodyPr vert="horz" wrap="square" lIns="91440" tIns="45720" rIns="91440" bIns="45720" anchor="t" anchorCtr="0" compatLnSpc="1">
            <a:normAutofit/>
          </a:bodyPr>
          <a:lstStyle>
            <a:lvl1pPr>
              <a:defRPr lang="id-ID" sz="3600">
                <a:solidFill>
                  <a:srgbClr val="88A945"/>
                </a:solidFill>
              </a:defRPr>
            </a:lvl1pPr>
          </a:lstStyle>
          <a:p>
            <a:pPr marL="228600" marR="0" lvl="0" indent="-228600" algn="l" defTabSz="914400" rtl="0" eaLnBrk="1" fontAlgn="auto" latinLnBrk="0" hangingPunct="1">
              <a:lnSpc>
                <a:spcPct val="90000"/>
              </a:lnSpc>
              <a:spcBef>
                <a:spcPts val="1000"/>
              </a:spcBef>
              <a:spcAft>
                <a:spcPts val="0"/>
              </a:spcAft>
              <a:buClrTx/>
              <a:buSzPct val="100000"/>
              <a:buFont typeface="Arial" panose="020B0604020202020204" pitchFamily="34"/>
              <a:buChar char="•"/>
              <a:defRPr/>
            </a:pPr>
            <a:endParaRPr kumimoji="0" lang="id-ID" sz="3600" b="0" i="0" u="none" strike="noStrike" kern="1200" cap="none" spc="0" normalizeH="0" baseline="0" noProof="0">
              <a:ln>
                <a:noFill/>
              </a:ln>
              <a:solidFill>
                <a:srgbClr val="88A945"/>
              </a:solidFill>
              <a:effectLst/>
              <a:uLnTx/>
              <a:uFillTx/>
              <a:latin typeface="Calibri" panose="020F0502020204030204"/>
            </a:endParaRPr>
          </a:p>
        </p:txBody>
      </p:sp>
      <p:sp>
        <p:nvSpPr>
          <p:cNvPr id="3" name="Espace réservé de la date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4" name="Espace réservé du pied de page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Espace réservé du numéro de diapositive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Ovr>
    <a:masterClrMapping/>
  </p:clrMapOvr>
  <p:transition spd="slow"/>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Placeholder 1"/>
          <p:cNvSpPr txBox="1">
            <a:spLocks noGrp="1"/>
          </p:cNvSpPr>
          <p:nvPr>
            <p:ph type="title"/>
          </p:nvPr>
        </p:nvSpPr>
        <p:spPr>
          <a:xfrm>
            <a:off x="838200" y="365125"/>
            <a:ext cx="10515600" cy="1325563"/>
          </a:xfrm>
          <a:prstGeom prst="rect">
            <a:avLst/>
          </a:prstGeom>
          <a:noFill/>
          <a:ln w="9525">
            <a:noFill/>
          </a:ln>
        </p:spPr>
        <p:txBody>
          <a:bodyPr anchor="ctr" anchorCtr="0"/>
          <a:lstStyle/>
          <a:p>
            <a:pPr lvl="0"/>
            <a:r>
              <a:rPr dirty="0"/>
              <a:t>Click to edit Master title style</a:t>
            </a:r>
            <a:endParaRPr lang="id-ID" altLang="x-none" dirty="0"/>
          </a:p>
        </p:txBody>
      </p:sp>
      <p:sp>
        <p:nvSpPr>
          <p:cNvPr id="1027" name="Text Placeholder 2"/>
          <p:cNvSpPr txBox="1">
            <a:spLocks noGrp="1"/>
          </p:cNvSpPr>
          <p:nvPr>
            <p:ph type="body" idx="1"/>
          </p:nvPr>
        </p:nvSpPr>
        <p:spPr>
          <a:xfrm>
            <a:off x="838200" y="1825625"/>
            <a:ext cx="10515600" cy="4351338"/>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id-ID" altLang="x-none" dirty="0"/>
          </a:p>
        </p:txBody>
      </p:sp>
      <p:sp>
        <p:nvSpPr>
          <p:cNvPr id="4" name="Date Placeholder 3"/>
          <p:cNvSpPr txBox="1">
            <a:spLocks noGrp="1"/>
          </p:cNvSpPr>
          <p:nvPr>
            <p:ph type="dt" sz="half" idx="2"/>
          </p:nvPr>
        </p:nvSpPr>
        <p:spPr>
          <a:xfrm>
            <a:off x="838200" y="6356350"/>
            <a:ext cx="2743200" cy="365125"/>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defRPr lang="id-ID" sz="1200" b="0" i="0" u="none" strike="noStrike" kern="1200" cap="none" spc="0" baseline="0">
                <a:solidFill>
                  <a:srgbClr val="898989"/>
                </a:solidFill>
                <a:uFillTx/>
                <a:latin typeface="Calibri" panose="020F0502020204030204"/>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67980AC-D190-4BB5-90FB-07ED6B744E9A}" type="datetime1">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03/05/2026</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5" name="Footer Placeholder 4"/>
          <p:cNvSpPr txBox="1">
            <a:spLocks noGrp="1"/>
          </p:cNvSpPr>
          <p:nvPr>
            <p:ph type="ftr" sz="quarter" idx="3"/>
          </p:nvPr>
        </p:nvSpPr>
        <p:spPr>
          <a:xfrm>
            <a:off x="4038600" y="6356350"/>
            <a:ext cx="4114800" cy="365125"/>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defRPr lang="id-ID" sz="1200" b="0" i="0" u="none" strike="noStrike" kern="1200" cap="none" spc="0" baseline="0">
                <a:solidFill>
                  <a:srgbClr val="898989"/>
                </a:solidFill>
                <a:uFillTx/>
                <a:latin typeface="Calibri" panose="020F0502020204030204"/>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
        <p:nvSpPr>
          <p:cNvPr id="6" name="Slide Number Placeholder 5"/>
          <p:cNvSpPr txBox="1">
            <a:spLocks noGrp="1"/>
          </p:cNvSpPr>
          <p:nvPr>
            <p:ph type="sldNum" sz="quarter" idx="4"/>
          </p:nvPr>
        </p:nvSpPr>
        <p:spPr>
          <a:xfrm>
            <a:off x="8610600" y="6356350"/>
            <a:ext cx="2743200" cy="365125"/>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defRPr lang="id-ID" sz="1200" b="0" i="0" u="none" strike="noStrike" kern="1200" cap="none" spc="0" baseline="0">
                <a:solidFill>
                  <a:srgbClr val="898989"/>
                </a:solidFill>
                <a:uFillTx/>
                <a:latin typeface="Calibri" panose="020F0502020204030204"/>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2B29DD22-2837-467C-9F45-3F81CC1FC221}" type="slidenum">
              <a:rPr kumimoji="0" lang="id-ID" sz="1200" b="0" i="0" u="none" strike="noStrike" kern="1200" cap="none" spc="0" normalizeH="0" baseline="0" noProof="0" smtClean="0">
                <a:ln>
                  <a:noFill/>
                </a:ln>
                <a:solidFill>
                  <a:srgbClr val="898989"/>
                </a:solidFill>
                <a:effectLst/>
                <a:uLnTx/>
                <a:uFillTx/>
                <a:latin typeface="Calibri" panose="020F0502020204030204"/>
                <a:ea typeface="+mn-ea"/>
                <a:cs typeface="+mn-cs"/>
              </a:rPr>
              <a:t>‹N°›</a:t>
            </a:fld>
            <a:endParaRPr kumimoji="0" lang="id-ID" sz="1200" b="0" i="0" u="none" strike="noStrike" kern="1200" cap="none" spc="0" normalizeH="0" baseline="0" noProof="0">
              <a:ln>
                <a:noFill/>
              </a:ln>
              <a:solidFill>
                <a:srgbClr val="898989"/>
              </a:solidFill>
              <a:effectLst/>
              <a:uLnTx/>
              <a:uFillTx/>
              <a:latin typeface="Calibri" panose="020F0502020204030204"/>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ransition spd="slow"/>
  <p:hf sldNum="0" hdr="0" ftr="0" dt="0"/>
  <p:txStyles>
    <p:titleStyle>
      <a:lvl1pPr marL="0" marR="0" lvl="0" indent="0" algn="l" defTabSz="914400" rtl="0" fontAlgn="auto" hangingPunct="1">
        <a:lnSpc>
          <a:spcPct val="90000"/>
        </a:lnSpc>
        <a:spcBef>
          <a:spcPts val="0"/>
        </a:spcBef>
        <a:spcAft>
          <a:spcPts val="0"/>
        </a:spcAft>
        <a:buNone/>
        <a:defRPr lang="en-US" sz="4400" b="0" i="0" u="none" strike="noStrike" kern="1200" cap="none" spc="0" baseline="0">
          <a:solidFill>
            <a:srgbClr val="000000"/>
          </a:solidFill>
          <a:uFillTx/>
          <a:latin typeface="Source Sans Pro Light"/>
        </a:defRPr>
      </a:lvl1pPr>
    </p:titleStyle>
    <p:bodyStyle>
      <a:lvl1pPr marL="228600" marR="0" lvl="0" indent="-228600" algn="l" defTabSz="914400" rtl="0" fontAlgn="auto" hangingPunct="1">
        <a:lnSpc>
          <a:spcPct val="90000"/>
        </a:lnSpc>
        <a:spcBef>
          <a:spcPts val="1000"/>
        </a:spcBef>
        <a:spcAft>
          <a:spcPts val="0"/>
        </a:spcAft>
        <a:buSzPct val="100000"/>
        <a:buFont typeface="Arial" panose="020B0604020202020204" pitchFamily="34"/>
        <a:buChar char="•"/>
        <a:defRPr lang="en-US" sz="2800" b="0" i="0" u="none" strike="noStrike" kern="1200" cap="none" spc="0" baseline="0">
          <a:solidFill>
            <a:srgbClr val="000000"/>
          </a:solidFill>
          <a:uFillTx/>
          <a:latin typeface="Calibri" panose="020F0502020204030204"/>
        </a:defRPr>
      </a:lvl1pPr>
      <a:lvl2pPr marL="685800" marR="0" lvl="1" indent="-228600" algn="l" defTabSz="914400" rtl="0" fontAlgn="auto" hangingPunct="1">
        <a:lnSpc>
          <a:spcPct val="90000"/>
        </a:lnSpc>
        <a:spcBef>
          <a:spcPts val="500"/>
        </a:spcBef>
        <a:spcAft>
          <a:spcPts val="0"/>
        </a:spcAft>
        <a:buSzPct val="100000"/>
        <a:buFont typeface="Arial" panose="020B0604020202020204" pitchFamily="34"/>
        <a:buChar char="•"/>
        <a:defRPr lang="en-US" sz="2400" b="0" i="0" u="none" strike="noStrike" kern="1200" cap="none" spc="0" baseline="0">
          <a:solidFill>
            <a:srgbClr val="000000"/>
          </a:solidFill>
          <a:uFillTx/>
          <a:latin typeface="Calibri" panose="020F0502020204030204"/>
        </a:defRPr>
      </a:lvl2pPr>
      <a:lvl3pPr marL="1143000" marR="0" lvl="2" indent="-228600" algn="l" defTabSz="914400" rtl="0" fontAlgn="auto" hangingPunct="1">
        <a:lnSpc>
          <a:spcPct val="90000"/>
        </a:lnSpc>
        <a:spcBef>
          <a:spcPts val="500"/>
        </a:spcBef>
        <a:spcAft>
          <a:spcPts val="0"/>
        </a:spcAft>
        <a:buSzPct val="100000"/>
        <a:buFont typeface="Arial" panose="020B0604020202020204" pitchFamily="34"/>
        <a:buChar char="•"/>
        <a:defRPr lang="en-US" sz="2000" b="0" i="0" u="none" strike="noStrike" kern="1200" cap="none" spc="0" baseline="0">
          <a:solidFill>
            <a:srgbClr val="000000"/>
          </a:solidFill>
          <a:uFillTx/>
          <a:latin typeface="Calibri" panose="020F0502020204030204"/>
        </a:defRPr>
      </a:lvl3pPr>
      <a:lvl4pPr marL="1600200" marR="0" lvl="3" indent="-228600" algn="l" defTabSz="914400" rtl="0" fontAlgn="auto" hangingPunct="1">
        <a:lnSpc>
          <a:spcPct val="90000"/>
        </a:lnSpc>
        <a:spcBef>
          <a:spcPts val="500"/>
        </a:spcBef>
        <a:spcAft>
          <a:spcPts val="0"/>
        </a:spcAft>
        <a:buSzPct val="100000"/>
        <a:buFont typeface="Arial" panose="020B0604020202020204" pitchFamily="34"/>
        <a:buChar char="•"/>
        <a:defRPr lang="en-US" sz="1800" b="0" i="0" u="none" strike="noStrike" kern="1200" cap="none" spc="0" baseline="0">
          <a:solidFill>
            <a:srgbClr val="000000"/>
          </a:solidFill>
          <a:uFillTx/>
          <a:latin typeface="Calibri" panose="020F0502020204030204"/>
        </a:defRPr>
      </a:lvl4pPr>
      <a:lvl5pPr marL="2057400" marR="0" lvl="4" indent="-228600" algn="l" defTabSz="914400" rtl="0" fontAlgn="auto" hangingPunct="1">
        <a:lnSpc>
          <a:spcPct val="90000"/>
        </a:lnSpc>
        <a:spcBef>
          <a:spcPts val="500"/>
        </a:spcBef>
        <a:spcAft>
          <a:spcPts val="0"/>
        </a:spcAft>
        <a:buSzPct val="100000"/>
        <a:buFont typeface="Arial" panose="020B0604020202020204" pitchFamily="34"/>
        <a:buChar char="•"/>
        <a:defRPr lang="en-US" sz="1800" b="0" i="0" u="none" strike="noStrike" kern="1200" cap="none" spc="0" baseline="0">
          <a:solidFill>
            <a:srgbClr val="000000"/>
          </a:solidFill>
          <a:uFillTx/>
          <a:latin typeface="Calibri" panose="020F050202020403020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hyperlink" Target="https://research.google/blog/pathways-language-model-palm-scaling-to-540-billion-parameters-for-breakthrough-performance/" TargetMode="External"/><Relationship Id="rId7" Type="http://schemas.openxmlformats.org/officeDocument/2006/relationships/hyperlink" Target="https://drive.google.com/file/d/17oA0s8yh8xNZ5ZKiM7cR3lPFlRO-P02a/view" TargetMode="External"/><Relationship Id="rId2" Type="http://schemas.openxmlformats.org/officeDocument/2006/relationships/hyperlink" Target="https://arxiv.org/pdf/2204.02311v5" TargetMode="External"/><Relationship Id="rId1" Type="http://schemas.openxmlformats.org/officeDocument/2006/relationships/slideLayout" Target="../slideLayouts/slideLayout2.xml"/><Relationship Id="rId6" Type="http://schemas.openxmlformats.org/officeDocument/2006/relationships/hyperlink" Target="https://arxiv.org/pdf/2305.10403v1" TargetMode="External"/><Relationship Id="rId5" Type="http://schemas.openxmlformats.org/officeDocument/2006/relationships/hyperlink" Target="https://arxiv.org/pdf/2002.05202" TargetMode="External"/><Relationship Id="rId4" Type="http://schemas.openxmlformats.org/officeDocument/2006/relationships/hyperlink" Target="https://arxiv.org/pdf/2406.13469"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grpSp>
        <p:nvGrpSpPr>
          <p:cNvPr id="29698" name="Group 21"/>
          <p:cNvGrpSpPr/>
          <p:nvPr/>
        </p:nvGrpSpPr>
        <p:grpSpPr>
          <a:xfrm>
            <a:off x="10045700" y="-506412"/>
            <a:ext cx="4143375" cy="8526462"/>
            <a:chOff x="10046238" y="-506806"/>
            <a:chExt cx="4142113" cy="8526606"/>
          </a:xfrm>
        </p:grpSpPr>
        <p:sp>
          <p:nvSpPr>
            <p:cNvPr id="29702" name="Freeform 10"/>
            <p:cNvSpPr/>
            <p:nvPr/>
          </p:nvSpPr>
          <p:spPr>
            <a:xfrm>
              <a:off x="10046238" y="-506806"/>
              <a:ext cx="4142113" cy="8526606"/>
            </a:xfrm>
            <a:custGeom>
              <a:avLst/>
              <a:gdLst>
                <a:gd name="txL" fmla="*/ 0 w 537"/>
                <a:gd name="txT" fmla="*/ 0 h 612"/>
                <a:gd name="txR" fmla="*/ 537 w 537"/>
                <a:gd name="txB" fmla="*/ 612 h 612"/>
              </a:gdLst>
              <a:ahLst/>
              <a:cxnLst>
                <a:cxn ang="17694720">
                  <a:pos x="2071057" y="0"/>
                </a:cxn>
                <a:cxn ang="0">
                  <a:pos x="4142113" y="4263303"/>
                </a:cxn>
                <a:cxn ang="5898240">
                  <a:pos x="2071057" y="8526606"/>
                </a:cxn>
                <a:cxn ang="11796480">
                  <a:pos x="0" y="4263303"/>
                </a:cxn>
                <a:cxn ang="0">
                  <a:pos x="1619821" y="0"/>
                </a:cxn>
                <a:cxn ang="0">
                  <a:pos x="1882077" y="0"/>
                </a:cxn>
                <a:cxn ang="0">
                  <a:pos x="740489" y="2925796"/>
                </a:cxn>
                <a:cxn ang="0">
                  <a:pos x="740489" y="4514086"/>
                </a:cxn>
                <a:cxn ang="0">
                  <a:pos x="740489" y="4555883"/>
                </a:cxn>
                <a:cxn ang="0">
                  <a:pos x="1619821" y="6144172"/>
                </a:cxn>
                <a:cxn ang="0">
                  <a:pos x="2537719" y="6144172"/>
                </a:cxn>
                <a:cxn ang="0">
                  <a:pos x="2653421" y="6144172"/>
                </a:cxn>
                <a:cxn ang="0">
                  <a:pos x="2753695" y="6158104"/>
                </a:cxn>
                <a:cxn ang="0">
                  <a:pos x="2769122" y="6158104"/>
                </a:cxn>
                <a:cxn ang="0">
                  <a:pos x="3162507" y="6255631"/>
                </a:cxn>
                <a:cxn ang="0">
                  <a:pos x="3748728" y="6882587"/>
                </a:cxn>
                <a:cxn ang="0">
                  <a:pos x="4142113" y="8526606"/>
                </a:cxn>
                <a:cxn ang="0">
                  <a:pos x="2560859" y="7481679"/>
                </a:cxn>
                <a:cxn ang="0">
                  <a:pos x="2522292" y="7481679"/>
                </a:cxn>
                <a:cxn ang="0">
                  <a:pos x="1619821" y="7481679"/>
                </a:cxn>
                <a:cxn ang="0">
                  <a:pos x="0" y="4555883"/>
                </a:cxn>
                <a:cxn ang="0">
                  <a:pos x="0" y="2925796"/>
                </a:cxn>
                <a:cxn ang="0">
                  <a:pos x="1619821" y="0"/>
                </a:cxn>
              </a:cxnLst>
              <a:rect l="txL" t="txT" r="txR" b="txB"/>
              <a:pathLst>
                <a:path w="537" h="612">
                  <a:moveTo>
                    <a:pt x="210" y="0"/>
                  </a:moveTo>
                  <a:cubicBezTo>
                    <a:pt x="244" y="0"/>
                    <a:pt x="244" y="0"/>
                    <a:pt x="244" y="0"/>
                  </a:cubicBezTo>
                  <a:cubicBezTo>
                    <a:pt x="88" y="57"/>
                    <a:pt x="96" y="210"/>
                    <a:pt x="96" y="210"/>
                  </a:cubicBezTo>
                  <a:cubicBezTo>
                    <a:pt x="96" y="324"/>
                    <a:pt x="96" y="324"/>
                    <a:pt x="96" y="324"/>
                  </a:cubicBezTo>
                  <a:cubicBezTo>
                    <a:pt x="96" y="327"/>
                    <a:pt x="96" y="327"/>
                    <a:pt x="96" y="327"/>
                  </a:cubicBezTo>
                  <a:cubicBezTo>
                    <a:pt x="96" y="390"/>
                    <a:pt x="147" y="441"/>
                    <a:pt x="210" y="441"/>
                  </a:cubicBezTo>
                  <a:cubicBezTo>
                    <a:pt x="329" y="441"/>
                    <a:pt x="329" y="441"/>
                    <a:pt x="329" y="441"/>
                  </a:cubicBezTo>
                  <a:cubicBezTo>
                    <a:pt x="334" y="441"/>
                    <a:pt x="339" y="441"/>
                    <a:pt x="344" y="441"/>
                  </a:cubicBezTo>
                  <a:cubicBezTo>
                    <a:pt x="349" y="441"/>
                    <a:pt x="353" y="442"/>
                    <a:pt x="357" y="442"/>
                  </a:cubicBezTo>
                  <a:cubicBezTo>
                    <a:pt x="358" y="442"/>
                    <a:pt x="359" y="442"/>
                    <a:pt x="359" y="442"/>
                  </a:cubicBezTo>
                  <a:cubicBezTo>
                    <a:pt x="377" y="443"/>
                    <a:pt x="394" y="446"/>
                    <a:pt x="410" y="449"/>
                  </a:cubicBezTo>
                  <a:cubicBezTo>
                    <a:pt x="451" y="456"/>
                    <a:pt x="483" y="491"/>
                    <a:pt x="486" y="494"/>
                  </a:cubicBezTo>
                  <a:cubicBezTo>
                    <a:pt x="524" y="544"/>
                    <a:pt x="537" y="612"/>
                    <a:pt x="537" y="612"/>
                  </a:cubicBezTo>
                  <a:cubicBezTo>
                    <a:pt x="537" y="612"/>
                    <a:pt x="490" y="540"/>
                    <a:pt x="332" y="537"/>
                  </a:cubicBezTo>
                  <a:cubicBezTo>
                    <a:pt x="330" y="537"/>
                    <a:pt x="329" y="537"/>
                    <a:pt x="327" y="537"/>
                  </a:cubicBezTo>
                  <a:cubicBezTo>
                    <a:pt x="210" y="537"/>
                    <a:pt x="210" y="537"/>
                    <a:pt x="210" y="537"/>
                  </a:cubicBezTo>
                  <a:cubicBezTo>
                    <a:pt x="94" y="537"/>
                    <a:pt x="0" y="443"/>
                    <a:pt x="0" y="327"/>
                  </a:cubicBezTo>
                  <a:cubicBezTo>
                    <a:pt x="0" y="210"/>
                    <a:pt x="0" y="210"/>
                    <a:pt x="0" y="210"/>
                  </a:cubicBezTo>
                  <a:cubicBezTo>
                    <a:pt x="0" y="94"/>
                    <a:pt x="94" y="0"/>
                    <a:pt x="210" y="0"/>
                  </a:cubicBezTo>
                  <a:close/>
                </a:path>
              </a:pathLst>
            </a:custGeom>
            <a:solidFill>
              <a:srgbClr val="FFFFFF">
                <a:alpha val="1176"/>
              </a:srgbClr>
            </a:solidFill>
            <a:ln w="9525">
              <a:noFill/>
            </a:ln>
          </p:spPr>
          <p:txBody>
            <a:bodyPr/>
            <a:lstStyle/>
            <a:p>
              <a:endParaRPr lang="fr-FR" altLang="en-US"/>
            </a:p>
          </p:txBody>
        </p:sp>
        <p:sp>
          <p:nvSpPr>
            <p:cNvPr id="29703" name="Freeform 9"/>
            <p:cNvSpPr/>
            <p:nvPr/>
          </p:nvSpPr>
          <p:spPr>
            <a:xfrm>
              <a:off x="11164933" y="-506806"/>
              <a:ext cx="3023417" cy="7410864"/>
            </a:xfrm>
            <a:custGeom>
              <a:avLst/>
              <a:gdLst>
                <a:gd name="txL" fmla="*/ 0 w 392"/>
                <a:gd name="txT" fmla="*/ 0 h 532"/>
                <a:gd name="txR" fmla="*/ 392 w 392"/>
                <a:gd name="txB" fmla="*/ 532 h 532"/>
              </a:gdLst>
              <a:ahLst/>
              <a:cxnLst>
                <a:cxn ang="17694720">
                  <a:pos x="1511709" y="0"/>
                </a:cxn>
                <a:cxn ang="0">
                  <a:pos x="3023417" y="3705432"/>
                </a:cxn>
                <a:cxn ang="5898240">
                  <a:pos x="1511709" y="7410864"/>
                </a:cxn>
                <a:cxn ang="11796480">
                  <a:pos x="0" y="3705432"/>
                </a:cxn>
                <a:cxn ang="0">
                  <a:pos x="2282988" y="5794961"/>
                </a:cxn>
                <a:cxn ang="0">
                  <a:pos x="2282988" y="2925341"/>
                </a:cxn>
                <a:cxn ang="0">
                  <a:pos x="1403729" y="1337299"/>
                </a:cxn>
                <a:cxn ang="0">
                  <a:pos x="501332" y="1337299"/>
                </a:cxn>
                <a:cxn ang="0">
                  <a:pos x="0" y="1615903"/>
                </a:cxn>
                <a:cxn ang="0">
                  <a:pos x="1041228" y="0"/>
                </a:cxn>
                <a:cxn ang="0">
                  <a:pos x="1403729" y="0"/>
                </a:cxn>
                <a:cxn ang="0">
                  <a:pos x="3023417" y="2925341"/>
                </a:cxn>
                <a:cxn ang="0">
                  <a:pos x="3023417" y="7410864"/>
                </a:cxn>
                <a:cxn ang="0">
                  <a:pos x="2282988" y="5794961"/>
                </a:cxn>
              </a:cxnLst>
              <a:rect l="txL" t="txT" r="txR" b="txB"/>
              <a:pathLst>
                <a:path w="392" h="532">
                  <a:moveTo>
                    <a:pt x="296" y="416"/>
                  </a:moveTo>
                  <a:cubicBezTo>
                    <a:pt x="296" y="210"/>
                    <a:pt x="296" y="210"/>
                    <a:pt x="296" y="210"/>
                  </a:cubicBezTo>
                  <a:cubicBezTo>
                    <a:pt x="296" y="147"/>
                    <a:pt x="245" y="96"/>
                    <a:pt x="182" y="96"/>
                  </a:cubicBezTo>
                  <a:cubicBezTo>
                    <a:pt x="65" y="96"/>
                    <a:pt x="65" y="96"/>
                    <a:pt x="65" y="96"/>
                  </a:cubicBezTo>
                  <a:cubicBezTo>
                    <a:pt x="41" y="96"/>
                    <a:pt x="19" y="103"/>
                    <a:pt x="0" y="116"/>
                  </a:cubicBezTo>
                  <a:cubicBezTo>
                    <a:pt x="23" y="73"/>
                    <a:pt x="63" y="26"/>
                    <a:pt x="135" y="0"/>
                  </a:cubicBezTo>
                  <a:cubicBezTo>
                    <a:pt x="182" y="0"/>
                    <a:pt x="182" y="0"/>
                    <a:pt x="182" y="0"/>
                  </a:cubicBezTo>
                  <a:cubicBezTo>
                    <a:pt x="298" y="0"/>
                    <a:pt x="392" y="94"/>
                    <a:pt x="392" y="210"/>
                  </a:cubicBezTo>
                  <a:cubicBezTo>
                    <a:pt x="392" y="532"/>
                    <a:pt x="392" y="532"/>
                    <a:pt x="392" y="532"/>
                  </a:cubicBezTo>
                  <a:cubicBezTo>
                    <a:pt x="364" y="473"/>
                    <a:pt x="322" y="435"/>
                    <a:pt x="296" y="416"/>
                  </a:cubicBezTo>
                  <a:close/>
                </a:path>
              </a:pathLst>
            </a:custGeom>
            <a:solidFill>
              <a:srgbClr val="FFFFFF">
                <a:alpha val="1176"/>
              </a:srgbClr>
            </a:solidFill>
            <a:ln w="9525">
              <a:noFill/>
            </a:ln>
          </p:spPr>
          <p:txBody>
            <a:bodyPr/>
            <a:lstStyle/>
            <a:p>
              <a:endParaRPr lang="fr-FR" altLang="en-US"/>
            </a:p>
          </p:txBody>
        </p:sp>
      </p:grpSp>
      <p:cxnSp>
        <p:nvCxnSpPr>
          <p:cNvPr id="6" name="Straight Connector 14"/>
          <p:cNvCxnSpPr/>
          <p:nvPr/>
        </p:nvCxnSpPr>
        <p:spPr>
          <a:xfrm>
            <a:off x="6096000" y="4578350"/>
            <a:ext cx="0" cy="2279650"/>
          </a:xfrm>
          <a:prstGeom prst="straightConnector1">
            <a:avLst/>
          </a:prstGeom>
          <a:ln w="25402" cap="flat" cmpd="sng">
            <a:solidFill>
              <a:srgbClr val="D9D9D9"/>
            </a:solidFill>
            <a:prstDash val="solid"/>
            <a:miter/>
            <a:headEnd type="arrow" w="med" len="med"/>
            <a:tailEnd type="none" w="med" len="med"/>
          </a:ln>
        </p:spPr>
      </p:cxnSp>
      <p:sp>
        <p:nvSpPr>
          <p:cNvPr id="29701" name="ZoneTexte 5"/>
          <p:cNvSpPr txBox="1"/>
          <p:nvPr/>
        </p:nvSpPr>
        <p:spPr>
          <a:xfrm>
            <a:off x="1586782" y="2321004"/>
            <a:ext cx="8661737" cy="1107996"/>
          </a:xfrm>
          <a:prstGeom prst="rect">
            <a:avLst/>
          </a:prstGeom>
          <a:noFill/>
          <a:ln w="9525">
            <a:noFill/>
          </a:ln>
        </p:spPr>
        <p:txBody>
          <a:bodyPr wrap="square">
            <a:spAutoFit/>
          </a:bodyPr>
          <a:lstStyle/>
          <a:p>
            <a:pPr eaLnBrk="1" hangingPunct="1"/>
            <a:r>
              <a:rPr lang="fr-FR" altLang="x-none" sz="6600" b="1" dirty="0" err="1">
                <a:solidFill>
                  <a:srgbClr val="FFFFFF"/>
                </a:solidFill>
                <a:latin typeface="Calibri" panose="020F0502020204030204" pitchFamily="34" charset="0"/>
                <a:cs typeface="Calibri" panose="020F0502020204030204" pitchFamily="34" charset="0"/>
              </a:rPr>
              <a:t>PaLM</a:t>
            </a:r>
            <a:r>
              <a:rPr lang="fr-FR" altLang="x-none" sz="6600" b="1" dirty="0">
                <a:solidFill>
                  <a:srgbClr val="FFFFFF"/>
                </a:solidFill>
                <a:latin typeface="Calibri" panose="020F0502020204030204" pitchFamily="34" charset="0"/>
                <a:cs typeface="Calibri" panose="020F0502020204030204" pitchFamily="34" charset="0"/>
              </a:rPr>
              <a:t> &amp; </a:t>
            </a:r>
            <a:r>
              <a:rPr lang="fr-FR" altLang="x-none" sz="6600" b="1" dirty="0" err="1">
                <a:solidFill>
                  <a:srgbClr val="FFFFFF"/>
                </a:solidFill>
                <a:latin typeface="Calibri" panose="020F0502020204030204" pitchFamily="34" charset="0"/>
                <a:cs typeface="Calibri" panose="020F0502020204030204" pitchFamily="34" charset="0"/>
              </a:rPr>
              <a:t>LLaMA</a:t>
            </a:r>
            <a:r>
              <a:rPr lang="fr-FR" altLang="x-none" sz="6600" b="1" dirty="0">
                <a:solidFill>
                  <a:srgbClr val="FFFFFF"/>
                </a:solidFill>
                <a:latin typeface="Calibri" panose="020F0502020204030204" pitchFamily="34" charset="0"/>
                <a:cs typeface="Calibri" panose="020F0502020204030204" pitchFamily="34" charset="0"/>
              </a:rPr>
              <a:t> &amp; Codex </a:t>
            </a:r>
            <a:endParaRPr lang="fr-FR" altLang="x-none" sz="6600" b="1" dirty="0">
              <a:solidFill>
                <a:srgbClr val="FFFFFF"/>
              </a:solidFill>
              <a:latin typeface="Calibri" panose="020F0502020204030204" pitchFamily="34" charset="0"/>
              <a:ea typeface="Calibri" panose="020F0502020204030204" pitchFamily="34" charset="0"/>
            </a:endParaRPr>
          </a:p>
        </p:txBody>
      </p:sp>
      <p:cxnSp>
        <p:nvCxnSpPr>
          <p:cNvPr id="9" name="Straight Connector 41">
            <a:extLst>
              <a:ext uri="{FF2B5EF4-FFF2-40B4-BE49-F238E27FC236}">
                <a16:creationId xmlns:a16="http://schemas.microsoft.com/office/drawing/2014/main" id="{A490B206-8573-4B57-897F-2F1DDD39DBE7}"/>
              </a:ext>
            </a:extLst>
          </p:cNvPr>
          <p:cNvCxnSpPr>
            <a:cxnSpLocks/>
          </p:cNvCxnSpPr>
          <p:nvPr/>
        </p:nvCxnSpPr>
        <p:spPr>
          <a:xfrm>
            <a:off x="2181885" y="3328674"/>
            <a:ext cx="7405734" cy="0"/>
          </a:xfrm>
          <a:prstGeom prst="straightConnector1">
            <a:avLst/>
          </a:prstGeom>
          <a:ln w="15873" cap="flat" cmpd="sng">
            <a:solidFill>
              <a:srgbClr val="88A945"/>
            </a:solidFill>
            <a:prstDash val="solid"/>
            <a:miter/>
            <a:headEnd type="none" w="med" len="med"/>
            <a:tailEnd type="none" w="med" len="med"/>
          </a:ln>
        </p:spPr>
      </p:cxnSp>
      <p:sp>
        <p:nvSpPr>
          <p:cNvPr id="7" name="ZoneTexte 6">
            <a:extLst>
              <a:ext uri="{FF2B5EF4-FFF2-40B4-BE49-F238E27FC236}">
                <a16:creationId xmlns:a16="http://schemas.microsoft.com/office/drawing/2014/main" id="{6284EBF9-EC49-4CD1-A85C-C6ACE4101237}"/>
              </a:ext>
            </a:extLst>
          </p:cNvPr>
          <p:cNvSpPr txBox="1"/>
          <p:nvPr/>
        </p:nvSpPr>
        <p:spPr>
          <a:xfrm>
            <a:off x="1384124" y="4008887"/>
            <a:ext cx="2236206" cy="1477328"/>
          </a:xfrm>
          <a:prstGeom prst="rect">
            <a:avLst/>
          </a:prstGeom>
          <a:noFill/>
        </p:spPr>
        <p:txBody>
          <a:bodyPr wrap="square" rtlCol="0">
            <a:spAutoFit/>
          </a:bodyPr>
          <a:lstStyle/>
          <a:p>
            <a:r>
              <a:rPr lang="fr-FR" dirty="0">
                <a:solidFill>
                  <a:schemeClr val="bg1"/>
                </a:solidFill>
              </a:rPr>
              <a:t>Présenté Par: </a:t>
            </a:r>
            <a:endParaRPr lang="fr-MA" dirty="0">
              <a:solidFill>
                <a:schemeClr val="bg1"/>
              </a:solidFill>
            </a:endParaRPr>
          </a:p>
          <a:p>
            <a:pPr marL="285750" indent="-285750">
              <a:buFont typeface="Arial" panose="020B0604020202020204" pitchFamily="34" charset="0"/>
              <a:buChar char="•"/>
            </a:pPr>
            <a:r>
              <a:rPr lang="fr-MA" dirty="0">
                <a:solidFill>
                  <a:schemeClr val="bg1"/>
                </a:solidFill>
              </a:rPr>
              <a:t>Haiti Aya </a:t>
            </a:r>
          </a:p>
          <a:p>
            <a:pPr marL="285750" indent="-285750">
              <a:buFont typeface="Arial" panose="020B0604020202020204" pitchFamily="34" charset="0"/>
              <a:buChar char="•"/>
            </a:pPr>
            <a:r>
              <a:rPr lang="fr-MA" dirty="0" err="1">
                <a:solidFill>
                  <a:schemeClr val="bg1"/>
                </a:solidFill>
              </a:rPr>
              <a:t>Elballaoui</a:t>
            </a:r>
            <a:r>
              <a:rPr lang="fr-MA" dirty="0">
                <a:solidFill>
                  <a:schemeClr val="bg1"/>
                </a:solidFill>
              </a:rPr>
              <a:t> </a:t>
            </a:r>
            <a:r>
              <a:rPr lang="fr-MA" dirty="0" err="1">
                <a:solidFill>
                  <a:schemeClr val="bg1"/>
                </a:solidFill>
              </a:rPr>
              <a:t>Hasnae</a:t>
            </a:r>
            <a:endParaRPr lang="fr-MA" dirty="0">
              <a:solidFill>
                <a:schemeClr val="bg1"/>
              </a:solidFill>
            </a:endParaRPr>
          </a:p>
          <a:p>
            <a:pPr marL="285750" indent="-285750">
              <a:buFont typeface="Arial" panose="020B0604020202020204" pitchFamily="34" charset="0"/>
              <a:buChar char="•"/>
            </a:pPr>
            <a:r>
              <a:rPr lang="fr-MA" dirty="0" err="1">
                <a:solidFill>
                  <a:schemeClr val="bg1"/>
                </a:solidFill>
              </a:rPr>
              <a:t>Mazgout</a:t>
            </a:r>
            <a:r>
              <a:rPr lang="fr-MA" dirty="0">
                <a:solidFill>
                  <a:schemeClr val="bg1"/>
                </a:solidFill>
              </a:rPr>
              <a:t> Rim</a:t>
            </a:r>
          </a:p>
          <a:p>
            <a:pPr marL="285750" indent="-285750">
              <a:buFont typeface="Arial" panose="020B0604020202020204" pitchFamily="34" charset="0"/>
              <a:buChar char="•"/>
            </a:pPr>
            <a:r>
              <a:rPr lang="fr-MA" dirty="0" err="1">
                <a:solidFill>
                  <a:schemeClr val="bg1"/>
                </a:solidFill>
              </a:rPr>
              <a:t>Nechda</a:t>
            </a:r>
            <a:r>
              <a:rPr lang="fr-MA" dirty="0">
                <a:solidFill>
                  <a:schemeClr val="bg1"/>
                </a:solidFill>
              </a:rPr>
              <a:t> Salma </a:t>
            </a:r>
            <a:endParaRPr lang="fr-FR" dirty="0">
              <a:solidFill>
                <a:schemeClr val="bg1"/>
              </a:solidFill>
            </a:endParaRPr>
          </a:p>
        </p:txBody>
      </p:sp>
      <p:sp>
        <p:nvSpPr>
          <p:cNvPr id="11" name="ZoneTexte 10">
            <a:extLst>
              <a:ext uri="{FF2B5EF4-FFF2-40B4-BE49-F238E27FC236}">
                <a16:creationId xmlns:a16="http://schemas.microsoft.com/office/drawing/2014/main" id="{045465FC-3765-4113-9D71-1CB7186CF2C6}"/>
              </a:ext>
            </a:extLst>
          </p:cNvPr>
          <p:cNvSpPr txBox="1"/>
          <p:nvPr/>
        </p:nvSpPr>
        <p:spPr>
          <a:xfrm>
            <a:off x="8120179" y="4255184"/>
            <a:ext cx="2485039" cy="646331"/>
          </a:xfrm>
          <a:prstGeom prst="rect">
            <a:avLst/>
          </a:prstGeom>
          <a:noFill/>
        </p:spPr>
        <p:txBody>
          <a:bodyPr wrap="none" rtlCol="0">
            <a:spAutoFit/>
          </a:bodyPr>
          <a:lstStyle/>
          <a:p>
            <a:r>
              <a:rPr lang="fr-FR" dirty="0">
                <a:solidFill>
                  <a:schemeClr val="bg1"/>
                </a:solidFill>
              </a:rPr>
              <a:t>Encadré Par:</a:t>
            </a:r>
            <a:endParaRPr lang="fr-MA" dirty="0">
              <a:solidFill>
                <a:schemeClr val="bg1"/>
              </a:solidFill>
            </a:endParaRPr>
          </a:p>
          <a:p>
            <a:pPr marL="285750" indent="-285750">
              <a:buFont typeface="Arial" panose="020B0604020202020204" pitchFamily="34" charset="0"/>
              <a:buChar char="•"/>
            </a:pPr>
            <a:r>
              <a:rPr lang="fr-MA" dirty="0" err="1">
                <a:solidFill>
                  <a:schemeClr val="bg1"/>
                </a:solidFill>
              </a:rPr>
              <a:t>Cherradi</a:t>
            </a:r>
            <a:r>
              <a:rPr lang="fr-MA" dirty="0">
                <a:solidFill>
                  <a:schemeClr val="bg1"/>
                </a:solidFill>
              </a:rPr>
              <a:t> Mohammed</a:t>
            </a:r>
            <a:endParaRPr lang="fr-FR" dirty="0">
              <a:solidFill>
                <a:schemeClr val="bg1"/>
              </a:solidFill>
            </a:endParaRPr>
          </a:p>
        </p:txBody>
      </p:sp>
    </p:spTree>
    <p:extLst>
      <p:ext uri="{BB962C8B-B14F-4D97-AF65-F5344CB8AC3E}">
        <p14:creationId xmlns:p14="http://schemas.microsoft.com/office/powerpoint/2010/main" val="8141735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outVertical)">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2671763" y="5465763"/>
            <a:ext cx="7524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4703763" y="5465763"/>
            <a:ext cx="7524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6735763" y="5465763"/>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8767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465763"/>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247650" y="5073650"/>
            <a:ext cx="1537970"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0" y="6737350"/>
            <a:ext cx="12192000" cy="133350"/>
            <a:chOff x="0" y="6736614"/>
            <a:chExt cx="12191996" cy="134343"/>
          </a:xfrm>
        </p:grpSpPr>
        <p:sp>
          <p:nvSpPr>
            <p:cNvPr id="32780"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1"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2"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3"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4"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5"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5" name="TextBox 39"/>
          <p:cNvSpPr txBox="1"/>
          <p:nvPr/>
        </p:nvSpPr>
        <p:spPr>
          <a:xfrm>
            <a:off x="4400550" y="2738438"/>
            <a:ext cx="3370263" cy="830262"/>
          </a:xfrm>
          <a:prstGeom prst="rect">
            <a:avLst/>
          </a:prstGeom>
          <a:noFill/>
          <a:ln w="9525">
            <a:noFill/>
          </a:ln>
        </p:spPr>
        <p:txBody>
          <a:bodyPr wrap="none" anchor="t" anchorCtr="1">
            <a:spAutoFit/>
          </a:bodyPr>
          <a:lstStyle/>
          <a:p>
            <a:pPr algn="ctr" eaLnBrk="1" hangingPunct="1"/>
            <a:r>
              <a:rPr lang="id-ID" altLang="x-none" sz="4800" b="1" dirty="0">
                <a:solidFill>
                  <a:srgbClr val="FFFFFF"/>
                </a:solidFill>
                <a:latin typeface="Calibri" panose="020F0502020204030204" pitchFamily="34" charset="0"/>
              </a:rPr>
              <a:t>Introduction</a:t>
            </a:r>
          </a:p>
        </p:txBody>
      </p:sp>
      <p:sp>
        <p:nvSpPr>
          <p:cNvPr id="16" name="Rectangle 40"/>
          <p:cNvSpPr/>
          <p:nvPr/>
        </p:nvSpPr>
        <p:spPr>
          <a:xfrm>
            <a:off x="2127250" y="3151188"/>
            <a:ext cx="7937500" cy="400050"/>
          </a:xfrm>
          <a:prstGeom prst="rect">
            <a:avLst/>
          </a:prstGeom>
          <a:noFill/>
          <a:ln w="9525">
            <a:noFill/>
          </a:ln>
        </p:spPr>
        <p:txBody>
          <a:bodyPr anchor="t" anchorCtr="1">
            <a:spAutoFit/>
          </a:bodyPr>
          <a:lstStyle/>
          <a:p>
            <a:pPr algn="ctr" eaLnBrk="1" hangingPunct="1"/>
            <a:endParaRPr lang="id-ID" altLang="x-none" sz="2000" dirty="0">
              <a:solidFill>
                <a:srgbClr val="88A945"/>
              </a:solidFill>
              <a:latin typeface="Source Sans Pro Light"/>
              <a:ea typeface="Source Sans Pro Light"/>
            </a:endParaRPr>
          </a:p>
        </p:txBody>
      </p:sp>
      <p:cxnSp>
        <p:nvCxnSpPr>
          <p:cNvPr id="17" name="Straight Connector 41"/>
          <p:cNvCxnSpPr/>
          <p:nvPr/>
        </p:nvCxnSpPr>
        <p:spPr>
          <a:xfrm>
            <a:off x="5724525" y="3627438"/>
            <a:ext cx="742950" cy="0"/>
          </a:xfrm>
          <a:prstGeom prst="straightConnector1">
            <a:avLst/>
          </a:prstGeom>
          <a:ln w="15873" cap="flat" cmpd="sng">
            <a:solidFill>
              <a:srgbClr val="88A945"/>
            </a:solidFill>
            <a:prstDash val="solid"/>
            <a:miter/>
            <a:headEnd type="none" w="med" len="med"/>
            <a:tailEnd type="none" w="med" len="med"/>
          </a:ln>
        </p:spPr>
      </p:cxnSp>
      <p:cxnSp>
        <p:nvCxnSpPr>
          <p:cNvPr id="19" name="Straight Connector 34"/>
          <p:cNvCxnSpPr/>
          <p:nvPr/>
        </p:nvCxnSpPr>
        <p:spPr>
          <a:xfrm>
            <a:off x="990600" y="4495800"/>
            <a:ext cx="5105400" cy="0"/>
          </a:xfrm>
          <a:prstGeom prst="straightConnector1">
            <a:avLst/>
          </a:prstGeom>
          <a:ln w="15873" cap="flat" cmpd="sng">
            <a:solidFill>
              <a:srgbClr val="D0DFB3"/>
            </a:solidFill>
            <a:prstDash val="solid"/>
            <a:miter/>
            <a:headEnd type="none" w="med" len="med"/>
            <a:tailEnd type="none" w="med" len="med"/>
          </a:ln>
        </p:spPr>
      </p:cxnSp>
      <p:cxnSp>
        <p:nvCxnSpPr>
          <p:cNvPr id="24" name="Straight Connector 43"/>
          <p:cNvCxnSpPr/>
          <p:nvPr/>
        </p:nvCxnSpPr>
        <p:spPr>
          <a:xfrm flipH="1">
            <a:off x="6096000" y="3654425"/>
            <a:ext cx="9525" cy="841375"/>
          </a:xfrm>
          <a:prstGeom prst="straightConnector1">
            <a:avLst/>
          </a:prstGeom>
          <a:ln w="15873" cap="flat" cmpd="sng">
            <a:solidFill>
              <a:srgbClr val="D0DFB3"/>
            </a:solidFill>
            <a:prstDash val="solid"/>
            <a:miter/>
            <a:headEnd type="arrow" w="med" len="med"/>
            <a:tailEnd type="none" w="med" len="med"/>
          </a:ln>
        </p:spPr>
      </p:cxnSp>
      <p:cxnSp>
        <p:nvCxnSpPr>
          <p:cNvPr id="9" name="Straight Connector 34"/>
          <p:cNvCxnSpPr/>
          <p:nvPr/>
        </p:nvCxnSpPr>
        <p:spPr>
          <a:xfrm>
            <a:off x="990600" y="4495800"/>
            <a:ext cx="0" cy="838200"/>
          </a:xfrm>
          <a:prstGeom prst="straightConnector1">
            <a:avLst/>
          </a:prstGeom>
          <a:ln w="15873" cap="flat" cmpd="sng">
            <a:solidFill>
              <a:srgbClr val="D0DFB3"/>
            </a:solidFill>
            <a:prstDash val="solid"/>
            <a:miter/>
            <a:headEnd type="none" w="med" len="med"/>
            <a:tailEnd type="none" w="med" len="med"/>
          </a:ln>
        </p:spPr>
      </p:cxnSp>
      <p:grpSp>
        <p:nvGrpSpPr>
          <p:cNvPr id="10" name="Group 28"/>
          <p:cNvGrpSpPr/>
          <p:nvPr/>
        </p:nvGrpSpPr>
        <p:grpSpPr>
          <a:xfrm>
            <a:off x="509270" y="5666105"/>
            <a:ext cx="736600" cy="738188"/>
            <a:chOff x="647002" y="5633161"/>
            <a:chExt cx="738003" cy="737637"/>
          </a:xfrm>
        </p:grpSpPr>
        <p:sp>
          <p:nvSpPr>
            <p:cNvPr id="40976" name="Freeform 5"/>
            <p:cNvSpPr/>
            <p:nvPr/>
          </p:nvSpPr>
          <p:spPr>
            <a:xfrm>
              <a:off x="647002"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138738"/>
                </a:cxn>
                <a:cxn ang="0">
                  <a:pos x="184627" y="68938"/>
                </a:cxn>
                <a:cxn ang="0">
                  <a:pos x="115607" y="0"/>
                </a:cxn>
                <a:cxn ang="0">
                  <a:pos x="46588" y="68938"/>
                </a:cxn>
                <a:cxn ang="0">
                  <a:pos x="46588" y="138738"/>
                </a:cxn>
                <a:cxn ang="0">
                  <a:pos x="0" y="230942"/>
                </a:cxn>
                <a:cxn ang="0">
                  <a:pos x="46588" y="322285"/>
                </a:cxn>
                <a:cxn ang="0">
                  <a:pos x="46588" y="668699"/>
                </a:cxn>
                <a:cxn ang="0">
                  <a:pos x="115607" y="737637"/>
                </a:cxn>
                <a:cxn ang="0">
                  <a:pos x="184627" y="668699"/>
                </a:cxn>
                <a:cxn ang="0">
                  <a:pos x="184627" y="322285"/>
                </a:cxn>
                <a:cxn ang="0">
                  <a:pos x="231215" y="230942"/>
                </a:cxn>
                <a:cxn ang="0">
                  <a:pos x="184627" y="138738"/>
                </a:cxn>
                <a:cxn ang="0">
                  <a:pos x="92313" y="68938"/>
                </a:cxn>
                <a:cxn ang="0">
                  <a:pos x="115607" y="46533"/>
                </a:cxn>
                <a:cxn ang="0">
                  <a:pos x="138902" y="68938"/>
                </a:cxn>
                <a:cxn ang="0">
                  <a:pos x="138902" y="117195"/>
                </a:cxn>
                <a:cxn ang="0">
                  <a:pos x="115607" y="115471"/>
                </a:cxn>
                <a:cxn ang="0">
                  <a:pos x="92313" y="117195"/>
                </a:cxn>
                <a:cxn ang="0">
                  <a:pos x="92313" y="68938"/>
                </a:cxn>
                <a:cxn ang="0">
                  <a:pos x="138902" y="668699"/>
                </a:cxn>
                <a:cxn ang="0">
                  <a:pos x="115607" y="691966"/>
                </a:cxn>
                <a:cxn ang="0">
                  <a:pos x="92313" y="668699"/>
                </a:cxn>
                <a:cxn ang="0">
                  <a:pos x="92313" y="343828"/>
                </a:cxn>
                <a:cxn ang="0">
                  <a:pos x="115607" y="345552"/>
                </a:cxn>
                <a:cxn ang="0">
                  <a:pos x="138902" y="343828"/>
                </a:cxn>
                <a:cxn ang="0">
                  <a:pos x="138902" y="668699"/>
                </a:cxn>
                <a:cxn ang="0">
                  <a:pos x="181176" y="249900"/>
                </a:cxn>
                <a:cxn ang="0">
                  <a:pos x="180313" y="253347"/>
                </a:cxn>
                <a:cxn ang="0">
                  <a:pos x="171686" y="270582"/>
                </a:cxn>
                <a:cxn ang="0">
                  <a:pos x="171686" y="270582"/>
                </a:cxn>
                <a:cxn ang="0">
                  <a:pos x="157019" y="285231"/>
                </a:cxn>
                <a:cxn ang="0">
                  <a:pos x="157019" y="285231"/>
                </a:cxn>
                <a:cxn ang="0">
                  <a:pos x="138902" y="295572"/>
                </a:cxn>
                <a:cxn ang="0">
                  <a:pos x="115607" y="299880"/>
                </a:cxn>
                <a:cxn ang="0">
                  <a:pos x="92313" y="295572"/>
                </a:cxn>
                <a:cxn ang="0">
                  <a:pos x="74196" y="285231"/>
                </a:cxn>
                <a:cxn ang="0">
                  <a:pos x="73333" y="285231"/>
                </a:cxn>
                <a:cxn ang="0">
                  <a:pos x="59529" y="270582"/>
                </a:cxn>
                <a:cxn ang="0">
                  <a:pos x="59529" y="270582"/>
                </a:cxn>
                <a:cxn ang="0">
                  <a:pos x="50039" y="253347"/>
                </a:cxn>
                <a:cxn ang="0">
                  <a:pos x="49176" y="249900"/>
                </a:cxn>
                <a:cxn ang="0">
                  <a:pos x="46588" y="230942"/>
                </a:cxn>
                <a:cxn ang="0">
                  <a:pos x="49176" y="211123"/>
                </a:cxn>
                <a:cxn ang="0">
                  <a:pos x="50039" y="207676"/>
                </a:cxn>
                <a:cxn ang="0">
                  <a:pos x="59529" y="190441"/>
                </a:cxn>
                <a:cxn ang="0">
                  <a:pos x="59529" y="190441"/>
                </a:cxn>
                <a:cxn ang="0">
                  <a:pos x="73333" y="175792"/>
                </a:cxn>
                <a:cxn ang="0">
                  <a:pos x="74196" y="175792"/>
                </a:cxn>
                <a:cxn ang="0">
                  <a:pos x="92313" y="165451"/>
                </a:cxn>
                <a:cxn ang="0">
                  <a:pos x="115607" y="161143"/>
                </a:cxn>
                <a:cxn ang="0">
                  <a:pos x="138902" y="165451"/>
                </a:cxn>
                <a:cxn ang="0">
                  <a:pos x="157019" y="175792"/>
                </a:cxn>
                <a:cxn ang="0">
                  <a:pos x="157019" y="175792"/>
                </a:cxn>
                <a:cxn ang="0">
                  <a:pos x="171686" y="190441"/>
                </a:cxn>
                <a:cxn ang="0">
                  <a:pos x="171686" y="190441"/>
                </a:cxn>
                <a:cxn ang="0">
                  <a:pos x="180313" y="207676"/>
                </a:cxn>
                <a:cxn ang="0">
                  <a:pos x="181176" y="211123"/>
                </a:cxn>
                <a:cxn ang="0">
                  <a:pos x="184627" y="230942"/>
                </a:cxn>
                <a:cxn ang="0">
                  <a:pos x="181176" y="249900"/>
                </a:cxn>
              </a:cxnLst>
              <a:rect l="txL" t="txT" r="txR" b="txB"/>
              <a:pathLst>
                <a:path w="268" h="856">
                  <a:moveTo>
                    <a:pt x="214" y="161"/>
                  </a:moveTo>
                  <a:cubicBezTo>
                    <a:pt x="214" y="80"/>
                    <a:pt x="214" y="80"/>
                    <a:pt x="214" y="80"/>
                  </a:cubicBezTo>
                  <a:cubicBezTo>
                    <a:pt x="214" y="36"/>
                    <a:pt x="178" y="0"/>
                    <a:pt x="134" y="0"/>
                  </a:cubicBezTo>
                  <a:cubicBezTo>
                    <a:pt x="89" y="0"/>
                    <a:pt x="54" y="36"/>
                    <a:pt x="54" y="80"/>
                  </a:cubicBezTo>
                  <a:cubicBezTo>
                    <a:pt x="54" y="161"/>
                    <a:pt x="54" y="161"/>
                    <a:pt x="54" y="161"/>
                  </a:cubicBezTo>
                  <a:cubicBezTo>
                    <a:pt x="21" y="186"/>
                    <a:pt x="0" y="224"/>
                    <a:pt x="0" y="268"/>
                  </a:cubicBezTo>
                  <a:cubicBezTo>
                    <a:pt x="0" y="311"/>
                    <a:pt x="21" y="349"/>
                    <a:pt x="54" y="374"/>
                  </a:cubicBezTo>
                  <a:cubicBezTo>
                    <a:pt x="54" y="776"/>
                    <a:pt x="54" y="776"/>
                    <a:pt x="54" y="776"/>
                  </a:cubicBezTo>
                  <a:cubicBezTo>
                    <a:pt x="54" y="820"/>
                    <a:pt x="89" y="856"/>
                    <a:pt x="134" y="856"/>
                  </a:cubicBezTo>
                  <a:cubicBezTo>
                    <a:pt x="178" y="856"/>
                    <a:pt x="214" y="820"/>
                    <a:pt x="214" y="776"/>
                  </a:cubicBezTo>
                  <a:cubicBezTo>
                    <a:pt x="214" y="374"/>
                    <a:pt x="214" y="374"/>
                    <a:pt x="214" y="374"/>
                  </a:cubicBezTo>
                  <a:cubicBezTo>
                    <a:pt x="246" y="349"/>
                    <a:pt x="268" y="311"/>
                    <a:pt x="268" y="268"/>
                  </a:cubicBezTo>
                  <a:cubicBezTo>
                    <a:pt x="268" y="224"/>
                    <a:pt x="246" y="186"/>
                    <a:pt x="214" y="161"/>
                  </a:cubicBezTo>
                  <a:close/>
                  <a:moveTo>
                    <a:pt x="107" y="80"/>
                  </a:moveTo>
                  <a:cubicBezTo>
                    <a:pt x="107" y="65"/>
                    <a:pt x="119" y="54"/>
                    <a:pt x="134" y="54"/>
                  </a:cubicBezTo>
                  <a:cubicBezTo>
                    <a:pt x="149" y="54"/>
                    <a:pt x="161" y="65"/>
                    <a:pt x="161" y="80"/>
                  </a:cubicBezTo>
                  <a:cubicBezTo>
                    <a:pt x="161" y="136"/>
                    <a:pt x="161" y="136"/>
                    <a:pt x="161" y="136"/>
                  </a:cubicBezTo>
                  <a:cubicBezTo>
                    <a:pt x="152" y="135"/>
                    <a:pt x="143" y="134"/>
                    <a:pt x="134" y="134"/>
                  </a:cubicBezTo>
                  <a:cubicBezTo>
                    <a:pt x="125" y="134"/>
                    <a:pt x="116" y="135"/>
                    <a:pt x="107" y="136"/>
                  </a:cubicBezTo>
                  <a:lnTo>
                    <a:pt x="107" y="80"/>
                  </a:lnTo>
                  <a:close/>
                  <a:moveTo>
                    <a:pt x="161" y="776"/>
                  </a:moveTo>
                  <a:cubicBezTo>
                    <a:pt x="161" y="791"/>
                    <a:pt x="149" y="803"/>
                    <a:pt x="134" y="803"/>
                  </a:cubicBezTo>
                  <a:cubicBezTo>
                    <a:pt x="119" y="803"/>
                    <a:pt x="107" y="791"/>
                    <a:pt x="107" y="776"/>
                  </a:cubicBezTo>
                  <a:cubicBezTo>
                    <a:pt x="107" y="399"/>
                    <a:pt x="107" y="399"/>
                    <a:pt x="107" y="399"/>
                  </a:cubicBezTo>
                  <a:cubicBezTo>
                    <a:pt x="116" y="400"/>
                    <a:pt x="125" y="401"/>
                    <a:pt x="134" y="401"/>
                  </a:cubicBezTo>
                  <a:cubicBezTo>
                    <a:pt x="143" y="401"/>
                    <a:pt x="152" y="400"/>
                    <a:pt x="161" y="399"/>
                  </a:cubicBezTo>
                  <a:lnTo>
                    <a:pt x="161" y="776"/>
                  </a:lnTo>
                  <a:close/>
                  <a:moveTo>
                    <a:pt x="210" y="290"/>
                  </a:moveTo>
                  <a:cubicBezTo>
                    <a:pt x="210" y="291"/>
                    <a:pt x="210" y="293"/>
                    <a:pt x="209" y="294"/>
                  </a:cubicBezTo>
                  <a:cubicBezTo>
                    <a:pt x="207" y="301"/>
                    <a:pt x="203" y="308"/>
                    <a:pt x="199" y="314"/>
                  </a:cubicBezTo>
                  <a:cubicBezTo>
                    <a:pt x="199" y="314"/>
                    <a:pt x="199" y="314"/>
                    <a:pt x="199" y="314"/>
                  </a:cubicBezTo>
                  <a:cubicBezTo>
                    <a:pt x="194" y="321"/>
                    <a:pt x="188" y="326"/>
                    <a:pt x="182" y="331"/>
                  </a:cubicBezTo>
                  <a:cubicBezTo>
                    <a:pt x="182" y="331"/>
                    <a:pt x="182" y="331"/>
                    <a:pt x="182" y="331"/>
                  </a:cubicBezTo>
                  <a:cubicBezTo>
                    <a:pt x="175" y="336"/>
                    <a:pt x="168" y="340"/>
                    <a:pt x="161" y="343"/>
                  </a:cubicBezTo>
                  <a:cubicBezTo>
                    <a:pt x="152" y="346"/>
                    <a:pt x="143" y="348"/>
                    <a:pt x="134" y="348"/>
                  </a:cubicBezTo>
                  <a:cubicBezTo>
                    <a:pt x="124" y="348"/>
                    <a:pt x="115" y="346"/>
                    <a:pt x="107" y="343"/>
                  </a:cubicBezTo>
                  <a:cubicBezTo>
                    <a:pt x="99" y="340"/>
                    <a:pt x="92" y="336"/>
                    <a:pt x="86" y="331"/>
                  </a:cubicBezTo>
                  <a:cubicBezTo>
                    <a:pt x="86" y="331"/>
                    <a:pt x="85" y="331"/>
                    <a:pt x="85" y="331"/>
                  </a:cubicBezTo>
                  <a:cubicBezTo>
                    <a:pt x="79" y="326"/>
                    <a:pt x="74" y="321"/>
                    <a:pt x="69" y="314"/>
                  </a:cubicBezTo>
                  <a:cubicBezTo>
                    <a:pt x="69" y="314"/>
                    <a:pt x="69" y="314"/>
                    <a:pt x="69" y="314"/>
                  </a:cubicBezTo>
                  <a:cubicBezTo>
                    <a:pt x="64" y="308"/>
                    <a:pt x="61" y="301"/>
                    <a:pt x="58" y="294"/>
                  </a:cubicBezTo>
                  <a:cubicBezTo>
                    <a:pt x="58" y="293"/>
                    <a:pt x="58" y="291"/>
                    <a:pt x="57" y="290"/>
                  </a:cubicBezTo>
                  <a:cubicBezTo>
                    <a:pt x="55" y="283"/>
                    <a:pt x="54" y="275"/>
                    <a:pt x="54" y="268"/>
                  </a:cubicBezTo>
                  <a:cubicBezTo>
                    <a:pt x="54" y="260"/>
                    <a:pt x="55" y="252"/>
                    <a:pt x="57" y="245"/>
                  </a:cubicBezTo>
                  <a:cubicBezTo>
                    <a:pt x="58" y="244"/>
                    <a:pt x="58" y="242"/>
                    <a:pt x="58" y="241"/>
                  </a:cubicBezTo>
                  <a:cubicBezTo>
                    <a:pt x="61" y="234"/>
                    <a:pt x="64" y="227"/>
                    <a:pt x="69" y="221"/>
                  </a:cubicBezTo>
                  <a:cubicBezTo>
                    <a:pt x="69" y="221"/>
                    <a:pt x="69" y="221"/>
                    <a:pt x="69" y="221"/>
                  </a:cubicBezTo>
                  <a:cubicBezTo>
                    <a:pt x="74" y="214"/>
                    <a:pt x="79" y="209"/>
                    <a:pt x="85" y="204"/>
                  </a:cubicBezTo>
                  <a:cubicBezTo>
                    <a:pt x="85" y="204"/>
                    <a:pt x="86" y="204"/>
                    <a:pt x="86" y="204"/>
                  </a:cubicBezTo>
                  <a:cubicBezTo>
                    <a:pt x="92" y="199"/>
                    <a:pt x="99" y="195"/>
                    <a:pt x="107" y="192"/>
                  </a:cubicBezTo>
                  <a:cubicBezTo>
                    <a:pt x="115" y="189"/>
                    <a:pt x="124" y="187"/>
                    <a:pt x="134" y="187"/>
                  </a:cubicBezTo>
                  <a:cubicBezTo>
                    <a:pt x="143" y="187"/>
                    <a:pt x="152" y="189"/>
                    <a:pt x="161" y="192"/>
                  </a:cubicBezTo>
                  <a:cubicBezTo>
                    <a:pt x="168" y="195"/>
                    <a:pt x="175" y="199"/>
                    <a:pt x="182" y="204"/>
                  </a:cubicBezTo>
                  <a:cubicBezTo>
                    <a:pt x="182" y="204"/>
                    <a:pt x="182" y="204"/>
                    <a:pt x="182" y="204"/>
                  </a:cubicBezTo>
                  <a:cubicBezTo>
                    <a:pt x="188" y="209"/>
                    <a:pt x="194" y="214"/>
                    <a:pt x="199" y="221"/>
                  </a:cubicBezTo>
                  <a:cubicBezTo>
                    <a:pt x="199" y="221"/>
                    <a:pt x="199" y="221"/>
                    <a:pt x="199" y="221"/>
                  </a:cubicBezTo>
                  <a:cubicBezTo>
                    <a:pt x="203" y="227"/>
                    <a:pt x="207" y="234"/>
                    <a:pt x="209" y="241"/>
                  </a:cubicBezTo>
                  <a:cubicBezTo>
                    <a:pt x="210" y="242"/>
                    <a:pt x="210" y="244"/>
                    <a:pt x="210" y="245"/>
                  </a:cubicBezTo>
                  <a:cubicBezTo>
                    <a:pt x="213" y="252"/>
                    <a:pt x="214" y="260"/>
                    <a:pt x="214" y="268"/>
                  </a:cubicBezTo>
                  <a:cubicBezTo>
                    <a:pt x="214" y="275"/>
                    <a:pt x="213" y="283"/>
                    <a:pt x="210" y="290"/>
                  </a:cubicBezTo>
                  <a:close/>
                </a:path>
              </a:pathLst>
            </a:custGeom>
            <a:solidFill>
              <a:srgbClr val="FFFFFF">
                <a:alpha val="100000"/>
              </a:srgbClr>
            </a:solidFill>
            <a:ln w="9525">
              <a:noFill/>
            </a:ln>
          </p:spPr>
          <p:txBody>
            <a:bodyPr/>
            <a:lstStyle/>
            <a:p>
              <a:endParaRPr lang="fr-FR" altLang="en-US"/>
            </a:p>
          </p:txBody>
        </p:sp>
        <p:sp>
          <p:nvSpPr>
            <p:cNvPr id="40977" name="Freeform 6"/>
            <p:cNvSpPr/>
            <p:nvPr/>
          </p:nvSpPr>
          <p:spPr>
            <a:xfrm>
              <a:off x="1154878" y="5633161"/>
              <a:ext cx="230127" cy="737637"/>
            </a:xfrm>
            <a:custGeom>
              <a:avLst/>
              <a:gdLst>
                <a:gd name="txL" fmla="*/ 0 w 267"/>
                <a:gd name="txT" fmla="*/ 0 h 856"/>
                <a:gd name="txR" fmla="*/ 267 w 267"/>
                <a:gd name="txB" fmla="*/ 856 h 856"/>
              </a:gdLst>
              <a:ahLst/>
              <a:cxnLst>
                <a:cxn ang="17694720">
                  <a:pos x="115064" y="0"/>
                </a:cxn>
                <a:cxn ang="0">
                  <a:pos x="230127" y="368819"/>
                </a:cxn>
                <a:cxn ang="5898240">
                  <a:pos x="115064" y="737637"/>
                </a:cxn>
                <a:cxn ang="11796480">
                  <a:pos x="0" y="368819"/>
                </a:cxn>
                <a:cxn ang="0">
                  <a:pos x="184446" y="138738"/>
                </a:cxn>
                <a:cxn ang="0">
                  <a:pos x="184446" y="68938"/>
                </a:cxn>
                <a:cxn ang="0">
                  <a:pos x="114633" y="0"/>
                </a:cxn>
                <a:cxn ang="0">
                  <a:pos x="45681" y="68938"/>
                </a:cxn>
                <a:cxn ang="0">
                  <a:pos x="45681" y="138738"/>
                </a:cxn>
                <a:cxn ang="0">
                  <a:pos x="0" y="230942"/>
                </a:cxn>
                <a:cxn ang="0">
                  <a:pos x="45681" y="322285"/>
                </a:cxn>
                <a:cxn ang="0">
                  <a:pos x="45681" y="668699"/>
                </a:cxn>
                <a:cxn ang="0">
                  <a:pos x="114633" y="737637"/>
                </a:cxn>
                <a:cxn ang="0">
                  <a:pos x="184446" y="668699"/>
                </a:cxn>
                <a:cxn ang="0">
                  <a:pos x="184446" y="322285"/>
                </a:cxn>
                <a:cxn ang="0">
                  <a:pos x="230127" y="230942"/>
                </a:cxn>
                <a:cxn ang="0">
                  <a:pos x="184446" y="138738"/>
                </a:cxn>
                <a:cxn ang="0">
                  <a:pos x="92223" y="68938"/>
                </a:cxn>
                <a:cxn ang="0">
                  <a:pos x="114633" y="46533"/>
                </a:cxn>
                <a:cxn ang="0">
                  <a:pos x="137904" y="68938"/>
                </a:cxn>
                <a:cxn ang="0">
                  <a:pos x="137904" y="117195"/>
                </a:cxn>
                <a:cxn ang="0">
                  <a:pos x="114633" y="115471"/>
                </a:cxn>
                <a:cxn ang="0">
                  <a:pos x="92223" y="117195"/>
                </a:cxn>
                <a:cxn ang="0">
                  <a:pos x="92223" y="68938"/>
                </a:cxn>
                <a:cxn ang="0">
                  <a:pos x="137904" y="668699"/>
                </a:cxn>
                <a:cxn ang="0">
                  <a:pos x="114633" y="691966"/>
                </a:cxn>
                <a:cxn ang="0">
                  <a:pos x="92223" y="668699"/>
                </a:cxn>
                <a:cxn ang="0">
                  <a:pos x="92223" y="343828"/>
                </a:cxn>
                <a:cxn ang="0">
                  <a:pos x="114633" y="345552"/>
                </a:cxn>
                <a:cxn ang="0">
                  <a:pos x="137904" y="343828"/>
                </a:cxn>
                <a:cxn ang="0">
                  <a:pos x="137904" y="668699"/>
                </a:cxn>
                <a:cxn ang="0">
                  <a:pos x="180999" y="249900"/>
                </a:cxn>
                <a:cxn ang="0">
                  <a:pos x="180137" y="253347"/>
                </a:cxn>
                <a:cxn ang="0">
                  <a:pos x="170656" y="270582"/>
                </a:cxn>
                <a:cxn ang="0">
                  <a:pos x="170656" y="270582"/>
                </a:cxn>
                <a:cxn ang="0">
                  <a:pos x="156866" y="285231"/>
                </a:cxn>
                <a:cxn ang="0">
                  <a:pos x="156004" y="285231"/>
                </a:cxn>
                <a:cxn ang="0">
                  <a:pos x="137904" y="295572"/>
                </a:cxn>
                <a:cxn ang="0">
                  <a:pos x="114633" y="299880"/>
                </a:cxn>
                <a:cxn ang="0">
                  <a:pos x="92223" y="295572"/>
                </a:cxn>
                <a:cxn ang="0">
                  <a:pos x="73261" y="285231"/>
                </a:cxn>
                <a:cxn ang="0">
                  <a:pos x="73261" y="285231"/>
                </a:cxn>
                <a:cxn ang="0">
                  <a:pos x="58609" y="270582"/>
                </a:cxn>
                <a:cxn ang="0">
                  <a:pos x="58609" y="270582"/>
                </a:cxn>
                <a:cxn ang="0">
                  <a:pos x="49990" y="253347"/>
                </a:cxn>
                <a:cxn ang="0">
                  <a:pos x="49128" y="249900"/>
                </a:cxn>
                <a:cxn ang="0">
                  <a:pos x="45681" y="230942"/>
                </a:cxn>
                <a:cxn ang="0">
                  <a:pos x="49128" y="211123"/>
                </a:cxn>
                <a:cxn ang="0">
                  <a:pos x="49990" y="207676"/>
                </a:cxn>
                <a:cxn ang="0">
                  <a:pos x="58609" y="190441"/>
                </a:cxn>
                <a:cxn ang="0">
                  <a:pos x="58609" y="190441"/>
                </a:cxn>
                <a:cxn ang="0">
                  <a:pos x="73261" y="175792"/>
                </a:cxn>
                <a:cxn ang="0">
                  <a:pos x="73261" y="175792"/>
                </a:cxn>
                <a:cxn ang="0">
                  <a:pos x="92223" y="165451"/>
                </a:cxn>
                <a:cxn ang="0">
                  <a:pos x="114633" y="161143"/>
                </a:cxn>
                <a:cxn ang="0">
                  <a:pos x="137904" y="165451"/>
                </a:cxn>
                <a:cxn ang="0">
                  <a:pos x="156004" y="175792"/>
                </a:cxn>
                <a:cxn ang="0">
                  <a:pos x="156866" y="175792"/>
                </a:cxn>
                <a:cxn ang="0">
                  <a:pos x="170656" y="190441"/>
                </a:cxn>
                <a:cxn ang="0">
                  <a:pos x="170656" y="190441"/>
                </a:cxn>
                <a:cxn ang="0">
                  <a:pos x="180137" y="207676"/>
                </a:cxn>
                <a:cxn ang="0">
                  <a:pos x="180999" y="211123"/>
                </a:cxn>
                <a:cxn ang="0">
                  <a:pos x="184446" y="230942"/>
                </a:cxn>
                <a:cxn ang="0">
                  <a:pos x="180999" y="249900"/>
                </a:cxn>
              </a:cxnLst>
              <a:rect l="txL" t="txT" r="txR" b="txB"/>
              <a:pathLst>
                <a:path w="267" h="856">
                  <a:moveTo>
                    <a:pt x="214" y="161"/>
                  </a:moveTo>
                  <a:cubicBezTo>
                    <a:pt x="214" y="80"/>
                    <a:pt x="214" y="80"/>
                    <a:pt x="214" y="80"/>
                  </a:cubicBezTo>
                  <a:cubicBezTo>
                    <a:pt x="214" y="36"/>
                    <a:pt x="178" y="0"/>
                    <a:pt x="133" y="0"/>
                  </a:cubicBezTo>
                  <a:cubicBezTo>
                    <a:pt x="89" y="0"/>
                    <a:pt x="53" y="36"/>
                    <a:pt x="53" y="80"/>
                  </a:cubicBezTo>
                  <a:cubicBezTo>
                    <a:pt x="53" y="161"/>
                    <a:pt x="53" y="161"/>
                    <a:pt x="53" y="161"/>
                  </a:cubicBezTo>
                  <a:cubicBezTo>
                    <a:pt x="21" y="186"/>
                    <a:pt x="0" y="224"/>
                    <a:pt x="0" y="268"/>
                  </a:cubicBezTo>
                  <a:cubicBezTo>
                    <a:pt x="0" y="311"/>
                    <a:pt x="21" y="349"/>
                    <a:pt x="53" y="374"/>
                  </a:cubicBezTo>
                  <a:cubicBezTo>
                    <a:pt x="53" y="776"/>
                    <a:pt x="53" y="776"/>
                    <a:pt x="53" y="776"/>
                  </a:cubicBezTo>
                  <a:cubicBezTo>
                    <a:pt x="53" y="820"/>
                    <a:pt x="89" y="856"/>
                    <a:pt x="133" y="856"/>
                  </a:cubicBezTo>
                  <a:cubicBezTo>
                    <a:pt x="178" y="856"/>
                    <a:pt x="214" y="820"/>
                    <a:pt x="214" y="776"/>
                  </a:cubicBezTo>
                  <a:cubicBezTo>
                    <a:pt x="214" y="374"/>
                    <a:pt x="214" y="374"/>
                    <a:pt x="214" y="374"/>
                  </a:cubicBezTo>
                  <a:cubicBezTo>
                    <a:pt x="246" y="349"/>
                    <a:pt x="267" y="311"/>
                    <a:pt x="267" y="268"/>
                  </a:cubicBezTo>
                  <a:cubicBezTo>
                    <a:pt x="267" y="224"/>
                    <a:pt x="246" y="186"/>
                    <a:pt x="214" y="161"/>
                  </a:cubicBezTo>
                  <a:close/>
                  <a:moveTo>
                    <a:pt x="107" y="80"/>
                  </a:moveTo>
                  <a:cubicBezTo>
                    <a:pt x="107" y="65"/>
                    <a:pt x="118" y="54"/>
                    <a:pt x="133" y="54"/>
                  </a:cubicBezTo>
                  <a:cubicBezTo>
                    <a:pt x="148" y="54"/>
                    <a:pt x="160" y="65"/>
                    <a:pt x="160" y="80"/>
                  </a:cubicBezTo>
                  <a:cubicBezTo>
                    <a:pt x="160" y="136"/>
                    <a:pt x="160" y="136"/>
                    <a:pt x="160" y="136"/>
                  </a:cubicBezTo>
                  <a:cubicBezTo>
                    <a:pt x="151" y="135"/>
                    <a:pt x="142" y="134"/>
                    <a:pt x="133" y="134"/>
                  </a:cubicBezTo>
                  <a:cubicBezTo>
                    <a:pt x="124" y="134"/>
                    <a:pt x="115" y="135"/>
                    <a:pt x="107" y="136"/>
                  </a:cubicBezTo>
                  <a:lnTo>
                    <a:pt x="107" y="80"/>
                  </a:lnTo>
                  <a:close/>
                  <a:moveTo>
                    <a:pt x="160" y="776"/>
                  </a:moveTo>
                  <a:cubicBezTo>
                    <a:pt x="160" y="791"/>
                    <a:pt x="148" y="803"/>
                    <a:pt x="133" y="803"/>
                  </a:cubicBezTo>
                  <a:cubicBezTo>
                    <a:pt x="118" y="803"/>
                    <a:pt x="107" y="791"/>
                    <a:pt x="107" y="776"/>
                  </a:cubicBezTo>
                  <a:cubicBezTo>
                    <a:pt x="107" y="399"/>
                    <a:pt x="107" y="399"/>
                    <a:pt x="107" y="399"/>
                  </a:cubicBezTo>
                  <a:cubicBezTo>
                    <a:pt x="115" y="400"/>
                    <a:pt x="124" y="401"/>
                    <a:pt x="133" y="401"/>
                  </a:cubicBezTo>
                  <a:cubicBezTo>
                    <a:pt x="142" y="401"/>
                    <a:pt x="151" y="400"/>
                    <a:pt x="160" y="399"/>
                  </a:cubicBezTo>
                  <a:lnTo>
                    <a:pt x="160" y="776"/>
                  </a:lnTo>
                  <a:close/>
                  <a:moveTo>
                    <a:pt x="210" y="290"/>
                  </a:moveTo>
                  <a:cubicBezTo>
                    <a:pt x="209" y="291"/>
                    <a:pt x="209" y="293"/>
                    <a:pt x="209" y="294"/>
                  </a:cubicBezTo>
                  <a:cubicBezTo>
                    <a:pt x="206" y="301"/>
                    <a:pt x="203" y="308"/>
                    <a:pt x="198" y="314"/>
                  </a:cubicBezTo>
                  <a:cubicBezTo>
                    <a:pt x="198" y="314"/>
                    <a:pt x="198" y="314"/>
                    <a:pt x="198" y="314"/>
                  </a:cubicBezTo>
                  <a:cubicBezTo>
                    <a:pt x="193" y="321"/>
                    <a:pt x="188" y="326"/>
                    <a:pt x="182" y="331"/>
                  </a:cubicBezTo>
                  <a:cubicBezTo>
                    <a:pt x="182" y="331"/>
                    <a:pt x="181" y="331"/>
                    <a:pt x="181" y="331"/>
                  </a:cubicBezTo>
                  <a:cubicBezTo>
                    <a:pt x="175" y="336"/>
                    <a:pt x="168" y="340"/>
                    <a:pt x="160" y="343"/>
                  </a:cubicBezTo>
                  <a:cubicBezTo>
                    <a:pt x="152" y="346"/>
                    <a:pt x="143" y="348"/>
                    <a:pt x="133" y="348"/>
                  </a:cubicBezTo>
                  <a:cubicBezTo>
                    <a:pt x="124" y="348"/>
                    <a:pt x="115" y="346"/>
                    <a:pt x="107" y="343"/>
                  </a:cubicBezTo>
                  <a:cubicBezTo>
                    <a:pt x="99" y="340"/>
                    <a:pt x="92" y="336"/>
                    <a:pt x="85" y="331"/>
                  </a:cubicBezTo>
                  <a:cubicBezTo>
                    <a:pt x="85" y="331"/>
                    <a:pt x="85" y="331"/>
                    <a:pt x="85" y="331"/>
                  </a:cubicBezTo>
                  <a:cubicBezTo>
                    <a:pt x="79" y="326"/>
                    <a:pt x="73" y="321"/>
                    <a:pt x="68" y="314"/>
                  </a:cubicBezTo>
                  <a:cubicBezTo>
                    <a:pt x="68" y="314"/>
                    <a:pt x="68" y="314"/>
                    <a:pt x="68" y="314"/>
                  </a:cubicBezTo>
                  <a:cubicBezTo>
                    <a:pt x="64" y="308"/>
                    <a:pt x="60" y="301"/>
                    <a:pt x="58" y="294"/>
                  </a:cubicBezTo>
                  <a:cubicBezTo>
                    <a:pt x="57" y="293"/>
                    <a:pt x="57" y="291"/>
                    <a:pt x="57" y="290"/>
                  </a:cubicBezTo>
                  <a:cubicBezTo>
                    <a:pt x="54" y="283"/>
                    <a:pt x="53" y="275"/>
                    <a:pt x="53" y="268"/>
                  </a:cubicBezTo>
                  <a:cubicBezTo>
                    <a:pt x="53" y="260"/>
                    <a:pt x="54" y="252"/>
                    <a:pt x="57" y="245"/>
                  </a:cubicBezTo>
                  <a:cubicBezTo>
                    <a:pt x="57" y="244"/>
                    <a:pt x="57" y="242"/>
                    <a:pt x="58" y="241"/>
                  </a:cubicBezTo>
                  <a:cubicBezTo>
                    <a:pt x="60" y="234"/>
                    <a:pt x="64" y="227"/>
                    <a:pt x="68" y="221"/>
                  </a:cubicBezTo>
                  <a:cubicBezTo>
                    <a:pt x="68" y="221"/>
                    <a:pt x="68" y="221"/>
                    <a:pt x="68" y="221"/>
                  </a:cubicBezTo>
                  <a:cubicBezTo>
                    <a:pt x="73" y="214"/>
                    <a:pt x="79" y="209"/>
                    <a:pt x="85" y="204"/>
                  </a:cubicBezTo>
                  <a:cubicBezTo>
                    <a:pt x="85" y="204"/>
                    <a:pt x="85" y="204"/>
                    <a:pt x="85" y="204"/>
                  </a:cubicBezTo>
                  <a:cubicBezTo>
                    <a:pt x="92" y="199"/>
                    <a:pt x="99" y="195"/>
                    <a:pt x="107" y="192"/>
                  </a:cubicBezTo>
                  <a:cubicBezTo>
                    <a:pt x="115" y="189"/>
                    <a:pt x="124" y="187"/>
                    <a:pt x="133" y="187"/>
                  </a:cubicBezTo>
                  <a:cubicBezTo>
                    <a:pt x="143" y="187"/>
                    <a:pt x="152" y="189"/>
                    <a:pt x="160" y="192"/>
                  </a:cubicBezTo>
                  <a:cubicBezTo>
                    <a:pt x="168" y="195"/>
                    <a:pt x="175" y="199"/>
                    <a:pt x="181" y="204"/>
                  </a:cubicBezTo>
                  <a:cubicBezTo>
                    <a:pt x="181" y="204"/>
                    <a:pt x="182" y="204"/>
                    <a:pt x="182" y="204"/>
                  </a:cubicBezTo>
                  <a:cubicBezTo>
                    <a:pt x="188" y="209"/>
                    <a:pt x="193" y="214"/>
                    <a:pt x="198" y="221"/>
                  </a:cubicBezTo>
                  <a:cubicBezTo>
                    <a:pt x="198" y="221"/>
                    <a:pt x="198" y="221"/>
                    <a:pt x="198" y="221"/>
                  </a:cubicBezTo>
                  <a:cubicBezTo>
                    <a:pt x="203" y="227"/>
                    <a:pt x="206" y="234"/>
                    <a:pt x="209" y="241"/>
                  </a:cubicBezTo>
                  <a:cubicBezTo>
                    <a:pt x="209" y="242"/>
                    <a:pt x="209" y="244"/>
                    <a:pt x="210" y="245"/>
                  </a:cubicBezTo>
                  <a:cubicBezTo>
                    <a:pt x="212" y="252"/>
                    <a:pt x="214" y="260"/>
                    <a:pt x="214" y="268"/>
                  </a:cubicBezTo>
                  <a:cubicBezTo>
                    <a:pt x="214" y="275"/>
                    <a:pt x="212" y="283"/>
                    <a:pt x="210" y="290"/>
                  </a:cubicBezTo>
                  <a:close/>
                </a:path>
              </a:pathLst>
            </a:custGeom>
            <a:solidFill>
              <a:srgbClr val="FFFFFF">
                <a:alpha val="100000"/>
              </a:srgbClr>
            </a:solidFill>
            <a:ln w="9525">
              <a:noFill/>
            </a:ln>
          </p:spPr>
          <p:txBody>
            <a:bodyPr/>
            <a:lstStyle/>
            <a:p>
              <a:endParaRPr lang="fr-FR" altLang="en-US"/>
            </a:p>
          </p:txBody>
        </p:sp>
        <p:sp>
          <p:nvSpPr>
            <p:cNvPr id="40978" name="Freeform 7"/>
            <p:cNvSpPr/>
            <p:nvPr/>
          </p:nvSpPr>
          <p:spPr>
            <a:xfrm>
              <a:off x="900391"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415352"/>
                </a:cxn>
                <a:cxn ang="0">
                  <a:pos x="184627" y="68938"/>
                </a:cxn>
                <a:cxn ang="0">
                  <a:pos x="115607" y="0"/>
                </a:cxn>
                <a:cxn ang="0">
                  <a:pos x="46588" y="68938"/>
                </a:cxn>
                <a:cxn ang="0">
                  <a:pos x="46588" y="415352"/>
                </a:cxn>
                <a:cxn ang="0">
                  <a:pos x="0" y="507556"/>
                </a:cxn>
                <a:cxn ang="0">
                  <a:pos x="46588" y="598899"/>
                </a:cxn>
                <a:cxn ang="0">
                  <a:pos x="46588" y="668699"/>
                </a:cxn>
                <a:cxn ang="0">
                  <a:pos x="115607" y="737637"/>
                </a:cxn>
                <a:cxn ang="0">
                  <a:pos x="184627" y="668699"/>
                </a:cxn>
                <a:cxn ang="0">
                  <a:pos x="184627" y="598899"/>
                </a:cxn>
                <a:cxn ang="0">
                  <a:pos x="231215" y="507556"/>
                </a:cxn>
                <a:cxn ang="0">
                  <a:pos x="184627" y="415352"/>
                </a:cxn>
                <a:cxn ang="0">
                  <a:pos x="92313" y="68938"/>
                </a:cxn>
                <a:cxn ang="0">
                  <a:pos x="115607" y="46533"/>
                </a:cxn>
                <a:cxn ang="0">
                  <a:pos x="138902" y="68938"/>
                </a:cxn>
                <a:cxn ang="0">
                  <a:pos x="138902" y="393809"/>
                </a:cxn>
                <a:cxn ang="0">
                  <a:pos x="115607" y="392085"/>
                </a:cxn>
                <a:cxn ang="0">
                  <a:pos x="92313" y="393809"/>
                </a:cxn>
                <a:cxn ang="0">
                  <a:pos x="92313" y="68938"/>
                </a:cxn>
                <a:cxn ang="0">
                  <a:pos x="138902" y="668699"/>
                </a:cxn>
                <a:cxn ang="0">
                  <a:pos x="115607" y="691966"/>
                </a:cxn>
                <a:cxn ang="0">
                  <a:pos x="92313" y="668699"/>
                </a:cxn>
                <a:cxn ang="0">
                  <a:pos x="92313" y="620442"/>
                </a:cxn>
                <a:cxn ang="0">
                  <a:pos x="115607" y="622166"/>
                </a:cxn>
                <a:cxn ang="0">
                  <a:pos x="138902" y="620442"/>
                </a:cxn>
                <a:cxn ang="0">
                  <a:pos x="138902" y="668699"/>
                </a:cxn>
                <a:cxn ang="0">
                  <a:pos x="182039" y="526514"/>
                </a:cxn>
                <a:cxn ang="0">
                  <a:pos x="180313" y="529961"/>
                </a:cxn>
                <a:cxn ang="0">
                  <a:pos x="171686" y="547196"/>
                </a:cxn>
                <a:cxn ang="0">
                  <a:pos x="171686" y="547196"/>
                </a:cxn>
                <a:cxn ang="0">
                  <a:pos x="157019" y="561845"/>
                </a:cxn>
                <a:cxn ang="0">
                  <a:pos x="157019" y="561845"/>
                </a:cxn>
                <a:cxn ang="0">
                  <a:pos x="138902" y="572186"/>
                </a:cxn>
                <a:cxn ang="0">
                  <a:pos x="115607" y="576494"/>
                </a:cxn>
                <a:cxn ang="0">
                  <a:pos x="92313" y="572186"/>
                </a:cxn>
                <a:cxn ang="0">
                  <a:pos x="74196" y="561845"/>
                </a:cxn>
                <a:cxn ang="0">
                  <a:pos x="74196" y="561845"/>
                </a:cxn>
                <a:cxn ang="0">
                  <a:pos x="59529" y="547196"/>
                </a:cxn>
                <a:cxn ang="0">
                  <a:pos x="59529" y="547196"/>
                </a:cxn>
                <a:cxn ang="0">
                  <a:pos x="50902" y="529961"/>
                </a:cxn>
                <a:cxn ang="0">
                  <a:pos x="49176" y="526514"/>
                </a:cxn>
                <a:cxn ang="0">
                  <a:pos x="46588" y="507556"/>
                </a:cxn>
                <a:cxn ang="0">
                  <a:pos x="49176" y="487737"/>
                </a:cxn>
                <a:cxn ang="0">
                  <a:pos x="50902" y="484290"/>
                </a:cxn>
                <a:cxn ang="0">
                  <a:pos x="59529" y="467055"/>
                </a:cxn>
                <a:cxn ang="0">
                  <a:pos x="59529" y="467055"/>
                </a:cxn>
                <a:cxn ang="0">
                  <a:pos x="74196" y="452406"/>
                </a:cxn>
                <a:cxn ang="0">
                  <a:pos x="74196" y="452406"/>
                </a:cxn>
                <a:cxn ang="0">
                  <a:pos x="92313" y="442065"/>
                </a:cxn>
                <a:cxn ang="0">
                  <a:pos x="115607" y="437757"/>
                </a:cxn>
                <a:cxn ang="0">
                  <a:pos x="138902" y="442065"/>
                </a:cxn>
                <a:cxn ang="0">
                  <a:pos x="157019" y="452406"/>
                </a:cxn>
                <a:cxn ang="0">
                  <a:pos x="157019" y="452406"/>
                </a:cxn>
                <a:cxn ang="0">
                  <a:pos x="171686" y="467055"/>
                </a:cxn>
                <a:cxn ang="0">
                  <a:pos x="171686" y="467055"/>
                </a:cxn>
                <a:cxn ang="0">
                  <a:pos x="180313" y="484290"/>
                </a:cxn>
                <a:cxn ang="0">
                  <a:pos x="182039" y="487737"/>
                </a:cxn>
                <a:cxn ang="0">
                  <a:pos x="184627" y="507556"/>
                </a:cxn>
                <a:cxn ang="0">
                  <a:pos x="182039" y="526514"/>
                </a:cxn>
              </a:cxnLst>
              <a:rect l="txL" t="txT" r="txR" b="txB"/>
              <a:pathLst>
                <a:path w="268" h="856">
                  <a:moveTo>
                    <a:pt x="214" y="482"/>
                  </a:moveTo>
                  <a:cubicBezTo>
                    <a:pt x="214" y="80"/>
                    <a:pt x="214" y="80"/>
                    <a:pt x="214" y="80"/>
                  </a:cubicBezTo>
                  <a:cubicBezTo>
                    <a:pt x="214" y="36"/>
                    <a:pt x="178" y="0"/>
                    <a:pt x="134" y="0"/>
                  </a:cubicBezTo>
                  <a:cubicBezTo>
                    <a:pt x="90" y="0"/>
                    <a:pt x="54" y="36"/>
                    <a:pt x="54" y="80"/>
                  </a:cubicBezTo>
                  <a:cubicBezTo>
                    <a:pt x="54" y="482"/>
                    <a:pt x="54" y="482"/>
                    <a:pt x="54" y="482"/>
                  </a:cubicBezTo>
                  <a:cubicBezTo>
                    <a:pt x="21" y="507"/>
                    <a:pt x="0" y="545"/>
                    <a:pt x="0" y="589"/>
                  </a:cubicBezTo>
                  <a:cubicBezTo>
                    <a:pt x="0" y="632"/>
                    <a:pt x="21" y="670"/>
                    <a:pt x="54" y="695"/>
                  </a:cubicBezTo>
                  <a:cubicBezTo>
                    <a:pt x="54" y="776"/>
                    <a:pt x="54" y="776"/>
                    <a:pt x="54" y="776"/>
                  </a:cubicBezTo>
                  <a:cubicBezTo>
                    <a:pt x="54" y="820"/>
                    <a:pt x="90" y="856"/>
                    <a:pt x="134" y="856"/>
                  </a:cubicBezTo>
                  <a:cubicBezTo>
                    <a:pt x="178" y="856"/>
                    <a:pt x="214" y="820"/>
                    <a:pt x="214" y="776"/>
                  </a:cubicBezTo>
                  <a:cubicBezTo>
                    <a:pt x="214" y="695"/>
                    <a:pt x="214" y="695"/>
                    <a:pt x="214" y="695"/>
                  </a:cubicBezTo>
                  <a:cubicBezTo>
                    <a:pt x="247" y="670"/>
                    <a:pt x="268" y="632"/>
                    <a:pt x="268" y="589"/>
                  </a:cubicBezTo>
                  <a:cubicBezTo>
                    <a:pt x="268" y="545"/>
                    <a:pt x="247" y="507"/>
                    <a:pt x="214" y="482"/>
                  </a:cubicBezTo>
                  <a:close/>
                  <a:moveTo>
                    <a:pt x="107" y="80"/>
                  </a:moveTo>
                  <a:cubicBezTo>
                    <a:pt x="107" y="65"/>
                    <a:pt x="119" y="54"/>
                    <a:pt x="134" y="54"/>
                  </a:cubicBezTo>
                  <a:cubicBezTo>
                    <a:pt x="149" y="54"/>
                    <a:pt x="161" y="65"/>
                    <a:pt x="161" y="80"/>
                  </a:cubicBezTo>
                  <a:cubicBezTo>
                    <a:pt x="161" y="457"/>
                    <a:pt x="161" y="457"/>
                    <a:pt x="161" y="457"/>
                  </a:cubicBezTo>
                  <a:cubicBezTo>
                    <a:pt x="152" y="456"/>
                    <a:pt x="143" y="455"/>
                    <a:pt x="134" y="455"/>
                  </a:cubicBezTo>
                  <a:cubicBezTo>
                    <a:pt x="125" y="455"/>
                    <a:pt x="116" y="456"/>
                    <a:pt x="107" y="457"/>
                  </a:cubicBezTo>
                  <a:lnTo>
                    <a:pt x="107" y="80"/>
                  </a:lnTo>
                  <a:close/>
                  <a:moveTo>
                    <a:pt x="161" y="776"/>
                  </a:moveTo>
                  <a:cubicBezTo>
                    <a:pt x="161" y="791"/>
                    <a:pt x="149" y="803"/>
                    <a:pt x="134" y="803"/>
                  </a:cubicBezTo>
                  <a:cubicBezTo>
                    <a:pt x="119" y="803"/>
                    <a:pt x="107" y="791"/>
                    <a:pt x="107" y="776"/>
                  </a:cubicBezTo>
                  <a:cubicBezTo>
                    <a:pt x="107" y="720"/>
                    <a:pt x="107" y="720"/>
                    <a:pt x="107" y="720"/>
                  </a:cubicBezTo>
                  <a:cubicBezTo>
                    <a:pt x="116" y="721"/>
                    <a:pt x="125" y="722"/>
                    <a:pt x="134" y="722"/>
                  </a:cubicBezTo>
                  <a:cubicBezTo>
                    <a:pt x="143" y="722"/>
                    <a:pt x="152" y="721"/>
                    <a:pt x="161" y="720"/>
                  </a:cubicBezTo>
                  <a:lnTo>
                    <a:pt x="161" y="776"/>
                  </a:lnTo>
                  <a:close/>
                  <a:moveTo>
                    <a:pt x="211" y="611"/>
                  </a:moveTo>
                  <a:cubicBezTo>
                    <a:pt x="210" y="612"/>
                    <a:pt x="210" y="614"/>
                    <a:pt x="209" y="615"/>
                  </a:cubicBezTo>
                  <a:cubicBezTo>
                    <a:pt x="207" y="622"/>
                    <a:pt x="204" y="629"/>
                    <a:pt x="199" y="635"/>
                  </a:cubicBezTo>
                  <a:cubicBezTo>
                    <a:pt x="199" y="635"/>
                    <a:pt x="199" y="635"/>
                    <a:pt x="199" y="635"/>
                  </a:cubicBezTo>
                  <a:cubicBezTo>
                    <a:pt x="194" y="642"/>
                    <a:pt x="189" y="647"/>
                    <a:pt x="182" y="652"/>
                  </a:cubicBezTo>
                  <a:cubicBezTo>
                    <a:pt x="182" y="652"/>
                    <a:pt x="182" y="652"/>
                    <a:pt x="182" y="652"/>
                  </a:cubicBezTo>
                  <a:cubicBezTo>
                    <a:pt x="176" y="657"/>
                    <a:pt x="168" y="661"/>
                    <a:pt x="161" y="664"/>
                  </a:cubicBezTo>
                  <a:cubicBezTo>
                    <a:pt x="152" y="667"/>
                    <a:pt x="143" y="669"/>
                    <a:pt x="134" y="669"/>
                  </a:cubicBezTo>
                  <a:cubicBezTo>
                    <a:pt x="125" y="669"/>
                    <a:pt x="116" y="667"/>
                    <a:pt x="107" y="664"/>
                  </a:cubicBezTo>
                  <a:cubicBezTo>
                    <a:pt x="100" y="661"/>
                    <a:pt x="92" y="657"/>
                    <a:pt x="86" y="652"/>
                  </a:cubicBezTo>
                  <a:cubicBezTo>
                    <a:pt x="86" y="652"/>
                    <a:pt x="86" y="652"/>
                    <a:pt x="86" y="652"/>
                  </a:cubicBezTo>
                  <a:cubicBezTo>
                    <a:pt x="79" y="647"/>
                    <a:pt x="74" y="642"/>
                    <a:pt x="69" y="635"/>
                  </a:cubicBezTo>
                  <a:cubicBezTo>
                    <a:pt x="69" y="635"/>
                    <a:pt x="69" y="635"/>
                    <a:pt x="69" y="635"/>
                  </a:cubicBezTo>
                  <a:cubicBezTo>
                    <a:pt x="64" y="629"/>
                    <a:pt x="61" y="622"/>
                    <a:pt x="59" y="615"/>
                  </a:cubicBezTo>
                  <a:cubicBezTo>
                    <a:pt x="58" y="614"/>
                    <a:pt x="58" y="612"/>
                    <a:pt x="57" y="611"/>
                  </a:cubicBezTo>
                  <a:cubicBezTo>
                    <a:pt x="55" y="604"/>
                    <a:pt x="54" y="596"/>
                    <a:pt x="54" y="589"/>
                  </a:cubicBezTo>
                  <a:cubicBezTo>
                    <a:pt x="54" y="581"/>
                    <a:pt x="55" y="573"/>
                    <a:pt x="57" y="566"/>
                  </a:cubicBezTo>
                  <a:cubicBezTo>
                    <a:pt x="58" y="565"/>
                    <a:pt x="58" y="563"/>
                    <a:pt x="59" y="562"/>
                  </a:cubicBezTo>
                  <a:cubicBezTo>
                    <a:pt x="61" y="555"/>
                    <a:pt x="64" y="548"/>
                    <a:pt x="69" y="542"/>
                  </a:cubicBezTo>
                  <a:cubicBezTo>
                    <a:pt x="69" y="542"/>
                    <a:pt x="69" y="542"/>
                    <a:pt x="69" y="542"/>
                  </a:cubicBezTo>
                  <a:cubicBezTo>
                    <a:pt x="74" y="535"/>
                    <a:pt x="79" y="530"/>
                    <a:pt x="86" y="525"/>
                  </a:cubicBezTo>
                  <a:cubicBezTo>
                    <a:pt x="86" y="525"/>
                    <a:pt x="86" y="525"/>
                    <a:pt x="86" y="525"/>
                  </a:cubicBezTo>
                  <a:cubicBezTo>
                    <a:pt x="92" y="520"/>
                    <a:pt x="100" y="516"/>
                    <a:pt x="107" y="513"/>
                  </a:cubicBezTo>
                  <a:cubicBezTo>
                    <a:pt x="116" y="510"/>
                    <a:pt x="125" y="508"/>
                    <a:pt x="134" y="508"/>
                  </a:cubicBezTo>
                  <a:cubicBezTo>
                    <a:pt x="143" y="508"/>
                    <a:pt x="152" y="510"/>
                    <a:pt x="161" y="513"/>
                  </a:cubicBezTo>
                  <a:cubicBezTo>
                    <a:pt x="168" y="516"/>
                    <a:pt x="176" y="520"/>
                    <a:pt x="182" y="525"/>
                  </a:cubicBezTo>
                  <a:cubicBezTo>
                    <a:pt x="182" y="525"/>
                    <a:pt x="182" y="525"/>
                    <a:pt x="182" y="525"/>
                  </a:cubicBezTo>
                  <a:cubicBezTo>
                    <a:pt x="189" y="530"/>
                    <a:pt x="194" y="535"/>
                    <a:pt x="199" y="542"/>
                  </a:cubicBezTo>
                  <a:cubicBezTo>
                    <a:pt x="199" y="542"/>
                    <a:pt x="199" y="542"/>
                    <a:pt x="199" y="542"/>
                  </a:cubicBezTo>
                  <a:cubicBezTo>
                    <a:pt x="204" y="548"/>
                    <a:pt x="207" y="555"/>
                    <a:pt x="209" y="562"/>
                  </a:cubicBezTo>
                  <a:cubicBezTo>
                    <a:pt x="210" y="563"/>
                    <a:pt x="210" y="565"/>
                    <a:pt x="211" y="566"/>
                  </a:cubicBezTo>
                  <a:cubicBezTo>
                    <a:pt x="213" y="573"/>
                    <a:pt x="214" y="581"/>
                    <a:pt x="214" y="589"/>
                  </a:cubicBezTo>
                  <a:cubicBezTo>
                    <a:pt x="214" y="596"/>
                    <a:pt x="213" y="604"/>
                    <a:pt x="211" y="611"/>
                  </a:cubicBezTo>
                  <a:close/>
                </a:path>
              </a:pathLst>
            </a:custGeom>
            <a:solidFill>
              <a:srgbClr val="FFFFFF">
                <a:alpha val="100000"/>
              </a:srgbClr>
            </a:solidFill>
            <a:ln w="9525">
              <a:noFill/>
            </a:ln>
          </p:spPr>
          <p:txBody>
            <a:bodyPr/>
            <a:lstStyle/>
            <a:p>
              <a:endParaRPr lang="fr-FR" altLang="en-US"/>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anim calcmode="lin" valueType="num">
                                      <p:cBhvr>
                                        <p:cTn id="36" dur="500" fill="hold"/>
                                        <p:tgtEl>
                                          <p:spTgt spid="5"/>
                                        </p:tgtEl>
                                        <p:attrNameLst>
                                          <p:attrName>ppt_x</p:attrName>
                                        </p:attrNameLst>
                                      </p:cBhvr>
                                      <p:tavLst>
                                        <p:tav tm="0">
                                          <p:val>
                                            <p:strVal val="#ppt_x"/>
                                          </p:val>
                                        </p:tav>
                                        <p:tav tm="100000">
                                          <p:val>
                                            <p:strVal val="#ppt_x"/>
                                          </p:val>
                                        </p:tav>
                                      </p:tavLst>
                                    </p:anim>
                                    <p:anim calcmode="lin" valueType="num">
                                      <p:cBhvr>
                                        <p:cTn id="37" dur="500" fill="hold"/>
                                        <p:tgtEl>
                                          <p:spTgt spid="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anim calcmode="lin" valueType="num">
                                      <p:cBhvr>
                                        <p:cTn id="42" dur="500" fill="hold"/>
                                        <p:tgtEl>
                                          <p:spTgt spid="6"/>
                                        </p:tgtEl>
                                        <p:attrNameLst>
                                          <p:attrName>ppt_x</p:attrName>
                                        </p:attrNameLst>
                                      </p:cBhvr>
                                      <p:tavLst>
                                        <p:tav tm="0">
                                          <p:val>
                                            <p:strVal val="#ppt_x"/>
                                          </p:val>
                                        </p:tav>
                                        <p:tav tm="100000">
                                          <p:val>
                                            <p:strVal val="#ppt_x"/>
                                          </p:val>
                                        </p:tav>
                                      </p:tavLst>
                                    </p:anim>
                                    <p:anim calcmode="lin" valueType="num">
                                      <p:cBhvr>
                                        <p:cTn id="43" dur="500" fill="hold"/>
                                        <p:tgtEl>
                                          <p:spTgt spid="6"/>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16" presetClass="entr" presetSubtype="37"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arn(outVertical)">
                                      <p:cBhvr>
                                        <p:cTn id="47" dur="500"/>
                                        <p:tgtEl>
                                          <p:spTgt spid="17"/>
                                        </p:tgtEl>
                                      </p:cBhvr>
                                    </p:animEffect>
                                  </p:childTnLst>
                                </p:cTn>
                              </p:par>
                            </p:childTnLst>
                          </p:cTn>
                        </p:par>
                        <p:par>
                          <p:cTn id="48" fill="hold">
                            <p:stCondLst>
                              <p:cond delay="4000"/>
                            </p:stCondLst>
                            <p:childTnLst>
                              <p:par>
                                <p:cTn id="49" presetID="47"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par>
                          <p:cTn id="54" fill="hold">
                            <p:stCondLst>
                              <p:cond delay="5000"/>
                            </p:stCondLst>
                            <p:childTnLst>
                              <p:par>
                                <p:cTn id="55" presetID="16" presetClass="entr" presetSubtype="37"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outVertical)">
                                      <p:cBhvr>
                                        <p:cTn id="57" dur="500"/>
                                        <p:tgtEl>
                                          <p:spTgt spid="16"/>
                                        </p:tgtEl>
                                      </p:cBhvr>
                                    </p:animEffect>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par>
                          <p:cTn id="62" fill="hold">
                            <p:stCondLst>
                              <p:cond delay="6000"/>
                            </p:stCondLst>
                            <p:childTnLst>
                              <p:par>
                                <p:cTn id="63" presetID="22" presetClass="entr" presetSubtype="4"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down)">
                                      <p:cBhvr>
                                        <p:cTn id="65" dur="500"/>
                                        <p:tgtEl>
                                          <p:spTgt spid="24"/>
                                        </p:tgtEl>
                                      </p:cBhvr>
                                    </p:animEffect>
                                  </p:childTnLst>
                                </p:cTn>
                              </p:par>
                            </p:childTnLst>
                          </p:cTn>
                        </p:par>
                        <p:par>
                          <p:cTn id="66" fill="hold">
                            <p:stCondLst>
                              <p:cond delay="6500"/>
                            </p:stCondLst>
                            <p:childTnLst>
                              <p:par>
                                <p:cTn id="67" presetID="22" presetClass="entr" presetSubtype="8"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par>
                          <p:cTn id="70" fill="hold">
                            <p:stCondLst>
                              <p:cond delay="7000"/>
                            </p:stCondLst>
                            <p:childTnLst>
                              <p:par>
                                <p:cTn id="71" presetID="53" presetClass="entr" presetSubtype="16" fill="hold" nodeType="after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p:cTn id="73" dur="500" fill="hold"/>
                                        <p:tgtEl>
                                          <p:spTgt spid="10"/>
                                        </p:tgtEl>
                                        <p:attrNameLst>
                                          <p:attrName>ppt_w</p:attrName>
                                        </p:attrNameLst>
                                      </p:cBhvr>
                                      <p:tavLst>
                                        <p:tav tm="0">
                                          <p:val>
                                            <p:fltVal val="0"/>
                                          </p:val>
                                        </p:tav>
                                        <p:tav tm="100000">
                                          <p:val>
                                            <p:strVal val="#ppt_w"/>
                                          </p:val>
                                        </p:tav>
                                      </p:tavLst>
                                    </p:anim>
                                    <p:anim calcmode="lin" valueType="num">
                                      <p:cBhvr>
                                        <p:cTn id="74" dur="500" fill="hold"/>
                                        <p:tgtEl>
                                          <p:spTgt spid="10"/>
                                        </p:tgtEl>
                                        <p:attrNameLst>
                                          <p:attrName>ppt_h</p:attrName>
                                        </p:attrNameLst>
                                      </p:cBhvr>
                                      <p:tavLst>
                                        <p:tav tm="0">
                                          <p:val>
                                            <p:fltVal val="0"/>
                                          </p:val>
                                        </p:tav>
                                        <p:tav tm="100000">
                                          <p:val>
                                            <p:strVal val="#ppt_h"/>
                                          </p:val>
                                        </p:tav>
                                      </p:tavLst>
                                    </p:anim>
                                    <p:animEffect transition="in" filter="fade">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bldLvl="0" animBg="1"/>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p:cNvSpPr txBox="1"/>
          <p:nvPr/>
        </p:nvSpPr>
        <p:spPr>
          <a:xfrm>
            <a:off x="1607639" y="323712"/>
            <a:ext cx="7684283" cy="738664"/>
          </a:xfrm>
          <a:prstGeom prst="rect">
            <a:avLst/>
          </a:prstGeom>
          <a:noFill/>
          <a:ln w="9525">
            <a:noFill/>
          </a:ln>
        </p:spPr>
        <p:txBody>
          <a:bodyPr wrap="none" anchor="t" anchorCtr="1">
            <a:spAutoFit/>
          </a:bodyPr>
          <a:lstStyle/>
          <a:p>
            <a:pPr algn="ctr" eaLnBrk="1" hangingPunct="1"/>
            <a:r>
              <a:rPr lang="fr-FR" sz="2400" b="1" dirty="0">
                <a:solidFill>
                  <a:schemeClr val="bg1">
                    <a:lumMod val="50000"/>
                  </a:schemeClr>
                </a:solidFill>
                <a:effectLst>
                  <a:outerShdw blurRad="38100" dist="38100" dir="2700000" algn="tl">
                    <a:srgbClr val="000000">
                      <a:alpha val="43137"/>
                    </a:srgbClr>
                  </a:outerShdw>
                </a:effectLst>
              </a:rPr>
              <a:t> Introduction générale aux modèles Codex, </a:t>
            </a:r>
            <a:r>
              <a:rPr lang="fr-FR" sz="2400" b="1" dirty="0" err="1">
                <a:solidFill>
                  <a:schemeClr val="bg1">
                    <a:lumMod val="50000"/>
                  </a:schemeClr>
                </a:solidFill>
                <a:effectLst>
                  <a:outerShdw blurRad="38100" dist="38100" dir="2700000" algn="tl">
                    <a:srgbClr val="000000">
                      <a:alpha val="43137"/>
                    </a:srgbClr>
                  </a:outerShdw>
                </a:effectLst>
              </a:rPr>
              <a:t>LLaMA</a:t>
            </a:r>
            <a:r>
              <a:rPr lang="fr-FR" sz="2400" b="1" dirty="0">
                <a:solidFill>
                  <a:schemeClr val="bg1">
                    <a:lumMod val="50000"/>
                  </a:schemeClr>
                </a:solidFill>
                <a:effectLst>
                  <a:outerShdw blurRad="38100" dist="38100" dir="2700000" algn="tl">
                    <a:srgbClr val="000000">
                      <a:alpha val="43137"/>
                    </a:srgbClr>
                  </a:outerShdw>
                </a:effectLst>
              </a:rPr>
              <a:t> et </a:t>
            </a:r>
            <a:r>
              <a:rPr lang="fr-FR" sz="2400" b="1" dirty="0" err="1">
                <a:solidFill>
                  <a:schemeClr val="bg1">
                    <a:lumMod val="50000"/>
                  </a:schemeClr>
                </a:solidFill>
                <a:effectLst>
                  <a:outerShdw blurRad="38100" dist="38100" dir="2700000" algn="tl">
                    <a:srgbClr val="000000">
                      <a:alpha val="43137"/>
                    </a:srgbClr>
                  </a:outerShdw>
                </a:effectLst>
              </a:rPr>
              <a:t>PaLM</a:t>
            </a:r>
            <a:endParaRPr lang="fr-FR" sz="2400" b="1" dirty="0">
              <a:solidFill>
                <a:schemeClr val="bg1">
                  <a:lumMod val="50000"/>
                </a:schemeClr>
              </a:solidFill>
              <a:effectLst>
                <a:outerShdw blurRad="38100" dist="38100" dir="2700000" algn="tl">
                  <a:srgbClr val="000000">
                    <a:alpha val="43137"/>
                  </a:srgbClr>
                </a:outerShdw>
              </a:effectLst>
            </a:endParaRPr>
          </a:p>
          <a:p>
            <a:pPr algn="ctr" eaLnBrk="1" hangingPunct="1"/>
            <a:endParaRPr lang="fr-FR" altLang="x-none" dirty="0">
              <a:solidFill>
                <a:srgbClr val="000000"/>
              </a:solidFill>
              <a:cs typeface="Calibri" panose="020F0502020204030204" pitchFamily="34" charset="0"/>
            </a:endParaRPr>
          </a:p>
        </p:txBody>
      </p:sp>
      <p:sp>
        <p:nvSpPr>
          <p:cNvPr id="3" name="ZoneTexte 4"/>
          <p:cNvSpPr txBox="1"/>
          <p:nvPr/>
        </p:nvSpPr>
        <p:spPr>
          <a:xfrm>
            <a:off x="352425" y="944563"/>
            <a:ext cx="11596688" cy="4524315"/>
          </a:xfrm>
          <a:prstGeom prst="rect">
            <a:avLst/>
          </a:prstGeom>
          <a:noFill/>
          <a:ln cap="flat">
            <a:noFill/>
          </a:ln>
        </p:spPr>
        <p:txBody>
          <a:bodyPr vert="horz" wrap="square" lIns="91440" tIns="45720" rIns="91440" bIns="45720" anchor="t" anchorCtr="0" compatLnSpc="1">
            <a:spAutoFit/>
          </a:bodyPr>
          <a:lstStyle/>
          <a:p>
            <a:r>
              <a:rPr lang="fr-FR" dirty="0"/>
              <a:t>Les trois modèles appartiennent à la famille des </a:t>
            </a:r>
            <a:r>
              <a:rPr lang="fr-FR" b="1" dirty="0"/>
              <a:t>Large </a:t>
            </a:r>
            <a:r>
              <a:rPr lang="fr-FR" b="1" dirty="0" err="1"/>
              <a:t>Language</a:t>
            </a:r>
            <a:r>
              <a:rPr lang="fr-FR" b="1" dirty="0"/>
              <a:t> </a:t>
            </a:r>
            <a:r>
              <a:rPr lang="fr-FR" b="1" dirty="0" err="1"/>
              <a:t>Models</a:t>
            </a:r>
            <a:r>
              <a:rPr lang="fr-FR" b="1" dirty="0"/>
              <a:t> (LLM)</a:t>
            </a:r>
            <a:r>
              <a:rPr lang="fr-FR" dirty="0"/>
              <a:t>, c’est‑à‑dire des intelligences artificielles capables de </a:t>
            </a:r>
            <a:r>
              <a:rPr lang="fr-FR" b="1" dirty="0"/>
              <a:t>comprendre et générer du texte</a:t>
            </a:r>
            <a:r>
              <a:rPr lang="fr-FR" dirty="0"/>
              <a:t> de manière très avancée.</a:t>
            </a:r>
          </a:p>
          <a:p>
            <a:r>
              <a:rPr lang="fr-FR" b="1" dirty="0">
                <a:solidFill>
                  <a:srgbClr val="FF0000"/>
                </a:solidFill>
              </a:rPr>
              <a:t>Codex (</a:t>
            </a:r>
            <a:r>
              <a:rPr lang="fr-FR" b="1" dirty="0" err="1">
                <a:solidFill>
                  <a:srgbClr val="FF0000"/>
                </a:solidFill>
              </a:rPr>
              <a:t>OpenAI</a:t>
            </a:r>
            <a:r>
              <a:rPr lang="fr-FR" b="1" dirty="0">
                <a:solidFill>
                  <a:srgbClr val="FF0000"/>
                </a:solidFill>
              </a:rPr>
              <a:t>)</a:t>
            </a:r>
            <a:r>
              <a:rPr lang="fr-FR" dirty="0">
                <a:solidFill>
                  <a:srgbClr val="FF0000"/>
                </a:solidFill>
              </a:rPr>
              <a:t> </a:t>
            </a:r>
          </a:p>
          <a:p>
            <a:pPr lvl="1"/>
            <a:r>
              <a:rPr lang="fr-FR" dirty="0"/>
              <a:t>Spécialisé dans la </a:t>
            </a:r>
            <a:r>
              <a:rPr lang="fr-FR" b="1" dirty="0"/>
              <a:t>programmation</a:t>
            </a:r>
            <a:r>
              <a:rPr lang="fr-FR" dirty="0"/>
              <a:t>. </a:t>
            </a:r>
          </a:p>
          <a:p>
            <a:pPr lvl="1"/>
            <a:r>
              <a:rPr lang="fr-FR" dirty="0"/>
              <a:t>Transforme des instructions en langage naturel en </a:t>
            </a:r>
            <a:r>
              <a:rPr lang="fr-FR" b="1" dirty="0"/>
              <a:t>code exécutable</a:t>
            </a:r>
            <a:r>
              <a:rPr lang="fr-FR" dirty="0"/>
              <a:t>. </a:t>
            </a:r>
          </a:p>
          <a:p>
            <a:pPr lvl="1"/>
            <a:r>
              <a:rPr lang="fr-FR" dirty="0"/>
              <a:t>Exemple : on décrit “Créer une fonction qui trie une liste”, Codex génère le code Python correspondant. </a:t>
            </a:r>
          </a:p>
          <a:p>
            <a:r>
              <a:rPr lang="fr-FR" b="1" dirty="0" err="1">
                <a:solidFill>
                  <a:srgbClr val="FF0000"/>
                </a:solidFill>
              </a:rPr>
              <a:t>LLaMA</a:t>
            </a:r>
            <a:r>
              <a:rPr lang="fr-FR" b="1" dirty="0">
                <a:solidFill>
                  <a:srgbClr val="FF0000"/>
                </a:solidFill>
              </a:rPr>
              <a:t> (Meta AI)</a:t>
            </a:r>
            <a:r>
              <a:rPr lang="fr-FR" dirty="0">
                <a:solidFill>
                  <a:srgbClr val="FF0000"/>
                </a:solidFill>
              </a:rPr>
              <a:t> </a:t>
            </a:r>
          </a:p>
          <a:p>
            <a:pPr lvl="1"/>
            <a:r>
              <a:rPr lang="fr-FR" dirty="0"/>
              <a:t>Modèle </a:t>
            </a:r>
            <a:r>
              <a:rPr lang="fr-FR" b="1" dirty="0"/>
              <a:t>général de langage</a:t>
            </a:r>
            <a:r>
              <a:rPr lang="fr-FR" dirty="0"/>
              <a:t>, plus ouvert pour la recherche et le développement. </a:t>
            </a:r>
          </a:p>
          <a:p>
            <a:pPr lvl="1"/>
            <a:r>
              <a:rPr lang="fr-FR" dirty="0"/>
              <a:t>Peut être utilisé pour </a:t>
            </a:r>
            <a:r>
              <a:rPr lang="fr-FR" b="1" dirty="0" err="1"/>
              <a:t>chatbots</a:t>
            </a:r>
            <a:r>
              <a:rPr lang="fr-FR" b="1" dirty="0"/>
              <a:t>, traduction, résumé</a:t>
            </a:r>
            <a:r>
              <a:rPr lang="fr-FR" dirty="0"/>
              <a:t> ou tâches de compréhension textuelle. </a:t>
            </a:r>
          </a:p>
          <a:p>
            <a:pPr lvl="1"/>
            <a:r>
              <a:rPr lang="fr-FR" dirty="0"/>
              <a:t>Souvent choisi pour sa </a:t>
            </a:r>
            <a:r>
              <a:rPr lang="fr-FR" b="1" dirty="0"/>
              <a:t>flexibilité et personnalisation</a:t>
            </a:r>
            <a:r>
              <a:rPr lang="fr-FR" dirty="0"/>
              <a:t>. </a:t>
            </a:r>
          </a:p>
          <a:p>
            <a:r>
              <a:rPr lang="fr-FR" b="1" dirty="0" err="1">
                <a:solidFill>
                  <a:srgbClr val="FF0000"/>
                </a:solidFill>
              </a:rPr>
              <a:t>PaLM</a:t>
            </a:r>
            <a:r>
              <a:rPr lang="fr-FR" b="1" dirty="0">
                <a:solidFill>
                  <a:srgbClr val="FF0000"/>
                </a:solidFill>
              </a:rPr>
              <a:t> (Google)</a:t>
            </a:r>
            <a:r>
              <a:rPr lang="fr-FR" dirty="0">
                <a:solidFill>
                  <a:srgbClr val="FF0000"/>
                </a:solidFill>
              </a:rPr>
              <a:t> </a:t>
            </a:r>
          </a:p>
          <a:p>
            <a:pPr lvl="1"/>
            <a:r>
              <a:rPr lang="fr-FR" dirty="0"/>
              <a:t>Modèle de très grande échelle, conçu pour </a:t>
            </a:r>
            <a:r>
              <a:rPr lang="fr-FR" b="1" dirty="0"/>
              <a:t>raisonnement complexe, traduction, génération de texte et code</a:t>
            </a:r>
            <a:r>
              <a:rPr lang="fr-FR" dirty="0"/>
              <a:t>. </a:t>
            </a:r>
          </a:p>
          <a:p>
            <a:pPr lvl="1"/>
            <a:r>
              <a:rPr lang="fr-FR" dirty="0"/>
              <a:t>Utilise l’architecture </a:t>
            </a:r>
            <a:r>
              <a:rPr lang="fr-FR" b="1" dirty="0" err="1"/>
              <a:t>Pathways</a:t>
            </a:r>
            <a:r>
              <a:rPr lang="fr-FR" dirty="0"/>
              <a:t>, permettant de traiter de grandes quantités d’information et d’apprendre plusieurs tâches à la fois. </a:t>
            </a:r>
          </a:p>
          <a:p>
            <a:pPr lvl="1"/>
            <a:r>
              <a:rPr lang="fr-FR" dirty="0"/>
              <a:t>Exemple : résoudre des exercices mathématiques, répondre à des questions de logique ou générer du texte très fluide. </a:t>
            </a:r>
          </a:p>
        </p:txBody>
      </p:sp>
    </p:spTree>
    <p:extLst>
      <p:ext uri="{BB962C8B-B14F-4D97-AF65-F5344CB8AC3E}">
        <p14:creationId xmlns:p14="http://schemas.microsoft.com/office/powerpoint/2010/main" val="17208596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grpSp>
        <p:nvGrpSpPr>
          <p:cNvPr id="29698" name="Group 21"/>
          <p:cNvGrpSpPr/>
          <p:nvPr/>
        </p:nvGrpSpPr>
        <p:grpSpPr>
          <a:xfrm>
            <a:off x="10045700" y="-506412"/>
            <a:ext cx="4143375" cy="8526462"/>
            <a:chOff x="10046238" y="-506806"/>
            <a:chExt cx="4142113" cy="8526606"/>
          </a:xfrm>
        </p:grpSpPr>
        <p:sp>
          <p:nvSpPr>
            <p:cNvPr id="29702" name="Freeform 10"/>
            <p:cNvSpPr/>
            <p:nvPr/>
          </p:nvSpPr>
          <p:spPr>
            <a:xfrm>
              <a:off x="10046238" y="-506806"/>
              <a:ext cx="4142113" cy="8526606"/>
            </a:xfrm>
            <a:custGeom>
              <a:avLst/>
              <a:gdLst>
                <a:gd name="txL" fmla="*/ 0 w 537"/>
                <a:gd name="txT" fmla="*/ 0 h 612"/>
                <a:gd name="txR" fmla="*/ 537 w 537"/>
                <a:gd name="txB" fmla="*/ 612 h 612"/>
              </a:gdLst>
              <a:ahLst/>
              <a:cxnLst>
                <a:cxn ang="17694720">
                  <a:pos x="2071057" y="0"/>
                </a:cxn>
                <a:cxn ang="0">
                  <a:pos x="4142113" y="4263303"/>
                </a:cxn>
                <a:cxn ang="5898240">
                  <a:pos x="2071057" y="8526606"/>
                </a:cxn>
                <a:cxn ang="11796480">
                  <a:pos x="0" y="4263303"/>
                </a:cxn>
                <a:cxn ang="0">
                  <a:pos x="1619821" y="0"/>
                </a:cxn>
                <a:cxn ang="0">
                  <a:pos x="1882077" y="0"/>
                </a:cxn>
                <a:cxn ang="0">
                  <a:pos x="740489" y="2925796"/>
                </a:cxn>
                <a:cxn ang="0">
                  <a:pos x="740489" y="4514086"/>
                </a:cxn>
                <a:cxn ang="0">
                  <a:pos x="740489" y="4555883"/>
                </a:cxn>
                <a:cxn ang="0">
                  <a:pos x="1619821" y="6144172"/>
                </a:cxn>
                <a:cxn ang="0">
                  <a:pos x="2537719" y="6144172"/>
                </a:cxn>
                <a:cxn ang="0">
                  <a:pos x="2653421" y="6144172"/>
                </a:cxn>
                <a:cxn ang="0">
                  <a:pos x="2753695" y="6158104"/>
                </a:cxn>
                <a:cxn ang="0">
                  <a:pos x="2769122" y="6158104"/>
                </a:cxn>
                <a:cxn ang="0">
                  <a:pos x="3162507" y="6255631"/>
                </a:cxn>
                <a:cxn ang="0">
                  <a:pos x="3748728" y="6882587"/>
                </a:cxn>
                <a:cxn ang="0">
                  <a:pos x="4142113" y="8526606"/>
                </a:cxn>
                <a:cxn ang="0">
                  <a:pos x="2560859" y="7481679"/>
                </a:cxn>
                <a:cxn ang="0">
                  <a:pos x="2522292" y="7481679"/>
                </a:cxn>
                <a:cxn ang="0">
                  <a:pos x="1619821" y="7481679"/>
                </a:cxn>
                <a:cxn ang="0">
                  <a:pos x="0" y="4555883"/>
                </a:cxn>
                <a:cxn ang="0">
                  <a:pos x="0" y="2925796"/>
                </a:cxn>
                <a:cxn ang="0">
                  <a:pos x="1619821" y="0"/>
                </a:cxn>
              </a:cxnLst>
              <a:rect l="txL" t="txT" r="txR" b="txB"/>
              <a:pathLst>
                <a:path w="537" h="612">
                  <a:moveTo>
                    <a:pt x="210" y="0"/>
                  </a:moveTo>
                  <a:cubicBezTo>
                    <a:pt x="244" y="0"/>
                    <a:pt x="244" y="0"/>
                    <a:pt x="244" y="0"/>
                  </a:cubicBezTo>
                  <a:cubicBezTo>
                    <a:pt x="88" y="57"/>
                    <a:pt x="96" y="210"/>
                    <a:pt x="96" y="210"/>
                  </a:cubicBezTo>
                  <a:cubicBezTo>
                    <a:pt x="96" y="324"/>
                    <a:pt x="96" y="324"/>
                    <a:pt x="96" y="324"/>
                  </a:cubicBezTo>
                  <a:cubicBezTo>
                    <a:pt x="96" y="327"/>
                    <a:pt x="96" y="327"/>
                    <a:pt x="96" y="327"/>
                  </a:cubicBezTo>
                  <a:cubicBezTo>
                    <a:pt x="96" y="390"/>
                    <a:pt x="147" y="441"/>
                    <a:pt x="210" y="441"/>
                  </a:cubicBezTo>
                  <a:cubicBezTo>
                    <a:pt x="329" y="441"/>
                    <a:pt x="329" y="441"/>
                    <a:pt x="329" y="441"/>
                  </a:cubicBezTo>
                  <a:cubicBezTo>
                    <a:pt x="334" y="441"/>
                    <a:pt x="339" y="441"/>
                    <a:pt x="344" y="441"/>
                  </a:cubicBezTo>
                  <a:cubicBezTo>
                    <a:pt x="349" y="441"/>
                    <a:pt x="353" y="442"/>
                    <a:pt x="357" y="442"/>
                  </a:cubicBezTo>
                  <a:cubicBezTo>
                    <a:pt x="358" y="442"/>
                    <a:pt x="359" y="442"/>
                    <a:pt x="359" y="442"/>
                  </a:cubicBezTo>
                  <a:cubicBezTo>
                    <a:pt x="377" y="443"/>
                    <a:pt x="394" y="446"/>
                    <a:pt x="410" y="449"/>
                  </a:cubicBezTo>
                  <a:cubicBezTo>
                    <a:pt x="451" y="456"/>
                    <a:pt x="483" y="491"/>
                    <a:pt x="486" y="494"/>
                  </a:cubicBezTo>
                  <a:cubicBezTo>
                    <a:pt x="524" y="544"/>
                    <a:pt x="537" y="612"/>
                    <a:pt x="537" y="612"/>
                  </a:cubicBezTo>
                  <a:cubicBezTo>
                    <a:pt x="537" y="612"/>
                    <a:pt x="490" y="540"/>
                    <a:pt x="332" y="537"/>
                  </a:cubicBezTo>
                  <a:cubicBezTo>
                    <a:pt x="330" y="537"/>
                    <a:pt x="329" y="537"/>
                    <a:pt x="327" y="537"/>
                  </a:cubicBezTo>
                  <a:cubicBezTo>
                    <a:pt x="210" y="537"/>
                    <a:pt x="210" y="537"/>
                    <a:pt x="210" y="537"/>
                  </a:cubicBezTo>
                  <a:cubicBezTo>
                    <a:pt x="94" y="537"/>
                    <a:pt x="0" y="443"/>
                    <a:pt x="0" y="327"/>
                  </a:cubicBezTo>
                  <a:cubicBezTo>
                    <a:pt x="0" y="210"/>
                    <a:pt x="0" y="210"/>
                    <a:pt x="0" y="210"/>
                  </a:cubicBezTo>
                  <a:cubicBezTo>
                    <a:pt x="0" y="94"/>
                    <a:pt x="94" y="0"/>
                    <a:pt x="210" y="0"/>
                  </a:cubicBezTo>
                  <a:close/>
                </a:path>
              </a:pathLst>
            </a:custGeom>
            <a:solidFill>
              <a:srgbClr val="FFFFFF">
                <a:alpha val="1176"/>
              </a:srgbClr>
            </a:solidFill>
            <a:ln w="9525">
              <a:noFill/>
            </a:ln>
          </p:spPr>
          <p:txBody>
            <a:bodyPr/>
            <a:lstStyle/>
            <a:p>
              <a:endParaRPr lang="fr-FR" altLang="en-US"/>
            </a:p>
          </p:txBody>
        </p:sp>
        <p:sp>
          <p:nvSpPr>
            <p:cNvPr id="29703" name="Freeform 9"/>
            <p:cNvSpPr/>
            <p:nvPr/>
          </p:nvSpPr>
          <p:spPr>
            <a:xfrm>
              <a:off x="11164933" y="-506806"/>
              <a:ext cx="3023417" cy="7410864"/>
            </a:xfrm>
            <a:custGeom>
              <a:avLst/>
              <a:gdLst>
                <a:gd name="txL" fmla="*/ 0 w 392"/>
                <a:gd name="txT" fmla="*/ 0 h 532"/>
                <a:gd name="txR" fmla="*/ 392 w 392"/>
                <a:gd name="txB" fmla="*/ 532 h 532"/>
              </a:gdLst>
              <a:ahLst/>
              <a:cxnLst>
                <a:cxn ang="17694720">
                  <a:pos x="1511709" y="0"/>
                </a:cxn>
                <a:cxn ang="0">
                  <a:pos x="3023417" y="3705432"/>
                </a:cxn>
                <a:cxn ang="5898240">
                  <a:pos x="1511709" y="7410864"/>
                </a:cxn>
                <a:cxn ang="11796480">
                  <a:pos x="0" y="3705432"/>
                </a:cxn>
                <a:cxn ang="0">
                  <a:pos x="2282988" y="5794961"/>
                </a:cxn>
                <a:cxn ang="0">
                  <a:pos x="2282988" y="2925341"/>
                </a:cxn>
                <a:cxn ang="0">
                  <a:pos x="1403729" y="1337299"/>
                </a:cxn>
                <a:cxn ang="0">
                  <a:pos x="501332" y="1337299"/>
                </a:cxn>
                <a:cxn ang="0">
                  <a:pos x="0" y="1615903"/>
                </a:cxn>
                <a:cxn ang="0">
                  <a:pos x="1041228" y="0"/>
                </a:cxn>
                <a:cxn ang="0">
                  <a:pos x="1403729" y="0"/>
                </a:cxn>
                <a:cxn ang="0">
                  <a:pos x="3023417" y="2925341"/>
                </a:cxn>
                <a:cxn ang="0">
                  <a:pos x="3023417" y="7410864"/>
                </a:cxn>
                <a:cxn ang="0">
                  <a:pos x="2282988" y="5794961"/>
                </a:cxn>
              </a:cxnLst>
              <a:rect l="txL" t="txT" r="txR" b="txB"/>
              <a:pathLst>
                <a:path w="392" h="532">
                  <a:moveTo>
                    <a:pt x="296" y="416"/>
                  </a:moveTo>
                  <a:cubicBezTo>
                    <a:pt x="296" y="210"/>
                    <a:pt x="296" y="210"/>
                    <a:pt x="296" y="210"/>
                  </a:cubicBezTo>
                  <a:cubicBezTo>
                    <a:pt x="296" y="147"/>
                    <a:pt x="245" y="96"/>
                    <a:pt x="182" y="96"/>
                  </a:cubicBezTo>
                  <a:cubicBezTo>
                    <a:pt x="65" y="96"/>
                    <a:pt x="65" y="96"/>
                    <a:pt x="65" y="96"/>
                  </a:cubicBezTo>
                  <a:cubicBezTo>
                    <a:pt x="41" y="96"/>
                    <a:pt x="19" y="103"/>
                    <a:pt x="0" y="116"/>
                  </a:cubicBezTo>
                  <a:cubicBezTo>
                    <a:pt x="23" y="73"/>
                    <a:pt x="63" y="26"/>
                    <a:pt x="135" y="0"/>
                  </a:cubicBezTo>
                  <a:cubicBezTo>
                    <a:pt x="182" y="0"/>
                    <a:pt x="182" y="0"/>
                    <a:pt x="182" y="0"/>
                  </a:cubicBezTo>
                  <a:cubicBezTo>
                    <a:pt x="298" y="0"/>
                    <a:pt x="392" y="94"/>
                    <a:pt x="392" y="210"/>
                  </a:cubicBezTo>
                  <a:cubicBezTo>
                    <a:pt x="392" y="532"/>
                    <a:pt x="392" y="532"/>
                    <a:pt x="392" y="532"/>
                  </a:cubicBezTo>
                  <a:cubicBezTo>
                    <a:pt x="364" y="473"/>
                    <a:pt x="322" y="435"/>
                    <a:pt x="296" y="416"/>
                  </a:cubicBezTo>
                  <a:close/>
                </a:path>
              </a:pathLst>
            </a:custGeom>
            <a:solidFill>
              <a:srgbClr val="FFFFFF">
                <a:alpha val="1176"/>
              </a:srgbClr>
            </a:solidFill>
            <a:ln w="9525">
              <a:noFill/>
            </a:ln>
          </p:spPr>
          <p:txBody>
            <a:bodyPr/>
            <a:lstStyle/>
            <a:p>
              <a:endParaRPr lang="fr-FR" altLang="en-US"/>
            </a:p>
          </p:txBody>
        </p:sp>
      </p:grpSp>
      <p:sp>
        <p:nvSpPr>
          <p:cNvPr id="5" name="Rectangle 18"/>
          <p:cNvSpPr/>
          <p:nvPr/>
        </p:nvSpPr>
        <p:spPr>
          <a:xfrm>
            <a:off x="1406525" y="3249454"/>
            <a:ext cx="9378950" cy="1014730"/>
          </a:xfrm>
          <a:prstGeom prst="rect">
            <a:avLst/>
          </a:prstGeom>
          <a:noFill/>
          <a:ln w="9525">
            <a:noFill/>
          </a:ln>
        </p:spPr>
        <p:txBody>
          <a:bodyPr anchor="t" anchorCtr="1">
            <a:spAutoFit/>
          </a:bodyPr>
          <a:lstStyle/>
          <a:p>
            <a:pPr algn="ctr" eaLnBrk="1" hangingPunct="1"/>
            <a:r>
              <a:rPr lang="id-ID" altLang="x-none" sz="6000" b="1" dirty="0">
                <a:solidFill>
                  <a:srgbClr val="88A945"/>
                </a:solidFill>
                <a:latin typeface="+mn-lt"/>
                <a:ea typeface="Source Sans Pro Light"/>
                <a:cs typeface="+mn-lt"/>
              </a:rPr>
              <a:t>Pathways </a:t>
            </a:r>
            <a:r>
              <a:rPr lang="id-ID" altLang="x-none" sz="6000" b="1" dirty="0">
                <a:solidFill>
                  <a:srgbClr val="F2F2F2"/>
                </a:solidFill>
                <a:latin typeface="+mn-lt"/>
                <a:ea typeface="Source Sans Pro Light"/>
                <a:cs typeface="+mn-lt"/>
              </a:rPr>
              <a:t>Language Model</a:t>
            </a:r>
          </a:p>
        </p:txBody>
      </p:sp>
      <p:cxnSp>
        <p:nvCxnSpPr>
          <p:cNvPr id="6" name="Straight Connector 14"/>
          <p:cNvCxnSpPr/>
          <p:nvPr/>
        </p:nvCxnSpPr>
        <p:spPr>
          <a:xfrm>
            <a:off x="5951145" y="4578350"/>
            <a:ext cx="0" cy="2279650"/>
          </a:xfrm>
          <a:prstGeom prst="straightConnector1">
            <a:avLst/>
          </a:prstGeom>
          <a:ln w="25402" cap="flat" cmpd="sng">
            <a:solidFill>
              <a:srgbClr val="D9D9D9"/>
            </a:solidFill>
            <a:prstDash val="solid"/>
            <a:miter/>
            <a:headEnd type="arrow" w="med" len="med"/>
            <a:tailEnd type="none" w="med" len="med"/>
          </a:ln>
        </p:spPr>
      </p:cxnSp>
      <p:sp>
        <p:nvSpPr>
          <p:cNvPr id="29701" name="ZoneTexte 5"/>
          <p:cNvSpPr txBox="1"/>
          <p:nvPr/>
        </p:nvSpPr>
        <p:spPr>
          <a:xfrm>
            <a:off x="5010183" y="2381250"/>
            <a:ext cx="2816225" cy="1108075"/>
          </a:xfrm>
          <a:prstGeom prst="rect">
            <a:avLst/>
          </a:prstGeom>
          <a:noFill/>
          <a:ln w="9525">
            <a:noFill/>
          </a:ln>
        </p:spPr>
        <p:txBody>
          <a:bodyPr>
            <a:spAutoFit/>
          </a:bodyPr>
          <a:lstStyle/>
          <a:p>
            <a:pPr eaLnBrk="1" hangingPunct="1"/>
            <a:r>
              <a:rPr lang="fr-FR" altLang="x-none" sz="6600" b="1" dirty="0">
                <a:solidFill>
                  <a:srgbClr val="FFFFFF"/>
                </a:solidFill>
                <a:latin typeface="Calibri" panose="020F0502020204030204" pitchFamily="34" charset="0"/>
                <a:cs typeface="Calibri" panose="020F0502020204030204" pitchFamily="34" charset="0"/>
              </a:rPr>
              <a:t>PaLM</a:t>
            </a:r>
            <a:endParaRPr lang="fr-FR" altLang="x-none" sz="6600" b="1" dirty="0">
              <a:solidFill>
                <a:srgbClr val="FFFFFF"/>
              </a:solidFill>
              <a:latin typeface="Calibri" panose="020F0502020204030204" pitchFamily="34" charset="0"/>
              <a:ea typeface="Calibri" panose="020F050202020403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7"/>
          <p:cNvSpPr txBox="1"/>
          <p:nvPr/>
        </p:nvSpPr>
        <p:spPr>
          <a:xfrm>
            <a:off x="4040188" y="661988"/>
            <a:ext cx="4040505" cy="829945"/>
          </a:xfrm>
          <a:prstGeom prst="rect">
            <a:avLst/>
          </a:prstGeom>
          <a:noFill/>
          <a:ln w="9525">
            <a:noFill/>
          </a:ln>
        </p:spPr>
        <p:txBody>
          <a:bodyPr wrap="none">
            <a:spAutoFit/>
          </a:bodyPr>
          <a:lstStyle/>
          <a:p>
            <a:pPr eaLnBrk="1" hangingPunct="1"/>
            <a:r>
              <a:rPr lang="id-ID" altLang="x-none" sz="4800" dirty="0">
                <a:solidFill>
                  <a:srgbClr val="7F7F7F"/>
                </a:solidFill>
                <a:cs typeface="Calibri" panose="020F0502020204030204" pitchFamily="34" charset="0"/>
              </a:rPr>
              <a:t>Plan du modèle</a:t>
            </a:r>
            <a:endParaRPr lang="fr-FR" altLang="x-none" dirty="0">
              <a:solidFill>
                <a:srgbClr val="000000"/>
              </a:solidFill>
              <a:cs typeface="Calibri" panose="020F0502020204030204" pitchFamily="34" charset="0"/>
            </a:endParaRPr>
          </a:p>
        </p:txBody>
      </p:sp>
      <p:cxnSp>
        <p:nvCxnSpPr>
          <p:cNvPr id="3" name="Straight Connector 10"/>
          <p:cNvCxnSpPr/>
          <p:nvPr/>
        </p:nvCxnSpPr>
        <p:spPr>
          <a:xfrm>
            <a:off x="6096000" y="1793875"/>
            <a:ext cx="0" cy="1557338"/>
          </a:xfrm>
          <a:prstGeom prst="straightConnector1">
            <a:avLst/>
          </a:prstGeom>
          <a:ln w="25402" cap="flat" cmpd="sng">
            <a:solidFill>
              <a:srgbClr val="D9D9D9"/>
            </a:solidFill>
            <a:prstDash val="solid"/>
            <a:miter/>
            <a:headEnd type="none" w="med" len="med"/>
            <a:tailEnd type="none" w="med" len="med"/>
          </a:ln>
        </p:spPr>
      </p:cxnSp>
      <p:sp>
        <p:nvSpPr>
          <p:cNvPr id="4" name="TextBox 14"/>
          <p:cNvSpPr txBox="1"/>
          <p:nvPr/>
        </p:nvSpPr>
        <p:spPr>
          <a:xfrm>
            <a:off x="2354263" y="2860675"/>
            <a:ext cx="1890712" cy="460375"/>
          </a:xfrm>
          <a:prstGeom prst="rect">
            <a:avLst/>
          </a:prstGeom>
          <a:noFill/>
          <a:ln w="9525">
            <a:noFill/>
          </a:ln>
        </p:spPr>
        <p:txBody>
          <a:bodyPr>
            <a:spAutoFit/>
          </a:bodyPr>
          <a:lstStyle/>
          <a:p>
            <a:pPr eaLnBrk="1" hangingPunct="1"/>
            <a:r>
              <a:rPr lang="id-ID" altLang="x-none" sz="2400" b="1" dirty="0">
                <a:solidFill>
                  <a:srgbClr val="7F7F7F"/>
                </a:solidFill>
                <a:cs typeface="Calibri" panose="020F0502020204030204" pitchFamily="34" charset="0"/>
              </a:rPr>
              <a:t>Introduction</a:t>
            </a:r>
            <a:endParaRPr lang="id-ID" altLang="x-none" sz="2400" b="1" dirty="0">
              <a:solidFill>
                <a:srgbClr val="7F7F7F"/>
              </a:solidFill>
              <a:ea typeface="Source Sans Pro Light"/>
              <a:cs typeface="Calibri" panose="020F0502020204030204" pitchFamily="34" charset="0"/>
            </a:endParaRPr>
          </a:p>
        </p:txBody>
      </p:sp>
      <p:sp>
        <p:nvSpPr>
          <p:cNvPr id="5" name="TextBox 15"/>
          <p:cNvSpPr txBox="1"/>
          <p:nvPr/>
        </p:nvSpPr>
        <p:spPr>
          <a:xfrm>
            <a:off x="2362200" y="3321050"/>
            <a:ext cx="2084388" cy="831850"/>
          </a:xfrm>
          <a:prstGeom prst="rect">
            <a:avLst/>
          </a:prstGeom>
          <a:noFill/>
          <a:ln w="9525">
            <a:noFill/>
          </a:ln>
        </p:spPr>
        <p:txBody>
          <a:bodyPr>
            <a:spAutoFit/>
          </a:bodyPr>
          <a:lstStyle/>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rPr>
              <a:t>Contexte historique</a:t>
            </a:r>
            <a:endParaRPr lang="fr-FR" altLang="x-none" dirty="0">
              <a:solidFill>
                <a:srgbClr val="A6A6A6"/>
              </a:solidFill>
              <a:latin typeface="Calibri" panose="020F0502020204030204" pitchFamily="34" charset="0"/>
              <a:cs typeface="Calibri" panose="020F0502020204030204" pitchFamily="34" charset="0"/>
            </a:endParaRP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Signification de "Pathways"</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Objectif de PaLM</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Caractéristiques</a:t>
            </a:r>
            <a:endParaRPr lang="id-ID" altLang="x-none" sz="1200" dirty="0">
              <a:solidFill>
                <a:srgbClr val="A6A6A6"/>
              </a:solidFill>
              <a:latin typeface="Calibri" panose="020F0502020204030204" pitchFamily="34" charset="0"/>
              <a:ea typeface="Calibri" panose="020F0502020204030204" pitchFamily="34" charset="0"/>
            </a:endParaRPr>
          </a:p>
        </p:txBody>
      </p:sp>
      <p:sp>
        <p:nvSpPr>
          <p:cNvPr id="6" name="Isosceles Triangle 1"/>
          <p:cNvSpPr/>
          <p:nvPr/>
        </p:nvSpPr>
        <p:spPr>
          <a:xfrm rot="10799991">
            <a:off x="5964238" y="1633538"/>
            <a:ext cx="263525"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endParaRPr lang="fr-FR" altLang="en-US"/>
          </a:p>
        </p:txBody>
      </p:sp>
      <p:sp>
        <p:nvSpPr>
          <p:cNvPr id="7" name="Oval 3"/>
          <p:cNvSpPr/>
          <p:nvPr/>
        </p:nvSpPr>
        <p:spPr>
          <a:xfrm>
            <a:off x="6038850" y="336708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88A945">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8" name="Straight Connector 9"/>
          <p:cNvCxnSpPr/>
          <p:nvPr/>
        </p:nvCxnSpPr>
        <p:spPr>
          <a:xfrm>
            <a:off x="5514975" y="3441700"/>
            <a:ext cx="523875" cy="0"/>
          </a:xfrm>
          <a:prstGeom prst="straightConnector1">
            <a:avLst/>
          </a:prstGeom>
          <a:ln w="25402" cap="flat" cmpd="sng">
            <a:solidFill>
              <a:srgbClr val="D9D9D9"/>
            </a:solidFill>
            <a:prstDash val="solid"/>
            <a:miter/>
            <a:headEnd type="none" w="med" len="med"/>
            <a:tailEnd type="none" w="med" len="med"/>
          </a:ln>
        </p:spPr>
      </p:cxnSp>
      <p:sp>
        <p:nvSpPr>
          <p:cNvPr id="9" name="Rectangle 13"/>
          <p:cNvSpPr/>
          <p:nvPr/>
        </p:nvSpPr>
        <p:spPr>
          <a:xfrm>
            <a:off x="4448175" y="2914650"/>
            <a:ext cx="1054100" cy="10541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25"/>
          <p:cNvGrpSpPr/>
          <p:nvPr/>
        </p:nvGrpSpPr>
        <p:grpSpPr>
          <a:xfrm>
            <a:off x="4752975" y="3224213"/>
            <a:ext cx="444500" cy="436562"/>
            <a:chOff x="4753453" y="3223973"/>
            <a:chExt cx="444389" cy="436744"/>
          </a:xfrm>
        </p:grpSpPr>
        <p:sp>
          <p:nvSpPr>
            <p:cNvPr id="30749" name="Freeform 5"/>
            <p:cNvSpPr/>
            <p:nvPr/>
          </p:nvSpPr>
          <p:spPr>
            <a:xfrm>
              <a:off x="4996409" y="3278389"/>
              <a:ext cx="143670" cy="143670"/>
            </a:xfrm>
            <a:custGeom>
              <a:avLst/>
              <a:gdLst>
                <a:gd name="txL" fmla="*/ 0 w 254"/>
                <a:gd name="txT" fmla="*/ 0 h 254"/>
                <a:gd name="txR" fmla="*/ 254 w 254"/>
                <a:gd name="txB" fmla="*/ 254 h 254"/>
              </a:gdLst>
              <a:ahLst/>
              <a:cxnLst>
                <a:cxn ang="17694720">
                  <a:pos x="71835" y="0"/>
                </a:cxn>
                <a:cxn ang="0">
                  <a:pos x="143670" y="71835"/>
                </a:cxn>
                <a:cxn ang="5898240">
                  <a:pos x="71835" y="143670"/>
                </a:cxn>
                <a:cxn ang="11796480">
                  <a:pos x="0" y="71835"/>
                </a:cxn>
                <a:cxn ang="0">
                  <a:pos x="129529" y="136882"/>
                </a:cxn>
                <a:cxn ang="0">
                  <a:pos x="129529" y="136882"/>
                </a:cxn>
                <a:cxn ang="0">
                  <a:pos x="136317" y="143670"/>
                </a:cxn>
                <a:cxn ang="0">
                  <a:pos x="143670" y="136882"/>
                </a:cxn>
                <a:cxn ang="0">
                  <a:pos x="143104" y="136882"/>
                </a:cxn>
                <a:cxn ang="0">
                  <a:pos x="7353" y="566"/>
                </a:cxn>
                <a:cxn ang="0">
                  <a:pos x="6788" y="0"/>
                </a:cxn>
                <a:cxn ang="0">
                  <a:pos x="0" y="7353"/>
                </a:cxn>
                <a:cxn ang="0">
                  <a:pos x="6788" y="14141"/>
                </a:cxn>
                <a:cxn ang="0">
                  <a:pos x="6788" y="14141"/>
                </a:cxn>
                <a:cxn ang="0">
                  <a:pos x="129529" y="136882"/>
                </a:cxn>
              </a:cxnLst>
              <a:rect l="txL" t="txT" r="txR" b="tx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solidFill>
              <a:srgbClr val="FFFFFF">
                <a:alpha val="100000"/>
              </a:srgbClr>
            </a:solidFill>
            <a:ln w="9525">
              <a:noFill/>
            </a:ln>
          </p:spPr>
          <p:txBody>
            <a:bodyPr/>
            <a:lstStyle/>
            <a:p>
              <a:endParaRPr lang="fr-FR" altLang="en-US"/>
            </a:p>
          </p:txBody>
        </p:sp>
        <p:grpSp>
          <p:nvGrpSpPr>
            <p:cNvPr id="30750" name="Group 24"/>
            <p:cNvGrpSpPr/>
            <p:nvPr/>
          </p:nvGrpSpPr>
          <p:grpSpPr>
            <a:xfrm>
              <a:off x="4753453" y="3223973"/>
              <a:ext cx="444389" cy="436744"/>
              <a:chOff x="4753453" y="3223973"/>
              <a:chExt cx="444389" cy="436744"/>
            </a:xfrm>
          </p:grpSpPr>
          <p:sp>
            <p:nvSpPr>
              <p:cNvPr id="30751" name="Freeform 6"/>
              <p:cNvSpPr/>
              <p:nvPr/>
            </p:nvSpPr>
            <p:spPr>
              <a:xfrm>
                <a:off x="4753453" y="3223973"/>
                <a:ext cx="444389" cy="436744"/>
              </a:xfrm>
              <a:custGeom>
                <a:avLst/>
                <a:gdLst>
                  <a:gd name="txL" fmla="*/ 0 w 785"/>
                  <a:gd name="txT" fmla="*/ 0 h 772"/>
                  <a:gd name="txR" fmla="*/ 785 w 785"/>
                  <a:gd name="txB" fmla="*/ 772 h 772"/>
                </a:gdLst>
                <a:ahLst/>
                <a:cxnLst>
                  <a:cxn ang="17694720">
                    <a:pos x="222195" y="0"/>
                  </a:cxn>
                  <a:cxn ang="0">
                    <a:pos x="444389" y="218372"/>
                  </a:cxn>
                  <a:cxn ang="5898240">
                    <a:pos x="222195" y="436744"/>
                  </a:cxn>
                  <a:cxn ang="11796480">
                    <a:pos x="0" y="218372"/>
                  </a:cxn>
                  <a:cxn ang="0">
                    <a:pos x="128505" y="11880"/>
                  </a:cxn>
                  <a:cxn ang="0">
                    <a:pos x="99634" y="0"/>
                  </a:cxn>
                  <a:cxn ang="0">
                    <a:pos x="83783" y="3394"/>
                  </a:cxn>
                  <a:cxn ang="0">
                    <a:pos x="58308" y="40733"/>
                  </a:cxn>
                  <a:cxn ang="0">
                    <a:pos x="58308" y="228555"/>
                  </a:cxn>
                  <a:cxn ang="0">
                    <a:pos x="15851" y="271551"/>
                  </a:cxn>
                  <a:cxn ang="0">
                    <a:pos x="15851" y="329255"/>
                  </a:cxn>
                  <a:cxn ang="0">
                    <a:pos x="111522" y="424864"/>
                  </a:cxn>
                  <a:cxn ang="0">
                    <a:pos x="140393" y="436744"/>
                  </a:cxn>
                  <a:cxn ang="0">
                    <a:pos x="169264" y="424864"/>
                  </a:cxn>
                  <a:cxn ang="0">
                    <a:pos x="212288" y="381868"/>
                  </a:cxn>
                  <a:cxn ang="0">
                    <a:pos x="400233" y="381868"/>
                  </a:cxn>
                  <a:cxn ang="0">
                    <a:pos x="437596" y="356976"/>
                  </a:cxn>
                  <a:cxn ang="0">
                    <a:pos x="429104" y="312283"/>
                  </a:cxn>
                  <a:cxn ang="0">
                    <a:pos x="128505" y="11880"/>
                  </a:cxn>
                  <a:cxn ang="0">
                    <a:pos x="193040" y="362633"/>
                  </a:cxn>
                  <a:cxn ang="0">
                    <a:pos x="150017" y="405629"/>
                  </a:cxn>
                  <a:cxn ang="0">
                    <a:pos x="140393" y="409589"/>
                  </a:cxn>
                  <a:cxn ang="0">
                    <a:pos x="130769" y="405629"/>
                  </a:cxn>
                  <a:cxn ang="0">
                    <a:pos x="35098" y="310020"/>
                  </a:cxn>
                  <a:cxn ang="0">
                    <a:pos x="31136" y="300403"/>
                  </a:cxn>
                  <a:cxn ang="0">
                    <a:pos x="35098" y="290786"/>
                  </a:cxn>
                  <a:cxn ang="0">
                    <a:pos x="78122" y="247790"/>
                  </a:cxn>
                  <a:cxn ang="0">
                    <a:pos x="78122" y="247790"/>
                  </a:cxn>
                  <a:cxn ang="0">
                    <a:pos x="193040" y="362633"/>
                  </a:cxn>
                  <a:cxn ang="0">
                    <a:pos x="193040" y="362633"/>
                  </a:cxn>
                  <a:cxn ang="0">
                    <a:pos x="212288" y="354713"/>
                  </a:cxn>
                  <a:cxn ang="0">
                    <a:pos x="206061" y="355845"/>
                  </a:cxn>
                  <a:cxn ang="0">
                    <a:pos x="84915" y="234778"/>
                  </a:cxn>
                  <a:cxn ang="0">
                    <a:pos x="86047" y="228555"/>
                  </a:cxn>
                  <a:cxn ang="0">
                    <a:pos x="86047" y="64493"/>
                  </a:cxn>
                  <a:cxn ang="0">
                    <a:pos x="376457" y="354713"/>
                  </a:cxn>
                  <a:cxn ang="0">
                    <a:pos x="212288" y="354713"/>
                  </a:cxn>
                  <a:cxn ang="0">
                    <a:pos x="412687" y="346227"/>
                  </a:cxn>
                  <a:cxn ang="0">
                    <a:pos x="400233" y="354713"/>
                  </a:cxn>
                  <a:cxn ang="0">
                    <a:pos x="395704" y="354713"/>
                  </a:cxn>
                  <a:cxn ang="0">
                    <a:pos x="86047" y="45258"/>
                  </a:cxn>
                  <a:cxn ang="0">
                    <a:pos x="86047" y="40733"/>
                  </a:cxn>
                  <a:cxn ang="0">
                    <a:pos x="94539" y="28287"/>
                  </a:cxn>
                  <a:cxn ang="0">
                    <a:pos x="99634" y="27155"/>
                  </a:cxn>
                  <a:cxn ang="0">
                    <a:pos x="109257" y="31115"/>
                  </a:cxn>
                  <a:cxn ang="0">
                    <a:pos x="409857" y="331518"/>
                  </a:cxn>
                  <a:cxn ang="0">
                    <a:pos x="412687" y="346227"/>
                  </a:cxn>
                </a:cxnLst>
                <a:rect l="txL" t="txT" r="txR" b="tx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solidFill>
                <a:srgbClr val="FFFFFF">
                  <a:alpha val="100000"/>
                </a:srgbClr>
              </a:solidFill>
              <a:ln w="9525">
                <a:noFill/>
              </a:ln>
            </p:spPr>
            <p:txBody>
              <a:bodyPr/>
              <a:lstStyle/>
              <a:p>
                <a:endParaRPr lang="fr-FR" altLang="en-US"/>
              </a:p>
            </p:txBody>
          </p:sp>
          <p:sp>
            <p:nvSpPr>
              <p:cNvPr id="30752" name="Freeform 7"/>
              <p:cNvSpPr/>
              <p:nvPr/>
            </p:nvSpPr>
            <p:spPr>
              <a:xfrm>
                <a:off x="4989487" y="3223973"/>
                <a:ext cx="204770" cy="204770"/>
              </a:xfrm>
              <a:custGeom>
                <a:avLst/>
                <a:gdLst>
                  <a:gd name="txL" fmla="*/ 0 w 362"/>
                  <a:gd name="txT" fmla="*/ 0 h 362"/>
                  <a:gd name="txR" fmla="*/ 362 w 362"/>
                  <a:gd name="txB" fmla="*/ 362 h 362"/>
                </a:gdLst>
                <a:ahLst/>
                <a:cxnLst>
                  <a:cxn ang="17694720">
                    <a:pos x="102385" y="0"/>
                  </a:cxn>
                  <a:cxn ang="0">
                    <a:pos x="204770" y="102385"/>
                  </a:cxn>
                  <a:cxn ang="5898240">
                    <a:pos x="102385" y="204770"/>
                  </a:cxn>
                  <a:cxn ang="11796480">
                    <a:pos x="0" y="102385"/>
                  </a:cxn>
                  <a:cxn ang="0">
                    <a:pos x="13576" y="27152"/>
                  </a:cxn>
                  <a:cxn ang="0">
                    <a:pos x="13576" y="27152"/>
                  </a:cxn>
                  <a:cxn ang="0">
                    <a:pos x="177618" y="191194"/>
                  </a:cxn>
                  <a:cxn ang="0">
                    <a:pos x="177618" y="191194"/>
                  </a:cxn>
                  <a:cxn ang="0">
                    <a:pos x="191194" y="204770"/>
                  </a:cxn>
                  <a:cxn ang="0">
                    <a:pos x="204770" y="191194"/>
                  </a:cxn>
                  <a:cxn ang="0">
                    <a:pos x="204770" y="191194"/>
                  </a:cxn>
                  <a:cxn ang="0">
                    <a:pos x="14142" y="0"/>
                  </a:cxn>
                  <a:cxn ang="0">
                    <a:pos x="13576" y="0"/>
                  </a:cxn>
                  <a:cxn ang="0">
                    <a:pos x="0" y="13576"/>
                  </a:cxn>
                  <a:cxn ang="0">
                    <a:pos x="13576" y="27152"/>
                  </a:cxn>
                </a:cxnLst>
                <a:rect l="txL" t="txT" r="txR" b="tx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solidFill>
                <a:srgbClr val="FFFFFF">
                  <a:alpha val="100000"/>
                </a:srgbClr>
              </a:solidFill>
              <a:ln w="9525">
                <a:noFill/>
              </a:ln>
            </p:spPr>
            <p:txBody>
              <a:bodyPr/>
              <a:lstStyle/>
              <a:p>
                <a:endParaRPr lang="fr-FR" altLang="en-US"/>
              </a:p>
            </p:txBody>
          </p:sp>
        </p:grpSp>
      </p:grpSp>
      <p:cxnSp>
        <p:nvCxnSpPr>
          <p:cNvPr id="15" name="Straight Connector 26"/>
          <p:cNvCxnSpPr/>
          <p:nvPr/>
        </p:nvCxnSpPr>
        <p:spPr>
          <a:xfrm>
            <a:off x="6096000" y="3489325"/>
            <a:ext cx="0" cy="1249363"/>
          </a:xfrm>
          <a:prstGeom prst="straightConnector1">
            <a:avLst/>
          </a:prstGeom>
          <a:ln w="25402" cap="flat" cmpd="sng">
            <a:solidFill>
              <a:srgbClr val="D9D9D9"/>
            </a:solidFill>
            <a:prstDash val="solid"/>
            <a:miter/>
            <a:headEnd type="none" w="med" len="med"/>
            <a:tailEnd type="none" w="med" len="med"/>
          </a:ln>
        </p:spPr>
      </p:cxnSp>
      <p:sp>
        <p:nvSpPr>
          <p:cNvPr id="16" name="Oval 27"/>
          <p:cNvSpPr/>
          <p:nvPr/>
        </p:nvSpPr>
        <p:spPr>
          <a:xfrm>
            <a:off x="6038850" y="4752975"/>
            <a:ext cx="114300" cy="114300"/>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9BBB59">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7" name="Straight Connector 28"/>
          <p:cNvCxnSpPr/>
          <p:nvPr/>
        </p:nvCxnSpPr>
        <p:spPr>
          <a:xfrm>
            <a:off x="6153150" y="4829175"/>
            <a:ext cx="523875" cy="0"/>
          </a:xfrm>
          <a:prstGeom prst="straightConnector1">
            <a:avLst/>
          </a:prstGeom>
          <a:ln w="25402" cap="flat" cmpd="sng">
            <a:solidFill>
              <a:srgbClr val="D9D9D9"/>
            </a:solidFill>
            <a:prstDash val="solid"/>
            <a:miter/>
            <a:headEnd type="none" w="med" len="med"/>
            <a:tailEnd type="none" w="med" len="med"/>
          </a:ln>
        </p:spPr>
      </p:cxnSp>
      <p:sp>
        <p:nvSpPr>
          <p:cNvPr id="18" name="Rectangle 29"/>
          <p:cNvSpPr/>
          <p:nvPr/>
        </p:nvSpPr>
        <p:spPr>
          <a:xfrm>
            <a:off x="6677025" y="4302125"/>
            <a:ext cx="1054100" cy="10541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19" name="Straight Connector 31"/>
          <p:cNvCxnSpPr/>
          <p:nvPr/>
        </p:nvCxnSpPr>
        <p:spPr>
          <a:xfrm>
            <a:off x="6096000" y="4867275"/>
            <a:ext cx="0" cy="1990725"/>
          </a:xfrm>
          <a:prstGeom prst="straightConnector1">
            <a:avLst/>
          </a:prstGeom>
          <a:ln w="25402" cap="flat" cmpd="sng">
            <a:solidFill>
              <a:srgbClr val="D9D9D9"/>
            </a:solidFill>
            <a:prstDash val="solid"/>
            <a:miter/>
            <a:headEnd type="none" w="med" len="med"/>
            <a:tailEnd type="none" w="med" len="med"/>
          </a:ln>
        </p:spPr>
      </p:cxnSp>
      <p:sp>
        <p:nvSpPr>
          <p:cNvPr id="20" name="TextBox 36"/>
          <p:cNvSpPr txBox="1"/>
          <p:nvPr/>
        </p:nvSpPr>
        <p:spPr>
          <a:xfrm>
            <a:off x="7916863" y="4302125"/>
            <a:ext cx="3084830" cy="460375"/>
          </a:xfrm>
          <a:prstGeom prst="rect">
            <a:avLst/>
          </a:prstGeom>
          <a:noFill/>
          <a:ln w="9525">
            <a:noFill/>
          </a:ln>
        </p:spPr>
        <p:txBody>
          <a:bodyPr wrap="none">
            <a:spAutoFit/>
          </a:bodyPr>
          <a:lstStyle/>
          <a:p>
            <a:pPr eaLnBrk="1" hangingPunct="1"/>
            <a:r>
              <a:rPr lang="id-ID" altLang="x-none" sz="2400" b="1" dirty="0">
                <a:solidFill>
                  <a:srgbClr val="7F7F7F"/>
                </a:solidFill>
                <a:cs typeface="Calibri" panose="020F0502020204030204" pitchFamily="34" charset="0"/>
              </a:rPr>
              <a:t>Architecture technique</a:t>
            </a:r>
            <a:endParaRPr lang="fr-FR" altLang="x-none" dirty="0">
              <a:solidFill>
                <a:srgbClr val="000000"/>
              </a:solidFill>
              <a:cs typeface="Calibri" panose="020F0502020204030204" pitchFamily="34" charset="0"/>
            </a:endParaRPr>
          </a:p>
        </p:txBody>
      </p:sp>
      <p:grpSp>
        <p:nvGrpSpPr>
          <p:cNvPr id="21" name="Group 45"/>
          <p:cNvGrpSpPr/>
          <p:nvPr/>
        </p:nvGrpSpPr>
        <p:grpSpPr>
          <a:xfrm>
            <a:off x="6959600" y="4643438"/>
            <a:ext cx="484188" cy="369887"/>
            <a:chOff x="6959727" y="4643880"/>
            <a:chExt cx="484705" cy="370185"/>
          </a:xfrm>
        </p:grpSpPr>
        <p:sp>
          <p:nvSpPr>
            <p:cNvPr id="30742" name="Freeform 5"/>
            <p:cNvSpPr/>
            <p:nvPr/>
          </p:nvSpPr>
          <p:spPr>
            <a:xfrm>
              <a:off x="7019318" y="4700153"/>
              <a:ext cx="306452" cy="240121"/>
            </a:xfrm>
            <a:custGeom>
              <a:avLst/>
              <a:gdLst>
                <a:gd name="txL" fmla="*/ 0 w 1250"/>
                <a:gd name="txT" fmla="*/ 0 h 979"/>
                <a:gd name="txR" fmla="*/ 1250 w 1250"/>
                <a:gd name="txB" fmla="*/ 979 h 979"/>
              </a:gdLst>
              <a:ahLst/>
              <a:cxnLst>
                <a:cxn ang="17694720">
                  <a:pos x="153226" y="0"/>
                </a:cxn>
                <a:cxn ang="0">
                  <a:pos x="306452" y="120061"/>
                </a:cxn>
                <a:cxn ang="5898240">
                  <a:pos x="153226" y="240121"/>
                </a:cxn>
                <a:cxn ang="11796480">
                  <a:pos x="0" y="120061"/>
                </a:cxn>
                <a:cxn ang="0">
                  <a:pos x="274091" y="12264"/>
                </a:cxn>
                <a:cxn ang="0">
                  <a:pos x="153226" y="0"/>
                </a:cxn>
                <a:cxn ang="0">
                  <a:pos x="32361" y="12264"/>
                </a:cxn>
                <a:cxn ang="0">
                  <a:pos x="21329" y="22074"/>
                </a:cxn>
                <a:cxn ang="0">
                  <a:pos x="21329" y="217801"/>
                </a:cxn>
                <a:cxn ang="0">
                  <a:pos x="32361" y="227612"/>
                </a:cxn>
                <a:cxn ang="0">
                  <a:pos x="153226" y="240121"/>
                </a:cxn>
                <a:cxn ang="0">
                  <a:pos x="274091" y="227612"/>
                </a:cxn>
                <a:cxn ang="0">
                  <a:pos x="285123" y="217801"/>
                </a:cxn>
                <a:cxn ang="0">
                  <a:pos x="285123" y="22074"/>
                </a:cxn>
                <a:cxn ang="0">
                  <a:pos x="274091" y="12264"/>
                </a:cxn>
                <a:cxn ang="0">
                  <a:pos x="271149" y="213141"/>
                </a:cxn>
                <a:cxn ang="0">
                  <a:pos x="35303" y="213141"/>
                </a:cxn>
                <a:cxn ang="0">
                  <a:pos x="35303" y="26735"/>
                </a:cxn>
                <a:cxn ang="0">
                  <a:pos x="271149" y="26735"/>
                </a:cxn>
                <a:cxn ang="0">
                  <a:pos x="271149" y="213141"/>
                </a:cxn>
              </a:cxnLst>
              <a:rect l="txL" t="txT" r="txR" b="txB"/>
              <a:pathLst>
                <a:path w="1250" h="979">
                  <a:moveTo>
                    <a:pt x="1118" y="50"/>
                  </a:moveTo>
                  <a:cubicBezTo>
                    <a:pt x="954" y="17"/>
                    <a:pt x="789" y="0"/>
                    <a:pt x="625" y="0"/>
                  </a:cubicBezTo>
                  <a:cubicBezTo>
                    <a:pt x="461" y="0"/>
                    <a:pt x="295" y="17"/>
                    <a:pt x="132" y="50"/>
                  </a:cubicBezTo>
                  <a:cubicBezTo>
                    <a:pt x="111" y="55"/>
                    <a:pt x="94" y="70"/>
                    <a:pt x="87" y="90"/>
                  </a:cubicBezTo>
                  <a:cubicBezTo>
                    <a:pt x="0" y="355"/>
                    <a:pt x="0" y="623"/>
                    <a:pt x="87" y="888"/>
                  </a:cubicBezTo>
                  <a:cubicBezTo>
                    <a:pt x="94" y="908"/>
                    <a:pt x="111" y="924"/>
                    <a:pt x="132" y="928"/>
                  </a:cubicBezTo>
                  <a:cubicBezTo>
                    <a:pt x="295" y="961"/>
                    <a:pt x="461" y="979"/>
                    <a:pt x="625" y="979"/>
                  </a:cubicBezTo>
                  <a:cubicBezTo>
                    <a:pt x="789" y="979"/>
                    <a:pt x="954" y="961"/>
                    <a:pt x="1118" y="928"/>
                  </a:cubicBezTo>
                  <a:cubicBezTo>
                    <a:pt x="1139" y="924"/>
                    <a:pt x="1156" y="908"/>
                    <a:pt x="1163" y="888"/>
                  </a:cubicBezTo>
                  <a:cubicBezTo>
                    <a:pt x="1250" y="623"/>
                    <a:pt x="1250" y="355"/>
                    <a:pt x="1163" y="90"/>
                  </a:cubicBezTo>
                  <a:cubicBezTo>
                    <a:pt x="1156" y="70"/>
                    <a:pt x="1139" y="55"/>
                    <a:pt x="1118" y="50"/>
                  </a:cubicBezTo>
                  <a:close/>
                  <a:moveTo>
                    <a:pt x="1106" y="869"/>
                  </a:moveTo>
                  <a:cubicBezTo>
                    <a:pt x="785" y="935"/>
                    <a:pt x="465" y="935"/>
                    <a:pt x="144" y="869"/>
                  </a:cubicBezTo>
                  <a:cubicBezTo>
                    <a:pt x="61" y="616"/>
                    <a:pt x="61" y="363"/>
                    <a:pt x="144" y="109"/>
                  </a:cubicBezTo>
                  <a:cubicBezTo>
                    <a:pt x="465" y="43"/>
                    <a:pt x="785" y="43"/>
                    <a:pt x="1106" y="109"/>
                  </a:cubicBezTo>
                  <a:cubicBezTo>
                    <a:pt x="1189" y="363"/>
                    <a:pt x="1189" y="616"/>
                    <a:pt x="1106" y="869"/>
                  </a:cubicBezTo>
                  <a:close/>
                </a:path>
              </a:pathLst>
            </a:custGeom>
            <a:solidFill>
              <a:srgbClr val="FFFFFF">
                <a:alpha val="100000"/>
              </a:srgbClr>
            </a:solidFill>
            <a:ln w="9525">
              <a:noFill/>
            </a:ln>
          </p:spPr>
          <p:txBody>
            <a:bodyPr/>
            <a:lstStyle/>
            <a:p>
              <a:endParaRPr lang="fr-FR" altLang="en-US"/>
            </a:p>
          </p:txBody>
        </p:sp>
        <p:sp>
          <p:nvSpPr>
            <p:cNvPr id="30743" name="Freeform 6"/>
            <p:cNvSpPr/>
            <p:nvPr/>
          </p:nvSpPr>
          <p:spPr>
            <a:xfrm>
              <a:off x="6959727" y="4643880"/>
              <a:ext cx="484705" cy="370185"/>
            </a:xfrm>
            <a:custGeom>
              <a:avLst/>
              <a:gdLst>
                <a:gd name="txL" fmla="*/ 0 w 1977"/>
                <a:gd name="txT" fmla="*/ 0 h 1509"/>
                <a:gd name="txR" fmla="*/ 1977 w 1977"/>
                <a:gd name="txB" fmla="*/ 1509 h 1509"/>
              </a:gdLst>
              <a:ahLst/>
              <a:cxnLst>
                <a:cxn ang="17694720">
                  <a:pos x="242353" y="0"/>
                </a:cxn>
                <a:cxn ang="0">
                  <a:pos x="484705" y="185093"/>
                </a:cxn>
                <a:cxn ang="5898240">
                  <a:pos x="242353" y="370185"/>
                </a:cxn>
                <a:cxn ang="11796480">
                  <a:pos x="0" y="185093"/>
                </a:cxn>
                <a:cxn ang="0">
                  <a:pos x="462149" y="34345"/>
                </a:cxn>
                <a:cxn ang="0">
                  <a:pos x="436896" y="11775"/>
                </a:cxn>
                <a:cxn ang="0">
                  <a:pos x="242475" y="0"/>
                </a:cxn>
                <a:cxn ang="0">
                  <a:pos x="47809" y="11775"/>
                </a:cxn>
                <a:cxn ang="0">
                  <a:pos x="22556" y="34345"/>
                </a:cxn>
                <a:cxn ang="0">
                  <a:pos x="22556" y="321121"/>
                </a:cxn>
                <a:cxn ang="0">
                  <a:pos x="47809" y="343691"/>
                </a:cxn>
                <a:cxn ang="0">
                  <a:pos x="141464" y="352277"/>
                </a:cxn>
                <a:cxn ang="0">
                  <a:pos x="138767" y="355466"/>
                </a:cxn>
                <a:cxn ang="0">
                  <a:pos x="242475" y="370185"/>
                </a:cxn>
                <a:cxn ang="0">
                  <a:pos x="345938" y="355466"/>
                </a:cxn>
                <a:cxn ang="0">
                  <a:pos x="343241" y="352277"/>
                </a:cxn>
                <a:cxn ang="0">
                  <a:pos x="436896" y="343691"/>
                </a:cxn>
                <a:cxn ang="0">
                  <a:pos x="462149" y="321121"/>
                </a:cxn>
                <a:cxn ang="0">
                  <a:pos x="462149" y="34345"/>
                </a:cxn>
                <a:cxn ang="0">
                  <a:pos x="433464" y="314252"/>
                </a:cxn>
                <a:cxn ang="0">
                  <a:pos x="51486" y="314252"/>
                </a:cxn>
                <a:cxn ang="0">
                  <a:pos x="51486" y="41213"/>
                </a:cxn>
                <a:cxn ang="0">
                  <a:pos x="433464" y="41213"/>
                </a:cxn>
                <a:cxn ang="0">
                  <a:pos x="433464" y="314252"/>
                </a:cxn>
              </a:cxnLst>
              <a:rect l="txL" t="txT" r="txR" b="txB"/>
              <a:pathLst>
                <a:path w="1977" h="1509">
                  <a:moveTo>
                    <a:pt x="1885" y="140"/>
                  </a:moveTo>
                  <a:cubicBezTo>
                    <a:pt x="1873" y="91"/>
                    <a:pt x="1832" y="54"/>
                    <a:pt x="1782" y="48"/>
                  </a:cubicBezTo>
                  <a:cubicBezTo>
                    <a:pt x="1519" y="16"/>
                    <a:pt x="1252" y="0"/>
                    <a:pt x="989" y="0"/>
                  </a:cubicBezTo>
                  <a:cubicBezTo>
                    <a:pt x="725" y="0"/>
                    <a:pt x="458" y="16"/>
                    <a:pt x="195" y="48"/>
                  </a:cubicBezTo>
                  <a:cubicBezTo>
                    <a:pt x="145" y="54"/>
                    <a:pt x="104" y="91"/>
                    <a:pt x="92" y="140"/>
                  </a:cubicBezTo>
                  <a:cubicBezTo>
                    <a:pt x="0" y="528"/>
                    <a:pt x="0" y="921"/>
                    <a:pt x="92" y="1309"/>
                  </a:cubicBezTo>
                  <a:cubicBezTo>
                    <a:pt x="104" y="1358"/>
                    <a:pt x="145" y="1395"/>
                    <a:pt x="195" y="1401"/>
                  </a:cubicBezTo>
                  <a:cubicBezTo>
                    <a:pt x="322" y="1416"/>
                    <a:pt x="450" y="1428"/>
                    <a:pt x="577" y="1436"/>
                  </a:cubicBezTo>
                  <a:cubicBezTo>
                    <a:pt x="570" y="1440"/>
                    <a:pt x="566" y="1444"/>
                    <a:pt x="566" y="1449"/>
                  </a:cubicBezTo>
                  <a:cubicBezTo>
                    <a:pt x="566" y="1482"/>
                    <a:pt x="755" y="1509"/>
                    <a:pt x="989" y="1509"/>
                  </a:cubicBezTo>
                  <a:cubicBezTo>
                    <a:pt x="1222" y="1509"/>
                    <a:pt x="1411" y="1482"/>
                    <a:pt x="1411" y="1449"/>
                  </a:cubicBezTo>
                  <a:cubicBezTo>
                    <a:pt x="1411" y="1444"/>
                    <a:pt x="1407" y="1440"/>
                    <a:pt x="1400" y="1436"/>
                  </a:cubicBezTo>
                  <a:cubicBezTo>
                    <a:pt x="1528" y="1428"/>
                    <a:pt x="1655" y="1416"/>
                    <a:pt x="1782" y="1401"/>
                  </a:cubicBezTo>
                  <a:cubicBezTo>
                    <a:pt x="1832" y="1395"/>
                    <a:pt x="1873" y="1358"/>
                    <a:pt x="1885" y="1309"/>
                  </a:cubicBezTo>
                  <a:cubicBezTo>
                    <a:pt x="1977" y="921"/>
                    <a:pt x="1977" y="528"/>
                    <a:pt x="1885" y="140"/>
                  </a:cubicBezTo>
                  <a:close/>
                  <a:moveTo>
                    <a:pt x="1768" y="1281"/>
                  </a:moveTo>
                  <a:cubicBezTo>
                    <a:pt x="1248" y="1344"/>
                    <a:pt x="729" y="1344"/>
                    <a:pt x="210" y="1281"/>
                  </a:cubicBezTo>
                  <a:cubicBezTo>
                    <a:pt x="121" y="910"/>
                    <a:pt x="121" y="539"/>
                    <a:pt x="210" y="168"/>
                  </a:cubicBezTo>
                  <a:cubicBezTo>
                    <a:pt x="729" y="105"/>
                    <a:pt x="1248" y="105"/>
                    <a:pt x="1768" y="168"/>
                  </a:cubicBezTo>
                  <a:cubicBezTo>
                    <a:pt x="1856" y="539"/>
                    <a:pt x="1856" y="910"/>
                    <a:pt x="1768" y="1281"/>
                  </a:cubicBezTo>
                  <a:close/>
                </a:path>
              </a:pathLst>
            </a:custGeom>
            <a:solidFill>
              <a:srgbClr val="FFFFFF">
                <a:alpha val="100000"/>
              </a:srgbClr>
            </a:solidFill>
            <a:ln w="9525">
              <a:noFill/>
            </a:ln>
          </p:spPr>
          <p:txBody>
            <a:bodyPr/>
            <a:lstStyle/>
            <a:p>
              <a:endParaRPr lang="fr-FR" altLang="en-US"/>
            </a:p>
          </p:txBody>
        </p:sp>
        <p:sp>
          <p:nvSpPr>
            <p:cNvPr id="30744" name="Freeform 7"/>
            <p:cNvSpPr/>
            <p:nvPr/>
          </p:nvSpPr>
          <p:spPr>
            <a:xfrm>
              <a:off x="7335298" y="4717974"/>
              <a:ext cx="44357" cy="44458"/>
            </a:xfrm>
            <a:custGeom>
              <a:avLst/>
              <a:gdLst>
                <a:gd name="txL" fmla="*/ 0 w 181"/>
                <a:gd name="txT" fmla="*/ 0 h 181"/>
                <a:gd name="txR" fmla="*/ 181 w 181"/>
                <a:gd name="txB" fmla="*/ 181 h 181"/>
              </a:gdLst>
              <a:ahLst/>
              <a:cxnLst>
                <a:cxn ang="17694720">
                  <a:pos x="22179" y="0"/>
                </a:cxn>
                <a:cxn ang="0">
                  <a:pos x="44357" y="22229"/>
                </a:cxn>
                <a:cxn ang="5898240">
                  <a:pos x="22179" y="44458"/>
                </a:cxn>
                <a:cxn ang="11796480">
                  <a:pos x="0" y="22229"/>
                </a:cxn>
                <a:cxn ang="0">
                  <a:pos x="22301" y="44458"/>
                </a:cxn>
                <a:cxn ang="0">
                  <a:pos x="44357" y="22106"/>
                </a:cxn>
                <a:cxn ang="0">
                  <a:pos x="22301" y="0"/>
                </a:cxn>
                <a:cxn ang="0">
                  <a:pos x="0" y="22106"/>
                </a:cxn>
                <a:cxn ang="0">
                  <a:pos x="22301" y="44458"/>
                </a:cxn>
                <a:cxn ang="0">
                  <a:pos x="22301" y="14737"/>
                </a:cxn>
                <a:cxn ang="0">
                  <a:pos x="29653" y="22106"/>
                </a:cxn>
                <a:cxn ang="0">
                  <a:pos x="22301" y="29721"/>
                </a:cxn>
                <a:cxn ang="0">
                  <a:pos x="14704" y="22106"/>
                </a:cxn>
                <a:cxn ang="0">
                  <a:pos x="22301" y="14737"/>
                </a:cxn>
              </a:cxnLst>
              <a:rect l="txL" t="txT" r="txR" b="txB"/>
              <a:pathLst>
                <a:path w="181" h="181">
                  <a:moveTo>
                    <a:pt x="91" y="181"/>
                  </a:moveTo>
                  <a:cubicBezTo>
                    <a:pt x="141" y="181"/>
                    <a:pt x="181" y="140"/>
                    <a:pt x="181" y="90"/>
                  </a:cubicBezTo>
                  <a:cubicBezTo>
                    <a:pt x="181" y="40"/>
                    <a:pt x="141" y="0"/>
                    <a:pt x="91" y="0"/>
                  </a:cubicBezTo>
                  <a:cubicBezTo>
                    <a:pt x="41" y="0"/>
                    <a:pt x="0" y="40"/>
                    <a:pt x="0" y="90"/>
                  </a:cubicBezTo>
                  <a:cubicBezTo>
                    <a:pt x="0" y="140"/>
                    <a:pt x="41" y="181"/>
                    <a:pt x="91" y="181"/>
                  </a:cubicBezTo>
                  <a:close/>
                  <a:moveTo>
                    <a:pt x="91" y="60"/>
                  </a:moveTo>
                  <a:cubicBezTo>
                    <a:pt x="107" y="60"/>
                    <a:pt x="121" y="74"/>
                    <a:pt x="121" y="90"/>
                  </a:cubicBezTo>
                  <a:cubicBezTo>
                    <a:pt x="121" y="107"/>
                    <a:pt x="107" y="121"/>
                    <a:pt x="91" y="121"/>
                  </a:cubicBezTo>
                  <a:cubicBezTo>
                    <a:pt x="74" y="121"/>
                    <a:pt x="60" y="107"/>
                    <a:pt x="60" y="90"/>
                  </a:cubicBezTo>
                  <a:cubicBezTo>
                    <a:pt x="60" y="74"/>
                    <a:pt x="74" y="60"/>
                    <a:pt x="91" y="60"/>
                  </a:cubicBezTo>
                  <a:close/>
                </a:path>
              </a:pathLst>
            </a:custGeom>
            <a:solidFill>
              <a:srgbClr val="FFFFFF">
                <a:alpha val="100000"/>
              </a:srgbClr>
            </a:solidFill>
            <a:ln w="9525">
              <a:noFill/>
            </a:ln>
          </p:spPr>
          <p:txBody>
            <a:bodyPr/>
            <a:lstStyle/>
            <a:p>
              <a:endParaRPr lang="fr-FR" altLang="en-US"/>
            </a:p>
          </p:txBody>
        </p:sp>
        <p:sp>
          <p:nvSpPr>
            <p:cNvPr id="30745" name="Freeform 8"/>
            <p:cNvSpPr/>
            <p:nvPr/>
          </p:nvSpPr>
          <p:spPr>
            <a:xfrm>
              <a:off x="7320585" y="4910529"/>
              <a:ext cx="59070" cy="14712"/>
            </a:xfrm>
            <a:custGeom>
              <a:avLst/>
              <a:gdLst>
                <a:gd name="txL" fmla="*/ 0 w 241"/>
                <a:gd name="txT" fmla="*/ 0 h 60"/>
                <a:gd name="txR" fmla="*/ 241 w 241"/>
                <a:gd name="txB" fmla="*/ 60 h 60"/>
              </a:gdLst>
              <a:ahLst/>
              <a:cxnLst>
                <a:cxn ang="17694720">
                  <a:pos x="29535" y="0"/>
                </a:cxn>
                <a:cxn ang="0">
                  <a:pos x="59070" y="7356"/>
                </a:cxn>
                <a:cxn ang="5898240">
                  <a:pos x="29535" y="14712"/>
                </a:cxn>
                <a:cxn ang="11796480">
                  <a:pos x="0" y="7356"/>
                </a:cxn>
                <a:cxn ang="0">
                  <a:pos x="51717" y="0"/>
                </a:cxn>
                <a:cxn ang="0">
                  <a:pos x="7353" y="0"/>
                </a:cxn>
                <a:cxn ang="0">
                  <a:pos x="0" y="7356"/>
                </a:cxn>
                <a:cxn ang="0">
                  <a:pos x="7353" y="14712"/>
                </a:cxn>
                <a:cxn ang="0">
                  <a:pos x="51717" y="14712"/>
                </a:cxn>
                <a:cxn ang="0">
                  <a:pos x="59070" y="7356"/>
                </a:cxn>
                <a:cxn ang="0">
                  <a:pos x="51717" y="0"/>
                </a:cxn>
              </a:cxnLst>
              <a:rect l="txL" t="txT" r="txR" b="txB"/>
              <a:pathLst>
                <a:path w="241" h="60">
                  <a:moveTo>
                    <a:pt x="211" y="0"/>
                  </a:moveTo>
                  <a:cubicBezTo>
                    <a:pt x="30" y="0"/>
                    <a:pt x="30" y="0"/>
                    <a:pt x="30" y="0"/>
                  </a:cubicBezTo>
                  <a:cubicBezTo>
                    <a:pt x="13" y="0"/>
                    <a:pt x="0" y="13"/>
                    <a:pt x="0" y="30"/>
                  </a:cubicBezTo>
                  <a:cubicBezTo>
                    <a:pt x="0" y="47"/>
                    <a:pt x="13" y="60"/>
                    <a:pt x="30" y="60"/>
                  </a:cubicBezTo>
                  <a:cubicBezTo>
                    <a:pt x="211" y="60"/>
                    <a:pt x="211" y="60"/>
                    <a:pt x="211" y="60"/>
                  </a:cubicBezTo>
                  <a:cubicBezTo>
                    <a:pt x="228" y="60"/>
                    <a:pt x="241" y="47"/>
                    <a:pt x="241" y="30"/>
                  </a:cubicBezTo>
                  <a:cubicBezTo>
                    <a:pt x="241" y="13"/>
                    <a:pt x="228" y="0"/>
                    <a:pt x="211" y="0"/>
                  </a:cubicBezTo>
                  <a:close/>
                </a:path>
              </a:pathLst>
            </a:custGeom>
            <a:solidFill>
              <a:srgbClr val="FFFFFF">
                <a:alpha val="100000"/>
              </a:srgbClr>
            </a:solidFill>
            <a:ln w="9525">
              <a:noFill/>
            </a:ln>
          </p:spPr>
          <p:txBody>
            <a:bodyPr/>
            <a:lstStyle/>
            <a:p>
              <a:endParaRPr lang="fr-FR" altLang="en-US"/>
            </a:p>
          </p:txBody>
        </p:sp>
        <p:sp>
          <p:nvSpPr>
            <p:cNvPr id="30746" name="Freeform 9"/>
            <p:cNvSpPr/>
            <p:nvPr/>
          </p:nvSpPr>
          <p:spPr>
            <a:xfrm>
              <a:off x="7335298" y="4866171"/>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7"/>
                    <a:pt x="14" y="60"/>
                    <a:pt x="30" y="60"/>
                  </a:cubicBezTo>
                  <a:cubicBezTo>
                    <a:pt x="211" y="60"/>
                    <a:pt x="211" y="60"/>
                    <a:pt x="211" y="60"/>
                  </a:cubicBezTo>
                  <a:cubicBezTo>
                    <a:pt x="228" y="60"/>
                    <a:pt x="242" y="47"/>
                    <a:pt x="242" y="30"/>
                  </a:cubicBezTo>
                  <a:cubicBezTo>
                    <a:pt x="242" y="13"/>
                    <a:pt x="228" y="0"/>
                    <a:pt x="211" y="0"/>
                  </a:cubicBezTo>
                  <a:close/>
                </a:path>
              </a:pathLst>
            </a:custGeom>
            <a:solidFill>
              <a:srgbClr val="FFFFFF">
                <a:alpha val="100000"/>
              </a:srgbClr>
            </a:solidFill>
            <a:ln w="9525">
              <a:noFill/>
            </a:ln>
          </p:spPr>
          <p:txBody>
            <a:bodyPr/>
            <a:lstStyle/>
            <a:p>
              <a:endParaRPr lang="fr-FR" altLang="en-US"/>
            </a:p>
          </p:txBody>
        </p:sp>
        <p:sp>
          <p:nvSpPr>
            <p:cNvPr id="30747" name="Freeform 10"/>
            <p:cNvSpPr/>
            <p:nvPr/>
          </p:nvSpPr>
          <p:spPr>
            <a:xfrm>
              <a:off x="7335298" y="4821823"/>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6"/>
                    <a:pt x="14" y="60"/>
                    <a:pt x="30" y="60"/>
                  </a:cubicBezTo>
                  <a:cubicBezTo>
                    <a:pt x="211" y="60"/>
                    <a:pt x="211" y="60"/>
                    <a:pt x="211" y="60"/>
                  </a:cubicBezTo>
                  <a:cubicBezTo>
                    <a:pt x="228" y="60"/>
                    <a:pt x="242" y="46"/>
                    <a:pt x="242" y="30"/>
                  </a:cubicBezTo>
                  <a:cubicBezTo>
                    <a:pt x="242" y="13"/>
                    <a:pt x="228" y="0"/>
                    <a:pt x="211" y="0"/>
                  </a:cubicBezTo>
                  <a:close/>
                </a:path>
              </a:pathLst>
            </a:custGeom>
            <a:solidFill>
              <a:srgbClr val="FFFFFF">
                <a:alpha val="100000"/>
              </a:srgbClr>
            </a:solidFill>
            <a:ln w="9525">
              <a:noFill/>
            </a:ln>
          </p:spPr>
          <p:txBody>
            <a:bodyPr/>
            <a:lstStyle/>
            <a:p>
              <a:endParaRPr lang="fr-FR" altLang="en-US"/>
            </a:p>
          </p:txBody>
        </p:sp>
        <p:sp>
          <p:nvSpPr>
            <p:cNvPr id="30748" name="Freeform 11"/>
            <p:cNvSpPr/>
            <p:nvPr/>
          </p:nvSpPr>
          <p:spPr>
            <a:xfrm>
              <a:off x="7083984" y="4759433"/>
              <a:ext cx="88504" cy="62389"/>
            </a:xfrm>
            <a:custGeom>
              <a:avLst/>
              <a:gdLst>
                <a:gd name="txL" fmla="*/ 0 w 361"/>
                <a:gd name="txT" fmla="*/ 0 h 254"/>
                <a:gd name="txR" fmla="*/ 361 w 361"/>
                <a:gd name="txB" fmla="*/ 254 h 254"/>
              </a:gdLst>
              <a:ahLst/>
              <a:cxnLst>
                <a:cxn ang="17694720">
                  <a:pos x="44252" y="0"/>
                </a:cxn>
                <a:cxn ang="0">
                  <a:pos x="88504" y="31195"/>
                </a:cxn>
                <a:cxn ang="5898240">
                  <a:pos x="44252" y="62389"/>
                </a:cxn>
                <a:cxn ang="11796480">
                  <a:pos x="0" y="31195"/>
                </a:cxn>
                <a:cxn ang="0">
                  <a:pos x="81149" y="0"/>
                </a:cxn>
                <a:cxn ang="0">
                  <a:pos x="13239" y="5404"/>
                </a:cxn>
                <a:cxn ang="0">
                  <a:pos x="4658" y="13509"/>
                </a:cxn>
                <a:cxn ang="0">
                  <a:pos x="0" y="54775"/>
                </a:cxn>
                <a:cxn ang="0">
                  <a:pos x="7110" y="62389"/>
                </a:cxn>
                <a:cxn ang="0">
                  <a:pos x="14710" y="54775"/>
                </a:cxn>
                <a:cxn ang="0">
                  <a:pos x="17161" y="26773"/>
                </a:cxn>
                <a:cxn ang="0">
                  <a:pos x="25497" y="18668"/>
                </a:cxn>
                <a:cxn ang="0">
                  <a:pos x="81149" y="14738"/>
                </a:cxn>
                <a:cxn ang="0">
                  <a:pos x="88504" y="7123"/>
                </a:cxn>
                <a:cxn ang="0">
                  <a:pos x="81149" y="0"/>
                </a:cxn>
              </a:cxnLst>
              <a:rect l="txL" t="txT" r="txR" b="txB"/>
              <a:pathLst>
                <a:path w="361" h="254">
                  <a:moveTo>
                    <a:pt x="331" y="0"/>
                  </a:moveTo>
                  <a:cubicBezTo>
                    <a:pt x="54" y="22"/>
                    <a:pt x="54" y="22"/>
                    <a:pt x="54" y="22"/>
                  </a:cubicBezTo>
                  <a:cubicBezTo>
                    <a:pt x="37" y="24"/>
                    <a:pt x="22" y="39"/>
                    <a:pt x="19" y="55"/>
                  </a:cubicBezTo>
                  <a:cubicBezTo>
                    <a:pt x="0" y="223"/>
                    <a:pt x="0" y="223"/>
                    <a:pt x="0" y="223"/>
                  </a:cubicBezTo>
                  <a:cubicBezTo>
                    <a:pt x="0" y="240"/>
                    <a:pt x="12" y="254"/>
                    <a:pt x="29" y="254"/>
                  </a:cubicBezTo>
                  <a:cubicBezTo>
                    <a:pt x="46" y="254"/>
                    <a:pt x="60" y="240"/>
                    <a:pt x="60" y="223"/>
                  </a:cubicBezTo>
                  <a:cubicBezTo>
                    <a:pt x="70" y="109"/>
                    <a:pt x="70" y="109"/>
                    <a:pt x="70" y="109"/>
                  </a:cubicBezTo>
                  <a:cubicBezTo>
                    <a:pt x="73" y="92"/>
                    <a:pt x="88" y="78"/>
                    <a:pt x="104" y="76"/>
                  </a:cubicBezTo>
                  <a:cubicBezTo>
                    <a:pt x="331" y="60"/>
                    <a:pt x="331" y="60"/>
                    <a:pt x="331" y="60"/>
                  </a:cubicBezTo>
                  <a:cubicBezTo>
                    <a:pt x="347" y="60"/>
                    <a:pt x="361" y="46"/>
                    <a:pt x="361" y="29"/>
                  </a:cubicBezTo>
                  <a:cubicBezTo>
                    <a:pt x="361" y="13"/>
                    <a:pt x="347" y="0"/>
                    <a:pt x="331" y="0"/>
                  </a:cubicBezTo>
                  <a:close/>
                </a:path>
              </a:pathLst>
            </a:custGeom>
            <a:solidFill>
              <a:srgbClr val="FFFFFF">
                <a:alpha val="100000"/>
              </a:srgbClr>
            </a:solidFill>
            <a:ln w="9525">
              <a:noFill/>
            </a:ln>
          </p:spPr>
          <p:txBody>
            <a:bodyPr/>
            <a:lstStyle/>
            <a:p>
              <a:endParaRPr lang="fr-FR" altLang="en-US"/>
            </a:p>
          </p:txBody>
        </p:sp>
      </p:grpSp>
      <p:cxnSp>
        <p:nvCxnSpPr>
          <p:cNvPr id="30738" name="Straight Connector 30"/>
          <p:cNvCxnSpPr/>
          <p:nvPr/>
        </p:nvCxnSpPr>
        <p:spPr>
          <a:xfrm flipH="1">
            <a:off x="6061075" y="0"/>
            <a:ext cx="34925" cy="982980"/>
          </a:xfrm>
          <a:prstGeom prst="straightConnector1">
            <a:avLst/>
          </a:prstGeom>
          <a:ln w="25402" cap="flat" cmpd="sng">
            <a:solidFill>
              <a:srgbClr val="D9D9D9"/>
            </a:solidFill>
            <a:prstDash val="solid"/>
            <a:miter/>
            <a:headEnd type="none" w="med" len="med"/>
            <a:tailEnd type="arrow" w="med" len="med"/>
          </a:ln>
        </p:spPr>
      </p:cxnSp>
      <p:sp>
        <p:nvSpPr>
          <p:cNvPr id="30" name="Rectangle 4"/>
          <p:cNvSpPr/>
          <p:nvPr/>
        </p:nvSpPr>
        <p:spPr>
          <a:xfrm>
            <a:off x="4448175" y="3883025"/>
            <a:ext cx="1054100" cy="85725"/>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1" name="Rectangle 33"/>
          <p:cNvSpPr/>
          <p:nvPr/>
        </p:nvSpPr>
        <p:spPr>
          <a:xfrm>
            <a:off x="6675438" y="5268913"/>
            <a:ext cx="1054100" cy="87312"/>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 name="TextBox 37"/>
          <p:cNvSpPr txBox="1"/>
          <p:nvPr/>
        </p:nvSpPr>
        <p:spPr>
          <a:xfrm>
            <a:off x="7916863" y="4759325"/>
            <a:ext cx="2616200" cy="1014730"/>
          </a:xfrm>
          <a:prstGeom prst="rect">
            <a:avLst/>
          </a:prstGeom>
          <a:noFill/>
          <a:ln w="9525">
            <a:noFill/>
          </a:ln>
        </p:spPr>
        <p:txBody>
          <a:bodyPr>
            <a:spAutoFit/>
          </a:bodyPr>
          <a:lstStyle/>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rPr>
              <a:t>Architecture du modèle </a:t>
            </a:r>
            <a:endParaRPr lang="id-ID" altLang="x-none" sz="1200" dirty="0">
              <a:solidFill>
                <a:srgbClr val="A6A6A6"/>
              </a:solidFill>
              <a:latin typeface="Calibri" panose="020F0502020204030204" pitchFamily="34" charset="0"/>
              <a:cs typeface="Calibri" panose="020F0502020204030204" pitchFamily="34" charset="0"/>
            </a:endParaRPr>
          </a:p>
          <a:p>
            <a:pPr marL="171450" indent="-171450" eaLnBrk="1" hangingPunct="1">
              <a:buSzPct val="100000"/>
              <a:buFont typeface="Arial" panose="020B0604020202020204" pitchFamily="34" charset="0"/>
              <a:buChar char="•"/>
            </a:pPr>
            <a:r>
              <a:rPr lang="fr-FR" altLang="x-none" sz="1200" dirty="0">
                <a:solidFill>
                  <a:srgbClr val="A6A6A6"/>
                </a:solidFill>
                <a:latin typeface="Calibri" panose="020F0502020204030204" pitchFamily="34" charset="0"/>
                <a:cs typeface="Calibri" panose="020F0502020204030204" pitchFamily="34" charset="0"/>
              </a:rPr>
              <a:t>Dataset d'entrainement </a:t>
            </a:r>
          </a:p>
          <a:p>
            <a:pPr marL="171450" indent="-171450" eaLnBrk="1" hangingPunct="1">
              <a:buSzPct val="100000"/>
              <a:buFont typeface="Arial" panose="020B0604020202020204" pitchFamily="34" charset="0"/>
              <a:buChar char="•"/>
            </a:pPr>
            <a:r>
              <a:rPr lang="fr-FR" altLang="x-none" sz="1200" dirty="0">
                <a:solidFill>
                  <a:srgbClr val="A6A6A6"/>
                </a:solidFill>
                <a:latin typeface="Calibri" panose="020F0502020204030204" pitchFamily="34" charset="0"/>
                <a:cs typeface="Calibri" panose="020F0502020204030204" pitchFamily="34" charset="0"/>
              </a:rPr>
              <a:t>Infrastructure d'entrainement</a:t>
            </a:r>
          </a:p>
          <a:p>
            <a:pPr marL="171450" indent="-171450" eaLnBrk="1" hangingPunct="1">
              <a:buSzPct val="100000"/>
              <a:buFont typeface="Arial" panose="020B0604020202020204" pitchFamily="34" charset="0"/>
              <a:buChar char="•"/>
            </a:pPr>
            <a:r>
              <a:rPr lang="fr-FR" altLang="x-none" sz="1200" dirty="0">
                <a:solidFill>
                  <a:srgbClr val="A6A6A6"/>
                </a:solidFill>
                <a:latin typeface="Calibri" panose="020F0502020204030204" pitchFamily="34" charset="0"/>
                <a:cs typeface="Calibri" panose="020F0502020204030204" pitchFamily="34" charset="0"/>
              </a:rPr>
              <a:t>Paramètres d'entrainement</a:t>
            </a:r>
          </a:p>
          <a:p>
            <a:pPr marL="171450" indent="-171450" eaLnBrk="1" hangingPunct="1">
              <a:buSzPct val="100000"/>
              <a:buFont typeface="Arial" panose="020B0604020202020204" pitchFamily="34" charset="0"/>
              <a:buChar char="•"/>
            </a:pPr>
            <a:endParaRPr lang="fr-FR" altLang="x-none" sz="1200" dirty="0">
              <a:solidFill>
                <a:srgbClr val="A6A6A6"/>
              </a:solidFill>
              <a:latin typeface="Calibri" panose="020F0502020204030204" pitchFamily="34" charset="0"/>
              <a:ea typeface="Calibri" panose="020F050202020403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7"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par>
                          <p:cTn id="48" fill="hold">
                            <p:stCondLst>
                              <p:cond delay="4000"/>
                            </p:stCondLst>
                            <p:childTnLst>
                              <p:par>
                                <p:cTn id="49" presetID="22" presetClass="entr" presetSubtype="1" fill="hold"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up)">
                                      <p:cBhvr>
                                        <p:cTn id="51" dur="500"/>
                                        <p:tgtEl>
                                          <p:spTgt spid="15"/>
                                        </p:tgtEl>
                                      </p:cBhvr>
                                    </p:animEffect>
                                  </p:childTnLst>
                                </p:cTn>
                              </p:par>
                            </p:childTnLst>
                          </p:cTn>
                        </p:par>
                        <p:par>
                          <p:cTn id="52" fill="hold">
                            <p:stCondLst>
                              <p:cond delay="4500"/>
                            </p:stCondLst>
                            <p:childTnLst>
                              <p:par>
                                <p:cTn id="53" presetID="53" presetClass="entr" presetSubtype="16" fill="hold" nodeType="after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p:cTn id="55" dur="500" fill="hold"/>
                                        <p:tgtEl>
                                          <p:spTgt spid="16"/>
                                        </p:tgtEl>
                                        <p:attrNameLst>
                                          <p:attrName>ppt_w</p:attrName>
                                        </p:attrNameLst>
                                      </p:cBhvr>
                                      <p:tavLst>
                                        <p:tav tm="0">
                                          <p:val>
                                            <p:fltVal val="0"/>
                                          </p:val>
                                        </p:tav>
                                        <p:tav tm="100000">
                                          <p:val>
                                            <p:strVal val="#ppt_w"/>
                                          </p:val>
                                        </p:tav>
                                      </p:tavLst>
                                    </p:anim>
                                    <p:anim calcmode="lin" valueType="num">
                                      <p:cBhvr>
                                        <p:cTn id="56" dur="500" fill="hold"/>
                                        <p:tgtEl>
                                          <p:spTgt spid="16"/>
                                        </p:tgtEl>
                                        <p:attrNameLst>
                                          <p:attrName>ppt_h</p:attrName>
                                        </p:attrNameLst>
                                      </p:cBhvr>
                                      <p:tavLst>
                                        <p:tav tm="0">
                                          <p:val>
                                            <p:fltVal val="0"/>
                                          </p:val>
                                        </p:tav>
                                        <p:tav tm="100000">
                                          <p:val>
                                            <p:strVal val="#ppt_h"/>
                                          </p:val>
                                        </p:tav>
                                      </p:tavLst>
                                    </p:anim>
                                    <p:animEffect transition="in" filter="fade">
                                      <p:cBhvr>
                                        <p:cTn id="57" dur="500"/>
                                        <p:tgtEl>
                                          <p:spTgt spid="16"/>
                                        </p:tgtEl>
                                      </p:cBhvr>
                                    </p:animEffect>
                                  </p:childTnLst>
                                </p:cTn>
                              </p:par>
                            </p:childTnLst>
                          </p:cTn>
                        </p:par>
                        <p:par>
                          <p:cTn id="58" fill="hold">
                            <p:stCondLst>
                              <p:cond delay="5000"/>
                            </p:stCondLst>
                            <p:childTnLst>
                              <p:par>
                                <p:cTn id="59" presetID="53" presetClass="entr" presetSubtype="16" fill="hold" nodeType="after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p:cTn id="61" dur="500" fill="hold"/>
                                        <p:tgtEl>
                                          <p:spTgt spid="21"/>
                                        </p:tgtEl>
                                        <p:attrNameLst>
                                          <p:attrName>ppt_w</p:attrName>
                                        </p:attrNameLst>
                                      </p:cBhvr>
                                      <p:tavLst>
                                        <p:tav tm="0">
                                          <p:val>
                                            <p:fltVal val="0"/>
                                          </p:val>
                                        </p:tav>
                                        <p:tav tm="100000">
                                          <p:val>
                                            <p:strVal val="#ppt_w"/>
                                          </p:val>
                                        </p:tav>
                                      </p:tavLst>
                                    </p:anim>
                                    <p:anim calcmode="lin" valueType="num">
                                      <p:cBhvr>
                                        <p:cTn id="62" dur="500" fill="hold"/>
                                        <p:tgtEl>
                                          <p:spTgt spid="21"/>
                                        </p:tgtEl>
                                        <p:attrNameLst>
                                          <p:attrName>ppt_h</p:attrName>
                                        </p:attrNameLst>
                                      </p:cBhvr>
                                      <p:tavLst>
                                        <p:tav tm="0">
                                          <p:val>
                                            <p:fltVal val="0"/>
                                          </p:val>
                                        </p:tav>
                                        <p:tav tm="100000">
                                          <p:val>
                                            <p:strVal val="#ppt_h"/>
                                          </p:val>
                                        </p:tav>
                                      </p:tavLst>
                                    </p:anim>
                                    <p:animEffect transition="in" filter="fade">
                                      <p:cBhvr>
                                        <p:cTn id="63" dur="500"/>
                                        <p:tgtEl>
                                          <p:spTgt spid="21"/>
                                        </p:tgtEl>
                                      </p:cBhvr>
                                    </p:animEffect>
                                  </p:childTnLst>
                                </p:cTn>
                              </p:par>
                            </p:childTnLst>
                          </p:cTn>
                        </p:par>
                        <p:par>
                          <p:cTn id="64" fill="hold">
                            <p:stCondLst>
                              <p:cond delay="5500"/>
                            </p:stCondLst>
                            <p:childTnLst>
                              <p:par>
                                <p:cTn id="65" presetID="22" presetClass="entr" presetSubtype="8" fill="hold" nodeType="after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par>
                          <p:cTn id="68" fill="hold">
                            <p:stCondLst>
                              <p:cond delay="6000"/>
                            </p:stCondLst>
                            <p:childTnLst>
                              <p:par>
                                <p:cTn id="69" presetID="10" presetClass="entr" presetSubtype="0" fill="hold" grpId="0"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500"/>
                                        <p:tgtEl>
                                          <p:spTgt spid="1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par>
                          <p:cTn id="75" fill="hold">
                            <p:stCondLst>
                              <p:cond delay="6500"/>
                            </p:stCondLst>
                            <p:childTnLst>
                              <p:par>
                                <p:cTn id="76" presetID="10" presetClass="entr" presetSubtype="0" fill="hold" grpId="0" nodeType="after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500"/>
                                        <p:tgtEl>
                                          <p:spTgt spid="20"/>
                                        </p:tgtEl>
                                      </p:cBhvr>
                                    </p:animEffect>
                                  </p:childTnLst>
                                </p:cTn>
                              </p:par>
                            </p:childTnLst>
                          </p:cTn>
                        </p:par>
                        <p:par>
                          <p:cTn id="79" fill="hold">
                            <p:stCondLst>
                              <p:cond delay="7000"/>
                            </p:stCondLst>
                            <p:childTnLst>
                              <p:par>
                                <p:cTn id="80" presetID="22" presetClass="entr" presetSubtype="1"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up)">
                                      <p:cBhvr>
                                        <p:cTn id="82" dur="5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9" grpId="0" animBg="1"/>
      <p:bldP spid="18" grpId="0" animBg="1"/>
      <p:bldP spid="20" grpId="0"/>
      <p:bldP spid="30" grpId="0" animBg="1"/>
      <p:bldP spid="31" grpId="0" animBg="1"/>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746" name="Straight Connector 10"/>
          <p:cNvCxnSpPr/>
          <p:nvPr/>
        </p:nvCxnSpPr>
        <p:spPr>
          <a:xfrm>
            <a:off x="6096000" y="0"/>
            <a:ext cx="0" cy="1249363"/>
          </a:xfrm>
          <a:prstGeom prst="straightConnector1">
            <a:avLst/>
          </a:prstGeom>
          <a:ln w="25402" cap="flat" cmpd="sng">
            <a:solidFill>
              <a:srgbClr val="D9D9D9"/>
            </a:solidFill>
            <a:prstDash val="solid"/>
            <a:miter/>
            <a:headEnd type="none" w="med" len="med"/>
            <a:tailEnd type="none" w="med" len="med"/>
          </a:ln>
        </p:spPr>
      </p:cxnSp>
      <p:sp>
        <p:nvSpPr>
          <p:cNvPr id="3" name="TextBox 14"/>
          <p:cNvSpPr txBox="1"/>
          <p:nvPr/>
        </p:nvSpPr>
        <p:spPr>
          <a:xfrm>
            <a:off x="792163" y="789305"/>
            <a:ext cx="3361690" cy="460375"/>
          </a:xfrm>
          <a:prstGeom prst="rect">
            <a:avLst/>
          </a:prstGeom>
          <a:noFill/>
          <a:ln w="9525">
            <a:noFill/>
          </a:ln>
        </p:spPr>
        <p:txBody>
          <a:bodyPr wrap="none">
            <a:spAutoFit/>
          </a:bodyPr>
          <a:lstStyle/>
          <a:p>
            <a:pPr algn="r" eaLnBrk="1" hangingPunct="1"/>
            <a:r>
              <a:rPr lang="id-ID" altLang="x-none" sz="2400" b="1" dirty="0">
                <a:solidFill>
                  <a:srgbClr val="7F7F7F"/>
                </a:solidFill>
                <a:cs typeface="Calibri" panose="020F0502020204030204" pitchFamily="34" charset="0"/>
              </a:rPr>
              <a:t>Résultat et</a:t>
            </a:r>
            <a:r>
              <a:rPr lang="id-ID" altLang="x-none" sz="2000" b="1" dirty="0">
                <a:solidFill>
                  <a:srgbClr val="7F7F7F"/>
                </a:solidFill>
                <a:cs typeface="Calibri" panose="020F0502020204030204" pitchFamily="34" charset="0"/>
              </a:rPr>
              <a:t> </a:t>
            </a:r>
            <a:r>
              <a:rPr lang="id-ID" altLang="x-none" sz="2400" b="1" dirty="0">
                <a:solidFill>
                  <a:srgbClr val="7F7F7F"/>
                </a:solidFill>
                <a:cs typeface="Calibri" panose="020F0502020204030204" pitchFamily="34" charset="0"/>
              </a:rPr>
              <a:t>raisonnement</a:t>
            </a:r>
            <a:endParaRPr lang="fr-FR" altLang="x-none" sz="2400" dirty="0">
              <a:solidFill>
                <a:srgbClr val="7F7F7F"/>
              </a:solidFill>
              <a:cs typeface="Calibri" panose="020F0502020204030204" pitchFamily="34" charset="0"/>
            </a:endParaRPr>
          </a:p>
        </p:txBody>
      </p:sp>
      <p:sp>
        <p:nvSpPr>
          <p:cNvPr id="4" name="TextBox 15"/>
          <p:cNvSpPr txBox="1"/>
          <p:nvPr/>
        </p:nvSpPr>
        <p:spPr>
          <a:xfrm>
            <a:off x="1700213" y="1204913"/>
            <a:ext cx="2616200" cy="1016000"/>
          </a:xfrm>
          <a:prstGeom prst="rect">
            <a:avLst/>
          </a:prstGeom>
          <a:noFill/>
          <a:ln w="9525">
            <a:noFill/>
          </a:ln>
        </p:spPr>
        <p:txBody>
          <a:bodyPr>
            <a:spAutoFit/>
          </a:bodyPr>
          <a:lstStyle/>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rPr>
              <a:t>Compréhension du langage naturel</a:t>
            </a:r>
            <a:endParaRPr lang="id-ID" altLang="x-none" sz="1200" dirty="0">
              <a:solidFill>
                <a:srgbClr val="A6A6A6"/>
              </a:solidFill>
              <a:latin typeface="Calibri" panose="020F0502020204030204" pitchFamily="34" charset="0"/>
              <a:cs typeface="Calibri" panose="020F0502020204030204" pitchFamily="34" charset="0"/>
            </a:endParaRP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Cause et efftet</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Raisonnement</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Génération de code</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Correction de code</a:t>
            </a:r>
            <a:endParaRPr lang="id-ID" altLang="x-none" sz="1200" dirty="0">
              <a:solidFill>
                <a:srgbClr val="A6A6A6"/>
              </a:solidFill>
              <a:latin typeface="Calibri" panose="020F0502020204030204" pitchFamily="34" charset="0"/>
              <a:ea typeface="Calibri" panose="020F0502020204030204" pitchFamily="34" charset="0"/>
            </a:endParaRPr>
          </a:p>
        </p:txBody>
      </p:sp>
      <p:sp>
        <p:nvSpPr>
          <p:cNvPr id="5" name="Oval 3"/>
          <p:cNvSpPr/>
          <p:nvPr/>
        </p:nvSpPr>
        <p:spPr>
          <a:xfrm>
            <a:off x="6038850" y="126523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ACC777">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6" name="Straight Connector 9"/>
          <p:cNvCxnSpPr/>
          <p:nvPr/>
        </p:nvCxnSpPr>
        <p:spPr>
          <a:xfrm>
            <a:off x="5514975" y="1339850"/>
            <a:ext cx="523875" cy="0"/>
          </a:xfrm>
          <a:prstGeom prst="straightConnector1">
            <a:avLst/>
          </a:prstGeom>
          <a:ln w="25402" cap="flat" cmpd="sng">
            <a:solidFill>
              <a:srgbClr val="D9D9D9"/>
            </a:solidFill>
            <a:prstDash val="solid"/>
            <a:miter/>
            <a:headEnd type="none" w="med" len="med"/>
            <a:tailEnd type="none" w="med" len="med"/>
          </a:ln>
        </p:spPr>
      </p:cxnSp>
      <p:sp>
        <p:nvSpPr>
          <p:cNvPr id="7" name="Rectangle 13"/>
          <p:cNvSpPr/>
          <p:nvPr/>
        </p:nvSpPr>
        <p:spPr>
          <a:xfrm>
            <a:off x="4448175" y="812800"/>
            <a:ext cx="1054100" cy="10541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8" name="Straight Connector 26"/>
          <p:cNvCxnSpPr/>
          <p:nvPr/>
        </p:nvCxnSpPr>
        <p:spPr>
          <a:xfrm>
            <a:off x="6096000" y="1385888"/>
            <a:ext cx="0" cy="1249362"/>
          </a:xfrm>
          <a:prstGeom prst="straightConnector1">
            <a:avLst/>
          </a:prstGeom>
          <a:ln w="25402" cap="flat" cmpd="sng">
            <a:solidFill>
              <a:srgbClr val="D9D9D9"/>
            </a:solidFill>
            <a:prstDash val="solid"/>
            <a:miter/>
            <a:headEnd type="none" w="med" len="med"/>
            <a:tailEnd type="none" w="med" len="med"/>
          </a:ln>
        </p:spPr>
      </p:cxnSp>
      <p:sp>
        <p:nvSpPr>
          <p:cNvPr id="9" name="Oval 27"/>
          <p:cNvSpPr/>
          <p:nvPr/>
        </p:nvSpPr>
        <p:spPr>
          <a:xfrm>
            <a:off x="6038850" y="2651125"/>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77933C">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0" name="Straight Connector 28"/>
          <p:cNvCxnSpPr/>
          <p:nvPr/>
        </p:nvCxnSpPr>
        <p:spPr>
          <a:xfrm>
            <a:off x="6153150" y="2727325"/>
            <a:ext cx="523875" cy="0"/>
          </a:xfrm>
          <a:prstGeom prst="straightConnector1">
            <a:avLst/>
          </a:prstGeom>
          <a:ln w="25402" cap="flat" cmpd="sng">
            <a:solidFill>
              <a:srgbClr val="D9D9D9"/>
            </a:solidFill>
            <a:prstDash val="solid"/>
            <a:miter/>
            <a:headEnd type="none" w="med" len="med"/>
            <a:tailEnd type="none" w="med" len="med"/>
          </a:ln>
        </p:spPr>
      </p:cxnSp>
      <p:sp>
        <p:nvSpPr>
          <p:cNvPr id="11" name="Rectangle 29"/>
          <p:cNvSpPr/>
          <p:nvPr/>
        </p:nvSpPr>
        <p:spPr>
          <a:xfrm>
            <a:off x="6677025" y="2200275"/>
            <a:ext cx="1054100" cy="10541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12" name="TextBox 36"/>
          <p:cNvSpPr txBox="1"/>
          <p:nvPr/>
        </p:nvSpPr>
        <p:spPr>
          <a:xfrm>
            <a:off x="7916863" y="2200275"/>
            <a:ext cx="2693035" cy="460375"/>
          </a:xfrm>
          <a:prstGeom prst="rect">
            <a:avLst/>
          </a:prstGeom>
          <a:noFill/>
          <a:ln w="9525">
            <a:noFill/>
          </a:ln>
        </p:spPr>
        <p:txBody>
          <a:bodyPr wrap="none">
            <a:spAutoFit/>
          </a:bodyPr>
          <a:lstStyle/>
          <a:p>
            <a:pPr eaLnBrk="1" hangingPunct="1">
              <a:buNone/>
            </a:pPr>
            <a:r>
              <a:rPr lang="id-ID" altLang="x-none" sz="2400" b="1" dirty="0">
                <a:solidFill>
                  <a:srgbClr val="7D7D7D"/>
                </a:solidFill>
                <a:ea typeface="Source Sans Pro Light"/>
                <a:cs typeface="Calibri" panose="020F0502020204030204" pitchFamily="34" charset="0"/>
              </a:rPr>
              <a:t>Èvolution</a:t>
            </a:r>
            <a:r>
              <a:rPr lang="id-ID" altLang="x-none" sz="2400" b="1" dirty="0">
                <a:solidFill>
                  <a:srgbClr val="736F6F"/>
                </a:solidFill>
                <a:ea typeface="Source Sans Pro Light"/>
                <a:cs typeface="Calibri" panose="020F0502020204030204" pitchFamily="34" charset="0"/>
              </a:rPr>
              <a:t> </a:t>
            </a:r>
            <a:r>
              <a:rPr lang="id-ID" altLang="x-none" sz="2400" b="1" dirty="0">
                <a:solidFill>
                  <a:srgbClr val="7F7F7F"/>
                </a:solidFill>
                <a:ea typeface="Source Sans Pro Light"/>
                <a:cs typeface="Calibri" panose="020F0502020204030204" pitchFamily="34" charset="0"/>
              </a:rPr>
              <a:t>et version</a:t>
            </a:r>
            <a:endParaRPr lang="fr-FR" altLang="x-none" sz="2400" dirty="0">
              <a:solidFill>
                <a:srgbClr val="7F7F7F"/>
              </a:solidFill>
              <a:ea typeface="Calibri" panose="020F0502020204030204" pitchFamily="34" charset="0"/>
              <a:cs typeface="Calibri" panose="020F0502020204030204" pitchFamily="34" charset="0"/>
            </a:endParaRPr>
          </a:p>
        </p:txBody>
      </p:sp>
      <p:sp>
        <p:nvSpPr>
          <p:cNvPr id="13" name="TextBox 37"/>
          <p:cNvSpPr txBox="1"/>
          <p:nvPr/>
        </p:nvSpPr>
        <p:spPr>
          <a:xfrm>
            <a:off x="7916863" y="2616200"/>
            <a:ext cx="2616200" cy="831850"/>
          </a:xfrm>
          <a:prstGeom prst="rect">
            <a:avLst/>
          </a:prstGeom>
          <a:noFill/>
          <a:ln w="9525">
            <a:noFill/>
          </a:ln>
        </p:spPr>
        <p:txBody>
          <a:bodyPr>
            <a:spAutoFit/>
          </a:bodyPr>
          <a:lstStyle/>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rPr>
              <a:t>PaLM2</a:t>
            </a:r>
            <a:endParaRPr lang="fr-FR" altLang="x-none" dirty="0">
              <a:solidFill>
                <a:srgbClr val="000000"/>
              </a:solidFill>
              <a:latin typeface="Calibri" panose="020F0502020204030204" pitchFamily="34" charset="0"/>
            </a:endParaRP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Med-PaLM</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Sec-PaLM</a:t>
            </a:r>
          </a:p>
          <a:p>
            <a:pPr marL="171450" indent="-171450"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cs typeface="Calibri" panose="020F0502020204030204" pitchFamily="34" charset="0"/>
              </a:rPr>
              <a:t>Gemini</a:t>
            </a:r>
            <a:endParaRPr lang="id-ID" altLang="x-none" sz="1200" dirty="0">
              <a:solidFill>
                <a:srgbClr val="A6A6A6"/>
              </a:solidFill>
              <a:latin typeface="Calibri" panose="020F0502020204030204" pitchFamily="34" charset="0"/>
              <a:ea typeface="Calibri" panose="020F0502020204030204" pitchFamily="34" charset="0"/>
            </a:endParaRPr>
          </a:p>
        </p:txBody>
      </p:sp>
      <p:cxnSp>
        <p:nvCxnSpPr>
          <p:cNvPr id="14" name="Straight Connector 66"/>
          <p:cNvCxnSpPr/>
          <p:nvPr/>
        </p:nvCxnSpPr>
        <p:spPr>
          <a:xfrm>
            <a:off x="6096000" y="2760663"/>
            <a:ext cx="0" cy="1249362"/>
          </a:xfrm>
          <a:prstGeom prst="straightConnector1">
            <a:avLst/>
          </a:prstGeom>
          <a:ln w="25402" cap="flat" cmpd="sng">
            <a:solidFill>
              <a:srgbClr val="D9D9D9"/>
            </a:solidFill>
            <a:prstDash val="solid"/>
            <a:miter/>
            <a:headEnd type="none" w="med" len="med"/>
            <a:tailEnd type="none" w="med" len="med"/>
          </a:ln>
        </p:spPr>
      </p:cxnSp>
      <p:sp>
        <p:nvSpPr>
          <p:cNvPr id="15" name="TextBox 67"/>
          <p:cNvSpPr txBox="1"/>
          <p:nvPr/>
        </p:nvSpPr>
        <p:spPr>
          <a:xfrm>
            <a:off x="2057083" y="3548063"/>
            <a:ext cx="2073275" cy="460375"/>
          </a:xfrm>
          <a:prstGeom prst="rect">
            <a:avLst/>
          </a:prstGeom>
          <a:noFill/>
          <a:ln w="9525">
            <a:noFill/>
          </a:ln>
        </p:spPr>
        <p:txBody>
          <a:bodyPr wrap="none">
            <a:spAutoFit/>
          </a:bodyPr>
          <a:lstStyle/>
          <a:p>
            <a:pPr algn="r" eaLnBrk="1" hangingPunct="1"/>
            <a:r>
              <a:rPr lang="fr-FR" altLang="id-ID" sz="2400" b="1" dirty="0">
                <a:solidFill>
                  <a:srgbClr val="7F7F7F"/>
                </a:solidFill>
                <a:cs typeface="Calibri" panose="020F0502020204030204" pitchFamily="34" charset="0"/>
              </a:rPr>
              <a:t>Partie Pratique</a:t>
            </a:r>
          </a:p>
        </p:txBody>
      </p:sp>
      <p:sp>
        <p:nvSpPr>
          <p:cNvPr id="16" name="TextBox 68"/>
          <p:cNvSpPr txBox="1"/>
          <p:nvPr/>
        </p:nvSpPr>
        <p:spPr>
          <a:xfrm>
            <a:off x="671513" y="4048125"/>
            <a:ext cx="2614612" cy="276225"/>
          </a:xfrm>
          <a:prstGeom prst="rect">
            <a:avLst/>
          </a:prstGeom>
          <a:noFill/>
          <a:ln w="9525">
            <a:noFill/>
          </a:ln>
        </p:spPr>
        <p:txBody>
          <a:bodyPr>
            <a:spAutoFit/>
          </a:bodyPr>
          <a:lstStyle/>
          <a:p>
            <a:pPr marL="171450" indent="-171450" algn="r" eaLnBrk="1" hangingPunct="1">
              <a:buSzPct val="100000"/>
              <a:buFont typeface="Arial" panose="020B0604020202020204" pitchFamily="34" charset="0"/>
              <a:buChar char="•"/>
            </a:pPr>
            <a:r>
              <a:rPr lang="id-ID" altLang="x-none" sz="1200" dirty="0">
                <a:solidFill>
                  <a:srgbClr val="A6A6A6"/>
                </a:solidFill>
                <a:latin typeface="Calibri" panose="020F0502020204030204" pitchFamily="34" charset="0"/>
              </a:rPr>
              <a:t>Exemples</a:t>
            </a:r>
            <a:endParaRPr lang="id-ID" altLang="x-none" sz="1200" dirty="0">
              <a:solidFill>
                <a:srgbClr val="A6A6A6"/>
              </a:solidFill>
              <a:latin typeface="Calibri" panose="020F0502020204030204" pitchFamily="34" charset="0"/>
              <a:ea typeface="Calibri" panose="020F0502020204030204" pitchFamily="34" charset="0"/>
            </a:endParaRPr>
          </a:p>
        </p:txBody>
      </p:sp>
      <p:sp>
        <p:nvSpPr>
          <p:cNvPr id="17" name="Oval 69"/>
          <p:cNvSpPr/>
          <p:nvPr/>
        </p:nvSpPr>
        <p:spPr>
          <a:xfrm>
            <a:off x="6038850" y="4025900"/>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C0D498">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8" name="Straight Connector 70"/>
          <p:cNvCxnSpPr/>
          <p:nvPr/>
        </p:nvCxnSpPr>
        <p:spPr>
          <a:xfrm>
            <a:off x="5514975" y="4100513"/>
            <a:ext cx="523875" cy="0"/>
          </a:xfrm>
          <a:prstGeom prst="straightConnector1">
            <a:avLst/>
          </a:prstGeom>
          <a:ln w="25402" cap="flat" cmpd="sng">
            <a:solidFill>
              <a:srgbClr val="D9D9D9"/>
            </a:solidFill>
            <a:prstDash val="solid"/>
            <a:miter/>
            <a:headEnd type="none" w="med" len="med"/>
            <a:tailEnd type="none" w="med" len="med"/>
          </a:ln>
        </p:spPr>
      </p:cxnSp>
      <p:sp>
        <p:nvSpPr>
          <p:cNvPr id="19" name="Rectangle 71"/>
          <p:cNvSpPr/>
          <p:nvPr/>
        </p:nvSpPr>
        <p:spPr>
          <a:xfrm>
            <a:off x="4448175" y="3573463"/>
            <a:ext cx="1054100" cy="1055687"/>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20" name="Straight Connector 77"/>
          <p:cNvCxnSpPr/>
          <p:nvPr/>
        </p:nvCxnSpPr>
        <p:spPr>
          <a:xfrm>
            <a:off x="6096000" y="4148138"/>
            <a:ext cx="0" cy="1249362"/>
          </a:xfrm>
          <a:prstGeom prst="straightConnector1">
            <a:avLst/>
          </a:prstGeom>
          <a:ln w="25402" cap="flat" cmpd="sng">
            <a:solidFill>
              <a:srgbClr val="D9D9D9"/>
            </a:solidFill>
            <a:prstDash val="solid"/>
            <a:miter/>
            <a:headEnd type="none" w="med" len="med"/>
            <a:tailEnd type="none" w="med" len="med"/>
          </a:ln>
        </p:spPr>
      </p:cxnSp>
      <p:grpSp>
        <p:nvGrpSpPr>
          <p:cNvPr id="21" name="Group 17"/>
          <p:cNvGrpSpPr/>
          <p:nvPr/>
        </p:nvGrpSpPr>
        <p:grpSpPr>
          <a:xfrm>
            <a:off x="4759325" y="1104900"/>
            <a:ext cx="433388" cy="433388"/>
            <a:chOff x="4759241" y="1105079"/>
            <a:chExt cx="432813" cy="432474"/>
          </a:xfrm>
        </p:grpSpPr>
        <p:sp>
          <p:nvSpPr>
            <p:cNvPr id="31772" name="Freeform 5"/>
            <p:cNvSpPr/>
            <p:nvPr/>
          </p:nvSpPr>
          <p:spPr>
            <a:xfrm>
              <a:off x="4759241"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073" y="40447"/>
                </a:cxn>
                <a:cxn ang="0">
                  <a:pos x="81073" y="69227"/>
                </a:cxn>
                <a:cxn ang="0">
                  <a:pos x="67821" y="67671"/>
                </a:cxn>
                <a:cxn ang="0">
                  <a:pos x="54569" y="69227"/>
                </a:cxn>
                <a:cxn ang="0">
                  <a:pos x="54569" y="40447"/>
                </a:cxn>
                <a:cxn ang="0">
                  <a:pos x="81073" y="392027"/>
                </a:cxn>
                <a:cxn ang="0">
                  <a:pos x="67821" y="405250"/>
                </a:cxn>
                <a:cxn ang="0">
                  <a:pos x="54569" y="392027"/>
                </a:cxn>
                <a:cxn ang="0">
                  <a:pos x="54569" y="201458"/>
                </a:cxn>
                <a:cxn ang="0">
                  <a:pos x="67821" y="203014"/>
                </a:cxn>
                <a:cxn ang="0">
                  <a:pos x="81073" y="201458"/>
                </a:cxn>
                <a:cxn ang="0">
                  <a:pos x="81073" y="392027"/>
                </a:cxn>
                <a:cxn ang="0">
                  <a:pos x="106799" y="146232"/>
                </a:cxn>
                <a:cxn ang="0">
                  <a:pos x="106019" y="148566"/>
                </a:cxn>
                <a:cxn ang="0">
                  <a:pos x="100562" y="158678"/>
                </a:cxn>
                <a:cxn ang="0">
                  <a:pos x="100562" y="158678"/>
                </a:cxn>
                <a:cxn ang="0">
                  <a:pos x="91987" y="167234"/>
                </a:cxn>
                <a:cxn ang="0">
                  <a:pos x="91987" y="167234"/>
                </a:cxn>
                <a:cxn ang="0">
                  <a:pos x="81073" y="173456"/>
                </a:cxn>
                <a:cxn ang="0">
                  <a:pos x="67821" y="175790"/>
                </a:cxn>
                <a:cxn ang="0">
                  <a:pos x="54569" y="173456"/>
                </a:cxn>
                <a:cxn ang="0">
                  <a:pos x="43655" y="167234"/>
                </a:cxn>
                <a:cxn ang="0">
                  <a:pos x="4287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2875" y="102674"/>
                </a:cxn>
                <a:cxn ang="0">
                  <a:pos x="43655" y="102674"/>
                </a:cxn>
                <a:cxn ang="0">
                  <a:pos x="54569" y="97229"/>
                </a:cxn>
                <a:cxn ang="0">
                  <a:pos x="67821" y="94895"/>
                </a:cxn>
                <a:cxn ang="0">
                  <a:pos x="81073" y="97229"/>
                </a:cxn>
                <a:cxn ang="0">
                  <a:pos x="91987" y="102674"/>
                </a:cxn>
                <a:cxn ang="0">
                  <a:pos x="9198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3" name="Freeform 6"/>
            <p:cNvSpPr/>
            <p:nvPr/>
          </p:nvSpPr>
          <p:spPr>
            <a:xfrm>
              <a:off x="5056412"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853" y="40447"/>
                </a:cxn>
                <a:cxn ang="0">
                  <a:pos x="81853" y="69227"/>
                </a:cxn>
                <a:cxn ang="0">
                  <a:pos x="67821" y="67671"/>
                </a:cxn>
                <a:cxn ang="0">
                  <a:pos x="54569" y="69227"/>
                </a:cxn>
                <a:cxn ang="0">
                  <a:pos x="54569" y="40447"/>
                </a:cxn>
                <a:cxn ang="0">
                  <a:pos x="81853" y="392027"/>
                </a:cxn>
                <a:cxn ang="0">
                  <a:pos x="67821" y="405250"/>
                </a:cxn>
                <a:cxn ang="0">
                  <a:pos x="54569" y="392027"/>
                </a:cxn>
                <a:cxn ang="0">
                  <a:pos x="54569" y="201458"/>
                </a:cxn>
                <a:cxn ang="0">
                  <a:pos x="67821" y="203014"/>
                </a:cxn>
                <a:cxn ang="0">
                  <a:pos x="81853" y="201458"/>
                </a:cxn>
                <a:cxn ang="0">
                  <a:pos x="81853" y="392027"/>
                </a:cxn>
                <a:cxn ang="0">
                  <a:pos x="106799" y="146232"/>
                </a:cxn>
                <a:cxn ang="0">
                  <a:pos x="106019" y="148566"/>
                </a:cxn>
                <a:cxn ang="0">
                  <a:pos x="100562" y="158678"/>
                </a:cxn>
                <a:cxn ang="0">
                  <a:pos x="100562" y="158678"/>
                </a:cxn>
                <a:cxn ang="0">
                  <a:pos x="92767" y="167234"/>
                </a:cxn>
                <a:cxn ang="0">
                  <a:pos x="91987" y="167234"/>
                </a:cxn>
                <a:cxn ang="0">
                  <a:pos x="81853" y="173456"/>
                </a:cxn>
                <a:cxn ang="0">
                  <a:pos x="67821" y="175790"/>
                </a:cxn>
                <a:cxn ang="0">
                  <a:pos x="54569" y="173456"/>
                </a:cxn>
                <a:cxn ang="0">
                  <a:pos x="43655" y="167234"/>
                </a:cxn>
                <a:cxn ang="0">
                  <a:pos x="4365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3655" y="102674"/>
                </a:cxn>
                <a:cxn ang="0">
                  <a:pos x="43655" y="102674"/>
                </a:cxn>
                <a:cxn ang="0">
                  <a:pos x="54569" y="97229"/>
                </a:cxn>
                <a:cxn ang="0">
                  <a:pos x="67821" y="94895"/>
                </a:cxn>
                <a:cxn ang="0">
                  <a:pos x="81853" y="97229"/>
                </a:cxn>
                <a:cxn ang="0">
                  <a:pos x="91987" y="102674"/>
                </a:cxn>
                <a:cxn ang="0">
                  <a:pos x="9276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4" name="Freeform 7"/>
            <p:cNvSpPr/>
            <p:nvPr/>
          </p:nvSpPr>
          <p:spPr>
            <a:xfrm>
              <a:off x="4907996" y="1105079"/>
              <a:ext cx="135312" cy="432474"/>
            </a:xfrm>
            <a:custGeom>
              <a:avLst/>
              <a:gdLst>
                <a:gd name="txL" fmla="*/ 0 w 174"/>
                <a:gd name="txT" fmla="*/ 0 h 556"/>
                <a:gd name="txR" fmla="*/ 174 w 174"/>
                <a:gd name="txB" fmla="*/ 556 h 556"/>
              </a:gdLst>
              <a:ahLst/>
              <a:cxnLst>
                <a:cxn ang="17694720">
                  <a:pos x="67656" y="0"/>
                </a:cxn>
                <a:cxn ang="0">
                  <a:pos x="135312" y="216237"/>
                </a:cxn>
                <a:cxn ang="5898240">
                  <a:pos x="67656" y="432474"/>
                </a:cxn>
                <a:cxn ang="11796480">
                  <a:pos x="0" y="216237"/>
                </a:cxn>
                <a:cxn ang="0">
                  <a:pos x="108094" y="243461"/>
                </a:cxn>
                <a:cxn ang="0">
                  <a:pos x="108094" y="40447"/>
                </a:cxn>
                <a:cxn ang="0">
                  <a:pos x="67656" y="0"/>
                </a:cxn>
                <a:cxn ang="0">
                  <a:pos x="27218" y="40447"/>
                </a:cxn>
                <a:cxn ang="0">
                  <a:pos x="27218" y="243461"/>
                </a:cxn>
                <a:cxn ang="0">
                  <a:pos x="0" y="297131"/>
                </a:cxn>
                <a:cxn ang="0">
                  <a:pos x="27218" y="350802"/>
                </a:cxn>
                <a:cxn ang="0">
                  <a:pos x="27218" y="392027"/>
                </a:cxn>
                <a:cxn ang="0">
                  <a:pos x="67656" y="432474"/>
                </a:cxn>
                <a:cxn ang="0">
                  <a:pos x="108094" y="392027"/>
                </a:cxn>
                <a:cxn ang="0">
                  <a:pos x="108094" y="350802"/>
                </a:cxn>
                <a:cxn ang="0">
                  <a:pos x="135312" y="297131"/>
                </a:cxn>
                <a:cxn ang="0">
                  <a:pos x="108094" y="243461"/>
                </a:cxn>
                <a:cxn ang="0">
                  <a:pos x="54436" y="40447"/>
                </a:cxn>
                <a:cxn ang="0">
                  <a:pos x="67656" y="27224"/>
                </a:cxn>
                <a:cxn ang="0">
                  <a:pos x="80876" y="40447"/>
                </a:cxn>
                <a:cxn ang="0">
                  <a:pos x="80876" y="231016"/>
                </a:cxn>
                <a:cxn ang="0">
                  <a:pos x="67656" y="229460"/>
                </a:cxn>
                <a:cxn ang="0">
                  <a:pos x="54436" y="231016"/>
                </a:cxn>
                <a:cxn ang="0">
                  <a:pos x="54436" y="40447"/>
                </a:cxn>
                <a:cxn ang="0">
                  <a:pos x="80876" y="392027"/>
                </a:cxn>
                <a:cxn ang="0">
                  <a:pos x="67656" y="405250"/>
                </a:cxn>
                <a:cxn ang="0">
                  <a:pos x="54436" y="392027"/>
                </a:cxn>
                <a:cxn ang="0">
                  <a:pos x="54436" y="363247"/>
                </a:cxn>
                <a:cxn ang="0">
                  <a:pos x="67656" y="364803"/>
                </a:cxn>
                <a:cxn ang="0">
                  <a:pos x="80876" y="363247"/>
                </a:cxn>
                <a:cxn ang="0">
                  <a:pos x="80876" y="392027"/>
                </a:cxn>
                <a:cxn ang="0">
                  <a:pos x="106539" y="308799"/>
                </a:cxn>
                <a:cxn ang="0">
                  <a:pos x="105761" y="311132"/>
                </a:cxn>
                <a:cxn ang="0">
                  <a:pos x="100318" y="320466"/>
                </a:cxn>
                <a:cxn ang="0">
                  <a:pos x="100318" y="321244"/>
                </a:cxn>
                <a:cxn ang="0">
                  <a:pos x="91763" y="329800"/>
                </a:cxn>
                <a:cxn ang="0">
                  <a:pos x="91763" y="329800"/>
                </a:cxn>
                <a:cxn ang="0">
                  <a:pos x="80876" y="335245"/>
                </a:cxn>
                <a:cxn ang="0">
                  <a:pos x="67656" y="337579"/>
                </a:cxn>
                <a:cxn ang="0">
                  <a:pos x="54436" y="335245"/>
                </a:cxn>
                <a:cxn ang="0">
                  <a:pos x="43549" y="329800"/>
                </a:cxn>
                <a:cxn ang="0">
                  <a:pos x="43549" y="329800"/>
                </a:cxn>
                <a:cxn ang="0">
                  <a:pos x="34994" y="321244"/>
                </a:cxn>
                <a:cxn ang="0">
                  <a:pos x="34994" y="320466"/>
                </a:cxn>
                <a:cxn ang="0">
                  <a:pos x="29551" y="311132"/>
                </a:cxn>
                <a:cxn ang="0">
                  <a:pos x="28773" y="308799"/>
                </a:cxn>
                <a:cxn ang="0">
                  <a:pos x="27218" y="297131"/>
                </a:cxn>
                <a:cxn ang="0">
                  <a:pos x="28773" y="286242"/>
                </a:cxn>
                <a:cxn ang="0">
                  <a:pos x="29551" y="283908"/>
                </a:cxn>
                <a:cxn ang="0">
                  <a:pos x="34994" y="273796"/>
                </a:cxn>
                <a:cxn ang="0">
                  <a:pos x="34994" y="273796"/>
                </a:cxn>
                <a:cxn ang="0">
                  <a:pos x="43549" y="265240"/>
                </a:cxn>
                <a:cxn ang="0">
                  <a:pos x="43549" y="265240"/>
                </a:cxn>
                <a:cxn ang="0">
                  <a:pos x="54436" y="259018"/>
                </a:cxn>
                <a:cxn ang="0">
                  <a:pos x="67656" y="256684"/>
                </a:cxn>
                <a:cxn ang="0">
                  <a:pos x="80876" y="259018"/>
                </a:cxn>
                <a:cxn ang="0">
                  <a:pos x="91763" y="265240"/>
                </a:cxn>
                <a:cxn ang="0">
                  <a:pos x="91763" y="265240"/>
                </a:cxn>
                <a:cxn ang="0">
                  <a:pos x="100318" y="273796"/>
                </a:cxn>
                <a:cxn ang="0">
                  <a:pos x="100318" y="273796"/>
                </a:cxn>
                <a:cxn ang="0">
                  <a:pos x="105761" y="283908"/>
                </a:cxn>
                <a:cxn ang="0">
                  <a:pos x="106539" y="286242"/>
                </a:cxn>
                <a:cxn ang="0">
                  <a:pos x="108094" y="297131"/>
                </a:cxn>
                <a:cxn ang="0">
                  <a:pos x="106539" y="308799"/>
                </a:cxn>
              </a:cxnLst>
              <a:rect l="txL" t="txT" r="txR" b="tx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solidFill>
              <a:srgbClr val="FFFFFF">
                <a:alpha val="100000"/>
              </a:srgbClr>
            </a:solidFill>
            <a:ln w="9525">
              <a:noFill/>
            </a:ln>
          </p:spPr>
          <p:txBody>
            <a:bodyPr/>
            <a:lstStyle/>
            <a:p>
              <a:endParaRPr lang="fr-FR" altLang="en-US"/>
            </a:p>
          </p:txBody>
        </p:sp>
      </p:grpSp>
      <p:sp>
        <p:nvSpPr>
          <p:cNvPr id="25" name="Freeform 11"/>
          <p:cNvSpPr/>
          <p:nvPr/>
        </p:nvSpPr>
        <p:spPr>
          <a:xfrm>
            <a:off x="6994525" y="2500313"/>
            <a:ext cx="420688" cy="415925"/>
          </a:xfrm>
          <a:custGeom>
            <a:avLst/>
            <a:gdLst>
              <a:gd name="txL" fmla="*/ 0 w 906"/>
              <a:gd name="txT" fmla="*/ 0 h 896"/>
              <a:gd name="txR" fmla="*/ 906 w 906"/>
              <a:gd name="txB" fmla="*/ 896 h 896"/>
            </a:gdLst>
            <a:ahLst/>
            <a:cxnLst>
              <a:cxn ang="17694720">
                <a:pos x="210554" y="0"/>
              </a:cxn>
              <a:cxn ang="0">
                <a:pos x="421108" y="208300"/>
              </a:cxn>
              <a:cxn ang="5898240">
                <a:pos x="210554" y="416600"/>
              </a:cxn>
              <a:cxn ang="11796480">
                <a:pos x="0" y="208300"/>
              </a:cxn>
              <a:cxn ang="0">
                <a:pos x="407164" y="368710"/>
              </a:cxn>
              <a:cxn ang="0">
                <a:pos x="286316" y="320819"/>
              </a:cxn>
              <a:cxn ang="0">
                <a:pos x="336050" y="214344"/>
              </a:cxn>
              <a:cxn ang="0">
                <a:pos x="303049" y="44171"/>
              </a:cxn>
              <a:cxn ang="0">
                <a:pos x="210554" y="0"/>
              </a:cxn>
              <a:cxn ang="0">
                <a:pos x="118059" y="44171"/>
              </a:cxn>
              <a:cxn ang="0">
                <a:pos x="85058" y="214344"/>
              </a:cxn>
              <a:cxn ang="0">
                <a:pos x="134792" y="320819"/>
              </a:cxn>
              <a:cxn ang="0">
                <a:pos x="13944" y="368710"/>
              </a:cxn>
              <a:cxn ang="0">
                <a:pos x="3254" y="398002"/>
              </a:cxn>
              <a:cxn ang="0">
                <a:pos x="28353" y="416600"/>
              </a:cxn>
              <a:cxn ang="0">
                <a:pos x="392755" y="416600"/>
              </a:cxn>
              <a:cxn ang="0">
                <a:pos x="417854" y="398002"/>
              </a:cxn>
              <a:cxn ang="0">
                <a:pos x="407164" y="368710"/>
              </a:cxn>
              <a:cxn ang="0">
                <a:pos x="265865" y="304546"/>
              </a:cxn>
              <a:cxn ang="0">
                <a:pos x="261682" y="310125"/>
              </a:cxn>
              <a:cxn ang="0">
                <a:pos x="159426" y="310125"/>
              </a:cxn>
              <a:cxn ang="0">
                <a:pos x="155243" y="304546"/>
              </a:cxn>
              <a:cxn ang="0">
                <a:pos x="108763" y="139952"/>
              </a:cxn>
              <a:cxn ang="0">
                <a:pos x="210554" y="26038"/>
              </a:cxn>
              <a:cxn ang="0">
                <a:pos x="312345" y="139952"/>
              </a:cxn>
              <a:cxn ang="0">
                <a:pos x="265865" y="304546"/>
              </a:cxn>
              <a:cxn ang="0">
                <a:pos x="28353" y="390563"/>
              </a:cxn>
              <a:cxn ang="0">
                <a:pos x="139905" y="346392"/>
              </a:cxn>
              <a:cxn ang="0">
                <a:pos x="172440" y="339417"/>
              </a:cxn>
              <a:cxn ang="0">
                <a:pos x="210554" y="351506"/>
              </a:cxn>
              <a:cxn ang="0">
                <a:pos x="248668" y="339417"/>
              </a:cxn>
              <a:cxn ang="0">
                <a:pos x="281203" y="346392"/>
              </a:cxn>
              <a:cxn ang="0">
                <a:pos x="392755" y="390563"/>
              </a:cxn>
              <a:cxn ang="0">
                <a:pos x="28353" y="390563"/>
              </a:cxn>
            </a:cxnLst>
            <a:rect l="txL" t="txT" r="txR" b="txB"/>
            <a:pathLst>
              <a:path w="906" h="896">
                <a:moveTo>
                  <a:pt x="876" y="793"/>
                </a:moveTo>
                <a:cubicBezTo>
                  <a:pt x="870" y="790"/>
                  <a:pt x="768" y="723"/>
                  <a:pt x="616" y="690"/>
                </a:cubicBezTo>
                <a:cubicBezTo>
                  <a:pt x="672" y="619"/>
                  <a:pt x="708" y="524"/>
                  <a:pt x="723" y="461"/>
                </a:cubicBezTo>
                <a:cubicBezTo>
                  <a:pt x="744" y="374"/>
                  <a:pt x="736" y="202"/>
                  <a:pt x="652" y="95"/>
                </a:cubicBezTo>
                <a:cubicBezTo>
                  <a:pt x="603" y="33"/>
                  <a:pt x="534" y="0"/>
                  <a:pt x="453" y="0"/>
                </a:cubicBezTo>
                <a:cubicBezTo>
                  <a:pt x="372" y="0"/>
                  <a:pt x="303" y="33"/>
                  <a:pt x="254" y="95"/>
                </a:cubicBezTo>
                <a:cubicBezTo>
                  <a:pt x="170" y="202"/>
                  <a:pt x="162" y="374"/>
                  <a:pt x="183" y="461"/>
                </a:cubicBezTo>
                <a:cubicBezTo>
                  <a:pt x="198" y="524"/>
                  <a:pt x="234" y="619"/>
                  <a:pt x="290" y="690"/>
                </a:cubicBezTo>
                <a:cubicBezTo>
                  <a:pt x="138" y="723"/>
                  <a:pt x="36" y="790"/>
                  <a:pt x="30" y="793"/>
                </a:cubicBezTo>
                <a:cubicBezTo>
                  <a:pt x="9" y="807"/>
                  <a:pt x="0" y="833"/>
                  <a:pt x="7" y="856"/>
                </a:cubicBezTo>
                <a:cubicBezTo>
                  <a:pt x="15" y="880"/>
                  <a:pt x="36" y="896"/>
                  <a:pt x="61" y="896"/>
                </a:cubicBezTo>
                <a:cubicBezTo>
                  <a:pt x="845" y="896"/>
                  <a:pt x="845" y="896"/>
                  <a:pt x="845" y="896"/>
                </a:cubicBezTo>
                <a:cubicBezTo>
                  <a:pt x="870" y="896"/>
                  <a:pt x="891" y="880"/>
                  <a:pt x="899" y="856"/>
                </a:cubicBezTo>
                <a:cubicBezTo>
                  <a:pt x="906" y="833"/>
                  <a:pt x="897" y="807"/>
                  <a:pt x="876" y="793"/>
                </a:cubicBezTo>
                <a:close/>
                <a:moveTo>
                  <a:pt x="572" y="655"/>
                </a:moveTo>
                <a:cubicBezTo>
                  <a:pt x="563" y="667"/>
                  <a:pt x="563" y="667"/>
                  <a:pt x="563" y="667"/>
                </a:cubicBezTo>
                <a:cubicBezTo>
                  <a:pt x="497" y="743"/>
                  <a:pt x="409" y="743"/>
                  <a:pt x="343" y="667"/>
                </a:cubicBezTo>
                <a:cubicBezTo>
                  <a:pt x="334" y="655"/>
                  <a:pt x="334" y="655"/>
                  <a:pt x="334" y="655"/>
                </a:cubicBezTo>
                <a:cubicBezTo>
                  <a:pt x="256" y="556"/>
                  <a:pt x="217" y="426"/>
                  <a:pt x="234" y="301"/>
                </a:cubicBezTo>
                <a:cubicBezTo>
                  <a:pt x="249" y="181"/>
                  <a:pt x="317" y="56"/>
                  <a:pt x="453" y="56"/>
                </a:cubicBezTo>
                <a:cubicBezTo>
                  <a:pt x="589" y="56"/>
                  <a:pt x="657" y="181"/>
                  <a:pt x="672" y="301"/>
                </a:cubicBezTo>
                <a:cubicBezTo>
                  <a:pt x="689" y="426"/>
                  <a:pt x="651" y="556"/>
                  <a:pt x="572" y="655"/>
                </a:cubicBezTo>
                <a:close/>
                <a:moveTo>
                  <a:pt x="61" y="840"/>
                </a:moveTo>
                <a:cubicBezTo>
                  <a:pt x="65" y="837"/>
                  <a:pt x="160" y="775"/>
                  <a:pt x="301" y="745"/>
                </a:cubicBezTo>
                <a:cubicBezTo>
                  <a:pt x="371" y="730"/>
                  <a:pt x="371" y="730"/>
                  <a:pt x="371" y="730"/>
                </a:cubicBezTo>
                <a:cubicBezTo>
                  <a:pt x="396" y="746"/>
                  <a:pt x="423" y="756"/>
                  <a:pt x="453" y="756"/>
                </a:cubicBezTo>
                <a:cubicBezTo>
                  <a:pt x="483" y="756"/>
                  <a:pt x="510" y="746"/>
                  <a:pt x="535" y="730"/>
                </a:cubicBezTo>
                <a:cubicBezTo>
                  <a:pt x="605" y="745"/>
                  <a:pt x="605" y="745"/>
                  <a:pt x="605" y="745"/>
                </a:cubicBezTo>
                <a:cubicBezTo>
                  <a:pt x="745" y="775"/>
                  <a:pt x="840" y="836"/>
                  <a:pt x="845" y="840"/>
                </a:cubicBezTo>
                <a:lnTo>
                  <a:pt x="61" y="840"/>
                </a:lnTo>
                <a:close/>
              </a:path>
            </a:pathLst>
          </a:custGeom>
          <a:solidFill>
            <a:srgbClr val="FFFFFF">
              <a:alpha val="100000"/>
            </a:srgbClr>
          </a:solidFill>
          <a:ln w="9525">
            <a:noFill/>
          </a:ln>
        </p:spPr>
        <p:txBody>
          <a:bodyPr/>
          <a:lstStyle/>
          <a:p>
            <a:endParaRPr lang="fr-FR" altLang="en-US"/>
          </a:p>
        </p:txBody>
      </p:sp>
      <p:sp>
        <p:nvSpPr>
          <p:cNvPr id="26" name="Freeform 15"/>
          <p:cNvSpPr/>
          <p:nvPr/>
        </p:nvSpPr>
        <p:spPr>
          <a:xfrm>
            <a:off x="4754563" y="3960813"/>
            <a:ext cx="447675" cy="336550"/>
          </a:xfrm>
          <a:custGeom>
            <a:avLst/>
            <a:gdLst>
              <a:gd name="txL" fmla="*/ 0 w 696"/>
              <a:gd name="txT" fmla="*/ 0 h 522"/>
              <a:gd name="txR" fmla="*/ 696 w 696"/>
              <a:gd name="txB" fmla="*/ 522 h 522"/>
            </a:gdLst>
            <a:ahLst/>
            <a:cxnLst>
              <a:cxn ang="17694720">
                <a:pos x="223735" y="0"/>
              </a:cxn>
              <a:cxn ang="0">
                <a:pos x="447470" y="168039"/>
              </a:cxn>
              <a:cxn ang="5898240">
                <a:pos x="223735" y="336078"/>
              </a:cxn>
              <a:cxn ang="11796480">
                <a:pos x="0" y="168039"/>
              </a:cxn>
              <a:cxn ang="0">
                <a:pos x="368391" y="8370"/>
              </a:cxn>
              <a:cxn ang="0">
                <a:pos x="99009" y="0"/>
              </a:cxn>
              <a:cxn ang="0">
                <a:pos x="8358" y="79191"/>
              </a:cxn>
              <a:cxn ang="0">
                <a:pos x="7072" y="117820"/>
              </a:cxn>
              <a:cxn ang="0">
                <a:pos x="223735" y="336078"/>
              </a:cxn>
              <a:cxn ang="0">
                <a:pos x="440398" y="117820"/>
              </a:cxn>
              <a:cxn ang="0">
                <a:pos x="439112" y="79191"/>
              </a:cxn>
              <a:cxn ang="0">
                <a:pos x="192875" y="97862"/>
              </a:cxn>
              <a:cxn ang="0">
                <a:pos x="254595" y="97862"/>
              </a:cxn>
              <a:cxn ang="0">
                <a:pos x="272597" y="30904"/>
              </a:cxn>
              <a:cxn ang="0">
                <a:pos x="265525" y="88848"/>
              </a:cxn>
              <a:cxn ang="0">
                <a:pos x="181945" y="88848"/>
              </a:cxn>
              <a:cxn ang="0">
                <a:pos x="174873" y="30904"/>
              </a:cxn>
              <a:cxn ang="0">
                <a:pos x="181945" y="88848"/>
              </a:cxn>
              <a:cxn ang="0">
                <a:pos x="223735" y="286503"/>
              </a:cxn>
              <a:cxn ang="0">
                <a:pos x="258452" y="112026"/>
              </a:cxn>
              <a:cxn ang="0">
                <a:pos x="341389" y="112026"/>
              </a:cxn>
              <a:cxn ang="0">
                <a:pos x="272597" y="112026"/>
              </a:cxn>
              <a:cxn ang="0">
                <a:pos x="311172" y="69533"/>
              </a:cxn>
              <a:cxn ang="0">
                <a:pos x="276454" y="97862"/>
              </a:cxn>
              <a:cxn ang="0">
                <a:pos x="338817" y="28328"/>
              </a:cxn>
              <a:cxn ang="0">
                <a:pos x="289313" y="28328"/>
              </a:cxn>
              <a:cxn ang="0">
                <a:pos x="192875" y="28328"/>
              </a:cxn>
              <a:cxn ang="0">
                <a:pos x="223735" y="54082"/>
              </a:cxn>
              <a:cxn ang="0">
                <a:pos x="108653" y="28328"/>
              </a:cxn>
              <a:cxn ang="0">
                <a:pos x="135655" y="50219"/>
              </a:cxn>
              <a:cxn ang="0">
                <a:pos x="171016" y="97862"/>
              </a:cxn>
              <a:cxn ang="0">
                <a:pos x="136298" y="69533"/>
              </a:cxn>
              <a:cxn ang="0">
                <a:pos x="208948" y="283928"/>
              </a:cxn>
              <a:cxn ang="0">
                <a:pos x="174873" y="112026"/>
              </a:cxn>
              <a:cxn ang="0">
                <a:pos x="39861" y="112026"/>
              </a:cxn>
              <a:cxn ang="0">
                <a:pos x="177445" y="258819"/>
              </a:cxn>
              <a:cxn ang="0">
                <a:pos x="407609" y="112026"/>
              </a:cxn>
              <a:cxn ang="0">
                <a:pos x="357462" y="112026"/>
              </a:cxn>
              <a:cxn ang="0">
                <a:pos x="322101" y="60520"/>
              </a:cxn>
              <a:cxn ang="0">
                <a:pos x="418539" y="97862"/>
              </a:cxn>
              <a:cxn ang="0">
                <a:pos x="93223" y="33479"/>
              </a:cxn>
              <a:cxn ang="0">
                <a:pos x="88080" y="97862"/>
              </a:cxn>
              <a:cxn ang="0">
                <a:pos x="93223" y="33479"/>
              </a:cxn>
            </a:cxnLst>
            <a:rect l="txL" t="txT" r="txR" b="tx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rgbClr val="FFFFFF">
              <a:alpha val="100000"/>
            </a:srgbClr>
          </a:solidFill>
          <a:ln w="9525">
            <a:noFill/>
          </a:ln>
        </p:spPr>
        <p:txBody>
          <a:bodyPr/>
          <a:lstStyle/>
          <a:p>
            <a:endParaRPr lang="fr-FR" altLang="en-US"/>
          </a:p>
        </p:txBody>
      </p:sp>
      <p:sp>
        <p:nvSpPr>
          <p:cNvPr id="27" name="Rectangle 35"/>
          <p:cNvSpPr/>
          <p:nvPr/>
        </p:nvSpPr>
        <p:spPr>
          <a:xfrm>
            <a:off x="4448175" y="1781175"/>
            <a:ext cx="1054100" cy="85725"/>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8" name="Rectangle 38"/>
          <p:cNvSpPr/>
          <p:nvPr/>
        </p:nvSpPr>
        <p:spPr>
          <a:xfrm>
            <a:off x="6675438" y="3167063"/>
            <a:ext cx="1054100" cy="87312"/>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9" name="Rectangle 39"/>
          <p:cNvSpPr/>
          <p:nvPr/>
        </p:nvSpPr>
        <p:spPr>
          <a:xfrm>
            <a:off x="4448175" y="4541838"/>
            <a:ext cx="1054100" cy="87312"/>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0" name="Isosceles Triangle 1"/>
          <p:cNvSpPr/>
          <p:nvPr/>
        </p:nvSpPr>
        <p:spPr>
          <a:xfrm rot="10799991" flipH="1" flipV="1">
            <a:off x="5953125" y="5394325"/>
            <a:ext cx="265113"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endParaRPr lang="fr-FR"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par>
                          <p:cTn id="34" fill="hold">
                            <p:stCondLst>
                              <p:cond delay="2500"/>
                            </p:stCondLst>
                            <p:childTnLst>
                              <p:par>
                                <p:cTn id="35" presetID="22" presetClass="entr" presetSubtype="1"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par>
                          <p:cTn id="38" fill="hold">
                            <p:stCondLst>
                              <p:cond delay="3000"/>
                            </p:stCondLst>
                            <p:childTnLst>
                              <p:par>
                                <p:cTn id="39" presetID="53" presetClass="entr" presetSubtype="16"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par>
                          <p:cTn id="44" fill="hold">
                            <p:stCondLst>
                              <p:cond delay="3500"/>
                            </p:stCondLst>
                            <p:childTnLst>
                              <p:par>
                                <p:cTn id="45" presetID="22" presetClass="entr" presetSubtype="8"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par>
                          <p:cTn id="48" fill="hold">
                            <p:stCondLst>
                              <p:cond delay="4000"/>
                            </p:stCondLst>
                            <p:childTnLst>
                              <p:par>
                                <p:cTn id="49" presetID="10"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500"/>
                                        <p:tgtEl>
                                          <p:spTgt spid="28"/>
                                        </p:tgtEl>
                                      </p:cBhvr>
                                    </p:animEffect>
                                  </p:childTnLst>
                                </p:cTn>
                              </p:par>
                            </p:childTnLst>
                          </p:cTn>
                        </p:par>
                        <p:par>
                          <p:cTn id="55" fill="hold">
                            <p:stCondLst>
                              <p:cond delay="4500"/>
                            </p:stCondLst>
                            <p:childTnLst>
                              <p:par>
                                <p:cTn id="56" presetID="53" presetClass="entr" presetSubtype="16" fill="hold" nodeType="after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p:cTn id="58" dur="500" fill="hold"/>
                                        <p:tgtEl>
                                          <p:spTgt spid="25"/>
                                        </p:tgtEl>
                                        <p:attrNameLst>
                                          <p:attrName>ppt_w</p:attrName>
                                        </p:attrNameLst>
                                      </p:cBhvr>
                                      <p:tavLst>
                                        <p:tav tm="0">
                                          <p:val>
                                            <p:fltVal val="0"/>
                                          </p:val>
                                        </p:tav>
                                        <p:tav tm="100000">
                                          <p:val>
                                            <p:strVal val="#ppt_w"/>
                                          </p:val>
                                        </p:tav>
                                      </p:tavLst>
                                    </p:anim>
                                    <p:anim calcmode="lin" valueType="num">
                                      <p:cBhvr>
                                        <p:cTn id="59" dur="500" fill="hold"/>
                                        <p:tgtEl>
                                          <p:spTgt spid="25"/>
                                        </p:tgtEl>
                                        <p:attrNameLst>
                                          <p:attrName>ppt_h</p:attrName>
                                        </p:attrNameLst>
                                      </p:cBhvr>
                                      <p:tavLst>
                                        <p:tav tm="0">
                                          <p:val>
                                            <p:fltVal val="0"/>
                                          </p:val>
                                        </p:tav>
                                        <p:tav tm="100000">
                                          <p:val>
                                            <p:strVal val="#ppt_h"/>
                                          </p:val>
                                        </p:tav>
                                      </p:tavLst>
                                    </p:anim>
                                    <p:animEffect transition="in" filter="fade">
                                      <p:cBhvr>
                                        <p:cTn id="60" dur="500"/>
                                        <p:tgtEl>
                                          <p:spTgt spid="25"/>
                                        </p:tgtEl>
                                      </p:cBhvr>
                                    </p:animEffect>
                                  </p:childTnLst>
                                </p:cTn>
                              </p:par>
                            </p:childTnLst>
                          </p:cTn>
                        </p:par>
                        <p:par>
                          <p:cTn id="61" fill="hold">
                            <p:stCondLst>
                              <p:cond delay="5000"/>
                            </p:stCondLst>
                            <p:childTnLst>
                              <p:par>
                                <p:cTn id="62" presetID="10" presetClass="entr" presetSubtype="0" fill="hold" grpId="0" nodeType="after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500"/>
                                        <p:tgtEl>
                                          <p:spTgt spid="1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500"/>
                                        <p:tgtEl>
                                          <p:spTgt spid="13"/>
                                        </p:tgtEl>
                                      </p:cBhvr>
                                    </p:animEffect>
                                  </p:childTnLst>
                                </p:cTn>
                              </p:par>
                            </p:childTnLst>
                          </p:cTn>
                        </p:par>
                        <p:par>
                          <p:cTn id="68" fill="hold">
                            <p:stCondLst>
                              <p:cond delay="5500"/>
                            </p:stCondLst>
                            <p:childTnLst>
                              <p:par>
                                <p:cTn id="69" presetID="22" presetClass="entr" presetSubtype="1" fill="hold" nodeType="after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up)">
                                      <p:cBhvr>
                                        <p:cTn id="71" dur="500"/>
                                        <p:tgtEl>
                                          <p:spTgt spid="14"/>
                                        </p:tgtEl>
                                      </p:cBhvr>
                                    </p:animEffect>
                                  </p:childTnLst>
                                </p:cTn>
                              </p:par>
                            </p:childTnLst>
                          </p:cTn>
                        </p:par>
                        <p:par>
                          <p:cTn id="72" fill="hold">
                            <p:stCondLst>
                              <p:cond delay="6000"/>
                            </p:stCondLst>
                            <p:childTnLst>
                              <p:par>
                                <p:cTn id="73" presetID="53" presetClass="entr" presetSubtype="16" fill="hold" nodeType="after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00" fill="hold"/>
                                        <p:tgtEl>
                                          <p:spTgt spid="17"/>
                                        </p:tgtEl>
                                        <p:attrNameLst>
                                          <p:attrName>ppt_w</p:attrName>
                                        </p:attrNameLst>
                                      </p:cBhvr>
                                      <p:tavLst>
                                        <p:tav tm="0">
                                          <p:val>
                                            <p:fltVal val="0"/>
                                          </p:val>
                                        </p:tav>
                                        <p:tav tm="100000">
                                          <p:val>
                                            <p:strVal val="#ppt_w"/>
                                          </p:val>
                                        </p:tav>
                                      </p:tavLst>
                                    </p:anim>
                                    <p:anim calcmode="lin" valueType="num">
                                      <p:cBhvr>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childTnLst>
                          </p:cTn>
                        </p:par>
                        <p:par>
                          <p:cTn id="78" fill="hold">
                            <p:stCondLst>
                              <p:cond delay="6500"/>
                            </p:stCondLst>
                            <p:childTnLst>
                              <p:par>
                                <p:cTn id="79" presetID="22" presetClass="entr" presetSubtype="2" fill="hold" nodeType="after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wipe(right)">
                                      <p:cBhvr>
                                        <p:cTn id="81" dur="500"/>
                                        <p:tgtEl>
                                          <p:spTgt spid="18"/>
                                        </p:tgtEl>
                                      </p:cBhvr>
                                    </p:animEffect>
                                  </p:childTnLst>
                                </p:cTn>
                              </p:par>
                            </p:childTnLst>
                          </p:cTn>
                        </p:par>
                        <p:par>
                          <p:cTn id="82" fill="hold">
                            <p:stCondLst>
                              <p:cond delay="7000"/>
                            </p:stCondLst>
                            <p:childTnLst>
                              <p:par>
                                <p:cTn id="83" presetID="10" presetClass="entr" presetSubtype="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00"/>
                                        <p:tgtEl>
                                          <p:spTgt spid="1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childTnLst>
                          </p:cTn>
                        </p:par>
                        <p:par>
                          <p:cTn id="89" fill="hold">
                            <p:stCondLst>
                              <p:cond delay="7500"/>
                            </p:stCondLst>
                            <p:childTnLst>
                              <p:par>
                                <p:cTn id="90" presetID="53" presetClass="entr" presetSubtype="16" fill="hold" nodeType="afterEffect">
                                  <p:stCondLst>
                                    <p:cond delay="0"/>
                                  </p:stCondLst>
                                  <p:childTnLst>
                                    <p:set>
                                      <p:cBhvr>
                                        <p:cTn id="91" dur="1" fill="hold">
                                          <p:stCondLst>
                                            <p:cond delay="0"/>
                                          </p:stCondLst>
                                        </p:cTn>
                                        <p:tgtEl>
                                          <p:spTgt spid="26"/>
                                        </p:tgtEl>
                                        <p:attrNameLst>
                                          <p:attrName>style.visibility</p:attrName>
                                        </p:attrNameLst>
                                      </p:cBhvr>
                                      <p:to>
                                        <p:strVal val="visible"/>
                                      </p:to>
                                    </p:set>
                                    <p:anim calcmode="lin" valueType="num">
                                      <p:cBhvr>
                                        <p:cTn id="92" dur="500" fill="hold"/>
                                        <p:tgtEl>
                                          <p:spTgt spid="26"/>
                                        </p:tgtEl>
                                        <p:attrNameLst>
                                          <p:attrName>ppt_w</p:attrName>
                                        </p:attrNameLst>
                                      </p:cBhvr>
                                      <p:tavLst>
                                        <p:tav tm="0">
                                          <p:val>
                                            <p:fltVal val="0"/>
                                          </p:val>
                                        </p:tav>
                                        <p:tav tm="100000">
                                          <p:val>
                                            <p:strVal val="#ppt_w"/>
                                          </p:val>
                                        </p:tav>
                                      </p:tavLst>
                                    </p:anim>
                                    <p:anim calcmode="lin" valueType="num">
                                      <p:cBhvr>
                                        <p:cTn id="93" dur="500" fill="hold"/>
                                        <p:tgtEl>
                                          <p:spTgt spid="26"/>
                                        </p:tgtEl>
                                        <p:attrNameLst>
                                          <p:attrName>ppt_h</p:attrName>
                                        </p:attrNameLst>
                                      </p:cBhvr>
                                      <p:tavLst>
                                        <p:tav tm="0">
                                          <p:val>
                                            <p:fltVal val="0"/>
                                          </p:val>
                                        </p:tav>
                                        <p:tav tm="100000">
                                          <p:val>
                                            <p:strVal val="#ppt_h"/>
                                          </p:val>
                                        </p:tav>
                                      </p:tavLst>
                                    </p:anim>
                                    <p:animEffect transition="in" filter="fade">
                                      <p:cBhvr>
                                        <p:cTn id="94" dur="500"/>
                                        <p:tgtEl>
                                          <p:spTgt spid="26"/>
                                        </p:tgtEl>
                                      </p:cBhvr>
                                    </p:animEffect>
                                  </p:childTnLst>
                                </p:cTn>
                              </p:par>
                            </p:childTnLst>
                          </p:cTn>
                        </p:par>
                        <p:par>
                          <p:cTn id="95" fill="hold">
                            <p:stCondLst>
                              <p:cond delay="8000"/>
                            </p:stCondLst>
                            <p:childTnLst>
                              <p:par>
                                <p:cTn id="96" presetID="10" presetClass="entr" presetSubtype="0" fill="hold" grpId="0" nodeType="afterEffect">
                                  <p:stCondLst>
                                    <p:cond delay="0"/>
                                  </p:stCondLst>
                                  <p:childTnLst>
                                    <p:set>
                                      <p:cBhvr>
                                        <p:cTn id="97" dur="1" fill="hold">
                                          <p:stCondLst>
                                            <p:cond delay="0"/>
                                          </p:stCondLst>
                                        </p:cTn>
                                        <p:tgtEl>
                                          <p:spTgt spid="15"/>
                                        </p:tgtEl>
                                        <p:attrNameLst>
                                          <p:attrName>style.visibility</p:attrName>
                                        </p:attrNameLst>
                                      </p:cBhvr>
                                      <p:to>
                                        <p:strVal val="visible"/>
                                      </p:to>
                                    </p:set>
                                    <p:animEffect transition="in" filter="fade">
                                      <p:cBhvr>
                                        <p:cTn id="98" dur="500"/>
                                        <p:tgtEl>
                                          <p:spTgt spid="1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6"/>
                                        </p:tgtEl>
                                        <p:attrNameLst>
                                          <p:attrName>style.visibility</p:attrName>
                                        </p:attrNameLst>
                                      </p:cBhvr>
                                      <p:to>
                                        <p:strVal val="visible"/>
                                      </p:to>
                                    </p:set>
                                    <p:animEffect transition="in" filter="fade">
                                      <p:cBhvr>
                                        <p:cTn id="101" dur="500"/>
                                        <p:tgtEl>
                                          <p:spTgt spid="16"/>
                                        </p:tgtEl>
                                      </p:cBhvr>
                                    </p:animEffect>
                                  </p:childTnLst>
                                </p:cTn>
                              </p:par>
                            </p:childTnLst>
                          </p:cTn>
                        </p:par>
                        <p:par>
                          <p:cTn id="102" fill="hold">
                            <p:stCondLst>
                              <p:cond delay="8500"/>
                            </p:stCondLst>
                            <p:childTnLst>
                              <p:par>
                                <p:cTn id="103" presetID="22" presetClass="entr" presetSubtype="1" fill="hold" nodeType="after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wipe(up)">
                                      <p:cBhvr>
                                        <p:cTn id="105" dur="500"/>
                                        <p:tgtEl>
                                          <p:spTgt spid="20"/>
                                        </p:tgtEl>
                                      </p:cBhvr>
                                    </p:animEffect>
                                  </p:childTnLst>
                                </p:cTn>
                              </p:par>
                            </p:childTnLst>
                          </p:cTn>
                        </p:par>
                        <p:par>
                          <p:cTn id="106" fill="hold">
                            <p:stCondLst>
                              <p:cond delay="9000"/>
                            </p:stCondLst>
                            <p:childTnLst>
                              <p:par>
                                <p:cTn id="107" presetID="42" presetClass="entr" presetSubtype="0" fill="hold" nodeType="after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500"/>
                                        <p:tgtEl>
                                          <p:spTgt spid="30"/>
                                        </p:tgtEl>
                                      </p:cBhvr>
                                    </p:animEffect>
                                    <p:anim calcmode="lin" valueType="num">
                                      <p:cBhvr>
                                        <p:cTn id="110" dur="500" fill="hold"/>
                                        <p:tgtEl>
                                          <p:spTgt spid="30"/>
                                        </p:tgtEl>
                                        <p:attrNameLst>
                                          <p:attrName>ppt_x</p:attrName>
                                        </p:attrNameLst>
                                      </p:cBhvr>
                                      <p:tavLst>
                                        <p:tav tm="0">
                                          <p:val>
                                            <p:strVal val="#ppt_x"/>
                                          </p:val>
                                        </p:tav>
                                        <p:tav tm="100000">
                                          <p:val>
                                            <p:strVal val="#ppt_x"/>
                                          </p:val>
                                        </p:tav>
                                      </p:tavLst>
                                    </p:anim>
                                    <p:anim calcmode="lin" valueType="num">
                                      <p:cBhvr>
                                        <p:cTn id="111"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animBg="1"/>
      <p:bldP spid="11" grpId="0" animBg="1"/>
      <p:bldP spid="12" grpId="0"/>
      <p:bldP spid="13" grpId="0"/>
      <p:bldP spid="15" grpId="0"/>
      <p:bldP spid="16" grpId="0"/>
      <p:bldP spid="19" grpId="0" animBg="1"/>
      <p:bldP spid="27" grpId="0" animBg="1"/>
      <p:bldP spid="28" grpId="0" animBg="1"/>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2671763" y="5465763"/>
            <a:ext cx="7524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4703763" y="5465763"/>
            <a:ext cx="7524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6735763" y="5465763"/>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8767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465763"/>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247650" y="5073650"/>
            <a:ext cx="1537970"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0" y="6737350"/>
            <a:ext cx="12192000" cy="133350"/>
            <a:chOff x="0" y="6736614"/>
            <a:chExt cx="12191996" cy="134343"/>
          </a:xfrm>
        </p:grpSpPr>
        <p:sp>
          <p:nvSpPr>
            <p:cNvPr id="32780"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1"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2"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3"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4"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5"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5" name="TextBox 39"/>
          <p:cNvSpPr txBox="1"/>
          <p:nvPr/>
        </p:nvSpPr>
        <p:spPr>
          <a:xfrm>
            <a:off x="4400550" y="2738438"/>
            <a:ext cx="3370263" cy="830262"/>
          </a:xfrm>
          <a:prstGeom prst="rect">
            <a:avLst/>
          </a:prstGeom>
          <a:noFill/>
          <a:ln w="9525">
            <a:noFill/>
          </a:ln>
        </p:spPr>
        <p:txBody>
          <a:bodyPr wrap="none" anchor="t" anchorCtr="1">
            <a:spAutoFit/>
          </a:bodyPr>
          <a:lstStyle/>
          <a:p>
            <a:pPr algn="ctr" eaLnBrk="1" hangingPunct="1"/>
            <a:r>
              <a:rPr lang="id-ID" altLang="x-none" sz="4800" b="1" dirty="0">
                <a:solidFill>
                  <a:srgbClr val="FFFFFF"/>
                </a:solidFill>
                <a:latin typeface="Calibri" panose="020F0502020204030204" pitchFamily="34" charset="0"/>
              </a:rPr>
              <a:t>Introduction</a:t>
            </a:r>
          </a:p>
        </p:txBody>
      </p:sp>
      <p:sp>
        <p:nvSpPr>
          <p:cNvPr id="16" name="Rectangle 40"/>
          <p:cNvSpPr/>
          <p:nvPr/>
        </p:nvSpPr>
        <p:spPr>
          <a:xfrm>
            <a:off x="2127250" y="3151188"/>
            <a:ext cx="7937500" cy="400050"/>
          </a:xfrm>
          <a:prstGeom prst="rect">
            <a:avLst/>
          </a:prstGeom>
          <a:noFill/>
          <a:ln w="9525">
            <a:noFill/>
          </a:ln>
        </p:spPr>
        <p:txBody>
          <a:bodyPr anchor="t" anchorCtr="1">
            <a:spAutoFit/>
          </a:bodyPr>
          <a:lstStyle/>
          <a:p>
            <a:pPr algn="ctr" eaLnBrk="1" hangingPunct="1"/>
            <a:endParaRPr lang="id-ID" altLang="x-none" sz="2000" dirty="0">
              <a:solidFill>
                <a:srgbClr val="88A945"/>
              </a:solidFill>
              <a:latin typeface="Source Sans Pro Light"/>
              <a:ea typeface="Source Sans Pro Light"/>
            </a:endParaRPr>
          </a:p>
        </p:txBody>
      </p:sp>
      <p:cxnSp>
        <p:nvCxnSpPr>
          <p:cNvPr id="17" name="Straight Connector 41"/>
          <p:cNvCxnSpPr/>
          <p:nvPr/>
        </p:nvCxnSpPr>
        <p:spPr>
          <a:xfrm>
            <a:off x="5724525" y="3627438"/>
            <a:ext cx="742950" cy="0"/>
          </a:xfrm>
          <a:prstGeom prst="straightConnector1">
            <a:avLst/>
          </a:prstGeom>
          <a:ln w="15873" cap="flat" cmpd="sng">
            <a:solidFill>
              <a:srgbClr val="88A945"/>
            </a:solidFill>
            <a:prstDash val="solid"/>
            <a:miter/>
            <a:headEnd type="none" w="med" len="med"/>
            <a:tailEnd type="none" w="med" len="med"/>
          </a:ln>
        </p:spPr>
      </p:cxnSp>
      <p:cxnSp>
        <p:nvCxnSpPr>
          <p:cNvPr id="19" name="Straight Connector 34"/>
          <p:cNvCxnSpPr/>
          <p:nvPr/>
        </p:nvCxnSpPr>
        <p:spPr>
          <a:xfrm>
            <a:off x="990600" y="4495800"/>
            <a:ext cx="5105400" cy="0"/>
          </a:xfrm>
          <a:prstGeom prst="straightConnector1">
            <a:avLst/>
          </a:prstGeom>
          <a:ln w="15873" cap="flat" cmpd="sng">
            <a:solidFill>
              <a:srgbClr val="D0DFB3"/>
            </a:solidFill>
            <a:prstDash val="solid"/>
            <a:miter/>
            <a:headEnd type="none" w="med" len="med"/>
            <a:tailEnd type="none" w="med" len="med"/>
          </a:ln>
        </p:spPr>
      </p:cxnSp>
      <p:cxnSp>
        <p:nvCxnSpPr>
          <p:cNvPr id="24" name="Straight Connector 43"/>
          <p:cNvCxnSpPr/>
          <p:nvPr/>
        </p:nvCxnSpPr>
        <p:spPr>
          <a:xfrm flipH="1">
            <a:off x="6096000" y="3654425"/>
            <a:ext cx="9525" cy="841375"/>
          </a:xfrm>
          <a:prstGeom prst="straightConnector1">
            <a:avLst/>
          </a:prstGeom>
          <a:ln w="15873" cap="flat" cmpd="sng">
            <a:solidFill>
              <a:srgbClr val="D0DFB3"/>
            </a:solidFill>
            <a:prstDash val="solid"/>
            <a:miter/>
            <a:headEnd type="arrow" w="med" len="med"/>
            <a:tailEnd type="none" w="med" len="med"/>
          </a:ln>
        </p:spPr>
      </p:cxnSp>
      <p:cxnSp>
        <p:nvCxnSpPr>
          <p:cNvPr id="9" name="Straight Connector 34"/>
          <p:cNvCxnSpPr/>
          <p:nvPr/>
        </p:nvCxnSpPr>
        <p:spPr>
          <a:xfrm>
            <a:off x="990600" y="4495800"/>
            <a:ext cx="0" cy="838200"/>
          </a:xfrm>
          <a:prstGeom prst="straightConnector1">
            <a:avLst/>
          </a:prstGeom>
          <a:ln w="15873" cap="flat" cmpd="sng">
            <a:solidFill>
              <a:srgbClr val="D0DFB3"/>
            </a:solidFill>
            <a:prstDash val="solid"/>
            <a:miter/>
            <a:headEnd type="none" w="med" len="med"/>
            <a:tailEnd type="none" w="med" len="med"/>
          </a:ln>
        </p:spPr>
      </p:cxnSp>
      <p:grpSp>
        <p:nvGrpSpPr>
          <p:cNvPr id="10" name="Group 28"/>
          <p:cNvGrpSpPr/>
          <p:nvPr/>
        </p:nvGrpSpPr>
        <p:grpSpPr>
          <a:xfrm>
            <a:off x="509270" y="5666105"/>
            <a:ext cx="736600" cy="738188"/>
            <a:chOff x="647002" y="5633161"/>
            <a:chExt cx="738003" cy="737637"/>
          </a:xfrm>
        </p:grpSpPr>
        <p:sp>
          <p:nvSpPr>
            <p:cNvPr id="40976" name="Freeform 5"/>
            <p:cNvSpPr/>
            <p:nvPr/>
          </p:nvSpPr>
          <p:spPr>
            <a:xfrm>
              <a:off x="647002"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138738"/>
                </a:cxn>
                <a:cxn ang="0">
                  <a:pos x="184627" y="68938"/>
                </a:cxn>
                <a:cxn ang="0">
                  <a:pos x="115607" y="0"/>
                </a:cxn>
                <a:cxn ang="0">
                  <a:pos x="46588" y="68938"/>
                </a:cxn>
                <a:cxn ang="0">
                  <a:pos x="46588" y="138738"/>
                </a:cxn>
                <a:cxn ang="0">
                  <a:pos x="0" y="230942"/>
                </a:cxn>
                <a:cxn ang="0">
                  <a:pos x="46588" y="322285"/>
                </a:cxn>
                <a:cxn ang="0">
                  <a:pos x="46588" y="668699"/>
                </a:cxn>
                <a:cxn ang="0">
                  <a:pos x="115607" y="737637"/>
                </a:cxn>
                <a:cxn ang="0">
                  <a:pos x="184627" y="668699"/>
                </a:cxn>
                <a:cxn ang="0">
                  <a:pos x="184627" y="322285"/>
                </a:cxn>
                <a:cxn ang="0">
                  <a:pos x="231215" y="230942"/>
                </a:cxn>
                <a:cxn ang="0">
                  <a:pos x="184627" y="138738"/>
                </a:cxn>
                <a:cxn ang="0">
                  <a:pos x="92313" y="68938"/>
                </a:cxn>
                <a:cxn ang="0">
                  <a:pos x="115607" y="46533"/>
                </a:cxn>
                <a:cxn ang="0">
                  <a:pos x="138902" y="68938"/>
                </a:cxn>
                <a:cxn ang="0">
                  <a:pos x="138902" y="117195"/>
                </a:cxn>
                <a:cxn ang="0">
                  <a:pos x="115607" y="115471"/>
                </a:cxn>
                <a:cxn ang="0">
                  <a:pos x="92313" y="117195"/>
                </a:cxn>
                <a:cxn ang="0">
                  <a:pos x="92313" y="68938"/>
                </a:cxn>
                <a:cxn ang="0">
                  <a:pos x="138902" y="668699"/>
                </a:cxn>
                <a:cxn ang="0">
                  <a:pos x="115607" y="691966"/>
                </a:cxn>
                <a:cxn ang="0">
                  <a:pos x="92313" y="668699"/>
                </a:cxn>
                <a:cxn ang="0">
                  <a:pos x="92313" y="343828"/>
                </a:cxn>
                <a:cxn ang="0">
                  <a:pos x="115607" y="345552"/>
                </a:cxn>
                <a:cxn ang="0">
                  <a:pos x="138902" y="343828"/>
                </a:cxn>
                <a:cxn ang="0">
                  <a:pos x="138902" y="668699"/>
                </a:cxn>
                <a:cxn ang="0">
                  <a:pos x="181176" y="249900"/>
                </a:cxn>
                <a:cxn ang="0">
                  <a:pos x="180313" y="253347"/>
                </a:cxn>
                <a:cxn ang="0">
                  <a:pos x="171686" y="270582"/>
                </a:cxn>
                <a:cxn ang="0">
                  <a:pos x="171686" y="270582"/>
                </a:cxn>
                <a:cxn ang="0">
                  <a:pos x="157019" y="285231"/>
                </a:cxn>
                <a:cxn ang="0">
                  <a:pos x="157019" y="285231"/>
                </a:cxn>
                <a:cxn ang="0">
                  <a:pos x="138902" y="295572"/>
                </a:cxn>
                <a:cxn ang="0">
                  <a:pos x="115607" y="299880"/>
                </a:cxn>
                <a:cxn ang="0">
                  <a:pos x="92313" y="295572"/>
                </a:cxn>
                <a:cxn ang="0">
                  <a:pos x="74196" y="285231"/>
                </a:cxn>
                <a:cxn ang="0">
                  <a:pos x="73333" y="285231"/>
                </a:cxn>
                <a:cxn ang="0">
                  <a:pos x="59529" y="270582"/>
                </a:cxn>
                <a:cxn ang="0">
                  <a:pos x="59529" y="270582"/>
                </a:cxn>
                <a:cxn ang="0">
                  <a:pos x="50039" y="253347"/>
                </a:cxn>
                <a:cxn ang="0">
                  <a:pos x="49176" y="249900"/>
                </a:cxn>
                <a:cxn ang="0">
                  <a:pos x="46588" y="230942"/>
                </a:cxn>
                <a:cxn ang="0">
                  <a:pos x="49176" y="211123"/>
                </a:cxn>
                <a:cxn ang="0">
                  <a:pos x="50039" y="207676"/>
                </a:cxn>
                <a:cxn ang="0">
                  <a:pos x="59529" y="190441"/>
                </a:cxn>
                <a:cxn ang="0">
                  <a:pos x="59529" y="190441"/>
                </a:cxn>
                <a:cxn ang="0">
                  <a:pos x="73333" y="175792"/>
                </a:cxn>
                <a:cxn ang="0">
                  <a:pos x="74196" y="175792"/>
                </a:cxn>
                <a:cxn ang="0">
                  <a:pos x="92313" y="165451"/>
                </a:cxn>
                <a:cxn ang="0">
                  <a:pos x="115607" y="161143"/>
                </a:cxn>
                <a:cxn ang="0">
                  <a:pos x="138902" y="165451"/>
                </a:cxn>
                <a:cxn ang="0">
                  <a:pos x="157019" y="175792"/>
                </a:cxn>
                <a:cxn ang="0">
                  <a:pos x="157019" y="175792"/>
                </a:cxn>
                <a:cxn ang="0">
                  <a:pos x="171686" y="190441"/>
                </a:cxn>
                <a:cxn ang="0">
                  <a:pos x="171686" y="190441"/>
                </a:cxn>
                <a:cxn ang="0">
                  <a:pos x="180313" y="207676"/>
                </a:cxn>
                <a:cxn ang="0">
                  <a:pos x="181176" y="211123"/>
                </a:cxn>
                <a:cxn ang="0">
                  <a:pos x="184627" y="230942"/>
                </a:cxn>
                <a:cxn ang="0">
                  <a:pos x="181176" y="249900"/>
                </a:cxn>
              </a:cxnLst>
              <a:rect l="txL" t="txT" r="txR" b="txB"/>
              <a:pathLst>
                <a:path w="268" h="856">
                  <a:moveTo>
                    <a:pt x="214" y="161"/>
                  </a:moveTo>
                  <a:cubicBezTo>
                    <a:pt x="214" y="80"/>
                    <a:pt x="214" y="80"/>
                    <a:pt x="214" y="80"/>
                  </a:cubicBezTo>
                  <a:cubicBezTo>
                    <a:pt x="214" y="36"/>
                    <a:pt x="178" y="0"/>
                    <a:pt x="134" y="0"/>
                  </a:cubicBezTo>
                  <a:cubicBezTo>
                    <a:pt x="89" y="0"/>
                    <a:pt x="54" y="36"/>
                    <a:pt x="54" y="80"/>
                  </a:cubicBezTo>
                  <a:cubicBezTo>
                    <a:pt x="54" y="161"/>
                    <a:pt x="54" y="161"/>
                    <a:pt x="54" y="161"/>
                  </a:cubicBezTo>
                  <a:cubicBezTo>
                    <a:pt x="21" y="186"/>
                    <a:pt x="0" y="224"/>
                    <a:pt x="0" y="268"/>
                  </a:cubicBezTo>
                  <a:cubicBezTo>
                    <a:pt x="0" y="311"/>
                    <a:pt x="21" y="349"/>
                    <a:pt x="54" y="374"/>
                  </a:cubicBezTo>
                  <a:cubicBezTo>
                    <a:pt x="54" y="776"/>
                    <a:pt x="54" y="776"/>
                    <a:pt x="54" y="776"/>
                  </a:cubicBezTo>
                  <a:cubicBezTo>
                    <a:pt x="54" y="820"/>
                    <a:pt x="89" y="856"/>
                    <a:pt x="134" y="856"/>
                  </a:cubicBezTo>
                  <a:cubicBezTo>
                    <a:pt x="178" y="856"/>
                    <a:pt x="214" y="820"/>
                    <a:pt x="214" y="776"/>
                  </a:cubicBezTo>
                  <a:cubicBezTo>
                    <a:pt x="214" y="374"/>
                    <a:pt x="214" y="374"/>
                    <a:pt x="214" y="374"/>
                  </a:cubicBezTo>
                  <a:cubicBezTo>
                    <a:pt x="246" y="349"/>
                    <a:pt x="268" y="311"/>
                    <a:pt x="268" y="268"/>
                  </a:cubicBezTo>
                  <a:cubicBezTo>
                    <a:pt x="268" y="224"/>
                    <a:pt x="246" y="186"/>
                    <a:pt x="214" y="161"/>
                  </a:cubicBezTo>
                  <a:close/>
                  <a:moveTo>
                    <a:pt x="107" y="80"/>
                  </a:moveTo>
                  <a:cubicBezTo>
                    <a:pt x="107" y="65"/>
                    <a:pt x="119" y="54"/>
                    <a:pt x="134" y="54"/>
                  </a:cubicBezTo>
                  <a:cubicBezTo>
                    <a:pt x="149" y="54"/>
                    <a:pt x="161" y="65"/>
                    <a:pt x="161" y="80"/>
                  </a:cubicBezTo>
                  <a:cubicBezTo>
                    <a:pt x="161" y="136"/>
                    <a:pt x="161" y="136"/>
                    <a:pt x="161" y="136"/>
                  </a:cubicBezTo>
                  <a:cubicBezTo>
                    <a:pt x="152" y="135"/>
                    <a:pt x="143" y="134"/>
                    <a:pt x="134" y="134"/>
                  </a:cubicBezTo>
                  <a:cubicBezTo>
                    <a:pt x="125" y="134"/>
                    <a:pt x="116" y="135"/>
                    <a:pt x="107" y="136"/>
                  </a:cubicBezTo>
                  <a:lnTo>
                    <a:pt x="107" y="80"/>
                  </a:lnTo>
                  <a:close/>
                  <a:moveTo>
                    <a:pt x="161" y="776"/>
                  </a:moveTo>
                  <a:cubicBezTo>
                    <a:pt x="161" y="791"/>
                    <a:pt x="149" y="803"/>
                    <a:pt x="134" y="803"/>
                  </a:cubicBezTo>
                  <a:cubicBezTo>
                    <a:pt x="119" y="803"/>
                    <a:pt x="107" y="791"/>
                    <a:pt x="107" y="776"/>
                  </a:cubicBezTo>
                  <a:cubicBezTo>
                    <a:pt x="107" y="399"/>
                    <a:pt x="107" y="399"/>
                    <a:pt x="107" y="399"/>
                  </a:cubicBezTo>
                  <a:cubicBezTo>
                    <a:pt x="116" y="400"/>
                    <a:pt x="125" y="401"/>
                    <a:pt x="134" y="401"/>
                  </a:cubicBezTo>
                  <a:cubicBezTo>
                    <a:pt x="143" y="401"/>
                    <a:pt x="152" y="400"/>
                    <a:pt x="161" y="399"/>
                  </a:cubicBezTo>
                  <a:lnTo>
                    <a:pt x="161" y="776"/>
                  </a:lnTo>
                  <a:close/>
                  <a:moveTo>
                    <a:pt x="210" y="290"/>
                  </a:moveTo>
                  <a:cubicBezTo>
                    <a:pt x="210" y="291"/>
                    <a:pt x="210" y="293"/>
                    <a:pt x="209" y="294"/>
                  </a:cubicBezTo>
                  <a:cubicBezTo>
                    <a:pt x="207" y="301"/>
                    <a:pt x="203" y="308"/>
                    <a:pt x="199" y="314"/>
                  </a:cubicBezTo>
                  <a:cubicBezTo>
                    <a:pt x="199" y="314"/>
                    <a:pt x="199" y="314"/>
                    <a:pt x="199" y="314"/>
                  </a:cubicBezTo>
                  <a:cubicBezTo>
                    <a:pt x="194" y="321"/>
                    <a:pt x="188" y="326"/>
                    <a:pt x="182" y="331"/>
                  </a:cubicBezTo>
                  <a:cubicBezTo>
                    <a:pt x="182" y="331"/>
                    <a:pt x="182" y="331"/>
                    <a:pt x="182" y="331"/>
                  </a:cubicBezTo>
                  <a:cubicBezTo>
                    <a:pt x="175" y="336"/>
                    <a:pt x="168" y="340"/>
                    <a:pt x="161" y="343"/>
                  </a:cubicBezTo>
                  <a:cubicBezTo>
                    <a:pt x="152" y="346"/>
                    <a:pt x="143" y="348"/>
                    <a:pt x="134" y="348"/>
                  </a:cubicBezTo>
                  <a:cubicBezTo>
                    <a:pt x="124" y="348"/>
                    <a:pt x="115" y="346"/>
                    <a:pt x="107" y="343"/>
                  </a:cubicBezTo>
                  <a:cubicBezTo>
                    <a:pt x="99" y="340"/>
                    <a:pt x="92" y="336"/>
                    <a:pt x="86" y="331"/>
                  </a:cubicBezTo>
                  <a:cubicBezTo>
                    <a:pt x="86" y="331"/>
                    <a:pt x="85" y="331"/>
                    <a:pt x="85" y="331"/>
                  </a:cubicBezTo>
                  <a:cubicBezTo>
                    <a:pt x="79" y="326"/>
                    <a:pt x="74" y="321"/>
                    <a:pt x="69" y="314"/>
                  </a:cubicBezTo>
                  <a:cubicBezTo>
                    <a:pt x="69" y="314"/>
                    <a:pt x="69" y="314"/>
                    <a:pt x="69" y="314"/>
                  </a:cubicBezTo>
                  <a:cubicBezTo>
                    <a:pt x="64" y="308"/>
                    <a:pt x="61" y="301"/>
                    <a:pt x="58" y="294"/>
                  </a:cubicBezTo>
                  <a:cubicBezTo>
                    <a:pt x="58" y="293"/>
                    <a:pt x="58" y="291"/>
                    <a:pt x="57" y="290"/>
                  </a:cubicBezTo>
                  <a:cubicBezTo>
                    <a:pt x="55" y="283"/>
                    <a:pt x="54" y="275"/>
                    <a:pt x="54" y="268"/>
                  </a:cubicBezTo>
                  <a:cubicBezTo>
                    <a:pt x="54" y="260"/>
                    <a:pt x="55" y="252"/>
                    <a:pt x="57" y="245"/>
                  </a:cubicBezTo>
                  <a:cubicBezTo>
                    <a:pt x="58" y="244"/>
                    <a:pt x="58" y="242"/>
                    <a:pt x="58" y="241"/>
                  </a:cubicBezTo>
                  <a:cubicBezTo>
                    <a:pt x="61" y="234"/>
                    <a:pt x="64" y="227"/>
                    <a:pt x="69" y="221"/>
                  </a:cubicBezTo>
                  <a:cubicBezTo>
                    <a:pt x="69" y="221"/>
                    <a:pt x="69" y="221"/>
                    <a:pt x="69" y="221"/>
                  </a:cubicBezTo>
                  <a:cubicBezTo>
                    <a:pt x="74" y="214"/>
                    <a:pt x="79" y="209"/>
                    <a:pt x="85" y="204"/>
                  </a:cubicBezTo>
                  <a:cubicBezTo>
                    <a:pt x="85" y="204"/>
                    <a:pt x="86" y="204"/>
                    <a:pt x="86" y="204"/>
                  </a:cubicBezTo>
                  <a:cubicBezTo>
                    <a:pt x="92" y="199"/>
                    <a:pt x="99" y="195"/>
                    <a:pt x="107" y="192"/>
                  </a:cubicBezTo>
                  <a:cubicBezTo>
                    <a:pt x="115" y="189"/>
                    <a:pt x="124" y="187"/>
                    <a:pt x="134" y="187"/>
                  </a:cubicBezTo>
                  <a:cubicBezTo>
                    <a:pt x="143" y="187"/>
                    <a:pt x="152" y="189"/>
                    <a:pt x="161" y="192"/>
                  </a:cubicBezTo>
                  <a:cubicBezTo>
                    <a:pt x="168" y="195"/>
                    <a:pt x="175" y="199"/>
                    <a:pt x="182" y="204"/>
                  </a:cubicBezTo>
                  <a:cubicBezTo>
                    <a:pt x="182" y="204"/>
                    <a:pt x="182" y="204"/>
                    <a:pt x="182" y="204"/>
                  </a:cubicBezTo>
                  <a:cubicBezTo>
                    <a:pt x="188" y="209"/>
                    <a:pt x="194" y="214"/>
                    <a:pt x="199" y="221"/>
                  </a:cubicBezTo>
                  <a:cubicBezTo>
                    <a:pt x="199" y="221"/>
                    <a:pt x="199" y="221"/>
                    <a:pt x="199" y="221"/>
                  </a:cubicBezTo>
                  <a:cubicBezTo>
                    <a:pt x="203" y="227"/>
                    <a:pt x="207" y="234"/>
                    <a:pt x="209" y="241"/>
                  </a:cubicBezTo>
                  <a:cubicBezTo>
                    <a:pt x="210" y="242"/>
                    <a:pt x="210" y="244"/>
                    <a:pt x="210" y="245"/>
                  </a:cubicBezTo>
                  <a:cubicBezTo>
                    <a:pt x="213" y="252"/>
                    <a:pt x="214" y="260"/>
                    <a:pt x="214" y="268"/>
                  </a:cubicBezTo>
                  <a:cubicBezTo>
                    <a:pt x="214" y="275"/>
                    <a:pt x="213" y="283"/>
                    <a:pt x="210" y="290"/>
                  </a:cubicBezTo>
                  <a:close/>
                </a:path>
              </a:pathLst>
            </a:custGeom>
            <a:solidFill>
              <a:srgbClr val="FFFFFF">
                <a:alpha val="100000"/>
              </a:srgbClr>
            </a:solidFill>
            <a:ln w="9525">
              <a:noFill/>
            </a:ln>
          </p:spPr>
          <p:txBody>
            <a:bodyPr/>
            <a:lstStyle/>
            <a:p>
              <a:endParaRPr lang="fr-FR" altLang="en-US"/>
            </a:p>
          </p:txBody>
        </p:sp>
        <p:sp>
          <p:nvSpPr>
            <p:cNvPr id="40977" name="Freeform 6"/>
            <p:cNvSpPr/>
            <p:nvPr/>
          </p:nvSpPr>
          <p:spPr>
            <a:xfrm>
              <a:off x="1154878" y="5633161"/>
              <a:ext cx="230127" cy="737637"/>
            </a:xfrm>
            <a:custGeom>
              <a:avLst/>
              <a:gdLst>
                <a:gd name="txL" fmla="*/ 0 w 267"/>
                <a:gd name="txT" fmla="*/ 0 h 856"/>
                <a:gd name="txR" fmla="*/ 267 w 267"/>
                <a:gd name="txB" fmla="*/ 856 h 856"/>
              </a:gdLst>
              <a:ahLst/>
              <a:cxnLst>
                <a:cxn ang="17694720">
                  <a:pos x="115064" y="0"/>
                </a:cxn>
                <a:cxn ang="0">
                  <a:pos x="230127" y="368819"/>
                </a:cxn>
                <a:cxn ang="5898240">
                  <a:pos x="115064" y="737637"/>
                </a:cxn>
                <a:cxn ang="11796480">
                  <a:pos x="0" y="368819"/>
                </a:cxn>
                <a:cxn ang="0">
                  <a:pos x="184446" y="138738"/>
                </a:cxn>
                <a:cxn ang="0">
                  <a:pos x="184446" y="68938"/>
                </a:cxn>
                <a:cxn ang="0">
                  <a:pos x="114633" y="0"/>
                </a:cxn>
                <a:cxn ang="0">
                  <a:pos x="45681" y="68938"/>
                </a:cxn>
                <a:cxn ang="0">
                  <a:pos x="45681" y="138738"/>
                </a:cxn>
                <a:cxn ang="0">
                  <a:pos x="0" y="230942"/>
                </a:cxn>
                <a:cxn ang="0">
                  <a:pos x="45681" y="322285"/>
                </a:cxn>
                <a:cxn ang="0">
                  <a:pos x="45681" y="668699"/>
                </a:cxn>
                <a:cxn ang="0">
                  <a:pos x="114633" y="737637"/>
                </a:cxn>
                <a:cxn ang="0">
                  <a:pos x="184446" y="668699"/>
                </a:cxn>
                <a:cxn ang="0">
                  <a:pos x="184446" y="322285"/>
                </a:cxn>
                <a:cxn ang="0">
                  <a:pos x="230127" y="230942"/>
                </a:cxn>
                <a:cxn ang="0">
                  <a:pos x="184446" y="138738"/>
                </a:cxn>
                <a:cxn ang="0">
                  <a:pos x="92223" y="68938"/>
                </a:cxn>
                <a:cxn ang="0">
                  <a:pos x="114633" y="46533"/>
                </a:cxn>
                <a:cxn ang="0">
                  <a:pos x="137904" y="68938"/>
                </a:cxn>
                <a:cxn ang="0">
                  <a:pos x="137904" y="117195"/>
                </a:cxn>
                <a:cxn ang="0">
                  <a:pos x="114633" y="115471"/>
                </a:cxn>
                <a:cxn ang="0">
                  <a:pos x="92223" y="117195"/>
                </a:cxn>
                <a:cxn ang="0">
                  <a:pos x="92223" y="68938"/>
                </a:cxn>
                <a:cxn ang="0">
                  <a:pos x="137904" y="668699"/>
                </a:cxn>
                <a:cxn ang="0">
                  <a:pos x="114633" y="691966"/>
                </a:cxn>
                <a:cxn ang="0">
                  <a:pos x="92223" y="668699"/>
                </a:cxn>
                <a:cxn ang="0">
                  <a:pos x="92223" y="343828"/>
                </a:cxn>
                <a:cxn ang="0">
                  <a:pos x="114633" y="345552"/>
                </a:cxn>
                <a:cxn ang="0">
                  <a:pos x="137904" y="343828"/>
                </a:cxn>
                <a:cxn ang="0">
                  <a:pos x="137904" y="668699"/>
                </a:cxn>
                <a:cxn ang="0">
                  <a:pos x="180999" y="249900"/>
                </a:cxn>
                <a:cxn ang="0">
                  <a:pos x="180137" y="253347"/>
                </a:cxn>
                <a:cxn ang="0">
                  <a:pos x="170656" y="270582"/>
                </a:cxn>
                <a:cxn ang="0">
                  <a:pos x="170656" y="270582"/>
                </a:cxn>
                <a:cxn ang="0">
                  <a:pos x="156866" y="285231"/>
                </a:cxn>
                <a:cxn ang="0">
                  <a:pos x="156004" y="285231"/>
                </a:cxn>
                <a:cxn ang="0">
                  <a:pos x="137904" y="295572"/>
                </a:cxn>
                <a:cxn ang="0">
                  <a:pos x="114633" y="299880"/>
                </a:cxn>
                <a:cxn ang="0">
                  <a:pos x="92223" y="295572"/>
                </a:cxn>
                <a:cxn ang="0">
                  <a:pos x="73261" y="285231"/>
                </a:cxn>
                <a:cxn ang="0">
                  <a:pos x="73261" y="285231"/>
                </a:cxn>
                <a:cxn ang="0">
                  <a:pos x="58609" y="270582"/>
                </a:cxn>
                <a:cxn ang="0">
                  <a:pos x="58609" y="270582"/>
                </a:cxn>
                <a:cxn ang="0">
                  <a:pos x="49990" y="253347"/>
                </a:cxn>
                <a:cxn ang="0">
                  <a:pos x="49128" y="249900"/>
                </a:cxn>
                <a:cxn ang="0">
                  <a:pos x="45681" y="230942"/>
                </a:cxn>
                <a:cxn ang="0">
                  <a:pos x="49128" y="211123"/>
                </a:cxn>
                <a:cxn ang="0">
                  <a:pos x="49990" y="207676"/>
                </a:cxn>
                <a:cxn ang="0">
                  <a:pos x="58609" y="190441"/>
                </a:cxn>
                <a:cxn ang="0">
                  <a:pos x="58609" y="190441"/>
                </a:cxn>
                <a:cxn ang="0">
                  <a:pos x="73261" y="175792"/>
                </a:cxn>
                <a:cxn ang="0">
                  <a:pos x="73261" y="175792"/>
                </a:cxn>
                <a:cxn ang="0">
                  <a:pos x="92223" y="165451"/>
                </a:cxn>
                <a:cxn ang="0">
                  <a:pos x="114633" y="161143"/>
                </a:cxn>
                <a:cxn ang="0">
                  <a:pos x="137904" y="165451"/>
                </a:cxn>
                <a:cxn ang="0">
                  <a:pos x="156004" y="175792"/>
                </a:cxn>
                <a:cxn ang="0">
                  <a:pos x="156866" y="175792"/>
                </a:cxn>
                <a:cxn ang="0">
                  <a:pos x="170656" y="190441"/>
                </a:cxn>
                <a:cxn ang="0">
                  <a:pos x="170656" y="190441"/>
                </a:cxn>
                <a:cxn ang="0">
                  <a:pos x="180137" y="207676"/>
                </a:cxn>
                <a:cxn ang="0">
                  <a:pos x="180999" y="211123"/>
                </a:cxn>
                <a:cxn ang="0">
                  <a:pos x="184446" y="230942"/>
                </a:cxn>
                <a:cxn ang="0">
                  <a:pos x="180999" y="249900"/>
                </a:cxn>
              </a:cxnLst>
              <a:rect l="txL" t="txT" r="txR" b="txB"/>
              <a:pathLst>
                <a:path w="267" h="856">
                  <a:moveTo>
                    <a:pt x="214" y="161"/>
                  </a:moveTo>
                  <a:cubicBezTo>
                    <a:pt x="214" y="80"/>
                    <a:pt x="214" y="80"/>
                    <a:pt x="214" y="80"/>
                  </a:cubicBezTo>
                  <a:cubicBezTo>
                    <a:pt x="214" y="36"/>
                    <a:pt x="178" y="0"/>
                    <a:pt x="133" y="0"/>
                  </a:cubicBezTo>
                  <a:cubicBezTo>
                    <a:pt x="89" y="0"/>
                    <a:pt x="53" y="36"/>
                    <a:pt x="53" y="80"/>
                  </a:cubicBezTo>
                  <a:cubicBezTo>
                    <a:pt x="53" y="161"/>
                    <a:pt x="53" y="161"/>
                    <a:pt x="53" y="161"/>
                  </a:cubicBezTo>
                  <a:cubicBezTo>
                    <a:pt x="21" y="186"/>
                    <a:pt x="0" y="224"/>
                    <a:pt x="0" y="268"/>
                  </a:cubicBezTo>
                  <a:cubicBezTo>
                    <a:pt x="0" y="311"/>
                    <a:pt x="21" y="349"/>
                    <a:pt x="53" y="374"/>
                  </a:cubicBezTo>
                  <a:cubicBezTo>
                    <a:pt x="53" y="776"/>
                    <a:pt x="53" y="776"/>
                    <a:pt x="53" y="776"/>
                  </a:cubicBezTo>
                  <a:cubicBezTo>
                    <a:pt x="53" y="820"/>
                    <a:pt x="89" y="856"/>
                    <a:pt x="133" y="856"/>
                  </a:cubicBezTo>
                  <a:cubicBezTo>
                    <a:pt x="178" y="856"/>
                    <a:pt x="214" y="820"/>
                    <a:pt x="214" y="776"/>
                  </a:cubicBezTo>
                  <a:cubicBezTo>
                    <a:pt x="214" y="374"/>
                    <a:pt x="214" y="374"/>
                    <a:pt x="214" y="374"/>
                  </a:cubicBezTo>
                  <a:cubicBezTo>
                    <a:pt x="246" y="349"/>
                    <a:pt x="267" y="311"/>
                    <a:pt x="267" y="268"/>
                  </a:cubicBezTo>
                  <a:cubicBezTo>
                    <a:pt x="267" y="224"/>
                    <a:pt x="246" y="186"/>
                    <a:pt x="214" y="161"/>
                  </a:cubicBezTo>
                  <a:close/>
                  <a:moveTo>
                    <a:pt x="107" y="80"/>
                  </a:moveTo>
                  <a:cubicBezTo>
                    <a:pt x="107" y="65"/>
                    <a:pt x="118" y="54"/>
                    <a:pt x="133" y="54"/>
                  </a:cubicBezTo>
                  <a:cubicBezTo>
                    <a:pt x="148" y="54"/>
                    <a:pt x="160" y="65"/>
                    <a:pt x="160" y="80"/>
                  </a:cubicBezTo>
                  <a:cubicBezTo>
                    <a:pt x="160" y="136"/>
                    <a:pt x="160" y="136"/>
                    <a:pt x="160" y="136"/>
                  </a:cubicBezTo>
                  <a:cubicBezTo>
                    <a:pt x="151" y="135"/>
                    <a:pt x="142" y="134"/>
                    <a:pt x="133" y="134"/>
                  </a:cubicBezTo>
                  <a:cubicBezTo>
                    <a:pt x="124" y="134"/>
                    <a:pt x="115" y="135"/>
                    <a:pt x="107" y="136"/>
                  </a:cubicBezTo>
                  <a:lnTo>
                    <a:pt x="107" y="80"/>
                  </a:lnTo>
                  <a:close/>
                  <a:moveTo>
                    <a:pt x="160" y="776"/>
                  </a:moveTo>
                  <a:cubicBezTo>
                    <a:pt x="160" y="791"/>
                    <a:pt x="148" y="803"/>
                    <a:pt x="133" y="803"/>
                  </a:cubicBezTo>
                  <a:cubicBezTo>
                    <a:pt x="118" y="803"/>
                    <a:pt x="107" y="791"/>
                    <a:pt x="107" y="776"/>
                  </a:cubicBezTo>
                  <a:cubicBezTo>
                    <a:pt x="107" y="399"/>
                    <a:pt x="107" y="399"/>
                    <a:pt x="107" y="399"/>
                  </a:cubicBezTo>
                  <a:cubicBezTo>
                    <a:pt x="115" y="400"/>
                    <a:pt x="124" y="401"/>
                    <a:pt x="133" y="401"/>
                  </a:cubicBezTo>
                  <a:cubicBezTo>
                    <a:pt x="142" y="401"/>
                    <a:pt x="151" y="400"/>
                    <a:pt x="160" y="399"/>
                  </a:cubicBezTo>
                  <a:lnTo>
                    <a:pt x="160" y="776"/>
                  </a:lnTo>
                  <a:close/>
                  <a:moveTo>
                    <a:pt x="210" y="290"/>
                  </a:moveTo>
                  <a:cubicBezTo>
                    <a:pt x="209" y="291"/>
                    <a:pt x="209" y="293"/>
                    <a:pt x="209" y="294"/>
                  </a:cubicBezTo>
                  <a:cubicBezTo>
                    <a:pt x="206" y="301"/>
                    <a:pt x="203" y="308"/>
                    <a:pt x="198" y="314"/>
                  </a:cubicBezTo>
                  <a:cubicBezTo>
                    <a:pt x="198" y="314"/>
                    <a:pt x="198" y="314"/>
                    <a:pt x="198" y="314"/>
                  </a:cubicBezTo>
                  <a:cubicBezTo>
                    <a:pt x="193" y="321"/>
                    <a:pt x="188" y="326"/>
                    <a:pt x="182" y="331"/>
                  </a:cubicBezTo>
                  <a:cubicBezTo>
                    <a:pt x="182" y="331"/>
                    <a:pt x="181" y="331"/>
                    <a:pt x="181" y="331"/>
                  </a:cubicBezTo>
                  <a:cubicBezTo>
                    <a:pt x="175" y="336"/>
                    <a:pt x="168" y="340"/>
                    <a:pt x="160" y="343"/>
                  </a:cubicBezTo>
                  <a:cubicBezTo>
                    <a:pt x="152" y="346"/>
                    <a:pt x="143" y="348"/>
                    <a:pt x="133" y="348"/>
                  </a:cubicBezTo>
                  <a:cubicBezTo>
                    <a:pt x="124" y="348"/>
                    <a:pt x="115" y="346"/>
                    <a:pt x="107" y="343"/>
                  </a:cubicBezTo>
                  <a:cubicBezTo>
                    <a:pt x="99" y="340"/>
                    <a:pt x="92" y="336"/>
                    <a:pt x="85" y="331"/>
                  </a:cubicBezTo>
                  <a:cubicBezTo>
                    <a:pt x="85" y="331"/>
                    <a:pt x="85" y="331"/>
                    <a:pt x="85" y="331"/>
                  </a:cubicBezTo>
                  <a:cubicBezTo>
                    <a:pt x="79" y="326"/>
                    <a:pt x="73" y="321"/>
                    <a:pt x="68" y="314"/>
                  </a:cubicBezTo>
                  <a:cubicBezTo>
                    <a:pt x="68" y="314"/>
                    <a:pt x="68" y="314"/>
                    <a:pt x="68" y="314"/>
                  </a:cubicBezTo>
                  <a:cubicBezTo>
                    <a:pt x="64" y="308"/>
                    <a:pt x="60" y="301"/>
                    <a:pt x="58" y="294"/>
                  </a:cubicBezTo>
                  <a:cubicBezTo>
                    <a:pt x="57" y="293"/>
                    <a:pt x="57" y="291"/>
                    <a:pt x="57" y="290"/>
                  </a:cubicBezTo>
                  <a:cubicBezTo>
                    <a:pt x="54" y="283"/>
                    <a:pt x="53" y="275"/>
                    <a:pt x="53" y="268"/>
                  </a:cubicBezTo>
                  <a:cubicBezTo>
                    <a:pt x="53" y="260"/>
                    <a:pt x="54" y="252"/>
                    <a:pt x="57" y="245"/>
                  </a:cubicBezTo>
                  <a:cubicBezTo>
                    <a:pt x="57" y="244"/>
                    <a:pt x="57" y="242"/>
                    <a:pt x="58" y="241"/>
                  </a:cubicBezTo>
                  <a:cubicBezTo>
                    <a:pt x="60" y="234"/>
                    <a:pt x="64" y="227"/>
                    <a:pt x="68" y="221"/>
                  </a:cubicBezTo>
                  <a:cubicBezTo>
                    <a:pt x="68" y="221"/>
                    <a:pt x="68" y="221"/>
                    <a:pt x="68" y="221"/>
                  </a:cubicBezTo>
                  <a:cubicBezTo>
                    <a:pt x="73" y="214"/>
                    <a:pt x="79" y="209"/>
                    <a:pt x="85" y="204"/>
                  </a:cubicBezTo>
                  <a:cubicBezTo>
                    <a:pt x="85" y="204"/>
                    <a:pt x="85" y="204"/>
                    <a:pt x="85" y="204"/>
                  </a:cubicBezTo>
                  <a:cubicBezTo>
                    <a:pt x="92" y="199"/>
                    <a:pt x="99" y="195"/>
                    <a:pt x="107" y="192"/>
                  </a:cubicBezTo>
                  <a:cubicBezTo>
                    <a:pt x="115" y="189"/>
                    <a:pt x="124" y="187"/>
                    <a:pt x="133" y="187"/>
                  </a:cubicBezTo>
                  <a:cubicBezTo>
                    <a:pt x="143" y="187"/>
                    <a:pt x="152" y="189"/>
                    <a:pt x="160" y="192"/>
                  </a:cubicBezTo>
                  <a:cubicBezTo>
                    <a:pt x="168" y="195"/>
                    <a:pt x="175" y="199"/>
                    <a:pt x="181" y="204"/>
                  </a:cubicBezTo>
                  <a:cubicBezTo>
                    <a:pt x="181" y="204"/>
                    <a:pt x="182" y="204"/>
                    <a:pt x="182" y="204"/>
                  </a:cubicBezTo>
                  <a:cubicBezTo>
                    <a:pt x="188" y="209"/>
                    <a:pt x="193" y="214"/>
                    <a:pt x="198" y="221"/>
                  </a:cubicBezTo>
                  <a:cubicBezTo>
                    <a:pt x="198" y="221"/>
                    <a:pt x="198" y="221"/>
                    <a:pt x="198" y="221"/>
                  </a:cubicBezTo>
                  <a:cubicBezTo>
                    <a:pt x="203" y="227"/>
                    <a:pt x="206" y="234"/>
                    <a:pt x="209" y="241"/>
                  </a:cubicBezTo>
                  <a:cubicBezTo>
                    <a:pt x="209" y="242"/>
                    <a:pt x="209" y="244"/>
                    <a:pt x="210" y="245"/>
                  </a:cubicBezTo>
                  <a:cubicBezTo>
                    <a:pt x="212" y="252"/>
                    <a:pt x="214" y="260"/>
                    <a:pt x="214" y="268"/>
                  </a:cubicBezTo>
                  <a:cubicBezTo>
                    <a:pt x="214" y="275"/>
                    <a:pt x="212" y="283"/>
                    <a:pt x="210" y="290"/>
                  </a:cubicBezTo>
                  <a:close/>
                </a:path>
              </a:pathLst>
            </a:custGeom>
            <a:solidFill>
              <a:srgbClr val="FFFFFF">
                <a:alpha val="100000"/>
              </a:srgbClr>
            </a:solidFill>
            <a:ln w="9525">
              <a:noFill/>
            </a:ln>
          </p:spPr>
          <p:txBody>
            <a:bodyPr/>
            <a:lstStyle/>
            <a:p>
              <a:endParaRPr lang="fr-FR" altLang="en-US"/>
            </a:p>
          </p:txBody>
        </p:sp>
        <p:sp>
          <p:nvSpPr>
            <p:cNvPr id="40978" name="Freeform 7"/>
            <p:cNvSpPr/>
            <p:nvPr/>
          </p:nvSpPr>
          <p:spPr>
            <a:xfrm>
              <a:off x="900391"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415352"/>
                </a:cxn>
                <a:cxn ang="0">
                  <a:pos x="184627" y="68938"/>
                </a:cxn>
                <a:cxn ang="0">
                  <a:pos x="115607" y="0"/>
                </a:cxn>
                <a:cxn ang="0">
                  <a:pos x="46588" y="68938"/>
                </a:cxn>
                <a:cxn ang="0">
                  <a:pos x="46588" y="415352"/>
                </a:cxn>
                <a:cxn ang="0">
                  <a:pos x="0" y="507556"/>
                </a:cxn>
                <a:cxn ang="0">
                  <a:pos x="46588" y="598899"/>
                </a:cxn>
                <a:cxn ang="0">
                  <a:pos x="46588" y="668699"/>
                </a:cxn>
                <a:cxn ang="0">
                  <a:pos x="115607" y="737637"/>
                </a:cxn>
                <a:cxn ang="0">
                  <a:pos x="184627" y="668699"/>
                </a:cxn>
                <a:cxn ang="0">
                  <a:pos x="184627" y="598899"/>
                </a:cxn>
                <a:cxn ang="0">
                  <a:pos x="231215" y="507556"/>
                </a:cxn>
                <a:cxn ang="0">
                  <a:pos x="184627" y="415352"/>
                </a:cxn>
                <a:cxn ang="0">
                  <a:pos x="92313" y="68938"/>
                </a:cxn>
                <a:cxn ang="0">
                  <a:pos x="115607" y="46533"/>
                </a:cxn>
                <a:cxn ang="0">
                  <a:pos x="138902" y="68938"/>
                </a:cxn>
                <a:cxn ang="0">
                  <a:pos x="138902" y="393809"/>
                </a:cxn>
                <a:cxn ang="0">
                  <a:pos x="115607" y="392085"/>
                </a:cxn>
                <a:cxn ang="0">
                  <a:pos x="92313" y="393809"/>
                </a:cxn>
                <a:cxn ang="0">
                  <a:pos x="92313" y="68938"/>
                </a:cxn>
                <a:cxn ang="0">
                  <a:pos x="138902" y="668699"/>
                </a:cxn>
                <a:cxn ang="0">
                  <a:pos x="115607" y="691966"/>
                </a:cxn>
                <a:cxn ang="0">
                  <a:pos x="92313" y="668699"/>
                </a:cxn>
                <a:cxn ang="0">
                  <a:pos x="92313" y="620442"/>
                </a:cxn>
                <a:cxn ang="0">
                  <a:pos x="115607" y="622166"/>
                </a:cxn>
                <a:cxn ang="0">
                  <a:pos x="138902" y="620442"/>
                </a:cxn>
                <a:cxn ang="0">
                  <a:pos x="138902" y="668699"/>
                </a:cxn>
                <a:cxn ang="0">
                  <a:pos x="182039" y="526514"/>
                </a:cxn>
                <a:cxn ang="0">
                  <a:pos x="180313" y="529961"/>
                </a:cxn>
                <a:cxn ang="0">
                  <a:pos x="171686" y="547196"/>
                </a:cxn>
                <a:cxn ang="0">
                  <a:pos x="171686" y="547196"/>
                </a:cxn>
                <a:cxn ang="0">
                  <a:pos x="157019" y="561845"/>
                </a:cxn>
                <a:cxn ang="0">
                  <a:pos x="157019" y="561845"/>
                </a:cxn>
                <a:cxn ang="0">
                  <a:pos x="138902" y="572186"/>
                </a:cxn>
                <a:cxn ang="0">
                  <a:pos x="115607" y="576494"/>
                </a:cxn>
                <a:cxn ang="0">
                  <a:pos x="92313" y="572186"/>
                </a:cxn>
                <a:cxn ang="0">
                  <a:pos x="74196" y="561845"/>
                </a:cxn>
                <a:cxn ang="0">
                  <a:pos x="74196" y="561845"/>
                </a:cxn>
                <a:cxn ang="0">
                  <a:pos x="59529" y="547196"/>
                </a:cxn>
                <a:cxn ang="0">
                  <a:pos x="59529" y="547196"/>
                </a:cxn>
                <a:cxn ang="0">
                  <a:pos x="50902" y="529961"/>
                </a:cxn>
                <a:cxn ang="0">
                  <a:pos x="49176" y="526514"/>
                </a:cxn>
                <a:cxn ang="0">
                  <a:pos x="46588" y="507556"/>
                </a:cxn>
                <a:cxn ang="0">
                  <a:pos x="49176" y="487737"/>
                </a:cxn>
                <a:cxn ang="0">
                  <a:pos x="50902" y="484290"/>
                </a:cxn>
                <a:cxn ang="0">
                  <a:pos x="59529" y="467055"/>
                </a:cxn>
                <a:cxn ang="0">
                  <a:pos x="59529" y="467055"/>
                </a:cxn>
                <a:cxn ang="0">
                  <a:pos x="74196" y="452406"/>
                </a:cxn>
                <a:cxn ang="0">
                  <a:pos x="74196" y="452406"/>
                </a:cxn>
                <a:cxn ang="0">
                  <a:pos x="92313" y="442065"/>
                </a:cxn>
                <a:cxn ang="0">
                  <a:pos x="115607" y="437757"/>
                </a:cxn>
                <a:cxn ang="0">
                  <a:pos x="138902" y="442065"/>
                </a:cxn>
                <a:cxn ang="0">
                  <a:pos x="157019" y="452406"/>
                </a:cxn>
                <a:cxn ang="0">
                  <a:pos x="157019" y="452406"/>
                </a:cxn>
                <a:cxn ang="0">
                  <a:pos x="171686" y="467055"/>
                </a:cxn>
                <a:cxn ang="0">
                  <a:pos x="171686" y="467055"/>
                </a:cxn>
                <a:cxn ang="0">
                  <a:pos x="180313" y="484290"/>
                </a:cxn>
                <a:cxn ang="0">
                  <a:pos x="182039" y="487737"/>
                </a:cxn>
                <a:cxn ang="0">
                  <a:pos x="184627" y="507556"/>
                </a:cxn>
                <a:cxn ang="0">
                  <a:pos x="182039" y="526514"/>
                </a:cxn>
              </a:cxnLst>
              <a:rect l="txL" t="txT" r="txR" b="txB"/>
              <a:pathLst>
                <a:path w="268" h="856">
                  <a:moveTo>
                    <a:pt x="214" y="482"/>
                  </a:moveTo>
                  <a:cubicBezTo>
                    <a:pt x="214" y="80"/>
                    <a:pt x="214" y="80"/>
                    <a:pt x="214" y="80"/>
                  </a:cubicBezTo>
                  <a:cubicBezTo>
                    <a:pt x="214" y="36"/>
                    <a:pt x="178" y="0"/>
                    <a:pt x="134" y="0"/>
                  </a:cubicBezTo>
                  <a:cubicBezTo>
                    <a:pt x="90" y="0"/>
                    <a:pt x="54" y="36"/>
                    <a:pt x="54" y="80"/>
                  </a:cubicBezTo>
                  <a:cubicBezTo>
                    <a:pt x="54" y="482"/>
                    <a:pt x="54" y="482"/>
                    <a:pt x="54" y="482"/>
                  </a:cubicBezTo>
                  <a:cubicBezTo>
                    <a:pt x="21" y="507"/>
                    <a:pt x="0" y="545"/>
                    <a:pt x="0" y="589"/>
                  </a:cubicBezTo>
                  <a:cubicBezTo>
                    <a:pt x="0" y="632"/>
                    <a:pt x="21" y="670"/>
                    <a:pt x="54" y="695"/>
                  </a:cubicBezTo>
                  <a:cubicBezTo>
                    <a:pt x="54" y="776"/>
                    <a:pt x="54" y="776"/>
                    <a:pt x="54" y="776"/>
                  </a:cubicBezTo>
                  <a:cubicBezTo>
                    <a:pt x="54" y="820"/>
                    <a:pt x="90" y="856"/>
                    <a:pt x="134" y="856"/>
                  </a:cubicBezTo>
                  <a:cubicBezTo>
                    <a:pt x="178" y="856"/>
                    <a:pt x="214" y="820"/>
                    <a:pt x="214" y="776"/>
                  </a:cubicBezTo>
                  <a:cubicBezTo>
                    <a:pt x="214" y="695"/>
                    <a:pt x="214" y="695"/>
                    <a:pt x="214" y="695"/>
                  </a:cubicBezTo>
                  <a:cubicBezTo>
                    <a:pt x="247" y="670"/>
                    <a:pt x="268" y="632"/>
                    <a:pt x="268" y="589"/>
                  </a:cubicBezTo>
                  <a:cubicBezTo>
                    <a:pt x="268" y="545"/>
                    <a:pt x="247" y="507"/>
                    <a:pt x="214" y="482"/>
                  </a:cubicBezTo>
                  <a:close/>
                  <a:moveTo>
                    <a:pt x="107" y="80"/>
                  </a:moveTo>
                  <a:cubicBezTo>
                    <a:pt x="107" y="65"/>
                    <a:pt x="119" y="54"/>
                    <a:pt x="134" y="54"/>
                  </a:cubicBezTo>
                  <a:cubicBezTo>
                    <a:pt x="149" y="54"/>
                    <a:pt x="161" y="65"/>
                    <a:pt x="161" y="80"/>
                  </a:cubicBezTo>
                  <a:cubicBezTo>
                    <a:pt x="161" y="457"/>
                    <a:pt x="161" y="457"/>
                    <a:pt x="161" y="457"/>
                  </a:cubicBezTo>
                  <a:cubicBezTo>
                    <a:pt x="152" y="456"/>
                    <a:pt x="143" y="455"/>
                    <a:pt x="134" y="455"/>
                  </a:cubicBezTo>
                  <a:cubicBezTo>
                    <a:pt x="125" y="455"/>
                    <a:pt x="116" y="456"/>
                    <a:pt x="107" y="457"/>
                  </a:cubicBezTo>
                  <a:lnTo>
                    <a:pt x="107" y="80"/>
                  </a:lnTo>
                  <a:close/>
                  <a:moveTo>
                    <a:pt x="161" y="776"/>
                  </a:moveTo>
                  <a:cubicBezTo>
                    <a:pt x="161" y="791"/>
                    <a:pt x="149" y="803"/>
                    <a:pt x="134" y="803"/>
                  </a:cubicBezTo>
                  <a:cubicBezTo>
                    <a:pt x="119" y="803"/>
                    <a:pt x="107" y="791"/>
                    <a:pt x="107" y="776"/>
                  </a:cubicBezTo>
                  <a:cubicBezTo>
                    <a:pt x="107" y="720"/>
                    <a:pt x="107" y="720"/>
                    <a:pt x="107" y="720"/>
                  </a:cubicBezTo>
                  <a:cubicBezTo>
                    <a:pt x="116" y="721"/>
                    <a:pt x="125" y="722"/>
                    <a:pt x="134" y="722"/>
                  </a:cubicBezTo>
                  <a:cubicBezTo>
                    <a:pt x="143" y="722"/>
                    <a:pt x="152" y="721"/>
                    <a:pt x="161" y="720"/>
                  </a:cubicBezTo>
                  <a:lnTo>
                    <a:pt x="161" y="776"/>
                  </a:lnTo>
                  <a:close/>
                  <a:moveTo>
                    <a:pt x="211" y="611"/>
                  </a:moveTo>
                  <a:cubicBezTo>
                    <a:pt x="210" y="612"/>
                    <a:pt x="210" y="614"/>
                    <a:pt x="209" y="615"/>
                  </a:cubicBezTo>
                  <a:cubicBezTo>
                    <a:pt x="207" y="622"/>
                    <a:pt x="204" y="629"/>
                    <a:pt x="199" y="635"/>
                  </a:cubicBezTo>
                  <a:cubicBezTo>
                    <a:pt x="199" y="635"/>
                    <a:pt x="199" y="635"/>
                    <a:pt x="199" y="635"/>
                  </a:cubicBezTo>
                  <a:cubicBezTo>
                    <a:pt x="194" y="642"/>
                    <a:pt x="189" y="647"/>
                    <a:pt x="182" y="652"/>
                  </a:cubicBezTo>
                  <a:cubicBezTo>
                    <a:pt x="182" y="652"/>
                    <a:pt x="182" y="652"/>
                    <a:pt x="182" y="652"/>
                  </a:cubicBezTo>
                  <a:cubicBezTo>
                    <a:pt x="176" y="657"/>
                    <a:pt x="168" y="661"/>
                    <a:pt x="161" y="664"/>
                  </a:cubicBezTo>
                  <a:cubicBezTo>
                    <a:pt x="152" y="667"/>
                    <a:pt x="143" y="669"/>
                    <a:pt x="134" y="669"/>
                  </a:cubicBezTo>
                  <a:cubicBezTo>
                    <a:pt x="125" y="669"/>
                    <a:pt x="116" y="667"/>
                    <a:pt x="107" y="664"/>
                  </a:cubicBezTo>
                  <a:cubicBezTo>
                    <a:pt x="100" y="661"/>
                    <a:pt x="92" y="657"/>
                    <a:pt x="86" y="652"/>
                  </a:cubicBezTo>
                  <a:cubicBezTo>
                    <a:pt x="86" y="652"/>
                    <a:pt x="86" y="652"/>
                    <a:pt x="86" y="652"/>
                  </a:cubicBezTo>
                  <a:cubicBezTo>
                    <a:pt x="79" y="647"/>
                    <a:pt x="74" y="642"/>
                    <a:pt x="69" y="635"/>
                  </a:cubicBezTo>
                  <a:cubicBezTo>
                    <a:pt x="69" y="635"/>
                    <a:pt x="69" y="635"/>
                    <a:pt x="69" y="635"/>
                  </a:cubicBezTo>
                  <a:cubicBezTo>
                    <a:pt x="64" y="629"/>
                    <a:pt x="61" y="622"/>
                    <a:pt x="59" y="615"/>
                  </a:cubicBezTo>
                  <a:cubicBezTo>
                    <a:pt x="58" y="614"/>
                    <a:pt x="58" y="612"/>
                    <a:pt x="57" y="611"/>
                  </a:cubicBezTo>
                  <a:cubicBezTo>
                    <a:pt x="55" y="604"/>
                    <a:pt x="54" y="596"/>
                    <a:pt x="54" y="589"/>
                  </a:cubicBezTo>
                  <a:cubicBezTo>
                    <a:pt x="54" y="581"/>
                    <a:pt x="55" y="573"/>
                    <a:pt x="57" y="566"/>
                  </a:cubicBezTo>
                  <a:cubicBezTo>
                    <a:pt x="58" y="565"/>
                    <a:pt x="58" y="563"/>
                    <a:pt x="59" y="562"/>
                  </a:cubicBezTo>
                  <a:cubicBezTo>
                    <a:pt x="61" y="555"/>
                    <a:pt x="64" y="548"/>
                    <a:pt x="69" y="542"/>
                  </a:cubicBezTo>
                  <a:cubicBezTo>
                    <a:pt x="69" y="542"/>
                    <a:pt x="69" y="542"/>
                    <a:pt x="69" y="542"/>
                  </a:cubicBezTo>
                  <a:cubicBezTo>
                    <a:pt x="74" y="535"/>
                    <a:pt x="79" y="530"/>
                    <a:pt x="86" y="525"/>
                  </a:cubicBezTo>
                  <a:cubicBezTo>
                    <a:pt x="86" y="525"/>
                    <a:pt x="86" y="525"/>
                    <a:pt x="86" y="525"/>
                  </a:cubicBezTo>
                  <a:cubicBezTo>
                    <a:pt x="92" y="520"/>
                    <a:pt x="100" y="516"/>
                    <a:pt x="107" y="513"/>
                  </a:cubicBezTo>
                  <a:cubicBezTo>
                    <a:pt x="116" y="510"/>
                    <a:pt x="125" y="508"/>
                    <a:pt x="134" y="508"/>
                  </a:cubicBezTo>
                  <a:cubicBezTo>
                    <a:pt x="143" y="508"/>
                    <a:pt x="152" y="510"/>
                    <a:pt x="161" y="513"/>
                  </a:cubicBezTo>
                  <a:cubicBezTo>
                    <a:pt x="168" y="516"/>
                    <a:pt x="176" y="520"/>
                    <a:pt x="182" y="525"/>
                  </a:cubicBezTo>
                  <a:cubicBezTo>
                    <a:pt x="182" y="525"/>
                    <a:pt x="182" y="525"/>
                    <a:pt x="182" y="525"/>
                  </a:cubicBezTo>
                  <a:cubicBezTo>
                    <a:pt x="189" y="530"/>
                    <a:pt x="194" y="535"/>
                    <a:pt x="199" y="542"/>
                  </a:cubicBezTo>
                  <a:cubicBezTo>
                    <a:pt x="199" y="542"/>
                    <a:pt x="199" y="542"/>
                    <a:pt x="199" y="542"/>
                  </a:cubicBezTo>
                  <a:cubicBezTo>
                    <a:pt x="204" y="548"/>
                    <a:pt x="207" y="555"/>
                    <a:pt x="209" y="562"/>
                  </a:cubicBezTo>
                  <a:cubicBezTo>
                    <a:pt x="210" y="563"/>
                    <a:pt x="210" y="565"/>
                    <a:pt x="211" y="566"/>
                  </a:cubicBezTo>
                  <a:cubicBezTo>
                    <a:pt x="213" y="573"/>
                    <a:pt x="214" y="581"/>
                    <a:pt x="214" y="589"/>
                  </a:cubicBezTo>
                  <a:cubicBezTo>
                    <a:pt x="214" y="596"/>
                    <a:pt x="213" y="604"/>
                    <a:pt x="211" y="611"/>
                  </a:cubicBezTo>
                  <a:close/>
                </a:path>
              </a:pathLst>
            </a:custGeom>
            <a:solidFill>
              <a:srgbClr val="FFFFFF">
                <a:alpha val="100000"/>
              </a:srgbClr>
            </a:solidFill>
            <a:ln w="9525">
              <a:noFill/>
            </a:ln>
          </p:spPr>
          <p:txBody>
            <a:bodyPr/>
            <a:lstStyle/>
            <a:p>
              <a:endParaRPr lang="fr-FR" altLang="en-US"/>
            </a:p>
          </p:txBody>
        </p:sp>
      </p:grpSp>
    </p:spTree>
    <p:extLst>
      <p:ext uri="{BB962C8B-B14F-4D97-AF65-F5344CB8AC3E}">
        <p14:creationId xmlns:p14="http://schemas.microsoft.com/office/powerpoint/2010/main" val="84298780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anim calcmode="lin" valueType="num">
                                      <p:cBhvr>
                                        <p:cTn id="36" dur="500" fill="hold"/>
                                        <p:tgtEl>
                                          <p:spTgt spid="5"/>
                                        </p:tgtEl>
                                        <p:attrNameLst>
                                          <p:attrName>ppt_x</p:attrName>
                                        </p:attrNameLst>
                                      </p:cBhvr>
                                      <p:tavLst>
                                        <p:tav tm="0">
                                          <p:val>
                                            <p:strVal val="#ppt_x"/>
                                          </p:val>
                                        </p:tav>
                                        <p:tav tm="100000">
                                          <p:val>
                                            <p:strVal val="#ppt_x"/>
                                          </p:val>
                                        </p:tav>
                                      </p:tavLst>
                                    </p:anim>
                                    <p:anim calcmode="lin" valueType="num">
                                      <p:cBhvr>
                                        <p:cTn id="37" dur="500" fill="hold"/>
                                        <p:tgtEl>
                                          <p:spTgt spid="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anim calcmode="lin" valueType="num">
                                      <p:cBhvr>
                                        <p:cTn id="42" dur="500" fill="hold"/>
                                        <p:tgtEl>
                                          <p:spTgt spid="6"/>
                                        </p:tgtEl>
                                        <p:attrNameLst>
                                          <p:attrName>ppt_x</p:attrName>
                                        </p:attrNameLst>
                                      </p:cBhvr>
                                      <p:tavLst>
                                        <p:tav tm="0">
                                          <p:val>
                                            <p:strVal val="#ppt_x"/>
                                          </p:val>
                                        </p:tav>
                                        <p:tav tm="100000">
                                          <p:val>
                                            <p:strVal val="#ppt_x"/>
                                          </p:val>
                                        </p:tav>
                                      </p:tavLst>
                                    </p:anim>
                                    <p:anim calcmode="lin" valueType="num">
                                      <p:cBhvr>
                                        <p:cTn id="43" dur="500" fill="hold"/>
                                        <p:tgtEl>
                                          <p:spTgt spid="6"/>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16" presetClass="entr" presetSubtype="37"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arn(outVertical)">
                                      <p:cBhvr>
                                        <p:cTn id="47" dur="500"/>
                                        <p:tgtEl>
                                          <p:spTgt spid="17"/>
                                        </p:tgtEl>
                                      </p:cBhvr>
                                    </p:animEffect>
                                  </p:childTnLst>
                                </p:cTn>
                              </p:par>
                            </p:childTnLst>
                          </p:cTn>
                        </p:par>
                        <p:par>
                          <p:cTn id="48" fill="hold">
                            <p:stCondLst>
                              <p:cond delay="4000"/>
                            </p:stCondLst>
                            <p:childTnLst>
                              <p:par>
                                <p:cTn id="49" presetID="47"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par>
                          <p:cTn id="54" fill="hold">
                            <p:stCondLst>
                              <p:cond delay="5000"/>
                            </p:stCondLst>
                            <p:childTnLst>
                              <p:par>
                                <p:cTn id="55" presetID="16" presetClass="entr" presetSubtype="37"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outVertical)">
                                      <p:cBhvr>
                                        <p:cTn id="57" dur="500"/>
                                        <p:tgtEl>
                                          <p:spTgt spid="16"/>
                                        </p:tgtEl>
                                      </p:cBhvr>
                                    </p:animEffect>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par>
                          <p:cTn id="62" fill="hold">
                            <p:stCondLst>
                              <p:cond delay="6000"/>
                            </p:stCondLst>
                            <p:childTnLst>
                              <p:par>
                                <p:cTn id="63" presetID="22" presetClass="entr" presetSubtype="4"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down)">
                                      <p:cBhvr>
                                        <p:cTn id="65" dur="500"/>
                                        <p:tgtEl>
                                          <p:spTgt spid="24"/>
                                        </p:tgtEl>
                                      </p:cBhvr>
                                    </p:animEffect>
                                  </p:childTnLst>
                                </p:cTn>
                              </p:par>
                            </p:childTnLst>
                          </p:cTn>
                        </p:par>
                        <p:par>
                          <p:cTn id="66" fill="hold">
                            <p:stCondLst>
                              <p:cond delay="6500"/>
                            </p:stCondLst>
                            <p:childTnLst>
                              <p:par>
                                <p:cTn id="67" presetID="22" presetClass="entr" presetSubtype="8"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par>
                          <p:cTn id="70" fill="hold">
                            <p:stCondLst>
                              <p:cond delay="7000"/>
                            </p:stCondLst>
                            <p:childTnLst>
                              <p:par>
                                <p:cTn id="71" presetID="53" presetClass="entr" presetSubtype="16" fill="hold" nodeType="after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p:cTn id="73" dur="500" fill="hold"/>
                                        <p:tgtEl>
                                          <p:spTgt spid="10"/>
                                        </p:tgtEl>
                                        <p:attrNameLst>
                                          <p:attrName>ppt_w</p:attrName>
                                        </p:attrNameLst>
                                      </p:cBhvr>
                                      <p:tavLst>
                                        <p:tav tm="0">
                                          <p:val>
                                            <p:fltVal val="0"/>
                                          </p:val>
                                        </p:tav>
                                        <p:tav tm="100000">
                                          <p:val>
                                            <p:strVal val="#ppt_w"/>
                                          </p:val>
                                        </p:tav>
                                      </p:tavLst>
                                    </p:anim>
                                    <p:anim calcmode="lin" valueType="num">
                                      <p:cBhvr>
                                        <p:cTn id="74" dur="500" fill="hold"/>
                                        <p:tgtEl>
                                          <p:spTgt spid="10"/>
                                        </p:tgtEl>
                                        <p:attrNameLst>
                                          <p:attrName>ppt_h</p:attrName>
                                        </p:attrNameLst>
                                      </p:cBhvr>
                                      <p:tavLst>
                                        <p:tav tm="0">
                                          <p:val>
                                            <p:fltVal val="0"/>
                                          </p:val>
                                        </p:tav>
                                        <p:tav tm="100000">
                                          <p:val>
                                            <p:strVal val="#ppt_h"/>
                                          </p:val>
                                        </p:tav>
                                      </p:tavLst>
                                    </p:anim>
                                    <p:animEffect transition="in" filter="fade">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bldLvl="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8026400" cy="768350"/>
          </a:xfrm>
          <a:prstGeom prst="rect">
            <a:avLst/>
          </a:prstGeom>
          <a:noFill/>
          <a:ln w="9525">
            <a:noFill/>
          </a:ln>
        </p:spPr>
        <p:txBody>
          <a:bodyPr wrap="none">
            <a:spAutoFit/>
          </a:bodyPr>
          <a:lstStyle/>
          <a:p>
            <a:pPr eaLnBrk="1" hangingPunct="1"/>
            <a:r>
              <a:rPr lang="id-ID" altLang="x-none" sz="4400" dirty="0">
                <a:solidFill>
                  <a:srgbClr val="7F7F7F"/>
                </a:solidFill>
                <a:ea typeface="Open Sans"/>
                <a:cs typeface="Calibri" panose="020F0502020204030204" pitchFamily="34" charset="0"/>
              </a:rPr>
              <a:t>Contexte historique et limitations :</a:t>
            </a:r>
            <a:endParaRPr lang="fr-FR" altLang="x-none" dirty="0">
              <a:solidFill>
                <a:srgbClr val="7F7F7F"/>
              </a:solidFill>
              <a:cs typeface="Calibri" panose="020F0502020204030204" pitchFamily="34" charset="0"/>
            </a:endParaRPr>
          </a:p>
        </p:txBody>
      </p:sp>
      <p:sp>
        <p:nvSpPr>
          <p:cNvPr id="3" name="Rectangle 24"/>
          <p:cNvSpPr/>
          <p:nvPr/>
        </p:nvSpPr>
        <p:spPr>
          <a:xfrm>
            <a:off x="1016000" y="1218883"/>
            <a:ext cx="10544175" cy="1660525"/>
          </a:xfrm>
          <a:prstGeom prst="rect">
            <a:avLst/>
          </a:prstGeom>
          <a:noFill/>
          <a:ln w="9525">
            <a:noFill/>
          </a:ln>
        </p:spPr>
        <p:txBody>
          <a:bodyPr>
            <a:spAutoFit/>
          </a:bodyPr>
          <a:lstStyle/>
          <a:p>
            <a:pPr eaLnBrk="1" hangingPunct="1"/>
            <a:r>
              <a:rPr lang="id-ID" altLang="x-none" sz="1600" dirty="0">
                <a:solidFill>
                  <a:srgbClr val="000000"/>
                </a:solidFill>
                <a:latin typeface="Calibri" panose="020F0502020204030204" pitchFamily="34" charset="0"/>
                <a:cs typeface="Calibri" panose="020F0502020204030204" pitchFamily="34" charset="0"/>
              </a:rPr>
              <a:t>Transformers</a:t>
            </a:r>
            <a:r>
              <a:rPr lang="id-ID" altLang="x-none" sz="1600" dirty="0">
                <a:solidFill>
                  <a:srgbClr val="88A945"/>
                </a:solidFill>
                <a:latin typeface="Calibri" panose="020F0502020204030204" pitchFamily="34" charset="0"/>
                <a:cs typeface="Calibri" panose="020F0502020204030204" pitchFamily="34" charset="0"/>
              </a:rPr>
              <a:t>  (2017) : </a:t>
            </a:r>
            <a:r>
              <a:rPr lang="id-ID" altLang="x-none" sz="1600" dirty="0">
                <a:solidFill>
                  <a:srgbClr val="000000"/>
                </a:solidFill>
                <a:latin typeface="Calibri" panose="020F0502020204030204" pitchFamily="34" charset="0"/>
                <a:cs typeface="Calibri" panose="020F0502020204030204" pitchFamily="34" charset="0"/>
              </a:rPr>
              <a:t>c'est une architecture basée sur le </a:t>
            </a:r>
            <a:r>
              <a:rPr lang="id-ID" altLang="x-none" sz="1600" dirty="0">
                <a:solidFill>
                  <a:srgbClr val="FF0000"/>
                </a:solidFill>
                <a:latin typeface="Calibri" panose="020F0502020204030204" pitchFamily="34" charset="0"/>
                <a:cs typeface="Calibri" panose="020F0502020204030204" pitchFamily="34" charset="0"/>
              </a:rPr>
              <a:t>mécanisme d'attention</a:t>
            </a:r>
            <a:r>
              <a:rPr lang="id-ID" altLang="x-none" sz="1600" dirty="0">
                <a:solidFill>
                  <a:srgbClr val="000000"/>
                </a:solidFill>
                <a:latin typeface="Calibri" panose="020F0502020204030204" pitchFamily="34" charset="0"/>
                <a:cs typeface="Calibri" panose="020F0502020204030204" pitchFamily="34" charset="0"/>
              </a:rPr>
              <a:t>, qui permet de traiter des séquences de texte </a:t>
            </a:r>
            <a:r>
              <a:rPr lang="id-ID" altLang="x-none" sz="1600" dirty="0">
                <a:solidFill>
                  <a:srgbClr val="0070C0"/>
                </a:solidFill>
                <a:latin typeface="Calibri" panose="020F0502020204030204" pitchFamily="34" charset="0"/>
                <a:cs typeface="Calibri" panose="020F0502020204030204" pitchFamily="34" charset="0"/>
              </a:rPr>
              <a:t>en parallèle</a:t>
            </a:r>
            <a:r>
              <a:rPr lang="id-ID" altLang="x-none" sz="1600" dirty="0">
                <a:solidFill>
                  <a:srgbClr val="000000"/>
                </a:solidFill>
                <a:latin typeface="Calibri" panose="020F0502020204030204" pitchFamily="34" charset="0"/>
                <a:cs typeface="Calibri" panose="020F0502020204030204" pitchFamily="34" charset="0"/>
              </a:rPr>
              <a:t> et de capturer les relations entre les mots même s'ils sont éloignés dans une phrase.</a:t>
            </a:r>
          </a:p>
          <a:p>
            <a:pPr eaLnBrk="1" hangingPunct="1"/>
            <a:endParaRPr lang="fr-FR" altLang="x-none" dirty="0">
              <a:solidFill>
                <a:srgbClr val="000000"/>
              </a:solidFill>
              <a:latin typeface="Calibri" panose="020F0502020204030204" pitchFamily="34" charset="0"/>
              <a:ea typeface="Calibri" panose="020F0502020204030204" pitchFamily="34" charset="0"/>
            </a:endParaRPr>
          </a:p>
          <a:p>
            <a:pPr lvl="1" eaLnBrk="1" hangingPunct="1"/>
            <a:r>
              <a:rPr lang="id-ID" altLang="x-none" dirty="0">
                <a:solidFill>
                  <a:srgbClr val="FF0000"/>
                </a:solidFill>
                <a:cs typeface="Calibri" panose="020F0502020204030204" pitchFamily="34" charset="0"/>
                <a:sym typeface="+mn-ea"/>
              </a:rPr>
              <a:t>Limitations:</a:t>
            </a:r>
            <a:endParaRPr lang="fr-FR" altLang="x-none" dirty="0">
              <a:solidFill>
                <a:srgbClr val="FF0000"/>
              </a:solidFill>
              <a:latin typeface="Calibri" panose="020F0502020204030204" pitchFamily="34" charset="0"/>
              <a:cs typeface="Calibri" panose="020F0502020204030204" pitchFamily="34" charset="0"/>
            </a:endParaRPr>
          </a:p>
          <a:p>
            <a:pPr lvl="1" eaLnBrk="1" hangingPunct="1"/>
            <a:r>
              <a:rPr lang="id-ID" altLang="x-none" dirty="0">
                <a:solidFill>
                  <a:srgbClr val="000000"/>
                </a:solidFill>
                <a:cs typeface="Calibri" panose="020F0502020204030204" pitchFamily="34" charset="0"/>
                <a:sym typeface="+mn-ea"/>
              </a:rPr>
              <a:t>        </a:t>
            </a:r>
            <a:r>
              <a:rPr lang="id-ID" altLang="x-none" sz="1600" dirty="0">
                <a:solidFill>
                  <a:srgbClr val="000000"/>
                </a:solidFill>
                <a:cs typeface="Calibri" panose="020F0502020204030204" pitchFamily="34" charset="0"/>
                <a:sym typeface="+mn-ea"/>
              </a:rPr>
              <a:t>Ce n'est qu'une architecture et non pas un modèle, il faut l'adapter </a:t>
            </a:r>
            <a:r>
              <a:rPr lang="id-ID" altLang="x-none" sz="1600" dirty="0">
                <a:solidFill>
                  <a:srgbClr val="000000"/>
                </a:solidFill>
                <a:ea typeface="Calibri" panose="020F0502020204030204" pitchFamily="34" charset="0"/>
                <a:sym typeface="+mn-ea"/>
              </a:rPr>
              <a:t>à</a:t>
            </a:r>
            <a:r>
              <a:rPr lang="id-ID" altLang="x-none" sz="1600" dirty="0">
                <a:solidFill>
                  <a:srgbClr val="000000"/>
                </a:solidFill>
                <a:cs typeface="Calibri" panose="020F0502020204030204" pitchFamily="34" charset="0"/>
                <a:sym typeface="+mn-ea"/>
              </a:rPr>
              <a:t> chaque tâche .</a:t>
            </a:r>
            <a:endParaRPr lang="id-ID" altLang="x-none" sz="1600" dirty="0">
              <a:solidFill>
                <a:srgbClr val="000000"/>
              </a:solidFill>
              <a:latin typeface="Calibri" panose="020F0502020204030204" pitchFamily="34" charset="0"/>
              <a:ea typeface="Calibri" panose="020F0502020204030204" pitchFamily="34" charset="0"/>
            </a:endParaRPr>
          </a:p>
          <a:p>
            <a:pPr eaLnBrk="1" hangingPunct="1"/>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a:off x="1014413" y="2984500"/>
            <a:ext cx="10544175" cy="2922905"/>
          </a:xfrm>
          <a:prstGeom prst="rect">
            <a:avLst/>
          </a:prstGeom>
          <a:noFill/>
          <a:ln w="9525">
            <a:noFill/>
          </a:ln>
        </p:spPr>
        <p:txBody>
          <a:bodyPr>
            <a:spAutoFit/>
          </a:bodyPr>
          <a:lstStyle/>
          <a:p>
            <a:pPr eaLnBrk="1" hangingPunct="1"/>
            <a:r>
              <a:rPr lang="id-ID" altLang="x-none" sz="1600" dirty="0">
                <a:solidFill>
                  <a:srgbClr val="000000"/>
                </a:solidFill>
                <a:latin typeface="Calibri" panose="020F0502020204030204" pitchFamily="34" charset="0"/>
                <a:cs typeface="Calibri" panose="020F0502020204030204" pitchFamily="34" charset="0"/>
              </a:rPr>
              <a:t>Bert </a:t>
            </a:r>
            <a:r>
              <a:rPr lang="id-ID" altLang="x-none" sz="1600" dirty="0">
                <a:solidFill>
                  <a:srgbClr val="88A945"/>
                </a:solidFill>
                <a:latin typeface="Calibri" panose="020F0502020204030204" pitchFamily="34" charset="0"/>
                <a:cs typeface="Calibri" panose="020F0502020204030204" pitchFamily="34" charset="0"/>
              </a:rPr>
              <a:t>(2018) : </a:t>
            </a:r>
            <a:r>
              <a:rPr lang="id-ID" altLang="x-none" sz="1600" dirty="0">
                <a:solidFill>
                  <a:srgbClr val="000000"/>
                </a:solidFill>
                <a:latin typeface="Calibri" panose="020F0502020204030204" pitchFamily="34" charset="0"/>
                <a:cs typeface="Calibri" panose="020F0502020204030204" pitchFamily="34" charset="0"/>
              </a:rPr>
              <a:t>un modèle bidirectionnel qui permet une meilleure </a:t>
            </a:r>
            <a:r>
              <a:rPr lang="id-ID" altLang="x-none" sz="1600" b="1" dirty="0">
                <a:solidFill>
                  <a:srgbClr val="0070C0"/>
                </a:solidFill>
                <a:latin typeface="Calibri" panose="020F0502020204030204" pitchFamily="34" charset="0"/>
                <a:cs typeface="Calibri" panose="020F0502020204030204" pitchFamily="34" charset="0"/>
              </a:rPr>
              <a:t>compréhension du contexte sémantique</a:t>
            </a:r>
            <a:r>
              <a:rPr lang="id-ID" altLang="x-none" sz="1600" dirty="0">
                <a:solidFill>
                  <a:srgbClr val="000000"/>
                </a:solidFill>
                <a:latin typeface="Calibri" panose="020F0502020204030204" pitchFamily="34" charset="0"/>
                <a:cs typeface="Calibri" panose="020F0502020204030204" pitchFamily="34" charset="0"/>
              </a:rPr>
              <a:t> d’un mot dans une phrase, il a été entraîné sur deux tâches principales :</a:t>
            </a:r>
            <a:endParaRPr lang="fr-FR" altLang="x-none" dirty="0">
              <a:solidFill>
                <a:srgbClr val="000000"/>
              </a:solidFill>
              <a:latin typeface="Calibri" panose="020F0502020204030204" pitchFamily="34" charset="0"/>
              <a:cs typeface="Calibri" panose="020F0502020204030204" pitchFamily="34" charset="0"/>
            </a:endParaRPr>
          </a:p>
          <a:p>
            <a:pPr marL="742950" lvl="1" indent="-285750" eaLnBrk="1" hangingPunct="1">
              <a:buSzPct val="100000"/>
              <a:buFont typeface="Courier New" panose="02070309020205020404" pitchFamily="49" charset="0"/>
              <a:buChar char="o"/>
            </a:pPr>
            <a:r>
              <a:rPr lang="id-ID" altLang="x-none" sz="1600" b="1" dirty="0">
                <a:solidFill>
                  <a:srgbClr val="000000"/>
                </a:solidFill>
                <a:latin typeface="Calibri" panose="020F0502020204030204" pitchFamily="34" charset="0"/>
                <a:cs typeface="Calibri" panose="020F0502020204030204" pitchFamily="34" charset="0"/>
              </a:rPr>
              <a:t>Masked Language Modeling (MLM)</a:t>
            </a:r>
            <a:r>
              <a:rPr lang="id-ID" altLang="x-none" sz="1600" dirty="0">
                <a:solidFill>
                  <a:srgbClr val="000000"/>
                </a:solidFill>
                <a:latin typeface="Calibri" panose="020F0502020204030204" pitchFamily="34" charset="0"/>
                <a:cs typeface="Calibri" panose="020F0502020204030204" pitchFamily="34" charset="0"/>
              </a:rPr>
              <a:t> </a:t>
            </a:r>
          </a:p>
          <a:p>
            <a:pPr marL="742950" lvl="1" indent="-285750" eaLnBrk="1" hangingPunct="1">
              <a:buSzPct val="100000"/>
              <a:buFont typeface="Courier New" panose="02070309020205020404" pitchFamily="49" charset="0"/>
              <a:buChar char="o"/>
            </a:pPr>
            <a:r>
              <a:rPr lang="id-ID" altLang="x-none" sz="1600" b="1" dirty="0">
                <a:solidFill>
                  <a:srgbClr val="000000"/>
                </a:solidFill>
                <a:latin typeface="Calibri" panose="020F0502020204030204" pitchFamily="34" charset="0"/>
                <a:cs typeface="Calibri" panose="020F0502020204030204" pitchFamily="34" charset="0"/>
              </a:rPr>
              <a:t>Next Sentence Prediction (NSP)</a:t>
            </a:r>
            <a:r>
              <a:rPr lang="id-ID" altLang="x-none" sz="1600" dirty="0">
                <a:solidFill>
                  <a:srgbClr val="000000"/>
                </a:solidFill>
                <a:latin typeface="Calibri" panose="020F0502020204030204" pitchFamily="34" charset="0"/>
                <a:cs typeface="Calibri" panose="020F0502020204030204" pitchFamily="34" charset="0"/>
              </a:rPr>
              <a:t> </a:t>
            </a: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r>
              <a:rPr lang="id-ID" noProof="0">
                <a:ln>
                  <a:noFill/>
                </a:ln>
                <a:solidFill>
                  <a:srgbClr val="FF0000"/>
                </a:solidFill>
                <a:effectLst/>
                <a:uLnTx/>
                <a:uFillTx/>
                <a:latin typeface="Calibri" panose="020F0502020204030204"/>
                <a:ea typeface="Calibri" panose="020F0502020204030204"/>
                <a:cs typeface="Calibri" panose="020F0502020204030204"/>
                <a:sym typeface="+mn-ea"/>
              </a:rPr>
              <a:t>Limitations:</a:t>
            </a:r>
            <a:endParaRPr kumimoji="0" lang="fr-FR" b="0" i="0" u="none" strike="noStrike" kern="1200" cap="none" spc="0" normalizeH="0" baseline="0" noProof="0">
              <a:ln>
                <a:noFill/>
              </a:ln>
              <a:solidFill>
                <a:srgbClr val="FF0000"/>
              </a:solidFill>
              <a:effectLst/>
              <a:uLnTx/>
              <a:uFillTx/>
              <a:latin typeface="Calibri" panose="020F0502020204030204"/>
              <a:ea typeface="Calibri" panose="020F0502020204030204"/>
              <a:cs typeface="Calibri" panose="020F0502020204030204"/>
            </a:endParaRPr>
          </a:p>
          <a:p>
            <a:pPr marL="742950" marR="0" lvl="0" indent="-285750" algn="l" defTabSz="914400" rtl="0" eaLnBrk="1" fontAlgn="auto" latinLnBrk="0" hangingPunct="1">
              <a:lnSpc>
                <a:spcPct val="100000"/>
              </a:lnSpc>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lang="id-ID" sz="1600" b="1" noProof="0">
                <a:ln>
                  <a:noFill/>
                </a:ln>
                <a:solidFill>
                  <a:srgbClr val="000000"/>
                </a:solidFill>
                <a:effectLst/>
                <a:uLnTx/>
                <a:uFillTx/>
                <a:latin typeface="Calibri" panose="020F0502020204030204"/>
                <a:ea typeface="Calibri" panose="020F0502020204030204"/>
                <a:cs typeface="Calibri" panose="020F0502020204030204"/>
                <a:sym typeface="+mn-ea"/>
              </a:rPr>
              <a:t>Non génératif</a:t>
            </a:r>
            <a:r>
              <a:rPr lang="id-ID" sz="1600" noProof="0">
                <a:ln>
                  <a:noFill/>
                </a:ln>
                <a:solidFill>
                  <a:srgbClr val="000000"/>
                </a:solidFill>
                <a:effectLst/>
                <a:uLnTx/>
                <a:uFillTx/>
                <a:latin typeface="Calibri" panose="020F0502020204030204"/>
                <a:ea typeface="Calibri" panose="020F0502020204030204"/>
                <a:cs typeface="Calibri" panose="020F0502020204030204"/>
                <a:sym typeface="+mn-ea"/>
              </a:rPr>
              <a:t> : BERT comprend mais ne génère pas de texte.</a:t>
            </a:r>
            <a:endParaRPr kumimoji="0" lang="id-ID" sz="16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auto" latinLnBrk="0" hangingPunct="1">
              <a:lnSpc>
                <a:spcPct val="100000"/>
              </a:lnSpc>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lang="id-ID" sz="1600" b="1" noProof="0">
                <a:ln>
                  <a:noFill/>
                </a:ln>
                <a:solidFill>
                  <a:srgbClr val="000000"/>
                </a:solidFill>
                <a:effectLst/>
                <a:uLnTx/>
                <a:uFillTx/>
                <a:latin typeface="Calibri" panose="020F0502020204030204"/>
                <a:ea typeface="Calibri" panose="020F0502020204030204"/>
                <a:cs typeface="Calibri" panose="020F0502020204030204"/>
                <a:sym typeface="+mn-ea"/>
              </a:rPr>
              <a:t>Modèle monotâche</a:t>
            </a:r>
            <a:r>
              <a:rPr lang="id-ID" sz="1600" noProof="0">
                <a:ln>
                  <a:noFill/>
                </a:ln>
                <a:solidFill>
                  <a:srgbClr val="000000"/>
                </a:solidFill>
                <a:effectLst/>
                <a:uLnTx/>
                <a:uFillTx/>
                <a:latin typeface="Calibri" panose="020F0502020204030204"/>
                <a:ea typeface="Calibri" panose="020F0502020204030204"/>
                <a:cs typeface="Calibri" panose="020F0502020204030204"/>
                <a:sym typeface="+mn-ea"/>
              </a:rPr>
              <a:t> : chaque tâche nécessite une phase de fine-tuning séparée.</a:t>
            </a:r>
            <a:endParaRPr kumimoji="0" lang="id-ID" sz="1600" b="0" i="0" u="none" strike="noStrike" kern="1200" cap="none" spc="0" normalizeH="0" baseline="0" noProof="0">
              <a:ln>
                <a:noFill/>
              </a:ln>
              <a:solidFill>
                <a:srgbClr val="000000"/>
              </a:solidFill>
              <a:effectLst/>
              <a:uLnTx/>
              <a:uFillTx/>
              <a:latin typeface="Calibri" panose="020F0502020204030204"/>
              <a:ea typeface="+mn-ea"/>
              <a:cs typeface="+mn-cs"/>
            </a:endParaRPr>
          </a:p>
          <a:p>
            <a:pPr marL="742950" marR="0" lvl="1" indent="-285750" algn="l" defTabSz="914400" rtl="0" eaLnBrk="1" fontAlgn="auto" latinLnBrk="0" hangingPunct="1">
              <a:lnSpc>
                <a:spcPct val="100000"/>
              </a:lnSpc>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lang="id-ID" sz="1600" b="1" noProof="0">
                <a:ln>
                  <a:noFill/>
                </a:ln>
                <a:solidFill>
                  <a:srgbClr val="000000"/>
                </a:solidFill>
                <a:effectLst/>
                <a:uLnTx/>
                <a:uFillTx/>
                <a:latin typeface="Calibri" panose="020F0502020204030204"/>
                <a:ea typeface="Calibri" panose="020F0502020204030204"/>
                <a:cs typeface="Calibri" panose="020F0502020204030204"/>
                <a:sym typeface="+mn-ea"/>
              </a:rPr>
              <a:t>Architecture figée</a:t>
            </a:r>
            <a:r>
              <a:rPr lang="id-ID" sz="1600" noProof="0">
                <a:ln>
                  <a:noFill/>
                </a:ln>
                <a:solidFill>
                  <a:srgbClr val="000000"/>
                </a:solidFill>
                <a:effectLst/>
                <a:uLnTx/>
                <a:uFillTx/>
                <a:latin typeface="Calibri" panose="020F0502020204030204"/>
                <a:ea typeface="Calibri" panose="020F0502020204030204"/>
                <a:cs typeface="Calibri" panose="020F0502020204030204"/>
                <a:sym typeface="+mn-ea"/>
              </a:rPr>
              <a:t> : peu flexible en usage multitâche.</a:t>
            </a:r>
            <a:endParaRPr kumimoji="0" lang="id-ID" sz="16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endParaRPr>
          </a:p>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5211779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8026400" cy="768350"/>
          </a:xfrm>
          <a:prstGeom prst="rect">
            <a:avLst/>
          </a:prstGeom>
          <a:noFill/>
          <a:ln w="9525">
            <a:noFill/>
          </a:ln>
        </p:spPr>
        <p:txBody>
          <a:bodyPr wrap="none">
            <a:spAutoFit/>
          </a:bodyPr>
          <a:lstStyle/>
          <a:p>
            <a:pPr eaLnBrk="1" hangingPunct="1"/>
            <a:r>
              <a:rPr lang="id-ID" altLang="x-none" sz="4400" dirty="0">
                <a:solidFill>
                  <a:srgbClr val="7F7F7F"/>
                </a:solidFill>
                <a:ea typeface="Open Sans"/>
                <a:cs typeface="Calibri" panose="020F0502020204030204" pitchFamily="34" charset="0"/>
              </a:rPr>
              <a:t>Contexte historique et limitations :</a:t>
            </a:r>
            <a:endParaRPr lang="fr-FR" altLang="x-none" dirty="0">
              <a:solidFill>
                <a:srgbClr val="7F7F7F"/>
              </a:solidFill>
              <a:cs typeface="Calibri" panose="020F0502020204030204" pitchFamily="34" charset="0"/>
            </a:endParaRPr>
          </a:p>
        </p:txBody>
      </p:sp>
      <p:sp>
        <p:nvSpPr>
          <p:cNvPr id="3" name="Rectangle 24"/>
          <p:cNvSpPr/>
          <p:nvPr/>
        </p:nvSpPr>
        <p:spPr>
          <a:xfrm>
            <a:off x="1016000" y="1417638"/>
            <a:ext cx="10544175" cy="1568450"/>
          </a:xfrm>
          <a:prstGeom prst="rect">
            <a:avLst/>
          </a:prstGeom>
          <a:noFill/>
          <a:ln w="9525">
            <a:noFill/>
          </a:ln>
        </p:spPr>
        <p:txBody>
          <a:bodyPr>
            <a:spAutoFit/>
          </a:bodyPr>
          <a:lstStyle/>
          <a:p>
            <a:pPr eaLnBrk="1" hangingPunct="1"/>
            <a:r>
              <a:rPr lang="id-ID" altLang="x-none" sz="1600" dirty="0">
                <a:solidFill>
                  <a:srgbClr val="000000"/>
                </a:solidFill>
                <a:latin typeface="Calibri" panose="020F0502020204030204" pitchFamily="34" charset="0"/>
                <a:cs typeface="Calibri" panose="020F0502020204030204" pitchFamily="34" charset="0"/>
              </a:rPr>
              <a:t>GPTs  </a:t>
            </a:r>
            <a:r>
              <a:rPr lang="id-ID" altLang="x-none" sz="1600" dirty="0">
                <a:solidFill>
                  <a:srgbClr val="88A945"/>
                </a:solidFill>
                <a:latin typeface="Calibri" panose="020F0502020204030204" pitchFamily="34" charset="0"/>
                <a:cs typeface="Calibri" panose="020F0502020204030204" pitchFamily="34" charset="0"/>
              </a:rPr>
              <a:t>(201</a:t>
            </a:r>
            <a:r>
              <a:rPr lang="fr-FR" altLang="id-ID" sz="1600" dirty="0">
                <a:solidFill>
                  <a:srgbClr val="88A945"/>
                </a:solidFill>
                <a:latin typeface="Calibri" panose="020F0502020204030204" pitchFamily="34" charset="0"/>
                <a:cs typeface="Calibri" panose="020F0502020204030204" pitchFamily="34" charset="0"/>
              </a:rPr>
              <a:t>8</a:t>
            </a:r>
            <a:r>
              <a:rPr lang="id-ID" altLang="x-none" sz="1600" dirty="0">
                <a:solidFill>
                  <a:srgbClr val="88A945"/>
                </a:solidFill>
                <a:latin typeface="Calibri" panose="020F0502020204030204" pitchFamily="34" charset="0"/>
                <a:cs typeface="Calibri" panose="020F0502020204030204" pitchFamily="34" charset="0"/>
              </a:rPr>
              <a:t>) : </a:t>
            </a:r>
            <a:r>
              <a:rPr lang="id-ID" altLang="x-none" sz="1600" dirty="0">
                <a:solidFill>
                  <a:srgbClr val="000000"/>
                </a:solidFill>
                <a:latin typeface="Calibri" panose="020F0502020204030204" pitchFamily="34" charset="0"/>
                <a:cs typeface="Calibri" panose="020F0502020204030204" pitchFamily="34" charset="0"/>
              </a:rPr>
              <a:t>Ce sont des modèles autoregressifs capables de </a:t>
            </a:r>
            <a:r>
              <a:rPr lang="id-ID" altLang="x-none" sz="1600" dirty="0">
                <a:solidFill>
                  <a:srgbClr val="0070C0"/>
                </a:solidFill>
                <a:latin typeface="Calibri" panose="020F0502020204030204" pitchFamily="34" charset="0"/>
                <a:cs typeface="Calibri" panose="020F0502020204030204" pitchFamily="34" charset="0"/>
              </a:rPr>
              <a:t>générer du texte fluide</a:t>
            </a:r>
            <a:r>
              <a:rPr lang="id-ID" altLang="x-none" sz="1600" b="1" dirty="0">
                <a:solidFill>
                  <a:srgbClr val="000000"/>
                </a:solidFill>
                <a:latin typeface="Calibri" panose="020F0502020204030204" pitchFamily="34" charset="0"/>
                <a:cs typeface="Calibri" panose="020F0502020204030204" pitchFamily="34" charset="0"/>
              </a:rPr>
              <a:t> </a:t>
            </a:r>
            <a:r>
              <a:rPr lang="id-ID" altLang="x-none" sz="1600" dirty="0">
                <a:solidFill>
                  <a:srgbClr val="000000"/>
                </a:solidFill>
                <a:latin typeface="Calibri" panose="020F0502020204030204" pitchFamily="34" charset="0"/>
                <a:cs typeface="Calibri" panose="020F0502020204030204" pitchFamily="34" charset="0"/>
              </a:rPr>
              <a:t>en analyse les mots de gauche </a:t>
            </a:r>
            <a:r>
              <a:rPr lang="id-ID" altLang="x-none" sz="1600" dirty="0">
                <a:solidFill>
                  <a:srgbClr val="000000"/>
                </a:solidFill>
                <a:latin typeface="Calibri" panose="020F0502020204030204" pitchFamily="34" charset="0"/>
                <a:ea typeface="Calibri" panose="020F0502020204030204" pitchFamily="34" charset="0"/>
              </a:rPr>
              <a:t>à</a:t>
            </a:r>
            <a:r>
              <a:rPr lang="id-ID" altLang="x-none" sz="1600" dirty="0">
                <a:solidFill>
                  <a:srgbClr val="000000"/>
                </a:solidFill>
                <a:latin typeface="Calibri" panose="020F0502020204030204" pitchFamily="34" charset="0"/>
                <a:cs typeface="Calibri" panose="020F0502020204030204" pitchFamily="34" charset="0"/>
              </a:rPr>
              <a:t> droite.</a:t>
            </a:r>
          </a:p>
          <a:p>
            <a:pPr eaLnBrk="1" hangingPunct="1"/>
            <a:endParaRPr lang="id-ID" altLang="x-none" sz="1600" dirty="0">
              <a:solidFill>
                <a:srgbClr val="000000"/>
              </a:solidFill>
              <a:latin typeface="Calibri" panose="020F0502020204030204" pitchFamily="34" charset="0"/>
              <a:ea typeface="Calibri" panose="020F0502020204030204" pitchFamily="34" charset="0"/>
            </a:endParaRPr>
          </a:p>
          <a:p>
            <a:pPr lvl="1" eaLnBrk="1" hangingPunct="1"/>
            <a:r>
              <a:rPr lang="id-ID" altLang="x-none" sz="1600" dirty="0">
                <a:solidFill>
                  <a:srgbClr val="FF0000"/>
                </a:solidFill>
                <a:cs typeface="Calibri" panose="020F0502020204030204" pitchFamily="34" charset="0"/>
                <a:sym typeface="+mn-ea"/>
              </a:rPr>
              <a:t>Limitations:</a:t>
            </a:r>
            <a:endParaRPr lang="fr-FR" altLang="x-none" sz="1600" dirty="0">
              <a:solidFill>
                <a:srgbClr val="FF0000"/>
              </a:solidFill>
              <a:latin typeface="Calibri" panose="020F0502020204030204" pitchFamily="34" charset="0"/>
              <a:cs typeface="Calibri" panose="020F0502020204030204" pitchFamily="34" charset="0"/>
            </a:endParaRPr>
          </a:p>
          <a:p>
            <a:pPr lvl="1" eaLnBrk="1" hangingPunct="1"/>
            <a:r>
              <a:rPr lang="id-ID" altLang="x-none" sz="1600" dirty="0">
                <a:solidFill>
                  <a:srgbClr val="000000"/>
                </a:solidFill>
                <a:cs typeface="Calibri" panose="020F0502020204030204" pitchFamily="34" charset="0"/>
                <a:sym typeface="+mn-ea"/>
              </a:rPr>
              <a:t>        Ce des modèles uniquement génératifs et trop généraliste dans le sens où ils peuvent produire des textes absurdes</a:t>
            </a:r>
            <a:r>
              <a:rPr lang="id-ID" altLang="x-none" sz="1600" dirty="0">
                <a:solidFill>
                  <a:srgbClr val="FFFFFF"/>
                </a:solidFill>
                <a:cs typeface="Calibri" panose="020F0502020204030204" pitchFamily="34" charset="0"/>
                <a:sym typeface="+mn-ea"/>
              </a:rPr>
              <a:t>.</a:t>
            </a:r>
            <a:r>
              <a:rPr lang="id-ID" altLang="x-none" sz="1600" dirty="0">
                <a:solidFill>
                  <a:srgbClr val="000000"/>
                </a:solidFill>
                <a:cs typeface="Calibri" panose="020F0502020204030204" pitchFamily="34" charset="0"/>
                <a:sym typeface="+mn-ea"/>
              </a:rPr>
              <a:t>et incohérents. </a:t>
            </a:r>
            <a:endParaRPr lang="id-ID" altLang="x-none" sz="1600" dirty="0">
              <a:solidFill>
                <a:srgbClr val="000000"/>
              </a:solidFill>
              <a:latin typeface="Calibri" panose="020F0502020204030204" pitchFamily="34" charset="0"/>
              <a:ea typeface="Calibri" panose="020F0502020204030204" pitchFamily="34" charset="0"/>
            </a:endParaRPr>
          </a:p>
          <a:p>
            <a:pPr eaLnBrk="1" hangingPunct="1"/>
            <a:endParaRPr lang="id-ID"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4830"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831"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832"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833"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834"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835"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a:off x="1014413" y="3116263"/>
            <a:ext cx="10544175" cy="2799715"/>
          </a:xfrm>
          <a:prstGeom prst="rect">
            <a:avLst/>
          </a:prstGeom>
          <a:noFill/>
          <a:ln w="9525">
            <a:noFill/>
          </a:ln>
        </p:spPr>
        <p:txBody>
          <a:bodyPr>
            <a:spAutoFit/>
          </a:bodyPr>
          <a:lstStyle/>
          <a:p>
            <a:pPr eaLnBrk="1" hangingPunct="1"/>
            <a:r>
              <a:rPr lang="id-ID" altLang="x-none" sz="1600" dirty="0">
                <a:solidFill>
                  <a:srgbClr val="000000"/>
                </a:solidFill>
                <a:latin typeface="Calibri" panose="020F0502020204030204" pitchFamily="34" charset="0"/>
                <a:cs typeface="Calibri" panose="020F0502020204030204" pitchFamily="34" charset="0"/>
              </a:rPr>
              <a:t>Text-To-Text Transfer Transformer </a:t>
            </a:r>
            <a:r>
              <a:rPr lang="id-ID" altLang="x-none" sz="1600" dirty="0">
                <a:solidFill>
                  <a:srgbClr val="88A945"/>
                </a:solidFill>
                <a:latin typeface="Calibri" panose="020F0502020204030204" pitchFamily="34" charset="0"/>
                <a:cs typeface="Calibri" panose="020F0502020204030204" pitchFamily="34" charset="0"/>
              </a:rPr>
              <a:t>(2020) : </a:t>
            </a:r>
            <a:r>
              <a:rPr lang="id-ID" altLang="x-none" sz="1600" dirty="0">
                <a:solidFill>
                  <a:srgbClr val="000000"/>
                </a:solidFill>
                <a:latin typeface="Calibri" panose="020F0502020204030204" pitchFamily="34" charset="0"/>
                <a:cs typeface="Calibri" panose="020F0502020204030204" pitchFamily="34" charset="0"/>
              </a:rPr>
              <a:t>Le modèle T5  de Google propose une approche unifiée où </a:t>
            </a:r>
            <a:r>
              <a:rPr lang="id-ID" altLang="x-none" sz="1600" dirty="0">
                <a:solidFill>
                  <a:srgbClr val="0070C0"/>
                </a:solidFill>
                <a:latin typeface="Calibri" panose="020F0502020204030204" pitchFamily="34" charset="0"/>
                <a:cs typeface="Calibri" panose="020F0502020204030204" pitchFamily="34" charset="0"/>
              </a:rPr>
              <a:t>toutes les tâches sont formulées comme des problèmes de génération de texte </a:t>
            </a:r>
            <a:r>
              <a:rPr lang="id-ID" altLang="x-none" sz="1600" dirty="0">
                <a:solidFill>
                  <a:srgbClr val="000000"/>
                </a:solidFill>
                <a:latin typeface="Calibri" panose="020F0502020204030204" pitchFamily="34" charset="0"/>
                <a:cs typeface="Calibri" panose="020F0502020204030204" pitchFamily="34" charset="0"/>
              </a:rPr>
              <a:t>et il est entraîné sur de</a:t>
            </a:r>
            <a:r>
              <a:rPr lang="id-ID" altLang="x-none" sz="1600" dirty="0">
                <a:solidFill>
                  <a:srgbClr val="0070C0"/>
                </a:solidFill>
                <a:latin typeface="Calibri" panose="020F0502020204030204" pitchFamily="34" charset="0"/>
                <a:cs typeface="Calibri" panose="020F0502020204030204" pitchFamily="34" charset="0"/>
              </a:rPr>
              <a:t> multiples tâches </a:t>
            </a:r>
            <a:r>
              <a:rPr lang="id-ID" altLang="x-none" sz="1600" dirty="0">
                <a:solidFill>
                  <a:srgbClr val="000000"/>
                </a:solidFill>
                <a:latin typeface="Calibri" panose="020F0502020204030204" pitchFamily="34" charset="0"/>
                <a:cs typeface="Calibri" panose="020F0502020204030204" pitchFamily="34" charset="0"/>
              </a:rPr>
              <a:t>simultanément avec des préfixes indiquant la tâche </a:t>
            </a:r>
            <a:r>
              <a:rPr lang="id-ID" altLang="x-none" sz="1600" dirty="0">
                <a:solidFill>
                  <a:srgbClr val="000000"/>
                </a:solidFill>
                <a:latin typeface="Calibri" panose="020F0502020204030204" pitchFamily="34" charset="0"/>
                <a:ea typeface="Calibri" panose="020F0502020204030204" pitchFamily="34" charset="0"/>
              </a:rPr>
              <a:t>à</a:t>
            </a:r>
            <a:r>
              <a:rPr lang="id-ID" altLang="x-none" sz="1600" dirty="0">
                <a:solidFill>
                  <a:srgbClr val="000000"/>
                </a:solidFill>
                <a:latin typeface="Calibri" panose="020F0502020204030204" pitchFamily="34" charset="0"/>
                <a:cs typeface="Calibri" panose="020F0502020204030204" pitchFamily="34" charset="0"/>
              </a:rPr>
              <a:t> effectuer</a:t>
            </a:r>
            <a:r>
              <a:rPr lang="fr-FR" altLang="id-ID" sz="1600" dirty="0">
                <a:solidFill>
                  <a:srgbClr val="000000"/>
                </a:solidFill>
                <a:latin typeface="Calibri" panose="020F0502020204030204" pitchFamily="34" charset="0"/>
                <a:cs typeface="Calibri" panose="020F0502020204030204" pitchFamily="34" charset="0"/>
              </a:rPr>
              <a:t>.</a:t>
            </a:r>
          </a:p>
          <a:p>
            <a:pPr eaLnBrk="1" hangingPunct="1"/>
            <a:endParaRPr lang="fr-FR" altLang="id-ID"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eaLnBrk="1" hangingPunct="1"/>
            <a:r>
              <a:rPr lang="id-ID" altLang="x-none" sz="1600" dirty="0">
                <a:solidFill>
                  <a:srgbClr val="FF0000"/>
                </a:solidFill>
                <a:cs typeface="Calibri" panose="020F0502020204030204" pitchFamily="34" charset="0"/>
                <a:sym typeface="+mn-ea"/>
              </a:rPr>
              <a:t>Limitations:</a:t>
            </a:r>
            <a:endParaRPr lang="fr-FR" altLang="x-none" sz="1600" dirty="0">
              <a:solidFill>
                <a:srgbClr val="FF0000"/>
              </a:solidFill>
              <a:latin typeface="Calibri" panose="020F0502020204030204" pitchFamily="34" charset="0"/>
              <a:cs typeface="Calibri" panose="020F0502020204030204" pitchFamily="34" charset="0"/>
            </a:endParaRPr>
          </a:p>
          <a:p>
            <a:pPr marL="742950" indent="-285750" eaLnBrk="1" hangingPunct="1">
              <a:buSzPct val="100000"/>
              <a:buFont typeface="Arial" panose="020B0604020202020204" pitchFamily="34" charset="0"/>
              <a:buChar char="•"/>
            </a:pPr>
            <a:r>
              <a:rPr lang="id-ID" altLang="x-none" sz="1600" b="1" dirty="0">
                <a:solidFill>
                  <a:srgbClr val="000000"/>
                </a:solidFill>
                <a:cs typeface="Calibri" panose="020F0502020204030204" pitchFamily="34" charset="0"/>
                <a:sym typeface="+mn-ea"/>
              </a:rPr>
              <a:t>Monotonie : </a:t>
            </a:r>
            <a:r>
              <a:rPr lang="id-ID" altLang="x-none" sz="1600" dirty="0">
                <a:solidFill>
                  <a:srgbClr val="000000"/>
                </a:solidFill>
                <a:cs typeface="Calibri" panose="020F0502020204030204" pitchFamily="34" charset="0"/>
                <a:sym typeface="+mn-ea"/>
              </a:rPr>
              <a:t>même si le modèle est multitâche mais il reste tout de même monodal car il ne traite que du texte</a:t>
            </a:r>
            <a:endParaRPr lang="id-ID" altLang="x-none" sz="1600" dirty="0">
              <a:solidFill>
                <a:srgbClr val="000000"/>
              </a:solidFill>
              <a:latin typeface="Calibri" panose="020F0502020204030204" pitchFamily="34" charset="0"/>
              <a:cs typeface="Calibri" panose="020F0502020204030204" pitchFamily="34" charset="0"/>
            </a:endParaRPr>
          </a:p>
          <a:p>
            <a:pPr marL="742950" indent="-285750" eaLnBrk="1" hangingPunct="1">
              <a:buSzPct val="100000"/>
              <a:buFont typeface="Arial" panose="020B0604020202020204" pitchFamily="34" charset="0"/>
              <a:buChar char="•"/>
            </a:pPr>
            <a:r>
              <a:rPr lang="id-ID" altLang="x-none" sz="1600" b="1" dirty="0">
                <a:solidFill>
                  <a:srgbClr val="000000"/>
                </a:solidFill>
                <a:cs typeface="Calibri" panose="020F0502020204030204" pitchFamily="34" charset="0"/>
                <a:sym typeface="+mn-ea"/>
              </a:rPr>
              <a:t>Couteux : </a:t>
            </a:r>
            <a:r>
              <a:rPr lang="id-ID" altLang="x-none" sz="1600" dirty="0">
                <a:solidFill>
                  <a:srgbClr val="000000"/>
                </a:solidFill>
                <a:cs typeface="Calibri" panose="020F0502020204030204" pitchFamily="34" charset="0"/>
                <a:sym typeface="+mn-ea"/>
              </a:rPr>
              <a:t>car chaque tâche nécessite un finetuning très couteux</a:t>
            </a:r>
            <a:endParaRPr lang="id-ID" altLang="x-none" sz="1600" dirty="0">
              <a:solidFill>
                <a:srgbClr val="000000"/>
              </a:solidFill>
              <a:latin typeface="Calibri" panose="020F0502020204030204" pitchFamily="34" charset="0"/>
              <a:cs typeface="Calibri" panose="020F0502020204030204" pitchFamily="34" charset="0"/>
            </a:endParaRPr>
          </a:p>
          <a:p>
            <a:pPr marL="742950" indent="-285750" eaLnBrk="1" hangingPunct="1">
              <a:buSzPct val="100000"/>
              <a:buFont typeface="Arial" panose="020B0604020202020204" pitchFamily="34" charset="0"/>
              <a:buChar char="•"/>
            </a:pPr>
            <a:r>
              <a:rPr lang="id-ID" altLang="x-none" sz="1600" b="1" dirty="0">
                <a:solidFill>
                  <a:srgbClr val="000000"/>
                </a:solidFill>
                <a:cs typeface="Calibri" panose="020F0502020204030204" pitchFamily="34" charset="0"/>
                <a:sym typeface="+mn-ea"/>
              </a:rPr>
              <a:t>Pas de modularité: </a:t>
            </a:r>
            <a:r>
              <a:rPr lang="id-ID" altLang="x-none" sz="1600" dirty="0">
                <a:solidFill>
                  <a:srgbClr val="000000"/>
                </a:solidFill>
                <a:cs typeface="Calibri" panose="020F0502020204030204" pitchFamily="34" charset="0"/>
                <a:sym typeface="+mn-ea"/>
              </a:rPr>
              <a:t>car il active tous ses paramètres pour chaque tâche, même si seule une partie serait suffisante.</a:t>
            </a:r>
            <a:endParaRPr lang="id-ID" altLang="x-none" sz="1600" b="1" dirty="0">
              <a:solidFill>
                <a:srgbClr val="000000"/>
              </a:solidFill>
              <a:latin typeface="Calibri" panose="020F0502020204030204" pitchFamily="34" charset="0"/>
              <a:cs typeface="Calibri" panose="020F0502020204030204" pitchFamily="34" charset="0"/>
            </a:endParaRPr>
          </a:p>
          <a:p>
            <a:pPr marL="742950" indent="-285750" eaLnBrk="1" hangingPunct="1">
              <a:buSzPct val="100000"/>
              <a:buFont typeface="Arial" panose="020B0604020202020204" pitchFamily="34" charset="0"/>
              <a:buChar char="•"/>
            </a:pPr>
            <a:endParaRPr lang="id-ID" altLang="x-none" sz="1600" b="1" dirty="0">
              <a:solidFill>
                <a:srgbClr val="000000"/>
              </a:solidFill>
              <a:latin typeface="Calibri" panose="020F0502020204030204" pitchFamily="34" charset="0"/>
              <a:cs typeface="Calibri" panose="020F0502020204030204" pitchFamily="34" charset="0"/>
            </a:endParaRPr>
          </a:p>
          <a:p>
            <a:pPr lvl="1" eaLnBrk="1" hangingPunct="1"/>
            <a:endParaRPr lang="id-ID" altLang="x-none" sz="1600" dirty="0">
              <a:solidFill>
                <a:srgbClr val="000000"/>
              </a:solidFill>
              <a:latin typeface="Calibri" panose="020F0502020204030204" pitchFamily="34" charset="0"/>
              <a:ea typeface="Calibri" panose="020F0502020204030204" pitchFamily="34" charset="0"/>
            </a:endParaRPr>
          </a:p>
          <a:p>
            <a:pPr eaLnBrk="1" hangingPunct="1"/>
            <a:endParaRPr lang="fr-FR" altLang="id-ID" sz="1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9"/>
          <p:cNvSpPr txBox="1"/>
          <p:nvPr/>
        </p:nvSpPr>
        <p:spPr>
          <a:xfrm>
            <a:off x="176213" y="-3175"/>
            <a:ext cx="3027362" cy="829945"/>
          </a:xfrm>
          <a:prstGeom prst="rect">
            <a:avLst/>
          </a:prstGeom>
          <a:noFill/>
          <a:ln w="9525">
            <a:noFill/>
          </a:ln>
        </p:spPr>
        <p:txBody>
          <a:bodyPr anchor="t" anchorCtr="1">
            <a:spAutoFit/>
          </a:bodyPr>
          <a:lstStyle/>
          <a:p>
            <a:pPr algn="ctr" eaLnBrk="1" hangingPunct="1"/>
            <a:r>
              <a:rPr lang="id-ID" altLang="x-none" sz="4800" dirty="0">
                <a:solidFill>
                  <a:srgbClr val="7F7F7F"/>
                </a:solidFill>
                <a:cs typeface="Calibri" panose="020F0502020204030204" pitchFamily="34" charset="0"/>
              </a:rPr>
              <a:t>Pathways</a:t>
            </a:r>
            <a:endParaRPr lang="fr-FR" altLang="x-none" dirty="0">
              <a:solidFill>
                <a:srgbClr val="000000"/>
              </a:solidFill>
              <a:cs typeface="Calibri" panose="020F0502020204030204" pitchFamily="34" charset="0"/>
            </a:endParaRPr>
          </a:p>
        </p:txBody>
      </p:sp>
      <p:pic>
        <p:nvPicPr>
          <p:cNvPr id="35843" name="Image 4" descr="Une image contenant texte, garçon, capture d’écran, habits&#10;&#10;Le contenu généré par l’IA peut être incorrect."/>
          <p:cNvPicPr>
            <a:picLocks noChangeAspect="1"/>
          </p:cNvPicPr>
          <p:nvPr/>
        </p:nvPicPr>
        <p:blipFill>
          <a:blip r:embed="rId2"/>
          <a:srcRect l="502" t="17390" r="423"/>
          <a:stretch>
            <a:fillRect/>
          </a:stretch>
        </p:blipFill>
        <p:spPr>
          <a:xfrm>
            <a:off x="1268413" y="828675"/>
            <a:ext cx="10579100" cy="5875338"/>
          </a:xfrm>
          <a:prstGeom prst="rect">
            <a:avLst/>
          </a:prstGeom>
          <a:noFill/>
          <a:ln w="9525">
            <a:noFill/>
          </a:ln>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9"/>
          <p:cNvSpPr txBox="1"/>
          <p:nvPr/>
        </p:nvSpPr>
        <p:spPr>
          <a:xfrm>
            <a:off x="394970" y="-4762"/>
            <a:ext cx="250888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Pathways</a:t>
            </a:r>
            <a:endParaRPr lang="fr-FR" altLang="x-none" dirty="0">
              <a:solidFill>
                <a:srgbClr val="000000"/>
              </a:solidFill>
              <a:cs typeface="Calibri" panose="020F0502020204030204" pitchFamily="34" charset="0"/>
            </a:endParaRPr>
          </a:p>
        </p:txBody>
      </p:sp>
      <p:sp>
        <p:nvSpPr>
          <p:cNvPr id="3" name="ZoneTexte 4"/>
          <p:cNvSpPr txBox="1"/>
          <p:nvPr/>
        </p:nvSpPr>
        <p:spPr>
          <a:xfrm>
            <a:off x="352425" y="944563"/>
            <a:ext cx="11596688" cy="5910263"/>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Pathways est une nouvelle architecture d'IA proposée par Google en </a:t>
            </a:r>
            <a:r>
              <a:rPr kumimoji="0" lang="fr-FR" kern="1200" cap="none" spc="0" normalizeH="0" baseline="0" noProof="0">
                <a:solidFill>
                  <a:srgbClr val="88A945"/>
                </a:solidFill>
                <a:latin typeface="Calibri" panose="020F0502020204030204"/>
                <a:ea typeface="Calibri" panose="020F0502020204030204"/>
                <a:cs typeface="Calibri" panose="020F0502020204030204"/>
              </a:rPr>
              <a:t>2021 </a:t>
            </a:r>
            <a:r>
              <a:rPr kumimoji="0" lang="fr-FR" kern="1200" cap="none" spc="0" normalizeH="0" baseline="0" noProof="0">
                <a:solidFill>
                  <a:srgbClr val="000000"/>
                </a:solidFill>
                <a:latin typeface="Calibri" panose="020F0502020204030204"/>
                <a:ea typeface="Calibri" panose="020F0502020204030204"/>
                <a:cs typeface="Calibri" panose="020F0502020204030204"/>
              </a:rPr>
              <a:t>pour résoudre certaines limitations des modèles d'IA actuels.</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br>
              <a:rPr kumimoji="0" lang="fr-FR" kern="1200" cap="none" spc="0" normalizeH="0" baseline="0" noProof="0">
                <a:solidFill>
                  <a:srgbClr val="000000"/>
                </a:solidFill>
                <a:latin typeface="Calibri" panose="020F0502020204030204"/>
                <a:ea typeface="Calibri" panose="020F0502020204030204"/>
                <a:cs typeface="Calibri" panose="020F0502020204030204"/>
              </a:rPr>
            </a:br>
            <a:r>
              <a:rPr kumimoji="0" lang="fr-FR" kern="1200" cap="none" spc="0" normalizeH="0" baseline="0" noProof="0">
                <a:solidFill>
                  <a:srgbClr val="000000"/>
                </a:solidFill>
                <a:latin typeface="Calibri" panose="020F0502020204030204"/>
                <a:ea typeface="Calibri" panose="020F0502020204030204"/>
                <a:cs typeface="Calibri" panose="020F0502020204030204"/>
              </a:rPr>
              <a:t>Plutôt que d'entraîner un modèle géant pour </a:t>
            </a:r>
            <a:r>
              <a:rPr kumimoji="0" lang="fr-FR" kern="1200" cap="none" spc="0" normalizeH="0" baseline="0" noProof="0">
                <a:solidFill>
                  <a:srgbClr val="0070C0"/>
                </a:solidFill>
                <a:latin typeface="Calibri" panose="020F0502020204030204"/>
                <a:ea typeface="Calibri" panose="020F0502020204030204"/>
                <a:cs typeface="Calibri" panose="020F0502020204030204"/>
              </a:rPr>
              <a:t>une seule tâche</a:t>
            </a:r>
            <a:r>
              <a:rPr kumimoji="0" lang="fr-FR" kern="1200" cap="none" spc="0" normalizeH="0" baseline="0" noProof="0">
                <a:solidFill>
                  <a:srgbClr val="000000"/>
                </a:solidFill>
                <a:latin typeface="Calibri" panose="020F0502020204030204"/>
                <a:ea typeface="Calibri" panose="020F0502020204030204"/>
                <a:cs typeface="Calibri" panose="020F0502020204030204"/>
              </a:rPr>
              <a:t> (comme la traduction ou l’analyse d’images), Pathways vise à créer un modèle</a:t>
            </a:r>
            <a:r>
              <a:rPr kumimoji="0" lang="fr-FR" kern="1200" cap="none" spc="0" normalizeH="0" baseline="0" noProof="0">
                <a:solidFill>
                  <a:srgbClr val="FF0000"/>
                </a:solidFill>
                <a:latin typeface="Calibri" panose="020F0502020204030204"/>
                <a:ea typeface="Calibri" panose="020F0502020204030204"/>
                <a:cs typeface="Calibri" panose="020F0502020204030204"/>
              </a:rPr>
              <a:t> unique, multimodal, capable de généraliser</a:t>
            </a:r>
            <a:r>
              <a:rPr kumimoji="0" lang="fr-FR" kern="1200" cap="none" spc="0" normalizeH="0" baseline="0" noProof="0">
                <a:solidFill>
                  <a:srgbClr val="000000"/>
                </a:solidFill>
                <a:latin typeface="Calibri" panose="020F0502020204030204"/>
                <a:ea typeface="Calibri" panose="020F0502020204030204"/>
                <a:cs typeface="Calibri" panose="020F0502020204030204"/>
              </a:rPr>
              <a:t> à travers de multiples tâches et domaines.</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Cette architecture s'appuient sur trois principales idées:</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r>
              <a:rPr kumimoji="0" lang="fr-FR" b="1" kern="1200" cap="none" spc="0" normalizeH="0" baseline="0" noProof="0">
                <a:solidFill>
                  <a:srgbClr val="000000"/>
                </a:solidFill>
                <a:latin typeface="Calibri" panose="020F0502020204030204"/>
                <a:ea typeface="Calibri" panose="020F0502020204030204"/>
                <a:cs typeface="Calibri" panose="020F0502020204030204"/>
              </a:rPr>
              <a:t>Apprentissage en transfert et généralisation</a:t>
            </a:r>
            <a:r>
              <a:rPr kumimoji="0" lang="fr-FR" kern="1200" cap="none" spc="0" normalizeH="0" baseline="0" noProof="0">
                <a:solidFill>
                  <a:srgbClr val="000000"/>
                </a:solidFill>
                <a:latin typeface="Calibri" panose="020F0502020204030204"/>
                <a:ea typeface="Calibri" panose="020F0502020204030204"/>
                <a:cs typeface="Calibri" panose="020F0502020204030204"/>
              </a:rPr>
              <a:t> : Pathways transforme radicalement l'approche traditionnelle de l'IA en remplaçant l'apprentissage "</a:t>
            </a:r>
            <a:r>
              <a:rPr kumimoji="0" lang="fr-FR" kern="1200" cap="none" spc="0" normalizeH="0" baseline="0" noProof="0">
                <a:solidFill>
                  <a:srgbClr val="0070C0"/>
                </a:solidFill>
                <a:latin typeface="Calibri" panose="020F0502020204030204"/>
                <a:ea typeface="Calibri" panose="020F0502020204030204"/>
                <a:cs typeface="Calibri" panose="020F0502020204030204"/>
              </a:rPr>
              <a:t>from scratch</a:t>
            </a:r>
            <a:r>
              <a:rPr kumimoji="0" lang="fr-FR" kern="1200" cap="none" spc="0" normalizeH="0" baseline="0" noProof="0">
                <a:solidFill>
                  <a:srgbClr val="000000"/>
                </a:solidFill>
                <a:latin typeface="Calibri" panose="020F0502020204030204"/>
                <a:ea typeface="Calibri" panose="020F0502020204030204"/>
                <a:cs typeface="Calibri" panose="020F0502020204030204"/>
              </a:rPr>
              <a:t>" par un </a:t>
            </a:r>
            <a:r>
              <a:rPr kumimoji="0" lang="fr-FR" kern="1200" cap="none" spc="0" normalizeH="0" baseline="0" noProof="0">
                <a:solidFill>
                  <a:srgbClr val="0070C0"/>
                </a:solidFill>
                <a:latin typeface="Calibri" panose="020F0502020204030204"/>
                <a:ea typeface="Calibri" panose="020F0502020204030204"/>
                <a:cs typeface="Calibri" panose="020F0502020204030204"/>
              </a:rPr>
              <a:t>apprentissage cumulatif </a:t>
            </a:r>
            <a:r>
              <a:rPr kumimoji="0" lang="fr-FR" kern="1200" cap="none" spc="0" normalizeH="0" baseline="0" noProof="0">
                <a:solidFill>
                  <a:srgbClr val="000000"/>
                </a:solidFill>
                <a:latin typeface="Calibri" panose="020F0502020204030204"/>
                <a:ea typeface="Calibri" panose="020F0502020204030204"/>
                <a:cs typeface="Calibri" panose="020F0502020204030204"/>
              </a:rPr>
              <a:t>où le modèle exploite ses apprentissages antérieurs pour exécuter de nouvelles tâches sans forcément nécessiter de nouvelles données .</a:t>
            </a: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r>
              <a:rPr kumimoji="0" lang="fr-FR" b="1" kern="1200" cap="none" spc="0" normalizeH="0" baseline="0" noProof="0">
                <a:solidFill>
                  <a:srgbClr val="000000"/>
                </a:solidFill>
                <a:latin typeface="Calibri" panose="020F0502020204030204"/>
                <a:ea typeface="Calibri" panose="020F0502020204030204"/>
                <a:cs typeface="Calibri" panose="020F0502020204030204"/>
              </a:rPr>
              <a:t>Multitâche</a:t>
            </a:r>
            <a:r>
              <a:rPr kumimoji="0" lang="fr-FR" kern="1200" cap="none" spc="0" normalizeH="0" baseline="0" noProof="0">
                <a:solidFill>
                  <a:srgbClr val="000000"/>
                </a:solidFill>
                <a:latin typeface="Calibri" panose="020F0502020204030204"/>
                <a:ea typeface="Calibri" panose="020F0502020204030204"/>
                <a:cs typeface="Calibri" panose="020F0502020204030204"/>
              </a:rPr>
              <a:t> : Pathways brise la contrainte mono-sensorielle des systèmes actuels où les modèles traditionnels sont spécialisés dans </a:t>
            </a:r>
            <a:r>
              <a:rPr kumimoji="0" lang="fr-FR" kern="1200" cap="none" spc="0" normalizeH="0" baseline="0" noProof="0">
                <a:solidFill>
                  <a:srgbClr val="0070C0"/>
                </a:solidFill>
                <a:latin typeface="Calibri" panose="020F0502020204030204"/>
                <a:ea typeface="Calibri" panose="020F0502020204030204"/>
                <a:cs typeface="Calibri" panose="020F0502020204030204"/>
              </a:rPr>
              <a:t>un seul type de données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(texte , images ou parole), contrairement aux humains qui utilisent plusieurs sens simultanément. Il permet de d'intégrer </a:t>
            </a:r>
            <a:r>
              <a:rPr kumimoji="0" lang="fr-FR" kern="1200" cap="none" spc="0" normalizeH="0" baseline="0" noProof="0">
                <a:solidFill>
                  <a:srgbClr val="FF0000"/>
                </a:solidFill>
                <a:latin typeface="Calibri" panose="020F0502020204030204"/>
                <a:ea typeface="Calibri" panose="020F0502020204030204"/>
                <a:cs typeface="Calibri" panose="020F0502020204030204"/>
              </a:rPr>
              <a:t>plusieurs modalités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et peut même analyser des données abstraites .</a:t>
            </a: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r>
              <a:rPr kumimoji="0" lang="fr-FR" b="1" kern="1200" cap="none" spc="0" normalizeH="0" baseline="0" noProof="0">
                <a:solidFill>
                  <a:srgbClr val="000000"/>
                </a:solidFill>
                <a:latin typeface="Calibri" panose="020F0502020204030204"/>
                <a:ea typeface="Calibri" panose="020F0502020204030204"/>
                <a:cs typeface="Calibri" panose="020F0502020204030204"/>
              </a:rPr>
              <a:t>Activation partielle</a:t>
            </a:r>
            <a:r>
              <a:rPr kumimoji="0" lang="fr-FR" kern="1200" cap="none" spc="0" normalizeH="0" baseline="0" noProof="0">
                <a:solidFill>
                  <a:srgbClr val="000000"/>
                </a:solidFill>
                <a:latin typeface="Calibri" panose="020F0502020204030204"/>
                <a:ea typeface="Calibri" panose="020F0502020204030204"/>
                <a:cs typeface="Calibri" panose="020F0502020204030204"/>
              </a:rPr>
              <a:t> : Pathways introduit une architecture d'</a:t>
            </a:r>
            <a:r>
              <a:rPr kumimoji="0" lang="fr-FR" kern="1200" cap="none" spc="0" normalizeH="0" baseline="0" noProof="0">
                <a:solidFill>
                  <a:srgbClr val="FF0000"/>
                </a:solidFill>
                <a:latin typeface="Calibri" panose="020F0502020204030204"/>
                <a:ea typeface="Calibri" panose="020F0502020204030204"/>
                <a:cs typeface="Calibri" panose="020F0502020204030204"/>
              </a:rPr>
              <a:t>activation sélective</a:t>
            </a:r>
            <a:r>
              <a:rPr kumimoji="0" lang="fr-FR" kern="1200" cap="none" spc="0" normalizeH="0" baseline="0" noProof="0">
                <a:solidFill>
                  <a:srgbClr val="000000"/>
                </a:solidFill>
                <a:latin typeface="Calibri" panose="020F0502020204030204"/>
                <a:ea typeface="Calibri" panose="020F0502020204030204"/>
                <a:cs typeface="Calibri" panose="020F0502020204030204"/>
              </a:rPr>
              <a:t> inspirée du fonctionnement cérébral où seules certaines </a:t>
            </a:r>
            <a:r>
              <a:rPr kumimoji="0" lang="fr-FR" i="1" kern="1200" cap="none" spc="0" normalizeH="0" baseline="0" noProof="0">
                <a:solidFill>
                  <a:srgbClr val="000000"/>
                </a:solidFill>
                <a:latin typeface="Calibri" panose="020F0502020204030204"/>
                <a:ea typeface="Calibri" panose="020F0502020204030204"/>
                <a:cs typeface="Calibri" panose="020F0502020204030204"/>
              </a:rPr>
              <a:t>voies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à travers le réseau sont activées quand c’est nécessaire et le modèle apprend </a:t>
            </a:r>
            <a:r>
              <a:rPr kumimoji="0" lang="fr-FR" kern="1200" cap="none" spc="0" normalizeH="0" baseline="0" noProof="0">
                <a:solidFill>
                  <a:srgbClr val="0070C0"/>
                </a:solidFill>
                <a:latin typeface="Calibri" panose="020F0502020204030204"/>
                <a:ea typeface="Calibri" panose="020F0502020204030204"/>
                <a:cs typeface="Calibri" panose="020F0502020204030204"/>
              </a:rPr>
              <a:t>dynamiquement</a:t>
            </a:r>
            <a:r>
              <a:rPr kumimoji="0" lang="fr-FR" kern="1200" cap="none" spc="0" normalizeH="0" baseline="0" noProof="0">
                <a:solidFill>
                  <a:srgbClr val="000000"/>
                </a:solidFill>
                <a:latin typeface="Calibri" panose="020F0502020204030204"/>
                <a:ea typeface="Calibri" panose="020F0502020204030204"/>
                <a:cs typeface="Calibri" panose="020F0502020204030204"/>
              </a:rPr>
              <a:t> quelles parties du réseau sont les meilleures pour quelles tâches .</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500"/>
                                        <p:tgtEl>
                                          <p:spTgt spid="3">
                                            <p:txEl>
                                              <p:pRg st="5" end="5"/>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9"/>
          <p:cNvSpPr txBox="1"/>
          <p:nvPr/>
        </p:nvSpPr>
        <p:spPr>
          <a:xfrm>
            <a:off x="469106" y="176213"/>
            <a:ext cx="674370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Pathways Language Model</a:t>
            </a:r>
            <a:endParaRPr lang="fr-FR" altLang="x-none" dirty="0">
              <a:solidFill>
                <a:srgbClr val="7F7F7F"/>
              </a:solidFill>
              <a:cs typeface="Calibri" panose="020F0502020204030204" pitchFamily="34" charset="0"/>
            </a:endParaRPr>
          </a:p>
        </p:txBody>
      </p:sp>
      <p:grpSp>
        <p:nvGrpSpPr>
          <p:cNvPr id="3" name="Group 25"/>
          <p:cNvGrpSpPr/>
          <p:nvPr/>
        </p:nvGrpSpPr>
        <p:grpSpPr>
          <a:xfrm>
            <a:off x="6819900" y="4051300"/>
            <a:ext cx="431800" cy="331788"/>
            <a:chOff x="6819924" y="4051852"/>
            <a:chExt cx="432364" cy="330455"/>
          </a:xfrm>
        </p:grpSpPr>
        <p:sp>
          <p:nvSpPr>
            <p:cNvPr id="37894" name="Freeform 13"/>
            <p:cNvSpPr/>
            <p:nvPr/>
          </p:nvSpPr>
          <p:spPr>
            <a:xfrm>
              <a:off x="6872328" y="4102318"/>
              <a:ext cx="274173" cy="213512"/>
            </a:xfrm>
            <a:custGeom>
              <a:avLst/>
              <a:gdLst>
                <a:gd name="txL" fmla="*/ 0 w 239"/>
                <a:gd name="txT" fmla="*/ 0 h 186"/>
                <a:gd name="txR" fmla="*/ 239 w 239"/>
                <a:gd name="txB" fmla="*/ 186 h 186"/>
              </a:gdLst>
              <a:ahLst/>
              <a:cxnLst>
                <a:cxn ang="17694720">
                  <a:pos x="137087" y="0"/>
                </a:cxn>
                <a:cxn ang="0">
                  <a:pos x="274173" y="106756"/>
                </a:cxn>
                <a:cxn ang="5898240">
                  <a:pos x="137087" y="213512"/>
                </a:cxn>
                <a:cxn ang="11796480">
                  <a:pos x="0" y="106756"/>
                </a:cxn>
                <a:cxn ang="0">
                  <a:pos x="245494" y="10331"/>
                </a:cxn>
                <a:cxn ang="0">
                  <a:pos x="137660" y="0"/>
                </a:cxn>
                <a:cxn ang="0">
                  <a:pos x="29826" y="10331"/>
                </a:cxn>
                <a:cxn ang="0">
                  <a:pos x="19502" y="19515"/>
                </a:cxn>
                <a:cxn ang="0">
                  <a:pos x="19502" y="193997"/>
                </a:cxn>
                <a:cxn ang="0">
                  <a:pos x="29826" y="203181"/>
                </a:cxn>
                <a:cxn ang="0">
                  <a:pos x="137660" y="213512"/>
                </a:cxn>
                <a:cxn ang="0">
                  <a:pos x="245494" y="203181"/>
                </a:cxn>
                <a:cxn ang="0">
                  <a:pos x="254671" y="193997"/>
                </a:cxn>
                <a:cxn ang="0">
                  <a:pos x="254671" y="19515"/>
                </a:cxn>
                <a:cxn ang="0">
                  <a:pos x="245494" y="10331"/>
                </a:cxn>
                <a:cxn ang="0">
                  <a:pos x="242052" y="189406"/>
                </a:cxn>
                <a:cxn ang="0">
                  <a:pos x="32121" y="189406"/>
                </a:cxn>
                <a:cxn ang="0">
                  <a:pos x="32121" y="24106"/>
                </a:cxn>
                <a:cxn ang="0">
                  <a:pos x="242052" y="24106"/>
                </a:cxn>
                <a:cxn ang="0">
                  <a:pos x="242052" y="189406"/>
                </a:cxn>
              </a:cxnLst>
              <a:rect l="txL" t="txT" r="txR" b="txB"/>
              <a:pathLst>
                <a:path w="239" h="186">
                  <a:moveTo>
                    <a:pt x="214" y="9"/>
                  </a:moveTo>
                  <a:cubicBezTo>
                    <a:pt x="182" y="3"/>
                    <a:pt x="151" y="0"/>
                    <a:pt x="120" y="0"/>
                  </a:cubicBezTo>
                  <a:cubicBezTo>
                    <a:pt x="88" y="0"/>
                    <a:pt x="57" y="3"/>
                    <a:pt x="26" y="9"/>
                  </a:cubicBezTo>
                  <a:cubicBezTo>
                    <a:pt x="22" y="10"/>
                    <a:pt x="18" y="13"/>
                    <a:pt x="17" y="17"/>
                  </a:cubicBezTo>
                  <a:cubicBezTo>
                    <a:pt x="0" y="67"/>
                    <a:pt x="0" y="118"/>
                    <a:pt x="17" y="169"/>
                  </a:cubicBezTo>
                  <a:cubicBezTo>
                    <a:pt x="18" y="173"/>
                    <a:pt x="22" y="176"/>
                    <a:pt x="26" y="177"/>
                  </a:cubicBezTo>
                  <a:cubicBezTo>
                    <a:pt x="57" y="183"/>
                    <a:pt x="88" y="186"/>
                    <a:pt x="120" y="186"/>
                  </a:cubicBezTo>
                  <a:cubicBezTo>
                    <a:pt x="151" y="186"/>
                    <a:pt x="182" y="183"/>
                    <a:pt x="214" y="177"/>
                  </a:cubicBezTo>
                  <a:cubicBezTo>
                    <a:pt x="218" y="176"/>
                    <a:pt x="221" y="173"/>
                    <a:pt x="222" y="169"/>
                  </a:cubicBezTo>
                  <a:cubicBezTo>
                    <a:pt x="239" y="118"/>
                    <a:pt x="239" y="67"/>
                    <a:pt x="222" y="17"/>
                  </a:cubicBezTo>
                  <a:cubicBezTo>
                    <a:pt x="221" y="13"/>
                    <a:pt x="218" y="10"/>
                    <a:pt x="214" y="9"/>
                  </a:cubicBezTo>
                  <a:close/>
                  <a:moveTo>
                    <a:pt x="211" y="165"/>
                  </a:moveTo>
                  <a:cubicBezTo>
                    <a:pt x="150" y="178"/>
                    <a:pt x="89" y="178"/>
                    <a:pt x="28" y="165"/>
                  </a:cubicBezTo>
                  <a:cubicBezTo>
                    <a:pt x="12" y="117"/>
                    <a:pt x="12" y="69"/>
                    <a:pt x="28" y="21"/>
                  </a:cubicBezTo>
                  <a:cubicBezTo>
                    <a:pt x="89" y="8"/>
                    <a:pt x="150" y="8"/>
                    <a:pt x="211" y="21"/>
                  </a:cubicBezTo>
                  <a:cubicBezTo>
                    <a:pt x="227" y="69"/>
                    <a:pt x="227" y="117"/>
                    <a:pt x="211" y="165"/>
                  </a:cubicBezTo>
                  <a:close/>
                </a:path>
              </a:pathLst>
            </a:custGeom>
            <a:solidFill>
              <a:srgbClr val="FFFFFF">
                <a:alpha val="100000"/>
              </a:srgbClr>
            </a:solidFill>
            <a:ln w="9525">
              <a:noFill/>
            </a:ln>
          </p:spPr>
          <p:txBody>
            <a:bodyPr/>
            <a:lstStyle/>
            <a:p>
              <a:endParaRPr lang="fr-FR" altLang="en-US"/>
            </a:p>
          </p:txBody>
        </p:sp>
        <p:sp>
          <p:nvSpPr>
            <p:cNvPr id="37895" name="Freeform 14"/>
            <p:cNvSpPr/>
            <p:nvPr/>
          </p:nvSpPr>
          <p:spPr>
            <a:xfrm>
              <a:off x="6819924" y="4051852"/>
              <a:ext cx="432364" cy="330455"/>
            </a:xfrm>
            <a:custGeom>
              <a:avLst/>
              <a:gdLst>
                <a:gd name="txL" fmla="*/ 0 w 377"/>
                <a:gd name="txT" fmla="*/ 0 h 288"/>
                <a:gd name="txR" fmla="*/ 377 w 377"/>
                <a:gd name="txB" fmla="*/ 288 h 288"/>
              </a:gdLst>
              <a:ahLst/>
              <a:cxnLst>
                <a:cxn ang="17694720">
                  <a:pos x="216182" y="0"/>
                </a:cxn>
                <a:cxn ang="0">
                  <a:pos x="432364" y="165228"/>
                </a:cxn>
                <a:cxn ang="5898240">
                  <a:pos x="216182" y="330455"/>
                </a:cxn>
                <a:cxn ang="11796480">
                  <a:pos x="0" y="165228"/>
                </a:cxn>
                <a:cxn ang="0">
                  <a:pos x="411721" y="30980"/>
                </a:cxn>
                <a:cxn ang="0">
                  <a:pos x="389930" y="10327"/>
                </a:cxn>
                <a:cxn ang="0">
                  <a:pos x="216755" y="0"/>
                </a:cxn>
                <a:cxn ang="0">
                  <a:pos x="42434" y="10327"/>
                </a:cxn>
                <a:cxn ang="0">
                  <a:pos x="20643" y="30980"/>
                </a:cxn>
                <a:cxn ang="0">
                  <a:pos x="20643" y="286853"/>
                </a:cxn>
                <a:cxn ang="0">
                  <a:pos x="42434" y="306359"/>
                </a:cxn>
                <a:cxn ang="0">
                  <a:pos x="126154" y="314391"/>
                </a:cxn>
                <a:cxn ang="0">
                  <a:pos x="123860" y="316686"/>
                </a:cxn>
                <a:cxn ang="0">
                  <a:pos x="216755" y="330455"/>
                </a:cxn>
                <a:cxn ang="0">
                  <a:pos x="308504" y="316686"/>
                </a:cxn>
                <a:cxn ang="0">
                  <a:pos x="306210" y="314391"/>
                </a:cxn>
                <a:cxn ang="0">
                  <a:pos x="389930" y="306359"/>
                </a:cxn>
                <a:cxn ang="0">
                  <a:pos x="411721" y="286853"/>
                </a:cxn>
                <a:cxn ang="0">
                  <a:pos x="411721" y="30980"/>
                </a:cxn>
                <a:cxn ang="0">
                  <a:pos x="386490" y="279969"/>
                </a:cxn>
                <a:cxn ang="0">
                  <a:pos x="45874" y="279969"/>
                </a:cxn>
                <a:cxn ang="0">
                  <a:pos x="45874" y="36717"/>
                </a:cxn>
                <a:cxn ang="0">
                  <a:pos x="386490" y="36717"/>
                </a:cxn>
                <a:cxn ang="0">
                  <a:pos x="386490" y="279969"/>
                </a:cxn>
              </a:cxnLst>
              <a:rect l="txL" t="txT" r="txR" b="txB"/>
              <a:pathLst>
                <a:path w="377" h="288">
                  <a:moveTo>
                    <a:pt x="359" y="27"/>
                  </a:moveTo>
                  <a:cubicBezTo>
                    <a:pt x="357" y="17"/>
                    <a:pt x="349" y="10"/>
                    <a:pt x="340" y="9"/>
                  </a:cubicBezTo>
                  <a:cubicBezTo>
                    <a:pt x="290" y="3"/>
                    <a:pt x="239" y="0"/>
                    <a:pt x="189" y="0"/>
                  </a:cubicBezTo>
                  <a:cubicBezTo>
                    <a:pt x="138" y="0"/>
                    <a:pt x="87" y="3"/>
                    <a:pt x="37" y="9"/>
                  </a:cubicBezTo>
                  <a:cubicBezTo>
                    <a:pt x="28" y="10"/>
                    <a:pt x="20" y="17"/>
                    <a:pt x="18" y="27"/>
                  </a:cubicBezTo>
                  <a:cubicBezTo>
                    <a:pt x="0" y="101"/>
                    <a:pt x="0" y="176"/>
                    <a:pt x="18" y="250"/>
                  </a:cubicBezTo>
                  <a:cubicBezTo>
                    <a:pt x="20" y="259"/>
                    <a:pt x="28" y="266"/>
                    <a:pt x="37" y="267"/>
                  </a:cubicBezTo>
                  <a:cubicBezTo>
                    <a:pt x="61" y="270"/>
                    <a:pt x="86" y="272"/>
                    <a:pt x="110" y="274"/>
                  </a:cubicBezTo>
                  <a:cubicBezTo>
                    <a:pt x="109" y="275"/>
                    <a:pt x="108" y="275"/>
                    <a:pt x="108" y="276"/>
                  </a:cubicBezTo>
                  <a:cubicBezTo>
                    <a:pt x="108" y="283"/>
                    <a:pt x="144" y="288"/>
                    <a:pt x="189" y="288"/>
                  </a:cubicBezTo>
                  <a:cubicBezTo>
                    <a:pt x="233" y="288"/>
                    <a:pt x="269" y="283"/>
                    <a:pt x="269" y="276"/>
                  </a:cubicBezTo>
                  <a:cubicBezTo>
                    <a:pt x="269" y="275"/>
                    <a:pt x="268" y="275"/>
                    <a:pt x="267" y="274"/>
                  </a:cubicBezTo>
                  <a:cubicBezTo>
                    <a:pt x="291" y="272"/>
                    <a:pt x="316" y="270"/>
                    <a:pt x="340" y="267"/>
                  </a:cubicBezTo>
                  <a:cubicBezTo>
                    <a:pt x="349" y="266"/>
                    <a:pt x="357" y="259"/>
                    <a:pt x="359" y="250"/>
                  </a:cubicBezTo>
                  <a:cubicBezTo>
                    <a:pt x="377" y="176"/>
                    <a:pt x="377" y="101"/>
                    <a:pt x="359" y="27"/>
                  </a:cubicBezTo>
                  <a:close/>
                  <a:moveTo>
                    <a:pt x="337" y="244"/>
                  </a:moveTo>
                  <a:cubicBezTo>
                    <a:pt x="238" y="256"/>
                    <a:pt x="139" y="256"/>
                    <a:pt x="40" y="244"/>
                  </a:cubicBezTo>
                  <a:cubicBezTo>
                    <a:pt x="23" y="174"/>
                    <a:pt x="23" y="103"/>
                    <a:pt x="40" y="32"/>
                  </a:cubicBezTo>
                  <a:cubicBezTo>
                    <a:pt x="139" y="20"/>
                    <a:pt x="238" y="20"/>
                    <a:pt x="337" y="32"/>
                  </a:cubicBezTo>
                  <a:cubicBezTo>
                    <a:pt x="354" y="103"/>
                    <a:pt x="354" y="174"/>
                    <a:pt x="337" y="244"/>
                  </a:cubicBezTo>
                  <a:close/>
                </a:path>
              </a:pathLst>
            </a:custGeom>
            <a:solidFill>
              <a:srgbClr val="FFFFFF">
                <a:alpha val="100000"/>
              </a:srgbClr>
            </a:solidFill>
            <a:ln w="9525">
              <a:noFill/>
            </a:ln>
          </p:spPr>
          <p:txBody>
            <a:bodyPr/>
            <a:lstStyle/>
            <a:p>
              <a:endParaRPr lang="fr-FR" altLang="en-US"/>
            </a:p>
          </p:txBody>
        </p:sp>
        <p:sp>
          <p:nvSpPr>
            <p:cNvPr id="37896" name="Freeform 15"/>
            <p:cNvSpPr/>
            <p:nvPr/>
          </p:nvSpPr>
          <p:spPr>
            <a:xfrm>
              <a:off x="7154750" y="4118329"/>
              <a:ext cx="40279" cy="39310"/>
            </a:xfrm>
            <a:custGeom>
              <a:avLst/>
              <a:gdLst>
                <a:gd name="txL" fmla="*/ 0 w 35"/>
                <a:gd name="txT" fmla="*/ 0 h 34"/>
                <a:gd name="txR" fmla="*/ 35 w 35"/>
                <a:gd name="txB" fmla="*/ 34 h 34"/>
              </a:gdLst>
              <a:ahLst/>
              <a:cxnLst>
                <a:cxn ang="17694720">
                  <a:pos x="20140" y="0"/>
                </a:cxn>
                <a:cxn ang="0">
                  <a:pos x="40279" y="19655"/>
                </a:cxn>
                <a:cxn ang="5898240">
                  <a:pos x="20140" y="39310"/>
                </a:cxn>
                <a:cxn ang="11796480">
                  <a:pos x="0" y="19655"/>
                </a:cxn>
                <a:cxn ang="0">
                  <a:pos x="19564" y="39310"/>
                </a:cxn>
                <a:cxn ang="0">
                  <a:pos x="40279" y="19655"/>
                </a:cxn>
                <a:cxn ang="0">
                  <a:pos x="19564" y="0"/>
                </a:cxn>
                <a:cxn ang="0">
                  <a:pos x="0" y="19655"/>
                </a:cxn>
                <a:cxn ang="0">
                  <a:pos x="19564" y="39310"/>
                </a:cxn>
                <a:cxn ang="0">
                  <a:pos x="19564" y="12718"/>
                </a:cxn>
                <a:cxn ang="0">
                  <a:pos x="26469" y="19655"/>
                </a:cxn>
                <a:cxn ang="0">
                  <a:pos x="19564" y="26592"/>
                </a:cxn>
                <a:cxn ang="0">
                  <a:pos x="13810" y="19655"/>
                </a:cxn>
                <a:cxn ang="0">
                  <a:pos x="19564" y="12718"/>
                </a:cxn>
              </a:cxnLst>
              <a:rect l="txL" t="txT" r="txR" b="txB"/>
              <a:pathLst>
                <a:path w="35" h="34">
                  <a:moveTo>
                    <a:pt x="17" y="34"/>
                  </a:moveTo>
                  <a:cubicBezTo>
                    <a:pt x="27" y="34"/>
                    <a:pt x="35" y="26"/>
                    <a:pt x="35" y="17"/>
                  </a:cubicBezTo>
                  <a:cubicBezTo>
                    <a:pt x="35" y="7"/>
                    <a:pt x="27" y="0"/>
                    <a:pt x="17" y="0"/>
                  </a:cubicBezTo>
                  <a:cubicBezTo>
                    <a:pt x="8" y="0"/>
                    <a:pt x="0" y="7"/>
                    <a:pt x="0" y="17"/>
                  </a:cubicBezTo>
                  <a:cubicBezTo>
                    <a:pt x="0" y="26"/>
                    <a:pt x="8" y="34"/>
                    <a:pt x="17" y="34"/>
                  </a:cubicBezTo>
                  <a:close/>
                  <a:moveTo>
                    <a:pt x="17" y="11"/>
                  </a:moveTo>
                  <a:cubicBezTo>
                    <a:pt x="21" y="11"/>
                    <a:pt x="23" y="14"/>
                    <a:pt x="23" y="17"/>
                  </a:cubicBezTo>
                  <a:cubicBezTo>
                    <a:pt x="23" y="20"/>
                    <a:pt x="21" y="23"/>
                    <a:pt x="17" y="23"/>
                  </a:cubicBezTo>
                  <a:cubicBezTo>
                    <a:pt x="14" y="23"/>
                    <a:pt x="12" y="20"/>
                    <a:pt x="12" y="17"/>
                  </a:cubicBezTo>
                  <a:cubicBezTo>
                    <a:pt x="12" y="14"/>
                    <a:pt x="14" y="11"/>
                    <a:pt x="17" y="11"/>
                  </a:cubicBezTo>
                  <a:close/>
                </a:path>
              </a:pathLst>
            </a:custGeom>
            <a:solidFill>
              <a:srgbClr val="FFFFFF">
                <a:alpha val="100000"/>
              </a:srgbClr>
            </a:solidFill>
            <a:ln w="9525">
              <a:noFill/>
            </a:ln>
          </p:spPr>
          <p:txBody>
            <a:bodyPr/>
            <a:lstStyle/>
            <a:p>
              <a:endParaRPr lang="fr-FR" altLang="en-US"/>
            </a:p>
          </p:txBody>
        </p:sp>
        <p:sp>
          <p:nvSpPr>
            <p:cNvPr id="37897" name="Freeform 16"/>
            <p:cNvSpPr/>
            <p:nvPr/>
          </p:nvSpPr>
          <p:spPr>
            <a:xfrm>
              <a:off x="7142131" y="4289139"/>
              <a:ext cx="52888" cy="14072"/>
            </a:xfrm>
            <a:custGeom>
              <a:avLst/>
              <a:gdLst>
                <a:gd name="txL" fmla="*/ 0 w 46"/>
                <a:gd name="txT" fmla="*/ 0 h 12"/>
                <a:gd name="txR" fmla="*/ 46 w 46"/>
                <a:gd name="txB" fmla="*/ 12 h 12"/>
              </a:gdLst>
              <a:ahLst/>
              <a:cxnLst>
                <a:cxn ang="17694720">
                  <a:pos x="26444" y="0"/>
                </a:cxn>
                <a:cxn ang="0">
                  <a:pos x="52888" y="7036"/>
                </a:cxn>
                <a:cxn ang="5898240">
                  <a:pos x="26444" y="14072"/>
                </a:cxn>
                <a:cxn ang="11796480">
                  <a:pos x="0" y="7036"/>
                </a:cxn>
                <a:cxn ang="0">
                  <a:pos x="45990" y="0"/>
                </a:cxn>
                <a:cxn ang="0">
                  <a:pos x="5749" y="0"/>
                </a:cxn>
                <a:cxn ang="0">
                  <a:pos x="0" y="7036"/>
                </a:cxn>
                <a:cxn ang="0">
                  <a:pos x="5749" y="14072"/>
                </a:cxn>
                <a:cxn ang="0">
                  <a:pos x="45990" y="14072"/>
                </a:cxn>
                <a:cxn ang="0">
                  <a:pos x="52888" y="7036"/>
                </a:cxn>
                <a:cxn ang="0">
                  <a:pos x="45990" y="0"/>
                </a:cxn>
              </a:cxnLst>
              <a:rect l="txL" t="txT" r="txR" b="txB"/>
              <a:pathLst>
                <a:path w="46" h="12">
                  <a:moveTo>
                    <a:pt x="40" y="0"/>
                  </a:moveTo>
                  <a:cubicBezTo>
                    <a:pt x="5" y="0"/>
                    <a:pt x="5" y="0"/>
                    <a:pt x="5" y="0"/>
                  </a:cubicBezTo>
                  <a:cubicBezTo>
                    <a:pt x="2" y="0"/>
                    <a:pt x="0" y="3"/>
                    <a:pt x="0" y="6"/>
                  </a:cubicBezTo>
                  <a:cubicBezTo>
                    <a:pt x="0" y="9"/>
                    <a:pt x="2" y="12"/>
                    <a:pt x="5" y="12"/>
                  </a:cubicBezTo>
                  <a:cubicBezTo>
                    <a:pt x="40" y="12"/>
                    <a:pt x="40" y="12"/>
                    <a:pt x="40" y="12"/>
                  </a:cubicBezTo>
                  <a:cubicBezTo>
                    <a:pt x="43" y="12"/>
                    <a:pt x="46" y="9"/>
                    <a:pt x="46" y="6"/>
                  </a:cubicBezTo>
                  <a:cubicBezTo>
                    <a:pt x="46" y="3"/>
                    <a:pt x="43" y="0"/>
                    <a:pt x="40" y="0"/>
                  </a:cubicBezTo>
                  <a:close/>
                </a:path>
              </a:pathLst>
            </a:custGeom>
            <a:solidFill>
              <a:srgbClr val="FFFFFF">
                <a:alpha val="100000"/>
              </a:srgbClr>
            </a:solidFill>
            <a:ln w="9525">
              <a:noFill/>
            </a:ln>
          </p:spPr>
          <p:txBody>
            <a:bodyPr/>
            <a:lstStyle/>
            <a:p>
              <a:endParaRPr lang="fr-FR" altLang="en-US"/>
            </a:p>
          </p:txBody>
        </p:sp>
        <p:sp>
          <p:nvSpPr>
            <p:cNvPr id="37898" name="Freeform 17"/>
            <p:cNvSpPr/>
            <p:nvPr/>
          </p:nvSpPr>
          <p:spPr>
            <a:xfrm>
              <a:off x="7154750" y="4250323"/>
              <a:ext cx="52888" cy="12618"/>
            </a:xfrm>
            <a:custGeom>
              <a:avLst/>
              <a:gdLst>
                <a:gd name="txL" fmla="*/ 0 w 46"/>
                <a:gd name="txT" fmla="*/ 0 h 11"/>
                <a:gd name="txR" fmla="*/ 46 w 46"/>
                <a:gd name="txB" fmla="*/ 11 h 11"/>
              </a:gdLst>
              <a:ahLst/>
              <a:cxnLst>
                <a:cxn ang="17694720">
                  <a:pos x="26444" y="0"/>
                </a:cxn>
                <a:cxn ang="0">
                  <a:pos x="52888" y="6309"/>
                </a:cxn>
                <a:cxn ang="5898240">
                  <a:pos x="26444" y="12618"/>
                </a:cxn>
                <a:cxn ang="11796480">
                  <a:pos x="0" y="6309"/>
                </a:cxn>
                <a:cxn ang="0">
                  <a:pos x="45990" y="0"/>
                </a:cxn>
                <a:cxn ang="0">
                  <a:pos x="6898" y="0"/>
                </a:cxn>
                <a:cxn ang="0">
                  <a:pos x="0" y="5735"/>
                </a:cxn>
                <a:cxn ang="0">
                  <a:pos x="6898" y="12618"/>
                </a:cxn>
                <a:cxn ang="0">
                  <a:pos x="45990" y="12618"/>
                </a:cxn>
                <a:cxn ang="0">
                  <a:pos x="52888" y="5735"/>
                </a:cxn>
                <a:cxn ang="0">
                  <a:pos x="45990" y="0"/>
                </a:cxn>
              </a:cxnLst>
              <a:rect l="txL" t="txT" r="txR" b="txB"/>
              <a:pathLst>
                <a:path w="46" h="11">
                  <a:moveTo>
                    <a:pt x="40" y="0"/>
                  </a:moveTo>
                  <a:cubicBezTo>
                    <a:pt x="6" y="0"/>
                    <a:pt x="6" y="0"/>
                    <a:pt x="6" y="0"/>
                  </a:cubicBezTo>
                  <a:cubicBezTo>
                    <a:pt x="3" y="0"/>
                    <a:pt x="0" y="2"/>
                    <a:pt x="0" y="5"/>
                  </a:cubicBezTo>
                  <a:cubicBezTo>
                    <a:pt x="0" y="9"/>
                    <a:pt x="3" y="11"/>
                    <a:pt x="6" y="11"/>
                  </a:cubicBezTo>
                  <a:cubicBezTo>
                    <a:pt x="40" y="11"/>
                    <a:pt x="40" y="11"/>
                    <a:pt x="40" y="11"/>
                  </a:cubicBezTo>
                  <a:cubicBezTo>
                    <a:pt x="44" y="11"/>
                    <a:pt x="46" y="9"/>
                    <a:pt x="46" y="5"/>
                  </a:cubicBezTo>
                  <a:cubicBezTo>
                    <a:pt x="46" y="2"/>
                    <a:pt x="44" y="0"/>
                    <a:pt x="40" y="0"/>
                  </a:cubicBezTo>
                  <a:close/>
                </a:path>
              </a:pathLst>
            </a:custGeom>
            <a:solidFill>
              <a:srgbClr val="FFFFFF">
                <a:alpha val="100000"/>
              </a:srgbClr>
            </a:solidFill>
            <a:ln w="9525">
              <a:noFill/>
            </a:ln>
          </p:spPr>
          <p:txBody>
            <a:bodyPr/>
            <a:lstStyle/>
            <a:p>
              <a:endParaRPr lang="fr-FR" altLang="en-US"/>
            </a:p>
          </p:txBody>
        </p:sp>
        <p:sp>
          <p:nvSpPr>
            <p:cNvPr id="37899" name="Freeform 18"/>
            <p:cNvSpPr/>
            <p:nvPr/>
          </p:nvSpPr>
          <p:spPr>
            <a:xfrm>
              <a:off x="7154750" y="4210043"/>
              <a:ext cx="52888" cy="14072"/>
            </a:xfrm>
            <a:custGeom>
              <a:avLst/>
              <a:gdLst>
                <a:gd name="txL" fmla="*/ 0 w 46"/>
                <a:gd name="txT" fmla="*/ 0 h 12"/>
                <a:gd name="txR" fmla="*/ 46 w 46"/>
                <a:gd name="txB" fmla="*/ 12 h 12"/>
              </a:gdLst>
              <a:ahLst/>
              <a:cxnLst>
                <a:cxn ang="17694720">
                  <a:pos x="26444" y="0"/>
                </a:cxn>
                <a:cxn ang="0">
                  <a:pos x="52888" y="7036"/>
                </a:cxn>
                <a:cxn ang="5898240">
                  <a:pos x="26444" y="14072"/>
                </a:cxn>
                <a:cxn ang="11796480">
                  <a:pos x="0" y="7036"/>
                </a:cxn>
                <a:cxn ang="0">
                  <a:pos x="45990" y="0"/>
                </a:cxn>
                <a:cxn ang="0">
                  <a:pos x="6898" y="0"/>
                </a:cxn>
                <a:cxn ang="0">
                  <a:pos x="0" y="7036"/>
                </a:cxn>
                <a:cxn ang="0">
                  <a:pos x="6898" y="14072"/>
                </a:cxn>
                <a:cxn ang="0">
                  <a:pos x="45990" y="14072"/>
                </a:cxn>
                <a:cxn ang="0">
                  <a:pos x="52888" y="7036"/>
                </a:cxn>
                <a:cxn ang="0">
                  <a:pos x="45990" y="0"/>
                </a:cxn>
              </a:cxnLst>
              <a:rect l="txL" t="txT" r="txR" b="txB"/>
              <a:pathLst>
                <a:path w="46" h="12">
                  <a:moveTo>
                    <a:pt x="40" y="0"/>
                  </a:moveTo>
                  <a:cubicBezTo>
                    <a:pt x="6" y="0"/>
                    <a:pt x="6" y="0"/>
                    <a:pt x="6" y="0"/>
                  </a:cubicBezTo>
                  <a:cubicBezTo>
                    <a:pt x="3" y="0"/>
                    <a:pt x="0" y="3"/>
                    <a:pt x="0" y="6"/>
                  </a:cubicBezTo>
                  <a:cubicBezTo>
                    <a:pt x="0" y="9"/>
                    <a:pt x="3" y="12"/>
                    <a:pt x="6" y="12"/>
                  </a:cubicBezTo>
                  <a:cubicBezTo>
                    <a:pt x="40" y="12"/>
                    <a:pt x="40" y="12"/>
                    <a:pt x="40" y="12"/>
                  </a:cubicBezTo>
                  <a:cubicBezTo>
                    <a:pt x="44" y="12"/>
                    <a:pt x="46" y="9"/>
                    <a:pt x="46" y="6"/>
                  </a:cubicBezTo>
                  <a:cubicBezTo>
                    <a:pt x="46" y="3"/>
                    <a:pt x="44" y="0"/>
                    <a:pt x="40" y="0"/>
                  </a:cubicBezTo>
                  <a:close/>
                </a:path>
              </a:pathLst>
            </a:custGeom>
            <a:solidFill>
              <a:srgbClr val="FFFFFF">
                <a:alpha val="100000"/>
              </a:srgbClr>
            </a:solidFill>
            <a:ln w="9525">
              <a:noFill/>
            </a:ln>
          </p:spPr>
          <p:txBody>
            <a:bodyPr/>
            <a:lstStyle/>
            <a:p>
              <a:endParaRPr lang="fr-FR" altLang="en-US"/>
            </a:p>
          </p:txBody>
        </p:sp>
        <p:sp>
          <p:nvSpPr>
            <p:cNvPr id="37900" name="Freeform 19"/>
            <p:cNvSpPr/>
            <p:nvPr/>
          </p:nvSpPr>
          <p:spPr>
            <a:xfrm>
              <a:off x="6931042" y="4155207"/>
              <a:ext cx="79095" cy="54836"/>
            </a:xfrm>
            <a:custGeom>
              <a:avLst/>
              <a:gdLst>
                <a:gd name="txL" fmla="*/ 0 w 69"/>
                <a:gd name="txT" fmla="*/ 0 h 48"/>
                <a:gd name="txR" fmla="*/ 69 w 69"/>
                <a:gd name="txB" fmla="*/ 48 h 48"/>
              </a:gdLst>
              <a:ahLst/>
              <a:cxnLst>
                <a:cxn ang="17694720">
                  <a:pos x="39548" y="0"/>
                </a:cxn>
                <a:cxn ang="0">
                  <a:pos x="79095" y="27418"/>
                </a:cxn>
                <a:cxn ang="5898240">
                  <a:pos x="39548" y="54836"/>
                </a:cxn>
                <a:cxn ang="11796480">
                  <a:pos x="0" y="27418"/>
                </a:cxn>
                <a:cxn ang="0">
                  <a:pos x="72217" y="0"/>
                </a:cxn>
                <a:cxn ang="0">
                  <a:pos x="11463" y="4570"/>
                </a:cxn>
                <a:cxn ang="0">
                  <a:pos x="3439" y="11424"/>
                </a:cxn>
                <a:cxn ang="0">
                  <a:pos x="0" y="47981"/>
                </a:cxn>
                <a:cxn ang="0">
                  <a:pos x="5732" y="54836"/>
                </a:cxn>
                <a:cxn ang="0">
                  <a:pos x="12609" y="47981"/>
                </a:cxn>
                <a:cxn ang="0">
                  <a:pos x="14902" y="23991"/>
                </a:cxn>
                <a:cxn ang="0">
                  <a:pos x="22926" y="15994"/>
                </a:cxn>
                <a:cxn ang="0">
                  <a:pos x="72217" y="12567"/>
                </a:cxn>
                <a:cxn ang="0">
                  <a:pos x="79095" y="5712"/>
                </a:cxn>
                <a:cxn ang="0">
                  <a:pos x="72217" y="0"/>
                </a:cxn>
              </a:cxnLst>
              <a:rect l="txL" t="txT" r="txR" b="txB"/>
              <a:pathLst>
                <a:path w="69" h="48">
                  <a:moveTo>
                    <a:pt x="63" y="0"/>
                  </a:moveTo>
                  <a:cubicBezTo>
                    <a:pt x="10" y="4"/>
                    <a:pt x="10" y="4"/>
                    <a:pt x="10" y="4"/>
                  </a:cubicBezTo>
                  <a:cubicBezTo>
                    <a:pt x="7" y="4"/>
                    <a:pt x="4" y="7"/>
                    <a:pt x="3" y="10"/>
                  </a:cubicBezTo>
                  <a:cubicBezTo>
                    <a:pt x="0" y="42"/>
                    <a:pt x="0" y="42"/>
                    <a:pt x="0" y="42"/>
                  </a:cubicBezTo>
                  <a:cubicBezTo>
                    <a:pt x="0" y="46"/>
                    <a:pt x="2" y="48"/>
                    <a:pt x="5" y="48"/>
                  </a:cubicBezTo>
                  <a:cubicBezTo>
                    <a:pt x="8" y="48"/>
                    <a:pt x="11" y="46"/>
                    <a:pt x="11" y="42"/>
                  </a:cubicBezTo>
                  <a:cubicBezTo>
                    <a:pt x="13" y="21"/>
                    <a:pt x="13" y="21"/>
                    <a:pt x="13" y="21"/>
                  </a:cubicBezTo>
                  <a:cubicBezTo>
                    <a:pt x="14" y="17"/>
                    <a:pt x="16" y="15"/>
                    <a:pt x="20" y="14"/>
                  </a:cubicBezTo>
                  <a:cubicBezTo>
                    <a:pt x="63" y="11"/>
                    <a:pt x="63" y="11"/>
                    <a:pt x="63" y="11"/>
                  </a:cubicBezTo>
                  <a:cubicBezTo>
                    <a:pt x="66" y="11"/>
                    <a:pt x="69" y="9"/>
                    <a:pt x="69" y="5"/>
                  </a:cubicBezTo>
                  <a:cubicBezTo>
                    <a:pt x="69" y="2"/>
                    <a:pt x="66" y="0"/>
                    <a:pt x="63" y="0"/>
                  </a:cubicBezTo>
                  <a:close/>
                </a:path>
              </a:pathLst>
            </a:custGeom>
            <a:solidFill>
              <a:srgbClr val="FFFFFF">
                <a:alpha val="100000"/>
              </a:srgbClr>
            </a:solidFill>
            <a:ln w="9525">
              <a:noFill/>
            </a:ln>
          </p:spPr>
          <p:txBody>
            <a:bodyPr/>
            <a:lstStyle/>
            <a:p>
              <a:endParaRPr lang="fr-FR" altLang="en-US"/>
            </a:p>
          </p:txBody>
        </p:sp>
      </p:grpSp>
      <p:sp>
        <p:nvSpPr>
          <p:cNvPr id="12" name="ZoneTexte 2"/>
          <p:cNvSpPr txBox="1"/>
          <p:nvPr/>
        </p:nvSpPr>
        <p:spPr>
          <a:xfrm>
            <a:off x="596900" y="1143000"/>
            <a:ext cx="10666413" cy="4799965"/>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b="1" kern="1200" cap="none" spc="0" normalizeH="0" baseline="0" noProof="0">
                <a:solidFill>
                  <a:srgbClr val="000000"/>
                </a:solidFill>
                <a:latin typeface="Calibri" panose="020F0502020204030204"/>
                <a:ea typeface="Calibri" panose="020F0502020204030204"/>
                <a:cs typeface="Calibri" panose="020F0502020204030204"/>
              </a:rPr>
              <a:t>PaLM</a:t>
            </a:r>
            <a:r>
              <a:rPr kumimoji="0" lang="fr-FR" kern="1200" cap="none" spc="0" normalizeH="0" baseline="0" noProof="0">
                <a:solidFill>
                  <a:srgbClr val="000000"/>
                </a:solidFill>
                <a:latin typeface="Calibri" panose="020F0502020204030204"/>
                <a:ea typeface="Calibri" panose="020F0502020204030204"/>
                <a:cs typeface="Calibri" panose="020F0502020204030204"/>
              </a:rPr>
              <a:t>, dévoilé par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Google Research</a:t>
            </a:r>
            <a:r>
              <a:rPr kumimoji="0" lang="fr-FR" kern="1200" cap="none" spc="0" normalizeH="0" baseline="0" noProof="0">
                <a:solidFill>
                  <a:srgbClr val="000000"/>
                </a:solidFill>
                <a:latin typeface="Calibri" panose="020F0502020204030204"/>
                <a:ea typeface="Calibri" panose="020F0502020204030204"/>
                <a:cs typeface="Calibri" panose="020F0502020204030204"/>
              </a:rPr>
              <a:t> en </a:t>
            </a:r>
            <a:r>
              <a:rPr kumimoji="0" lang="fr-FR" kern="1200" cap="none" spc="0" normalizeH="0" baseline="0" noProof="0">
                <a:solidFill>
                  <a:srgbClr val="88A945"/>
                </a:solidFill>
                <a:latin typeface="Calibri" panose="020F0502020204030204"/>
                <a:ea typeface="Calibri" panose="020F0502020204030204"/>
                <a:cs typeface="Calibri" panose="020F0502020204030204"/>
              </a:rPr>
              <a:t>avril 2022</a:t>
            </a:r>
            <a:r>
              <a:rPr kumimoji="0" lang="fr-FR" kern="1200" cap="none" spc="0" normalizeH="0" baseline="0" noProof="0">
                <a:solidFill>
                  <a:srgbClr val="000000"/>
                </a:solidFill>
                <a:latin typeface="Calibri" panose="020F0502020204030204"/>
                <a:ea typeface="Calibri" panose="020F0502020204030204"/>
                <a:cs typeface="Calibri" panose="020F0502020204030204"/>
              </a:rPr>
              <a:t>, est le</a:t>
            </a:r>
            <a:r>
              <a:rPr kumimoji="0" lang="fr-FR" b="1" kern="1200" cap="none" spc="0" normalizeH="0" baseline="0" noProof="0">
                <a:solidFill>
                  <a:srgbClr val="0070C0"/>
                </a:solidFill>
                <a:latin typeface="Calibri" panose="020F0502020204030204"/>
                <a:ea typeface="Calibri" panose="020F0502020204030204"/>
                <a:cs typeface="Calibri" panose="020F0502020204030204"/>
              </a:rPr>
              <a:t> </a:t>
            </a:r>
            <a:r>
              <a:rPr kumimoji="0" lang="fr-FR" kern="1200" cap="none" spc="0" normalizeH="0" baseline="0" noProof="0">
                <a:solidFill>
                  <a:srgbClr val="0070C0"/>
                </a:solidFill>
                <a:latin typeface="Calibri" panose="020F0502020204030204"/>
                <a:ea typeface="Calibri" panose="020F0502020204030204"/>
                <a:cs typeface="Calibri" panose="020F0502020204030204"/>
              </a:rPr>
              <a:t>premier grand modèle</a:t>
            </a:r>
            <a:r>
              <a:rPr kumimoji="0" lang="fr-FR" kern="1200" cap="none" spc="0" normalizeH="0" baseline="0" noProof="0">
                <a:solidFill>
                  <a:srgbClr val="000000"/>
                </a:solidFill>
                <a:latin typeface="Calibri" panose="020F0502020204030204"/>
                <a:ea typeface="Calibri" panose="020F0502020204030204"/>
                <a:cs typeface="Calibri" panose="020F0502020204030204"/>
              </a:rPr>
              <a:t> de langage construit selon la vision "Pathways", il existe sous trois tailles </a:t>
            </a:r>
            <a:r>
              <a:rPr kumimoji="0" lang="fr-FR" kern="1200" cap="none" spc="0" normalizeH="0" baseline="0" noProof="0">
                <a:solidFill>
                  <a:srgbClr val="FF0000"/>
                </a:solidFill>
                <a:latin typeface="Calibri" panose="020F0502020204030204"/>
                <a:ea typeface="Calibri" panose="020F0502020204030204"/>
                <a:cs typeface="Calibri" panose="020F0502020204030204"/>
              </a:rPr>
              <a:t>8B, 62B et 540B </a:t>
            </a:r>
            <a:r>
              <a:rPr kumimoji="0" lang="fr-FR" kern="1200" cap="none" spc="0" normalizeH="0" baseline="0" noProof="0">
                <a:solidFill>
                  <a:schemeClr val="tx1"/>
                </a:solidFill>
                <a:latin typeface="Calibri" panose="020F0502020204030204"/>
                <a:ea typeface="Calibri" panose="020F0502020204030204"/>
                <a:cs typeface="Calibri" panose="020F0502020204030204"/>
              </a:rPr>
              <a:t>paramètres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C'est un modèle Transformer dense, reposant uniquement sur un décodeur, entraîné avec le système Pathways, ce qui a permis d’entraîner efficacement un seul modèle sur</a:t>
            </a:r>
            <a:r>
              <a:rPr kumimoji="0" lang="fr-FR" kern="1200" cap="none" spc="0" normalizeH="0" baseline="0" noProof="0">
                <a:solidFill>
                  <a:srgbClr val="0070C0"/>
                </a:solidFill>
                <a:latin typeface="Calibri" panose="020F0502020204030204"/>
                <a:ea typeface="Calibri" panose="020F0502020204030204"/>
                <a:cs typeface="Calibri" panose="020F0502020204030204"/>
              </a:rPr>
              <a:t> plusieurs Pods TPU v4.</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70C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PaLM démontre des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capacités révolutionnaires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sur un grand nombre de tâches complexes. Il a été évalué sur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29 tâches NLP</a:t>
            </a:r>
            <a:r>
              <a:rPr kumimoji="0" lang="fr-FR" kern="1200" cap="none" spc="0" normalizeH="0" baseline="0" noProof="0">
                <a:solidFill>
                  <a:srgbClr val="000000"/>
                </a:solidFill>
                <a:latin typeface="Calibri" panose="020F0502020204030204"/>
                <a:ea typeface="Calibri" panose="020F0502020204030204"/>
                <a:cs typeface="Calibri" panose="020F0502020204030204"/>
              </a:rPr>
              <a:t> couramment utilisées en anglais.</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br>
              <a:rPr kumimoji="0" lang="fr-FR" kern="1200" cap="none" spc="0" normalizeH="0" baseline="0" noProof="0">
                <a:solidFill>
                  <a:srgbClr val="000000"/>
                </a:solidFill>
                <a:latin typeface="Calibri" panose="020F0502020204030204"/>
                <a:ea typeface="Calibri" panose="020F0502020204030204"/>
                <a:cs typeface="Calibri" panose="020F0502020204030204"/>
              </a:rPr>
            </a:br>
            <a:r>
              <a:rPr kumimoji="0" lang="fr-FR" kern="1200" cap="none" spc="0" normalizeH="0" baseline="0" noProof="0">
                <a:solidFill>
                  <a:srgbClr val="000000"/>
                </a:solidFill>
                <a:latin typeface="Calibri" panose="020F0502020204030204"/>
                <a:ea typeface="Calibri" panose="020F0502020204030204"/>
                <a:cs typeface="Calibri" panose="020F0502020204030204"/>
              </a:rPr>
              <a:t>Sur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28 de ces 29 tâches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PaLM 540B</a:t>
            </a:r>
            <a:r>
              <a:rPr kumimoji="0" lang="fr-FR" kern="1200" cap="none" spc="0" normalizeH="0" baseline="0" noProof="0">
                <a:solidFill>
                  <a:srgbClr val="000000"/>
                </a:solidFill>
                <a:latin typeface="Calibri" panose="020F0502020204030204"/>
                <a:ea typeface="Calibri" panose="020F0502020204030204"/>
                <a:cs typeface="Calibri" panose="020F0502020204030204"/>
              </a:rPr>
              <a:t> a </a:t>
            </a:r>
            <a:r>
              <a:rPr kumimoji="0" lang="fr-FR" b="1" kern="1200" cap="none" spc="0" normalizeH="0" baseline="0" noProof="0">
                <a:solidFill>
                  <a:srgbClr val="000000"/>
                </a:solidFill>
                <a:latin typeface="Calibri" panose="020F0502020204030204"/>
                <a:ea typeface="Calibri" panose="020F0502020204030204"/>
                <a:cs typeface="Calibri" panose="020F0502020204030204"/>
              </a:rPr>
              <a:t>dépassé la performance few-shot</a:t>
            </a:r>
            <a:r>
              <a:rPr kumimoji="0" lang="fr-FR" kern="1200" cap="none" spc="0" normalizeH="0" baseline="0" noProof="0">
                <a:solidFill>
                  <a:srgbClr val="000000"/>
                </a:solidFill>
                <a:latin typeface="Calibri" panose="020F0502020204030204"/>
                <a:ea typeface="Calibri" panose="020F0502020204030204"/>
                <a:cs typeface="Calibri" panose="020F0502020204030204"/>
              </a:rPr>
              <a:t> des précédents grands modèles sur les tâches suivantes :</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des questions-réponses </a:t>
            </a: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des complétions de phrases </a:t>
            </a: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des tâches de compréhension en contexte</a:t>
            </a:r>
            <a:endParaRPr kumimoji="0" lang="fr-FR" kern="1200" cap="none" spc="0" normalizeH="0" baseline="0" noProof="0">
              <a:solidFill>
                <a:srgbClr val="000000"/>
              </a:solidFill>
              <a:latin typeface="Calibri" panose="020F0502020204030204"/>
              <a:ea typeface="+mn-ea"/>
              <a:cs typeface="+mn-cs"/>
            </a:endParaRP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des raisonnements de bon sens </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p:txBody>
      </p:sp>
      <p:pic>
        <p:nvPicPr>
          <p:cNvPr id="4" name="Image 3" descr="palm"/>
          <p:cNvPicPr>
            <a:picLocks noChangeAspect="1"/>
          </p:cNvPicPr>
          <p:nvPr/>
        </p:nvPicPr>
        <p:blipFill>
          <a:blip r:embed="rId2"/>
          <a:stretch>
            <a:fillRect/>
          </a:stretch>
        </p:blipFill>
        <p:spPr>
          <a:xfrm>
            <a:off x="5410200" y="4290060"/>
            <a:ext cx="6532880" cy="2380615"/>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9"/>
          <p:cNvSpPr txBox="1"/>
          <p:nvPr/>
        </p:nvSpPr>
        <p:spPr>
          <a:xfrm>
            <a:off x="4015741" y="152083"/>
            <a:ext cx="416052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Caractéristiques</a:t>
            </a:r>
            <a:endParaRPr lang="fr-FR" altLang="x-none" dirty="0">
              <a:solidFill>
                <a:srgbClr val="000000"/>
              </a:solidFill>
              <a:cs typeface="Calibri" panose="020F0502020204030204" pitchFamily="34" charset="0"/>
            </a:endParaRPr>
          </a:p>
        </p:txBody>
      </p:sp>
      <p:sp>
        <p:nvSpPr>
          <p:cNvPr id="3" name="TextBox 42"/>
          <p:cNvSpPr txBox="1"/>
          <p:nvPr/>
        </p:nvSpPr>
        <p:spPr>
          <a:xfrm>
            <a:off x="909638" y="1290638"/>
            <a:ext cx="10363200" cy="4800600"/>
          </a:xfrm>
          <a:prstGeom prst="rect">
            <a:avLst/>
          </a:prstGeom>
          <a:noFill/>
          <a:ln w="9525">
            <a:noFill/>
          </a:ln>
        </p:spPr>
        <p:txBody>
          <a:bodyPr>
            <a:spAutoFit/>
          </a:bodyPr>
          <a:lstStyle/>
          <a:p>
            <a:pPr marL="342900" indent="-342900" eaLnBrk="1" hangingPunct="1">
              <a:buClr>
                <a:srgbClr val="88A945"/>
              </a:buClr>
              <a:buSzPct val="150000"/>
              <a:buAutoNum type="arabicPeriod"/>
            </a:pPr>
            <a:r>
              <a:rPr lang="id-ID" altLang="x-none" b="1" dirty="0">
                <a:solidFill>
                  <a:srgbClr val="88A945"/>
                </a:solidFill>
                <a:latin typeface="Calibri" panose="020F0502020204030204" pitchFamily="34" charset="0"/>
              </a:rPr>
              <a:t>Corpus d'entrainement :</a:t>
            </a:r>
            <a:r>
              <a:rPr lang="id-ID" altLang="x-none" dirty="0">
                <a:solidFill>
                  <a:srgbClr val="A6A6A6"/>
                </a:solidFill>
                <a:latin typeface="Calibri" panose="020F0502020204030204" pitchFamily="34" charset="0"/>
              </a:rPr>
              <a:t> </a:t>
            </a:r>
            <a:r>
              <a:rPr lang="id-ID" altLang="x-none" dirty="0">
                <a:solidFill>
                  <a:srgbClr val="141413"/>
                </a:solidFill>
                <a:latin typeface="Calibri" panose="020F0502020204030204" pitchFamily="34" charset="0"/>
                <a:cs typeface="Calibri" panose="020F0502020204030204" pitchFamily="34" charset="0"/>
              </a:rPr>
              <a:t>Plus de 780 milliards de tokens provenant de textes web filtrés </a:t>
            </a:r>
            <a:r>
              <a:rPr lang="id-ID" altLang="x-none" dirty="0">
                <a:solidFill>
                  <a:srgbClr val="0070C0"/>
                </a:solidFill>
                <a:latin typeface="Calibri" panose="020F0502020204030204" pitchFamily="34" charset="0"/>
                <a:cs typeface="Calibri" panose="020F0502020204030204" pitchFamily="34" charset="0"/>
              </a:rPr>
              <a:t>(environ 50%) </a:t>
            </a:r>
            <a:r>
              <a:rPr lang="id-ID" altLang="x-none" dirty="0">
                <a:solidFill>
                  <a:srgbClr val="141413"/>
                </a:solidFill>
                <a:latin typeface="Calibri" panose="020F0502020204030204" pitchFamily="34" charset="0"/>
                <a:cs typeface="Calibri" panose="020F0502020204030204" pitchFamily="34" charset="0"/>
              </a:rPr>
              <a:t>, livres </a:t>
            </a:r>
            <a:r>
              <a:rPr lang="id-ID" altLang="x-none" dirty="0">
                <a:solidFill>
                  <a:srgbClr val="0070C0"/>
                </a:solidFill>
                <a:latin typeface="Calibri" panose="020F0502020204030204" pitchFamily="34" charset="0"/>
                <a:cs typeface="Calibri" panose="020F0502020204030204" pitchFamily="34" charset="0"/>
              </a:rPr>
              <a:t>(environ 27%)</a:t>
            </a:r>
            <a:r>
              <a:rPr lang="id-ID" altLang="x-none" dirty="0">
                <a:solidFill>
                  <a:srgbClr val="141413"/>
                </a:solidFill>
                <a:latin typeface="Calibri" panose="020F0502020204030204" pitchFamily="34" charset="0"/>
                <a:cs typeface="Calibri" panose="020F0502020204030204" pitchFamily="34" charset="0"/>
              </a:rPr>
              <a:t> , code source </a:t>
            </a:r>
            <a:r>
              <a:rPr lang="id-ID" altLang="x-none" dirty="0">
                <a:solidFill>
                  <a:srgbClr val="0070C0"/>
                </a:solidFill>
                <a:latin typeface="Calibri" panose="020F0502020204030204" pitchFamily="34" charset="0"/>
                <a:cs typeface="Calibri" panose="020F0502020204030204" pitchFamily="34" charset="0"/>
              </a:rPr>
              <a:t>(environ 8%)</a:t>
            </a:r>
            <a:r>
              <a:rPr lang="id-ID" altLang="x-none" dirty="0">
                <a:solidFill>
                  <a:srgbClr val="141413"/>
                </a:solidFill>
                <a:latin typeface="Calibri" panose="020F0502020204030204" pitchFamily="34" charset="0"/>
                <a:cs typeface="Calibri" panose="020F0502020204030204" pitchFamily="34" charset="0"/>
              </a:rPr>
              <a:t> , et conversations multilingues </a:t>
            </a:r>
            <a:r>
              <a:rPr lang="id-ID" altLang="x-none" dirty="0">
                <a:solidFill>
                  <a:srgbClr val="0070C0"/>
                </a:solidFill>
                <a:latin typeface="Calibri" panose="020F0502020204030204" pitchFamily="34" charset="0"/>
                <a:cs typeface="Calibri" panose="020F0502020204030204" pitchFamily="34" charset="0"/>
              </a:rPr>
              <a:t>(environ 15%)</a:t>
            </a:r>
            <a:r>
              <a:rPr lang="id-ID" altLang="x-none" dirty="0">
                <a:solidFill>
                  <a:srgbClr val="141413"/>
                </a:solidFill>
                <a:latin typeface="Calibri" panose="020F0502020204030204" pitchFamily="34" charset="0"/>
                <a:cs typeface="Calibri" panose="020F0502020204030204" pitchFamily="34" charset="0"/>
              </a:rPr>
              <a:t> .</a:t>
            </a:r>
            <a:endParaRPr lang="fr-FR" altLang="x-none" dirty="0">
              <a:solidFill>
                <a:srgbClr val="A6A6A6"/>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Font typeface="Source Sans Pro Light"/>
              <a:buAutoNum type="arabicPeriod"/>
            </a:pPr>
            <a:endParaRPr dirty="0">
              <a:solidFill>
                <a:srgbClr val="A6A6A6"/>
              </a:solidFill>
              <a:latin typeface="Calibri" panose="020F0502020204030204" pitchFamily="34" charset="0"/>
            </a:endParaRPr>
          </a:p>
          <a:p>
            <a:pPr marL="342900" indent="-342900" eaLnBrk="1" hangingPunct="1">
              <a:buClr>
                <a:srgbClr val="88A945"/>
              </a:buClr>
              <a:buSzPct val="150000"/>
              <a:buAutoNum type="arabicPeriod"/>
            </a:pPr>
            <a:r>
              <a:rPr lang="id-ID" altLang="x-none" b="1" dirty="0">
                <a:solidFill>
                  <a:srgbClr val="88A945"/>
                </a:solidFill>
                <a:latin typeface="Calibri" panose="020F0502020204030204" pitchFamily="34" charset="0"/>
              </a:rPr>
              <a:t>Multilinguisme</a:t>
            </a:r>
            <a:r>
              <a:rPr lang="id-ID" altLang="x-none" dirty="0">
                <a:solidFill>
                  <a:srgbClr val="88A945"/>
                </a:solidFill>
                <a:latin typeface="Calibri" panose="020F0502020204030204" pitchFamily="34" charset="0"/>
                <a:cs typeface="Calibri" panose="020F0502020204030204" pitchFamily="34" charset="0"/>
              </a:rPr>
              <a:t> :</a:t>
            </a:r>
            <a:r>
              <a:rPr lang="id-ID" altLang="x-none" dirty="0">
                <a:solidFill>
                  <a:srgbClr val="141413"/>
                </a:solidFill>
                <a:latin typeface="Calibri" panose="020F0502020204030204" pitchFamily="34" charset="0"/>
                <a:cs typeface="Calibri" panose="020F0502020204030204" pitchFamily="34" charset="0"/>
              </a:rPr>
              <a:t> Entraîné sur plus de 100 langues avec une attention particulière aux langues peu représentées en prenant en compte des particularités grammaticales, syntaxiques . </a:t>
            </a:r>
            <a:endParaRPr lang="id-ID" altLang="x-none" dirty="0">
              <a:solidFill>
                <a:srgbClr val="A6A6A6"/>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endParaRPr lang="id-ID" altLang="x-none" dirty="0">
              <a:solidFill>
                <a:srgbClr val="141413"/>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r>
              <a:rPr lang="id-ID" altLang="x-none" b="1" dirty="0">
                <a:solidFill>
                  <a:srgbClr val="88A945"/>
                </a:solidFill>
                <a:latin typeface="Calibri" panose="020F0502020204030204" pitchFamily="34" charset="0"/>
                <a:cs typeface="Calibri" panose="020F0502020204030204" pitchFamily="34" charset="0"/>
              </a:rPr>
              <a:t>Chain-of-thought</a:t>
            </a:r>
            <a:r>
              <a:rPr lang="id-ID" altLang="x-none" dirty="0">
                <a:solidFill>
                  <a:srgbClr val="88A945"/>
                </a:solidFill>
                <a:latin typeface="Calibri" panose="020F0502020204030204" pitchFamily="34" charset="0"/>
                <a:cs typeface="Calibri" panose="020F0502020204030204" pitchFamily="34" charset="0"/>
              </a:rPr>
              <a:t> :</a:t>
            </a:r>
            <a:r>
              <a:rPr lang="id-ID" altLang="x-none" dirty="0">
                <a:solidFill>
                  <a:srgbClr val="141413"/>
                </a:solidFill>
                <a:latin typeface="Calibri" panose="020F0502020204030204" pitchFamily="34" charset="0"/>
                <a:cs typeface="Calibri" panose="020F0502020204030204" pitchFamily="34" charset="0"/>
              </a:rPr>
              <a:t> Capacité </a:t>
            </a:r>
            <a:r>
              <a:rPr lang="id-ID" altLang="x-none" dirty="0">
                <a:solidFill>
                  <a:srgbClr val="141413"/>
                </a:solidFill>
                <a:latin typeface="Calibri" panose="020F0502020204030204" pitchFamily="34" charset="0"/>
                <a:ea typeface="Calibri" panose="020F0502020204030204" pitchFamily="34" charset="0"/>
              </a:rPr>
              <a:t>à</a:t>
            </a:r>
            <a:r>
              <a:rPr lang="id-ID" altLang="x-none" dirty="0">
                <a:solidFill>
                  <a:srgbClr val="141413"/>
                </a:solidFill>
                <a:latin typeface="Calibri" panose="020F0502020204030204" pitchFamily="34" charset="0"/>
                <a:cs typeface="Calibri" panose="020F0502020204030204" pitchFamily="34" charset="0"/>
              </a:rPr>
              <a:t> montrer son raisonnement étape par étape pour résoudre des problèmes complexes (pas de </a:t>
            </a:r>
            <a:r>
              <a:rPr lang="id-ID" altLang="x-none" dirty="0">
                <a:solidFill>
                  <a:srgbClr val="0070C0"/>
                </a:solidFill>
                <a:latin typeface="Calibri" panose="020F0502020204030204" pitchFamily="34" charset="0"/>
                <a:cs typeface="Calibri" panose="020F0502020204030204" pitchFamily="34" charset="0"/>
              </a:rPr>
              <a:t>"Boîte noire"</a:t>
            </a:r>
            <a:r>
              <a:rPr lang="id-ID" altLang="x-none" dirty="0">
                <a:solidFill>
                  <a:srgbClr val="141413"/>
                </a:solidFill>
                <a:latin typeface="Calibri" panose="020F0502020204030204" pitchFamily="34" charset="0"/>
                <a:cs typeface="Calibri" panose="020F0502020204030204" pitchFamily="34" charset="0"/>
              </a:rPr>
              <a:t>) et faciliter la détéction du problème dans le raisonnement. </a:t>
            </a:r>
            <a:endParaRPr lang="id-ID" altLang="x-none" dirty="0">
              <a:solidFill>
                <a:srgbClr val="A6A6A6"/>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endParaRPr lang="id-ID" altLang="x-none" dirty="0">
              <a:solidFill>
                <a:srgbClr val="141413"/>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r>
              <a:rPr lang="id-ID" altLang="x-none" b="1" dirty="0">
                <a:solidFill>
                  <a:srgbClr val="88A945"/>
                </a:solidFill>
                <a:latin typeface="Calibri" panose="020F0502020204030204" pitchFamily="34" charset="0"/>
                <a:cs typeface="Calibri" panose="020F0502020204030204" pitchFamily="34" charset="0"/>
              </a:rPr>
              <a:t>Émergence de capacités</a:t>
            </a:r>
            <a:r>
              <a:rPr lang="id-ID" altLang="x-none" dirty="0">
                <a:solidFill>
                  <a:srgbClr val="88A945"/>
                </a:solidFill>
                <a:latin typeface="Calibri" panose="020F0502020204030204" pitchFamily="34" charset="0"/>
                <a:cs typeface="Calibri" panose="020F0502020204030204" pitchFamily="34" charset="0"/>
              </a:rPr>
              <a:t> :</a:t>
            </a:r>
            <a:r>
              <a:rPr lang="id-ID" altLang="x-none" dirty="0">
                <a:solidFill>
                  <a:srgbClr val="141413"/>
                </a:solidFill>
                <a:latin typeface="Calibri" panose="020F0502020204030204" pitchFamily="34" charset="0"/>
                <a:cs typeface="Calibri" panose="020F0502020204030204" pitchFamily="34" charset="0"/>
              </a:rPr>
              <a:t> Démonstration de capacités qui n'étaient pas explicitement programmées mais qui ont émergé de la taille et de la qualité d'entraînement. Ces capacités apparaissent soudainement </a:t>
            </a:r>
            <a:r>
              <a:rPr lang="id-ID" altLang="x-none" dirty="0">
                <a:solidFill>
                  <a:srgbClr val="141413"/>
                </a:solidFill>
                <a:latin typeface="Calibri" panose="020F0502020204030204" pitchFamily="34" charset="0"/>
                <a:ea typeface="Calibri" panose="020F0502020204030204" pitchFamily="34" charset="0"/>
              </a:rPr>
              <a:t>à</a:t>
            </a:r>
            <a:r>
              <a:rPr lang="id-ID" altLang="x-none" dirty="0">
                <a:solidFill>
                  <a:srgbClr val="141413"/>
                </a:solidFill>
                <a:latin typeface="Calibri" panose="020F0502020204030204" pitchFamily="34" charset="0"/>
                <a:cs typeface="Calibri" panose="020F0502020204030204" pitchFamily="34" charset="0"/>
              </a:rPr>
              <a:t> partir d'une certaine taille de modèle </a:t>
            </a:r>
            <a:r>
              <a:rPr lang="id-ID" altLang="x-none" dirty="0">
                <a:solidFill>
                  <a:srgbClr val="0070C0"/>
                </a:solidFill>
                <a:latin typeface="Calibri" panose="020F0502020204030204" pitchFamily="34" charset="0"/>
                <a:cs typeface="Calibri" panose="020F0502020204030204" pitchFamily="34" charset="0"/>
              </a:rPr>
              <a:t>(effet de seuil)</a:t>
            </a:r>
            <a:r>
              <a:rPr lang="id-ID" altLang="x-none" dirty="0">
                <a:solidFill>
                  <a:srgbClr val="141413"/>
                </a:solidFill>
                <a:latin typeface="Calibri" panose="020F0502020204030204" pitchFamily="34" charset="0"/>
                <a:cs typeface="Calibri" panose="020F0502020204030204" pitchFamily="34" charset="0"/>
              </a:rPr>
              <a:t>, suggérant une transformation qualitative et pas seulement quantitative.</a:t>
            </a:r>
            <a:endParaRPr lang="id-ID" altLang="x-none" dirty="0">
              <a:solidFill>
                <a:srgbClr val="A6A6A6"/>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endParaRPr lang="id-ID" altLang="x-none" dirty="0">
              <a:solidFill>
                <a:srgbClr val="141413"/>
              </a:solidFill>
              <a:latin typeface="Calibri" panose="020F0502020204030204" pitchFamily="34" charset="0"/>
              <a:cs typeface="Calibri" panose="020F0502020204030204" pitchFamily="34" charset="0"/>
            </a:endParaRPr>
          </a:p>
          <a:p>
            <a:pPr marL="342900" indent="-342900" eaLnBrk="1" hangingPunct="1">
              <a:buClr>
                <a:srgbClr val="88A945"/>
              </a:buClr>
              <a:buSzPct val="150000"/>
              <a:buAutoNum type="arabicPeriod"/>
            </a:pPr>
            <a:r>
              <a:rPr lang="id-ID" altLang="x-none" b="1" dirty="0">
                <a:solidFill>
                  <a:srgbClr val="88A945"/>
                </a:solidFill>
                <a:latin typeface="Calibri" panose="020F0502020204030204" pitchFamily="34" charset="0"/>
                <a:cs typeface="Calibri" panose="020F0502020204030204" pitchFamily="34" charset="0"/>
              </a:rPr>
              <a:t>Few-shot learning</a:t>
            </a:r>
            <a:r>
              <a:rPr lang="id-ID" altLang="x-none" dirty="0">
                <a:solidFill>
                  <a:srgbClr val="88A945"/>
                </a:solidFill>
                <a:latin typeface="Calibri" panose="020F0502020204030204" pitchFamily="34" charset="0"/>
                <a:cs typeface="Calibri" panose="020F0502020204030204" pitchFamily="34" charset="0"/>
              </a:rPr>
              <a:t> :</a:t>
            </a:r>
            <a:r>
              <a:rPr lang="id-ID" altLang="x-none" dirty="0">
                <a:solidFill>
                  <a:srgbClr val="141413"/>
                </a:solidFill>
                <a:latin typeface="Calibri" panose="020F0502020204030204" pitchFamily="34" charset="0"/>
                <a:cs typeface="Calibri" panose="020F0502020204030204" pitchFamily="34" charset="0"/>
              </a:rPr>
              <a:t> Performance exceptionnelle avec seulement quelques exemples d'apprentissage, chose qui réduit considérablement les coûts et les défis liés </a:t>
            </a:r>
            <a:r>
              <a:rPr lang="id-ID" altLang="x-none" dirty="0">
                <a:solidFill>
                  <a:srgbClr val="141413"/>
                </a:solidFill>
                <a:latin typeface="Calibri" panose="020F0502020204030204" pitchFamily="34" charset="0"/>
                <a:ea typeface="Calibri" panose="020F0502020204030204" pitchFamily="34" charset="0"/>
              </a:rPr>
              <a:t>à</a:t>
            </a:r>
            <a:r>
              <a:rPr lang="id-ID" altLang="x-none" dirty="0">
                <a:solidFill>
                  <a:srgbClr val="141413"/>
                </a:solidFill>
                <a:latin typeface="Calibri" panose="020F0502020204030204" pitchFamily="34" charset="0"/>
                <a:cs typeface="Calibri" panose="020F0502020204030204" pitchFamily="34" charset="0"/>
              </a:rPr>
              <a:t> la collecte et </a:t>
            </a:r>
            <a:r>
              <a:rPr lang="id-ID" altLang="x-none" dirty="0">
                <a:solidFill>
                  <a:srgbClr val="141413"/>
                </a:solidFill>
                <a:latin typeface="Calibri" panose="020F0502020204030204" pitchFamily="34" charset="0"/>
                <a:ea typeface="Calibri" panose="020F0502020204030204" pitchFamily="34" charset="0"/>
              </a:rPr>
              <a:t>à</a:t>
            </a:r>
            <a:r>
              <a:rPr lang="id-ID" altLang="x-none" dirty="0">
                <a:solidFill>
                  <a:srgbClr val="141413"/>
                </a:solidFill>
                <a:latin typeface="Calibri" panose="020F0502020204030204" pitchFamily="34" charset="0"/>
                <a:cs typeface="Calibri" panose="020F0502020204030204" pitchFamily="34" charset="0"/>
              </a:rPr>
              <a:t> l'annotation de grandes quantités de données d'entraînement spécifiques.</a:t>
            </a:r>
            <a:endParaRPr lang="id-ID" altLang="x-none" dirty="0">
              <a:solidFill>
                <a:srgbClr val="141413"/>
              </a:solidFill>
              <a:latin typeface="Calibri" panose="020F0502020204030204" pitchFamily="34" charset="0"/>
              <a:ea typeface="Calibri" panose="020F050202020403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665480" y="5314950"/>
            <a:ext cx="7524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4717098" y="5380038"/>
            <a:ext cx="7524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6735763" y="5465763"/>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8767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465763"/>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2247583" y="4846638"/>
            <a:ext cx="1666875"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25400" y="6705600"/>
            <a:ext cx="12192000" cy="133350"/>
            <a:chOff x="0" y="6736614"/>
            <a:chExt cx="12191996" cy="134343"/>
          </a:xfrm>
        </p:grpSpPr>
        <p:sp>
          <p:nvSpPr>
            <p:cNvPr id="40979"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0980"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0981"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0982"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0983"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0984"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grpSp>
        <p:nvGrpSpPr>
          <p:cNvPr id="15" name="Group 28"/>
          <p:cNvGrpSpPr/>
          <p:nvPr/>
        </p:nvGrpSpPr>
        <p:grpSpPr>
          <a:xfrm>
            <a:off x="2712720" y="5562600"/>
            <a:ext cx="736600" cy="738188"/>
            <a:chOff x="647002" y="5633161"/>
            <a:chExt cx="738003" cy="737637"/>
          </a:xfrm>
        </p:grpSpPr>
        <p:sp>
          <p:nvSpPr>
            <p:cNvPr id="40976" name="Freeform 5"/>
            <p:cNvSpPr/>
            <p:nvPr/>
          </p:nvSpPr>
          <p:spPr>
            <a:xfrm>
              <a:off x="647002"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138738"/>
                </a:cxn>
                <a:cxn ang="0">
                  <a:pos x="184627" y="68938"/>
                </a:cxn>
                <a:cxn ang="0">
                  <a:pos x="115607" y="0"/>
                </a:cxn>
                <a:cxn ang="0">
                  <a:pos x="46588" y="68938"/>
                </a:cxn>
                <a:cxn ang="0">
                  <a:pos x="46588" y="138738"/>
                </a:cxn>
                <a:cxn ang="0">
                  <a:pos x="0" y="230942"/>
                </a:cxn>
                <a:cxn ang="0">
                  <a:pos x="46588" y="322285"/>
                </a:cxn>
                <a:cxn ang="0">
                  <a:pos x="46588" y="668699"/>
                </a:cxn>
                <a:cxn ang="0">
                  <a:pos x="115607" y="737637"/>
                </a:cxn>
                <a:cxn ang="0">
                  <a:pos x="184627" y="668699"/>
                </a:cxn>
                <a:cxn ang="0">
                  <a:pos x="184627" y="322285"/>
                </a:cxn>
                <a:cxn ang="0">
                  <a:pos x="231215" y="230942"/>
                </a:cxn>
                <a:cxn ang="0">
                  <a:pos x="184627" y="138738"/>
                </a:cxn>
                <a:cxn ang="0">
                  <a:pos x="92313" y="68938"/>
                </a:cxn>
                <a:cxn ang="0">
                  <a:pos x="115607" y="46533"/>
                </a:cxn>
                <a:cxn ang="0">
                  <a:pos x="138902" y="68938"/>
                </a:cxn>
                <a:cxn ang="0">
                  <a:pos x="138902" y="117195"/>
                </a:cxn>
                <a:cxn ang="0">
                  <a:pos x="115607" y="115471"/>
                </a:cxn>
                <a:cxn ang="0">
                  <a:pos x="92313" y="117195"/>
                </a:cxn>
                <a:cxn ang="0">
                  <a:pos x="92313" y="68938"/>
                </a:cxn>
                <a:cxn ang="0">
                  <a:pos x="138902" y="668699"/>
                </a:cxn>
                <a:cxn ang="0">
                  <a:pos x="115607" y="691966"/>
                </a:cxn>
                <a:cxn ang="0">
                  <a:pos x="92313" y="668699"/>
                </a:cxn>
                <a:cxn ang="0">
                  <a:pos x="92313" y="343828"/>
                </a:cxn>
                <a:cxn ang="0">
                  <a:pos x="115607" y="345552"/>
                </a:cxn>
                <a:cxn ang="0">
                  <a:pos x="138902" y="343828"/>
                </a:cxn>
                <a:cxn ang="0">
                  <a:pos x="138902" y="668699"/>
                </a:cxn>
                <a:cxn ang="0">
                  <a:pos x="181176" y="249900"/>
                </a:cxn>
                <a:cxn ang="0">
                  <a:pos x="180313" y="253347"/>
                </a:cxn>
                <a:cxn ang="0">
                  <a:pos x="171686" y="270582"/>
                </a:cxn>
                <a:cxn ang="0">
                  <a:pos x="171686" y="270582"/>
                </a:cxn>
                <a:cxn ang="0">
                  <a:pos x="157019" y="285231"/>
                </a:cxn>
                <a:cxn ang="0">
                  <a:pos x="157019" y="285231"/>
                </a:cxn>
                <a:cxn ang="0">
                  <a:pos x="138902" y="295572"/>
                </a:cxn>
                <a:cxn ang="0">
                  <a:pos x="115607" y="299880"/>
                </a:cxn>
                <a:cxn ang="0">
                  <a:pos x="92313" y="295572"/>
                </a:cxn>
                <a:cxn ang="0">
                  <a:pos x="74196" y="285231"/>
                </a:cxn>
                <a:cxn ang="0">
                  <a:pos x="73333" y="285231"/>
                </a:cxn>
                <a:cxn ang="0">
                  <a:pos x="59529" y="270582"/>
                </a:cxn>
                <a:cxn ang="0">
                  <a:pos x="59529" y="270582"/>
                </a:cxn>
                <a:cxn ang="0">
                  <a:pos x="50039" y="253347"/>
                </a:cxn>
                <a:cxn ang="0">
                  <a:pos x="49176" y="249900"/>
                </a:cxn>
                <a:cxn ang="0">
                  <a:pos x="46588" y="230942"/>
                </a:cxn>
                <a:cxn ang="0">
                  <a:pos x="49176" y="211123"/>
                </a:cxn>
                <a:cxn ang="0">
                  <a:pos x="50039" y="207676"/>
                </a:cxn>
                <a:cxn ang="0">
                  <a:pos x="59529" y="190441"/>
                </a:cxn>
                <a:cxn ang="0">
                  <a:pos x="59529" y="190441"/>
                </a:cxn>
                <a:cxn ang="0">
                  <a:pos x="73333" y="175792"/>
                </a:cxn>
                <a:cxn ang="0">
                  <a:pos x="74196" y="175792"/>
                </a:cxn>
                <a:cxn ang="0">
                  <a:pos x="92313" y="165451"/>
                </a:cxn>
                <a:cxn ang="0">
                  <a:pos x="115607" y="161143"/>
                </a:cxn>
                <a:cxn ang="0">
                  <a:pos x="138902" y="165451"/>
                </a:cxn>
                <a:cxn ang="0">
                  <a:pos x="157019" y="175792"/>
                </a:cxn>
                <a:cxn ang="0">
                  <a:pos x="157019" y="175792"/>
                </a:cxn>
                <a:cxn ang="0">
                  <a:pos x="171686" y="190441"/>
                </a:cxn>
                <a:cxn ang="0">
                  <a:pos x="171686" y="190441"/>
                </a:cxn>
                <a:cxn ang="0">
                  <a:pos x="180313" y="207676"/>
                </a:cxn>
                <a:cxn ang="0">
                  <a:pos x="181176" y="211123"/>
                </a:cxn>
                <a:cxn ang="0">
                  <a:pos x="184627" y="230942"/>
                </a:cxn>
                <a:cxn ang="0">
                  <a:pos x="181176" y="249900"/>
                </a:cxn>
              </a:cxnLst>
              <a:rect l="txL" t="txT" r="txR" b="txB"/>
              <a:pathLst>
                <a:path w="268" h="856">
                  <a:moveTo>
                    <a:pt x="214" y="161"/>
                  </a:moveTo>
                  <a:cubicBezTo>
                    <a:pt x="214" y="80"/>
                    <a:pt x="214" y="80"/>
                    <a:pt x="214" y="80"/>
                  </a:cubicBezTo>
                  <a:cubicBezTo>
                    <a:pt x="214" y="36"/>
                    <a:pt x="178" y="0"/>
                    <a:pt x="134" y="0"/>
                  </a:cubicBezTo>
                  <a:cubicBezTo>
                    <a:pt x="89" y="0"/>
                    <a:pt x="54" y="36"/>
                    <a:pt x="54" y="80"/>
                  </a:cubicBezTo>
                  <a:cubicBezTo>
                    <a:pt x="54" y="161"/>
                    <a:pt x="54" y="161"/>
                    <a:pt x="54" y="161"/>
                  </a:cubicBezTo>
                  <a:cubicBezTo>
                    <a:pt x="21" y="186"/>
                    <a:pt x="0" y="224"/>
                    <a:pt x="0" y="268"/>
                  </a:cubicBezTo>
                  <a:cubicBezTo>
                    <a:pt x="0" y="311"/>
                    <a:pt x="21" y="349"/>
                    <a:pt x="54" y="374"/>
                  </a:cubicBezTo>
                  <a:cubicBezTo>
                    <a:pt x="54" y="776"/>
                    <a:pt x="54" y="776"/>
                    <a:pt x="54" y="776"/>
                  </a:cubicBezTo>
                  <a:cubicBezTo>
                    <a:pt x="54" y="820"/>
                    <a:pt x="89" y="856"/>
                    <a:pt x="134" y="856"/>
                  </a:cubicBezTo>
                  <a:cubicBezTo>
                    <a:pt x="178" y="856"/>
                    <a:pt x="214" y="820"/>
                    <a:pt x="214" y="776"/>
                  </a:cubicBezTo>
                  <a:cubicBezTo>
                    <a:pt x="214" y="374"/>
                    <a:pt x="214" y="374"/>
                    <a:pt x="214" y="374"/>
                  </a:cubicBezTo>
                  <a:cubicBezTo>
                    <a:pt x="246" y="349"/>
                    <a:pt x="268" y="311"/>
                    <a:pt x="268" y="268"/>
                  </a:cubicBezTo>
                  <a:cubicBezTo>
                    <a:pt x="268" y="224"/>
                    <a:pt x="246" y="186"/>
                    <a:pt x="214" y="161"/>
                  </a:cubicBezTo>
                  <a:close/>
                  <a:moveTo>
                    <a:pt x="107" y="80"/>
                  </a:moveTo>
                  <a:cubicBezTo>
                    <a:pt x="107" y="65"/>
                    <a:pt x="119" y="54"/>
                    <a:pt x="134" y="54"/>
                  </a:cubicBezTo>
                  <a:cubicBezTo>
                    <a:pt x="149" y="54"/>
                    <a:pt x="161" y="65"/>
                    <a:pt x="161" y="80"/>
                  </a:cubicBezTo>
                  <a:cubicBezTo>
                    <a:pt x="161" y="136"/>
                    <a:pt x="161" y="136"/>
                    <a:pt x="161" y="136"/>
                  </a:cubicBezTo>
                  <a:cubicBezTo>
                    <a:pt x="152" y="135"/>
                    <a:pt x="143" y="134"/>
                    <a:pt x="134" y="134"/>
                  </a:cubicBezTo>
                  <a:cubicBezTo>
                    <a:pt x="125" y="134"/>
                    <a:pt x="116" y="135"/>
                    <a:pt x="107" y="136"/>
                  </a:cubicBezTo>
                  <a:lnTo>
                    <a:pt x="107" y="80"/>
                  </a:lnTo>
                  <a:close/>
                  <a:moveTo>
                    <a:pt x="161" y="776"/>
                  </a:moveTo>
                  <a:cubicBezTo>
                    <a:pt x="161" y="791"/>
                    <a:pt x="149" y="803"/>
                    <a:pt x="134" y="803"/>
                  </a:cubicBezTo>
                  <a:cubicBezTo>
                    <a:pt x="119" y="803"/>
                    <a:pt x="107" y="791"/>
                    <a:pt x="107" y="776"/>
                  </a:cubicBezTo>
                  <a:cubicBezTo>
                    <a:pt x="107" y="399"/>
                    <a:pt x="107" y="399"/>
                    <a:pt x="107" y="399"/>
                  </a:cubicBezTo>
                  <a:cubicBezTo>
                    <a:pt x="116" y="400"/>
                    <a:pt x="125" y="401"/>
                    <a:pt x="134" y="401"/>
                  </a:cubicBezTo>
                  <a:cubicBezTo>
                    <a:pt x="143" y="401"/>
                    <a:pt x="152" y="400"/>
                    <a:pt x="161" y="399"/>
                  </a:cubicBezTo>
                  <a:lnTo>
                    <a:pt x="161" y="776"/>
                  </a:lnTo>
                  <a:close/>
                  <a:moveTo>
                    <a:pt x="210" y="290"/>
                  </a:moveTo>
                  <a:cubicBezTo>
                    <a:pt x="210" y="291"/>
                    <a:pt x="210" y="293"/>
                    <a:pt x="209" y="294"/>
                  </a:cubicBezTo>
                  <a:cubicBezTo>
                    <a:pt x="207" y="301"/>
                    <a:pt x="203" y="308"/>
                    <a:pt x="199" y="314"/>
                  </a:cubicBezTo>
                  <a:cubicBezTo>
                    <a:pt x="199" y="314"/>
                    <a:pt x="199" y="314"/>
                    <a:pt x="199" y="314"/>
                  </a:cubicBezTo>
                  <a:cubicBezTo>
                    <a:pt x="194" y="321"/>
                    <a:pt x="188" y="326"/>
                    <a:pt x="182" y="331"/>
                  </a:cubicBezTo>
                  <a:cubicBezTo>
                    <a:pt x="182" y="331"/>
                    <a:pt x="182" y="331"/>
                    <a:pt x="182" y="331"/>
                  </a:cubicBezTo>
                  <a:cubicBezTo>
                    <a:pt x="175" y="336"/>
                    <a:pt x="168" y="340"/>
                    <a:pt x="161" y="343"/>
                  </a:cubicBezTo>
                  <a:cubicBezTo>
                    <a:pt x="152" y="346"/>
                    <a:pt x="143" y="348"/>
                    <a:pt x="134" y="348"/>
                  </a:cubicBezTo>
                  <a:cubicBezTo>
                    <a:pt x="124" y="348"/>
                    <a:pt x="115" y="346"/>
                    <a:pt x="107" y="343"/>
                  </a:cubicBezTo>
                  <a:cubicBezTo>
                    <a:pt x="99" y="340"/>
                    <a:pt x="92" y="336"/>
                    <a:pt x="86" y="331"/>
                  </a:cubicBezTo>
                  <a:cubicBezTo>
                    <a:pt x="86" y="331"/>
                    <a:pt x="85" y="331"/>
                    <a:pt x="85" y="331"/>
                  </a:cubicBezTo>
                  <a:cubicBezTo>
                    <a:pt x="79" y="326"/>
                    <a:pt x="74" y="321"/>
                    <a:pt x="69" y="314"/>
                  </a:cubicBezTo>
                  <a:cubicBezTo>
                    <a:pt x="69" y="314"/>
                    <a:pt x="69" y="314"/>
                    <a:pt x="69" y="314"/>
                  </a:cubicBezTo>
                  <a:cubicBezTo>
                    <a:pt x="64" y="308"/>
                    <a:pt x="61" y="301"/>
                    <a:pt x="58" y="294"/>
                  </a:cubicBezTo>
                  <a:cubicBezTo>
                    <a:pt x="58" y="293"/>
                    <a:pt x="58" y="291"/>
                    <a:pt x="57" y="290"/>
                  </a:cubicBezTo>
                  <a:cubicBezTo>
                    <a:pt x="55" y="283"/>
                    <a:pt x="54" y="275"/>
                    <a:pt x="54" y="268"/>
                  </a:cubicBezTo>
                  <a:cubicBezTo>
                    <a:pt x="54" y="260"/>
                    <a:pt x="55" y="252"/>
                    <a:pt x="57" y="245"/>
                  </a:cubicBezTo>
                  <a:cubicBezTo>
                    <a:pt x="58" y="244"/>
                    <a:pt x="58" y="242"/>
                    <a:pt x="58" y="241"/>
                  </a:cubicBezTo>
                  <a:cubicBezTo>
                    <a:pt x="61" y="234"/>
                    <a:pt x="64" y="227"/>
                    <a:pt x="69" y="221"/>
                  </a:cubicBezTo>
                  <a:cubicBezTo>
                    <a:pt x="69" y="221"/>
                    <a:pt x="69" y="221"/>
                    <a:pt x="69" y="221"/>
                  </a:cubicBezTo>
                  <a:cubicBezTo>
                    <a:pt x="74" y="214"/>
                    <a:pt x="79" y="209"/>
                    <a:pt x="85" y="204"/>
                  </a:cubicBezTo>
                  <a:cubicBezTo>
                    <a:pt x="85" y="204"/>
                    <a:pt x="86" y="204"/>
                    <a:pt x="86" y="204"/>
                  </a:cubicBezTo>
                  <a:cubicBezTo>
                    <a:pt x="92" y="199"/>
                    <a:pt x="99" y="195"/>
                    <a:pt x="107" y="192"/>
                  </a:cubicBezTo>
                  <a:cubicBezTo>
                    <a:pt x="115" y="189"/>
                    <a:pt x="124" y="187"/>
                    <a:pt x="134" y="187"/>
                  </a:cubicBezTo>
                  <a:cubicBezTo>
                    <a:pt x="143" y="187"/>
                    <a:pt x="152" y="189"/>
                    <a:pt x="161" y="192"/>
                  </a:cubicBezTo>
                  <a:cubicBezTo>
                    <a:pt x="168" y="195"/>
                    <a:pt x="175" y="199"/>
                    <a:pt x="182" y="204"/>
                  </a:cubicBezTo>
                  <a:cubicBezTo>
                    <a:pt x="182" y="204"/>
                    <a:pt x="182" y="204"/>
                    <a:pt x="182" y="204"/>
                  </a:cubicBezTo>
                  <a:cubicBezTo>
                    <a:pt x="188" y="209"/>
                    <a:pt x="194" y="214"/>
                    <a:pt x="199" y="221"/>
                  </a:cubicBezTo>
                  <a:cubicBezTo>
                    <a:pt x="199" y="221"/>
                    <a:pt x="199" y="221"/>
                    <a:pt x="199" y="221"/>
                  </a:cubicBezTo>
                  <a:cubicBezTo>
                    <a:pt x="203" y="227"/>
                    <a:pt x="207" y="234"/>
                    <a:pt x="209" y="241"/>
                  </a:cubicBezTo>
                  <a:cubicBezTo>
                    <a:pt x="210" y="242"/>
                    <a:pt x="210" y="244"/>
                    <a:pt x="210" y="245"/>
                  </a:cubicBezTo>
                  <a:cubicBezTo>
                    <a:pt x="213" y="252"/>
                    <a:pt x="214" y="260"/>
                    <a:pt x="214" y="268"/>
                  </a:cubicBezTo>
                  <a:cubicBezTo>
                    <a:pt x="214" y="275"/>
                    <a:pt x="213" y="283"/>
                    <a:pt x="210" y="290"/>
                  </a:cubicBezTo>
                  <a:close/>
                </a:path>
              </a:pathLst>
            </a:custGeom>
            <a:solidFill>
              <a:srgbClr val="FFFFFF">
                <a:alpha val="100000"/>
              </a:srgbClr>
            </a:solidFill>
            <a:ln w="9525">
              <a:noFill/>
            </a:ln>
          </p:spPr>
          <p:txBody>
            <a:bodyPr/>
            <a:lstStyle/>
            <a:p>
              <a:endParaRPr lang="fr-FR" altLang="en-US"/>
            </a:p>
          </p:txBody>
        </p:sp>
        <p:sp>
          <p:nvSpPr>
            <p:cNvPr id="40977" name="Freeform 6"/>
            <p:cNvSpPr/>
            <p:nvPr/>
          </p:nvSpPr>
          <p:spPr>
            <a:xfrm>
              <a:off x="1154878" y="5633161"/>
              <a:ext cx="230127" cy="737637"/>
            </a:xfrm>
            <a:custGeom>
              <a:avLst/>
              <a:gdLst>
                <a:gd name="txL" fmla="*/ 0 w 267"/>
                <a:gd name="txT" fmla="*/ 0 h 856"/>
                <a:gd name="txR" fmla="*/ 267 w 267"/>
                <a:gd name="txB" fmla="*/ 856 h 856"/>
              </a:gdLst>
              <a:ahLst/>
              <a:cxnLst>
                <a:cxn ang="17694720">
                  <a:pos x="115064" y="0"/>
                </a:cxn>
                <a:cxn ang="0">
                  <a:pos x="230127" y="368819"/>
                </a:cxn>
                <a:cxn ang="5898240">
                  <a:pos x="115064" y="737637"/>
                </a:cxn>
                <a:cxn ang="11796480">
                  <a:pos x="0" y="368819"/>
                </a:cxn>
                <a:cxn ang="0">
                  <a:pos x="184446" y="138738"/>
                </a:cxn>
                <a:cxn ang="0">
                  <a:pos x="184446" y="68938"/>
                </a:cxn>
                <a:cxn ang="0">
                  <a:pos x="114633" y="0"/>
                </a:cxn>
                <a:cxn ang="0">
                  <a:pos x="45681" y="68938"/>
                </a:cxn>
                <a:cxn ang="0">
                  <a:pos x="45681" y="138738"/>
                </a:cxn>
                <a:cxn ang="0">
                  <a:pos x="0" y="230942"/>
                </a:cxn>
                <a:cxn ang="0">
                  <a:pos x="45681" y="322285"/>
                </a:cxn>
                <a:cxn ang="0">
                  <a:pos x="45681" y="668699"/>
                </a:cxn>
                <a:cxn ang="0">
                  <a:pos x="114633" y="737637"/>
                </a:cxn>
                <a:cxn ang="0">
                  <a:pos x="184446" y="668699"/>
                </a:cxn>
                <a:cxn ang="0">
                  <a:pos x="184446" y="322285"/>
                </a:cxn>
                <a:cxn ang="0">
                  <a:pos x="230127" y="230942"/>
                </a:cxn>
                <a:cxn ang="0">
                  <a:pos x="184446" y="138738"/>
                </a:cxn>
                <a:cxn ang="0">
                  <a:pos x="92223" y="68938"/>
                </a:cxn>
                <a:cxn ang="0">
                  <a:pos x="114633" y="46533"/>
                </a:cxn>
                <a:cxn ang="0">
                  <a:pos x="137904" y="68938"/>
                </a:cxn>
                <a:cxn ang="0">
                  <a:pos x="137904" y="117195"/>
                </a:cxn>
                <a:cxn ang="0">
                  <a:pos x="114633" y="115471"/>
                </a:cxn>
                <a:cxn ang="0">
                  <a:pos x="92223" y="117195"/>
                </a:cxn>
                <a:cxn ang="0">
                  <a:pos x="92223" y="68938"/>
                </a:cxn>
                <a:cxn ang="0">
                  <a:pos x="137904" y="668699"/>
                </a:cxn>
                <a:cxn ang="0">
                  <a:pos x="114633" y="691966"/>
                </a:cxn>
                <a:cxn ang="0">
                  <a:pos x="92223" y="668699"/>
                </a:cxn>
                <a:cxn ang="0">
                  <a:pos x="92223" y="343828"/>
                </a:cxn>
                <a:cxn ang="0">
                  <a:pos x="114633" y="345552"/>
                </a:cxn>
                <a:cxn ang="0">
                  <a:pos x="137904" y="343828"/>
                </a:cxn>
                <a:cxn ang="0">
                  <a:pos x="137904" y="668699"/>
                </a:cxn>
                <a:cxn ang="0">
                  <a:pos x="180999" y="249900"/>
                </a:cxn>
                <a:cxn ang="0">
                  <a:pos x="180137" y="253347"/>
                </a:cxn>
                <a:cxn ang="0">
                  <a:pos x="170656" y="270582"/>
                </a:cxn>
                <a:cxn ang="0">
                  <a:pos x="170656" y="270582"/>
                </a:cxn>
                <a:cxn ang="0">
                  <a:pos x="156866" y="285231"/>
                </a:cxn>
                <a:cxn ang="0">
                  <a:pos x="156004" y="285231"/>
                </a:cxn>
                <a:cxn ang="0">
                  <a:pos x="137904" y="295572"/>
                </a:cxn>
                <a:cxn ang="0">
                  <a:pos x="114633" y="299880"/>
                </a:cxn>
                <a:cxn ang="0">
                  <a:pos x="92223" y="295572"/>
                </a:cxn>
                <a:cxn ang="0">
                  <a:pos x="73261" y="285231"/>
                </a:cxn>
                <a:cxn ang="0">
                  <a:pos x="73261" y="285231"/>
                </a:cxn>
                <a:cxn ang="0">
                  <a:pos x="58609" y="270582"/>
                </a:cxn>
                <a:cxn ang="0">
                  <a:pos x="58609" y="270582"/>
                </a:cxn>
                <a:cxn ang="0">
                  <a:pos x="49990" y="253347"/>
                </a:cxn>
                <a:cxn ang="0">
                  <a:pos x="49128" y="249900"/>
                </a:cxn>
                <a:cxn ang="0">
                  <a:pos x="45681" y="230942"/>
                </a:cxn>
                <a:cxn ang="0">
                  <a:pos x="49128" y="211123"/>
                </a:cxn>
                <a:cxn ang="0">
                  <a:pos x="49990" y="207676"/>
                </a:cxn>
                <a:cxn ang="0">
                  <a:pos x="58609" y="190441"/>
                </a:cxn>
                <a:cxn ang="0">
                  <a:pos x="58609" y="190441"/>
                </a:cxn>
                <a:cxn ang="0">
                  <a:pos x="73261" y="175792"/>
                </a:cxn>
                <a:cxn ang="0">
                  <a:pos x="73261" y="175792"/>
                </a:cxn>
                <a:cxn ang="0">
                  <a:pos x="92223" y="165451"/>
                </a:cxn>
                <a:cxn ang="0">
                  <a:pos x="114633" y="161143"/>
                </a:cxn>
                <a:cxn ang="0">
                  <a:pos x="137904" y="165451"/>
                </a:cxn>
                <a:cxn ang="0">
                  <a:pos x="156004" y="175792"/>
                </a:cxn>
                <a:cxn ang="0">
                  <a:pos x="156866" y="175792"/>
                </a:cxn>
                <a:cxn ang="0">
                  <a:pos x="170656" y="190441"/>
                </a:cxn>
                <a:cxn ang="0">
                  <a:pos x="170656" y="190441"/>
                </a:cxn>
                <a:cxn ang="0">
                  <a:pos x="180137" y="207676"/>
                </a:cxn>
                <a:cxn ang="0">
                  <a:pos x="180999" y="211123"/>
                </a:cxn>
                <a:cxn ang="0">
                  <a:pos x="184446" y="230942"/>
                </a:cxn>
                <a:cxn ang="0">
                  <a:pos x="180999" y="249900"/>
                </a:cxn>
              </a:cxnLst>
              <a:rect l="txL" t="txT" r="txR" b="txB"/>
              <a:pathLst>
                <a:path w="267" h="856">
                  <a:moveTo>
                    <a:pt x="214" y="161"/>
                  </a:moveTo>
                  <a:cubicBezTo>
                    <a:pt x="214" y="80"/>
                    <a:pt x="214" y="80"/>
                    <a:pt x="214" y="80"/>
                  </a:cubicBezTo>
                  <a:cubicBezTo>
                    <a:pt x="214" y="36"/>
                    <a:pt x="178" y="0"/>
                    <a:pt x="133" y="0"/>
                  </a:cubicBezTo>
                  <a:cubicBezTo>
                    <a:pt x="89" y="0"/>
                    <a:pt x="53" y="36"/>
                    <a:pt x="53" y="80"/>
                  </a:cubicBezTo>
                  <a:cubicBezTo>
                    <a:pt x="53" y="161"/>
                    <a:pt x="53" y="161"/>
                    <a:pt x="53" y="161"/>
                  </a:cubicBezTo>
                  <a:cubicBezTo>
                    <a:pt x="21" y="186"/>
                    <a:pt x="0" y="224"/>
                    <a:pt x="0" y="268"/>
                  </a:cubicBezTo>
                  <a:cubicBezTo>
                    <a:pt x="0" y="311"/>
                    <a:pt x="21" y="349"/>
                    <a:pt x="53" y="374"/>
                  </a:cubicBezTo>
                  <a:cubicBezTo>
                    <a:pt x="53" y="776"/>
                    <a:pt x="53" y="776"/>
                    <a:pt x="53" y="776"/>
                  </a:cubicBezTo>
                  <a:cubicBezTo>
                    <a:pt x="53" y="820"/>
                    <a:pt x="89" y="856"/>
                    <a:pt x="133" y="856"/>
                  </a:cubicBezTo>
                  <a:cubicBezTo>
                    <a:pt x="178" y="856"/>
                    <a:pt x="214" y="820"/>
                    <a:pt x="214" y="776"/>
                  </a:cubicBezTo>
                  <a:cubicBezTo>
                    <a:pt x="214" y="374"/>
                    <a:pt x="214" y="374"/>
                    <a:pt x="214" y="374"/>
                  </a:cubicBezTo>
                  <a:cubicBezTo>
                    <a:pt x="246" y="349"/>
                    <a:pt x="267" y="311"/>
                    <a:pt x="267" y="268"/>
                  </a:cubicBezTo>
                  <a:cubicBezTo>
                    <a:pt x="267" y="224"/>
                    <a:pt x="246" y="186"/>
                    <a:pt x="214" y="161"/>
                  </a:cubicBezTo>
                  <a:close/>
                  <a:moveTo>
                    <a:pt x="107" y="80"/>
                  </a:moveTo>
                  <a:cubicBezTo>
                    <a:pt x="107" y="65"/>
                    <a:pt x="118" y="54"/>
                    <a:pt x="133" y="54"/>
                  </a:cubicBezTo>
                  <a:cubicBezTo>
                    <a:pt x="148" y="54"/>
                    <a:pt x="160" y="65"/>
                    <a:pt x="160" y="80"/>
                  </a:cubicBezTo>
                  <a:cubicBezTo>
                    <a:pt x="160" y="136"/>
                    <a:pt x="160" y="136"/>
                    <a:pt x="160" y="136"/>
                  </a:cubicBezTo>
                  <a:cubicBezTo>
                    <a:pt x="151" y="135"/>
                    <a:pt x="142" y="134"/>
                    <a:pt x="133" y="134"/>
                  </a:cubicBezTo>
                  <a:cubicBezTo>
                    <a:pt x="124" y="134"/>
                    <a:pt x="115" y="135"/>
                    <a:pt x="107" y="136"/>
                  </a:cubicBezTo>
                  <a:lnTo>
                    <a:pt x="107" y="80"/>
                  </a:lnTo>
                  <a:close/>
                  <a:moveTo>
                    <a:pt x="160" y="776"/>
                  </a:moveTo>
                  <a:cubicBezTo>
                    <a:pt x="160" y="791"/>
                    <a:pt x="148" y="803"/>
                    <a:pt x="133" y="803"/>
                  </a:cubicBezTo>
                  <a:cubicBezTo>
                    <a:pt x="118" y="803"/>
                    <a:pt x="107" y="791"/>
                    <a:pt x="107" y="776"/>
                  </a:cubicBezTo>
                  <a:cubicBezTo>
                    <a:pt x="107" y="399"/>
                    <a:pt x="107" y="399"/>
                    <a:pt x="107" y="399"/>
                  </a:cubicBezTo>
                  <a:cubicBezTo>
                    <a:pt x="115" y="400"/>
                    <a:pt x="124" y="401"/>
                    <a:pt x="133" y="401"/>
                  </a:cubicBezTo>
                  <a:cubicBezTo>
                    <a:pt x="142" y="401"/>
                    <a:pt x="151" y="400"/>
                    <a:pt x="160" y="399"/>
                  </a:cubicBezTo>
                  <a:lnTo>
                    <a:pt x="160" y="776"/>
                  </a:lnTo>
                  <a:close/>
                  <a:moveTo>
                    <a:pt x="210" y="290"/>
                  </a:moveTo>
                  <a:cubicBezTo>
                    <a:pt x="209" y="291"/>
                    <a:pt x="209" y="293"/>
                    <a:pt x="209" y="294"/>
                  </a:cubicBezTo>
                  <a:cubicBezTo>
                    <a:pt x="206" y="301"/>
                    <a:pt x="203" y="308"/>
                    <a:pt x="198" y="314"/>
                  </a:cubicBezTo>
                  <a:cubicBezTo>
                    <a:pt x="198" y="314"/>
                    <a:pt x="198" y="314"/>
                    <a:pt x="198" y="314"/>
                  </a:cubicBezTo>
                  <a:cubicBezTo>
                    <a:pt x="193" y="321"/>
                    <a:pt x="188" y="326"/>
                    <a:pt x="182" y="331"/>
                  </a:cubicBezTo>
                  <a:cubicBezTo>
                    <a:pt x="182" y="331"/>
                    <a:pt x="181" y="331"/>
                    <a:pt x="181" y="331"/>
                  </a:cubicBezTo>
                  <a:cubicBezTo>
                    <a:pt x="175" y="336"/>
                    <a:pt x="168" y="340"/>
                    <a:pt x="160" y="343"/>
                  </a:cubicBezTo>
                  <a:cubicBezTo>
                    <a:pt x="152" y="346"/>
                    <a:pt x="143" y="348"/>
                    <a:pt x="133" y="348"/>
                  </a:cubicBezTo>
                  <a:cubicBezTo>
                    <a:pt x="124" y="348"/>
                    <a:pt x="115" y="346"/>
                    <a:pt x="107" y="343"/>
                  </a:cubicBezTo>
                  <a:cubicBezTo>
                    <a:pt x="99" y="340"/>
                    <a:pt x="92" y="336"/>
                    <a:pt x="85" y="331"/>
                  </a:cubicBezTo>
                  <a:cubicBezTo>
                    <a:pt x="85" y="331"/>
                    <a:pt x="85" y="331"/>
                    <a:pt x="85" y="331"/>
                  </a:cubicBezTo>
                  <a:cubicBezTo>
                    <a:pt x="79" y="326"/>
                    <a:pt x="73" y="321"/>
                    <a:pt x="68" y="314"/>
                  </a:cubicBezTo>
                  <a:cubicBezTo>
                    <a:pt x="68" y="314"/>
                    <a:pt x="68" y="314"/>
                    <a:pt x="68" y="314"/>
                  </a:cubicBezTo>
                  <a:cubicBezTo>
                    <a:pt x="64" y="308"/>
                    <a:pt x="60" y="301"/>
                    <a:pt x="58" y="294"/>
                  </a:cubicBezTo>
                  <a:cubicBezTo>
                    <a:pt x="57" y="293"/>
                    <a:pt x="57" y="291"/>
                    <a:pt x="57" y="290"/>
                  </a:cubicBezTo>
                  <a:cubicBezTo>
                    <a:pt x="54" y="283"/>
                    <a:pt x="53" y="275"/>
                    <a:pt x="53" y="268"/>
                  </a:cubicBezTo>
                  <a:cubicBezTo>
                    <a:pt x="53" y="260"/>
                    <a:pt x="54" y="252"/>
                    <a:pt x="57" y="245"/>
                  </a:cubicBezTo>
                  <a:cubicBezTo>
                    <a:pt x="57" y="244"/>
                    <a:pt x="57" y="242"/>
                    <a:pt x="58" y="241"/>
                  </a:cubicBezTo>
                  <a:cubicBezTo>
                    <a:pt x="60" y="234"/>
                    <a:pt x="64" y="227"/>
                    <a:pt x="68" y="221"/>
                  </a:cubicBezTo>
                  <a:cubicBezTo>
                    <a:pt x="68" y="221"/>
                    <a:pt x="68" y="221"/>
                    <a:pt x="68" y="221"/>
                  </a:cubicBezTo>
                  <a:cubicBezTo>
                    <a:pt x="73" y="214"/>
                    <a:pt x="79" y="209"/>
                    <a:pt x="85" y="204"/>
                  </a:cubicBezTo>
                  <a:cubicBezTo>
                    <a:pt x="85" y="204"/>
                    <a:pt x="85" y="204"/>
                    <a:pt x="85" y="204"/>
                  </a:cubicBezTo>
                  <a:cubicBezTo>
                    <a:pt x="92" y="199"/>
                    <a:pt x="99" y="195"/>
                    <a:pt x="107" y="192"/>
                  </a:cubicBezTo>
                  <a:cubicBezTo>
                    <a:pt x="115" y="189"/>
                    <a:pt x="124" y="187"/>
                    <a:pt x="133" y="187"/>
                  </a:cubicBezTo>
                  <a:cubicBezTo>
                    <a:pt x="143" y="187"/>
                    <a:pt x="152" y="189"/>
                    <a:pt x="160" y="192"/>
                  </a:cubicBezTo>
                  <a:cubicBezTo>
                    <a:pt x="168" y="195"/>
                    <a:pt x="175" y="199"/>
                    <a:pt x="181" y="204"/>
                  </a:cubicBezTo>
                  <a:cubicBezTo>
                    <a:pt x="181" y="204"/>
                    <a:pt x="182" y="204"/>
                    <a:pt x="182" y="204"/>
                  </a:cubicBezTo>
                  <a:cubicBezTo>
                    <a:pt x="188" y="209"/>
                    <a:pt x="193" y="214"/>
                    <a:pt x="198" y="221"/>
                  </a:cubicBezTo>
                  <a:cubicBezTo>
                    <a:pt x="198" y="221"/>
                    <a:pt x="198" y="221"/>
                    <a:pt x="198" y="221"/>
                  </a:cubicBezTo>
                  <a:cubicBezTo>
                    <a:pt x="203" y="227"/>
                    <a:pt x="206" y="234"/>
                    <a:pt x="209" y="241"/>
                  </a:cubicBezTo>
                  <a:cubicBezTo>
                    <a:pt x="209" y="242"/>
                    <a:pt x="209" y="244"/>
                    <a:pt x="210" y="245"/>
                  </a:cubicBezTo>
                  <a:cubicBezTo>
                    <a:pt x="212" y="252"/>
                    <a:pt x="214" y="260"/>
                    <a:pt x="214" y="268"/>
                  </a:cubicBezTo>
                  <a:cubicBezTo>
                    <a:pt x="214" y="275"/>
                    <a:pt x="212" y="283"/>
                    <a:pt x="210" y="290"/>
                  </a:cubicBezTo>
                  <a:close/>
                </a:path>
              </a:pathLst>
            </a:custGeom>
            <a:solidFill>
              <a:srgbClr val="FFFFFF">
                <a:alpha val="100000"/>
              </a:srgbClr>
            </a:solidFill>
            <a:ln w="9525">
              <a:noFill/>
            </a:ln>
          </p:spPr>
          <p:txBody>
            <a:bodyPr/>
            <a:lstStyle/>
            <a:p>
              <a:endParaRPr lang="fr-FR" altLang="en-US"/>
            </a:p>
          </p:txBody>
        </p:sp>
        <p:sp>
          <p:nvSpPr>
            <p:cNvPr id="40978" name="Freeform 7"/>
            <p:cNvSpPr/>
            <p:nvPr/>
          </p:nvSpPr>
          <p:spPr>
            <a:xfrm>
              <a:off x="900391"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415352"/>
                </a:cxn>
                <a:cxn ang="0">
                  <a:pos x="184627" y="68938"/>
                </a:cxn>
                <a:cxn ang="0">
                  <a:pos x="115607" y="0"/>
                </a:cxn>
                <a:cxn ang="0">
                  <a:pos x="46588" y="68938"/>
                </a:cxn>
                <a:cxn ang="0">
                  <a:pos x="46588" y="415352"/>
                </a:cxn>
                <a:cxn ang="0">
                  <a:pos x="0" y="507556"/>
                </a:cxn>
                <a:cxn ang="0">
                  <a:pos x="46588" y="598899"/>
                </a:cxn>
                <a:cxn ang="0">
                  <a:pos x="46588" y="668699"/>
                </a:cxn>
                <a:cxn ang="0">
                  <a:pos x="115607" y="737637"/>
                </a:cxn>
                <a:cxn ang="0">
                  <a:pos x="184627" y="668699"/>
                </a:cxn>
                <a:cxn ang="0">
                  <a:pos x="184627" y="598899"/>
                </a:cxn>
                <a:cxn ang="0">
                  <a:pos x="231215" y="507556"/>
                </a:cxn>
                <a:cxn ang="0">
                  <a:pos x="184627" y="415352"/>
                </a:cxn>
                <a:cxn ang="0">
                  <a:pos x="92313" y="68938"/>
                </a:cxn>
                <a:cxn ang="0">
                  <a:pos x="115607" y="46533"/>
                </a:cxn>
                <a:cxn ang="0">
                  <a:pos x="138902" y="68938"/>
                </a:cxn>
                <a:cxn ang="0">
                  <a:pos x="138902" y="393809"/>
                </a:cxn>
                <a:cxn ang="0">
                  <a:pos x="115607" y="392085"/>
                </a:cxn>
                <a:cxn ang="0">
                  <a:pos x="92313" y="393809"/>
                </a:cxn>
                <a:cxn ang="0">
                  <a:pos x="92313" y="68938"/>
                </a:cxn>
                <a:cxn ang="0">
                  <a:pos x="138902" y="668699"/>
                </a:cxn>
                <a:cxn ang="0">
                  <a:pos x="115607" y="691966"/>
                </a:cxn>
                <a:cxn ang="0">
                  <a:pos x="92313" y="668699"/>
                </a:cxn>
                <a:cxn ang="0">
                  <a:pos x="92313" y="620442"/>
                </a:cxn>
                <a:cxn ang="0">
                  <a:pos x="115607" y="622166"/>
                </a:cxn>
                <a:cxn ang="0">
                  <a:pos x="138902" y="620442"/>
                </a:cxn>
                <a:cxn ang="0">
                  <a:pos x="138902" y="668699"/>
                </a:cxn>
                <a:cxn ang="0">
                  <a:pos x="182039" y="526514"/>
                </a:cxn>
                <a:cxn ang="0">
                  <a:pos x="180313" y="529961"/>
                </a:cxn>
                <a:cxn ang="0">
                  <a:pos x="171686" y="547196"/>
                </a:cxn>
                <a:cxn ang="0">
                  <a:pos x="171686" y="547196"/>
                </a:cxn>
                <a:cxn ang="0">
                  <a:pos x="157019" y="561845"/>
                </a:cxn>
                <a:cxn ang="0">
                  <a:pos x="157019" y="561845"/>
                </a:cxn>
                <a:cxn ang="0">
                  <a:pos x="138902" y="572186"/>
                </a:cxn>
                <a:cxn ang="0">
                  <a:pos x="115607" y="576494"/>
                </a:cxn>
                <a:cxn ang="0">
                  <a:pos x="92313" y="572186"/>
                </a:cxn>
                <a:cxn ang="0">
                  <a:pos x="74196" y="561845"/>
                </a:cxn>
                <a:cxn ang="0">
                  <a:pos x="74196" y="561845"/>
                </a:cxn>
                <a:cxn ang="0">
                  <a:pos x="59529" y="547196"/>
                </a:cxn>
                <a:cxn ang="0">
                  <a:pos x="59529" y="547196"/>
                </a:cxn>
                <a:cxn ang="0">
                  <a:pos x="50902" y="529961"/>
                </a:cxn>
                <a:cxn ang="0">
                  <a:pos x="49176" y="526514"/>
                </a:cxn>
                <a:cxn ang="0">
                  <a:pos x="46588" y="507556"/>
                </a:cxn>
                <a:cxn ang="0">
                  <a:pos x="49176" y="487737"/>
                </a:cxn>
                <a:cxn ang="0">
                  <a:pos x="50902" y="484290"/>
                </a:cxn>
                <a:cxn ang="0">
                  <a:pos x="59529" y="467055"/>
                </a:cxn>
                <a:cxn ang="0">
                  <a:pos x="59529" y="467055"/>
                </a:cxn>
                <a:cxn ang="0">
                  <a:pos x="74196" y="452406"/>
                </a:cxn>
                <a:cxn ang="0">
                  <a:pos x="74196" y="452406"/>
                </a:cxn>
                <a:cxn ang="0">
                  <a:pos x="92313" y="442065"/>
                </a:cxn>
                <a:cxn ang="0">
                  <a:pos x="115607" y="437757"/>
                </a:cxn>
                <a:cxn ang="0">
                  <a:pos x="138902" y="442065"/>
                </a:cxn>
                <a:cxn ang="0">
                  <a:pos x="157019" y="452406"/>
                </a:cxn>
                <a:cxn ang="0">
                  <a:pos x="157019" y="452406"/>
                </a:cxn>
                <a:cxn ang="0">
                  <a:pos x="171686" y="467055"/>
                </a:cxn>
                <a:cxn ang="0">
                  <a:pos x="171686" y="467055"/>
                </a:cxn>
                <a:cxn ang="0">
                  <a:pos x="180313" y="484290"/>
                </a:cxn>
                <a:cxn ang="0">
                  <a:pos x="182039" y="487737"/>
                </a:cxn>
                <a:cxn ang="0">
                  <a:pos x="184627" y="507556"/>
                </a:cxn>
                <a:cxn ang="0">
                  <a:pos x="182039" y="526514"/>
                </a:cxn>
              </a:cxnLst>
              <a:rect l="txL" t="txT" r="txR" b="txB"/>
              <a:pathLst>
                <a:path w="268" h="856">
                  <a:moveTo>
                    <a:pt x="214" y="482"/>
                  </a:moveTo>
                  <a:cubicBezTo>
                    <a:pt x="214" y="80"/>
                    <a:pt x="214" y="80"/>
                    <a:pt x="214" y="80"/>
                  </a:cubicBezTo>
                  <a:cubicBezTo>
                    <a:pt x="214" y="36"/>
                    <a:pt x="178" y="0"/>
                    <a:pt x="134" y="0"/>
                  </a:cubicBezTo>
                  <a:cubicBezTo>
                    <a:pt x="90" y="0"/>
                    <a:pt x="54" y="36"/>
                    <a:pt x="54" y="80"/>
                  </a:cubicBezTo>
                  <a:cubicBezTo>
                    <a:pt x="54" y="482"/>
                    <a:pt x="54" y="482"/>
                    <a:pt x="54" y="482"/>
                  </a:cubicBezTo>
                  <a:cubicBezTo>
                    <a:pt x="21" y="507"/>
                    <a:pt x="0" y="545"/>
                    <a:pt x="0" y="589"/>
                  </a:cubicBezTo>
                  <a:cubicBezTo>
                    <a:pt x="0" y="632"/>
                    <a:pt x="21" y="670"/>
                    <a:pt x="54" y="695"/>
                  </a:cubicBezTo>
                  <a:cubicBezTo>
                    <a:pt x="54" y="776"/>
                    <a:pt x="54" y="776"/>
                    <a:pt x="54" y="776"/>
                  </a:cubicBezTo>
                  <a:cubicBezTo>
                    <a:pt x="54" y="820"/>
                    <a:pt x="90" y="856"/>
                    <a:pt x="134" y="856"/>
                  </a:cubicBezTo>
                  <a:cubicBezTo>
                    <a:pt x="178" y="856"/>
                    <a:pt x="214" y="820"/>
                    <a:pt x="214" y="776"/>
                  </a:cubicBezTo>
                  <a:cubicBezTo>
                    <a:pt x="214" y="695"/>
                    <a:pt x="214" y="695"/>
                    <a:pt x="214" y="695"/>
                  </a:cubicBezTo>
                  <a:cubicBezTo>
                    <a:pt x="247" y="670"/>
                    <a:pt x="268" y="632"/>
                    <a:pt x="268" y="589"/>
                  </a:cubicBezTo>
                  <a:cubicBezTo>
                    <a:pt x="268" y="545"/>
                    <a:pt x="247" y="507"/>
                    <a:pt x="214" y="482"/>
                  </a:cubicBezTo>
                  <a:close/>
                  <a:moveTo>
                    <a:pt x="107" y="80"/>
                  </a:moveTo>
                  <a:cubicBezTo>
                    <a:pt x="107" y="65"/>
                    <a:pt x="119" y="54"/>
                    <a:pt x="134" y="54"/>
                  </a:cubicBezTo>
                  <a:cubicBezTo>
                    <a:pt x="149" y="54"/>
                    <a:pt x="161" y="65"/>
                    <a:pt x="161" y="80"/>
                  </a:cubicBezTo>
                  <a:cubicBezTo>
                    <a:pt x="161" y="457"/>
                    <a:pt x="161" y="457"/>
                    <a:pt x="161" y="457"/>
                  </a:cubicBezTo>
                  <a:cubicBezTo>
                    <a:pt x="152" y="456"/>
                    <a:pt x="143" y="455"/>
                    <a:pt x="134" y="455"/>
                  </a:cubicBezTo>
                  <a:cubicBezTo>
                    <a:pt x="125" y="455"/>
                    <a:pt x="116" y="456"/>
                    <a:pt x="107" y="457"/>
                  </a:cubicBezTo>
                  <a:lnTo>
                    <a:pt x="107" y="80"/>
                  </a:lnTo>
                  <a:close/>
                  <a:moveTo>
                    <a:pt x="161" y="776"/>
                  </a:moveTo>
                  <a:cubicBezTo>
                    <a:pt x="161" y="791"/>
                    <a:pt x="149" y="803"/>
                    <a:pt x="134" y="803"/>
                  </a:cubicBezTo>
                  <a:cubicBezTo>
                    <a:pt x="119" y="803"/>
                    <a:pt x="107" y="791"/>
                    <a:pt x="107" y="776"/>
                  </a:cubicBezTo>
                  <a:cubicBezTo>
                    <a:pt x="107" y="720"/>
                    <a:pt x="107" y="720"/>
                    <a:pt x="107" y="720"/>
                  </a:cubicBezTo>
                  <a:cubicBezTo>
                    <a:pt x="116" y="721"/>
                    <a:pt x="125" y="722"/>
                    <a:pt x="134" y="722"/>
                  </a:cubicBezTo>
                  <a:cubicBezTo>
                    <a:pt x="143" y="722"/>
                    <a:pt x="152" y="721"/>
                    <a:pt x="161" y="720"/>
                  </a:cubicBezTo>
                  <a:lnTo>
                    <a:pt x="161" y="776"/>
                  </a:lnTo>
                  <a:close/>
                  <a:moveTo>
                    <a:pt x="211" y="611"/>
                  </a:moveTo>
                  <a:cubicBezTo>
                    <a:pt x="210" y="612"/>
                    <a:pt x="210" y="614"/>
                    <a:pt x="209" y="615"/>
                  </a:cubicBezTo>
                  <a:cubicBezTo>
                    <a:pt x="207" y="622"/>
                    <a:pt x="204" y="629"/>
                    <a:pt x="199" y="635"/>
                  </a:cubicBezTo>
                  <a:cubicBezTo>
                    <a:pt x="199" y="635"/>
                    <a:pt x="199" y="635"/>
                    <a:pt x="199" y="635"/>
                  </a:cubicBezTo>
                  <a:cubicBezTo>
                    <a:pt x="194" y="642"/>
                    <a:pt x="189" y="647"/>
                    <a:pt x="182" y="652"/>
                  </a:cubicBezTo>
                  <a:cubicBezTo>
                    <a:pt x="182" y="652"/>
                    <a:pt x="182" y="652"/>
                    <a:pt x="182" y="652"/>
                  </a:cubicBezTo>
                  <a:cubicBezTo>
                    <a:pt x="176" y="657"/>
                    <a:pt x="168" y="661"/>
                    <a:pt x="161" y="664"/>
                  </a:cubicBezTo>
                  <a:cubicBezTo>
                    <a:pt x="152" y="667"/>
                    <a:pt x="143" y="669"/>
                    <a:pt x="134" y="669"/>
                  </a:cubicBezTo>
                  <a:cubicBezTo>
                    <a:pt x="125" y="669"/>
                    <a:pt x="116" y="667"/>
                    <a:pt x="107" y="664"/>
                  </a:cubicBezTo>
                  <a:cubicBezTo>
                    <a:pt x="100" y="661"/>
                    <a:pt x="92" y="657"/>
                    <a:pt x="86" y="652"/>
                  </a:cubicBezTo>
                  <a:cubicBezTo>
                    <a:pt x="86" y="652"/>
                    <a:pt x="86" y="652"/>
                    <a:pt x="86" y="652"/>
                  </a:cubicBezTo>
                  <a:cubicBezTo>
                    <a:pt x="79" y="647"/>
                    <a:pt x="74" y="642"/>
                    <a:pt x="69" y="635"/>
                  </a:cubicBezTo>
                  <a:cubicBezTo>
                    <a:pt x="69" y="635"/>
                    <a:pt x="69" y="635"/>
                    <a:pt x="69" y="635"/>
                  </a:cubicBezTo>
                  <a:cubicBezTo>
                    <a:pt x="64" y="629"/>
                    <a:pt x="61" y="622"/>
                    <a:pt x="59" y="615"/>
                  </a:cubicBezTo>
                  <a:cubicBezTo>
                    <a:pt x="58" y="614"/>
                    <a:pt x="58" y="612"/>
                    <a:pt x="57" y="611"/>
                  </a:cubicBezTo>
                  <a:cubicBezTo>
                    <a:pt x="55" y="604"/>
                    <a:pt x="54" y="596"/>
                    <a:pt x="54" y="589"/>
                  </a:cubicBezTo>
                  <a:cubicBezTo>
                    <a:pt x="54" y="581"/>
                    <a:pt x="55" y="573"/>
                    <a:pt x="57" y="566"/>
                  </a:cubicBezTo>
                  <a:cubicBezTo>
                    <a:pt x="58" y="565"/>
                    <a:pt x="58" y="563"/>
                    <a:pt x="59" y="562"/>
                  </a:cubicBezTo>
                  <a:cubicBezTo>
                    <a:pt x="61" y="555"/>
                    <a:pt x="64" y="548"/>
                    <a:pt x="69" y="542"/>
                  </a:cubicBezTo>
                  <a:cubicBezTo>
                    <a:pt x="69" y="542"/>
                    <a:pt x="69" y="542"/>
                    <a:pt x="69" y="542"/>
                  </a:cubicBezTo>
                  <a:cubicBezTo>
                    <a:pt x="74" y="535"/>
                    <a:pt x="79" y="530"/>
                    <a:pt x="86" y="525"/>
                  </a:cubicBezTo>
                  <a:cubicBezTo>
                    <a:pt x="86" y="525"/>
                    <a:pt x="86" y="525"/>
                    <a:pt x="86" y="525"/>
                  </a:cubicBezTo>
                  <a:cubicBezTo>
                    <a:pt x="92" y="520"/>
                    <a:pt x="100" y="516"/>
                    <a:pt x="107" y="513"/>
                  </a:cubicBezTo>
                  <a:cubicBezTo>
                    <a:pt x="116" y="510"/>
                    <a:pt x="125" y="508"/>
                    <a:pt x="134" y="508"/>
                  </a:cubicBezTo>
                  <a:cubicBezTo>
                    <a:pt x="143" y="508"/>
                    <a:pt x="152" y="510"/>
                    <a:pt x="161" y="513"/>
                  </a:cubicBezTo>
                  <a:cubicBezTo>
                    <a:pt x="168" y="516"/>
                    <a:pt x="176" y="520"/>
                    <a:pt x="182" y="525"/>
                  </a:cubicBezTo>
                  <a:cubicBezTo>
                    <a:pt x="182" y="525"/>
                    <a:pt x="182" y="525"/>
                    <a:pt x="182" y="525"/>
                  </a:cubicBezTo>
                  <a:cubicBezTo>
                    <a:pt x="189" y="530"/>
                    <a:pt x="194" y="535"/>
                    <a:pt x="199" y="542"/>
                  </a:cubicBezTo>
                  <a:cubicBezTo>
                    <a:pt x="199" y="542"/>
                    <a:pt x="199" y="542"/>
                    <a:pt x="199" y="542"/>
                  </a:cubicBezTo>
                  <a:cubicBezTo>
                    <a:pt x="204" y="548"/>
                    <a:pt x="207" y="555"/>
                    <a:pt x="209" y="562"/>
                  </a:cubicBezTo>
                  <a:cubicBezTo>
                    <a:pt x="210" y="563"/>
                    <a:pt x="210" y="565"/>
                    <a:pt x="211" y="566"/>
                  </a:cubicBezTo>
                  <a:cubicBezTo>
                    <a:pt x="213" y="573"/>
                    <a:pt x="214" y="581"/>
                    <a:pt x="214" y="589"/>
                  </a:cubicBezTo>
                  <a:cubicBezTo>
                    <a:pt x="214" y="596"/>
                    <a:pt x="213" y="604"/>
                    <a:pt x="211" y="611"/>
                  </a:cubicBezTo>
                  <a:close/>
                </a:path>
              </a:pathLst>
            </a:custGeom>
            <a:solidFill>
              <a:srgbClr val="FFFFFF">
                <a:alpha val="100000"/>
              </a:srgbClr>
            </a:solidFill>
            <a:ln w="9525">
              <a:noFill/>
            </a:ln>
          </p:spPr>
          <p:txBody>
            <a:bodyPr/>
            <a:lstStyle/>
            <a:p>
              <a:endParaRPr lang="fr-FR" altLang="en-US"/>
            </a:p>
          </p:txBody>
        </p:sp>
      </p:grpSp>
      <p:cxnSp>
        <p:nvCxnSpPr>
          <p:cNvPr id="19" name="Straight Connector 34"/>
          <p:cNvCxnSpPr/>
          <p:nvPr/>
        </p:nvCxnSpPr>
        <p:spPr>
          <a:xfrm>
            <a:off x="3088005" y="4495800"/>
            <a:ext cx="3048000" cy="0"/>
          </a:xfrm>
          <a:prstGeom prst="straightConnector1">
            <a:avLst/>
          </a:prstGeom>
          <a:ln w="15873" cap="flat" cmpd="sng">
            <a:solidFill>
              <a:srgbClr val="D0DFB3"/>
            </a:solidFill>
            <a:prstDash val="solid"/>
            <a:miter/>
            <a:headEnd type="none" w="med" len="med"/>
            <a:tailEnd type="none" w="med" len="med"/>
          </a:ln>
        </p:spPr>
      </p:cxnSp>
      <p:cxnSp>
        <p:nvCxnSpPr>
          <p:cNvPr id="20" name="Straight Connector 35"/>
          <p:cNvCxnSpPr>
            <a:endCxn id="7" idx="3"/>
          </p:cNvCxnSpPr>
          <p:nvPr/>
        </p:nvCxnSpPr>
        <p:spPr>
          <a:xfrm>
            <a:off x="3081020" y="4495800"/>
            <a:ext cx="0" cy="533400"/>
          </a:xfrm>
          <a:prstGeom prst="straightConnector1">
            <a:avLst/>
          </a:prstGeom>
          <a:ln w="15873" cap="flat" cmpd="sng">
            <a:solidFill>
              <a:srgbClr val="D0DFB3"/>
            </a:solidFill>
            <a:prstDash val="solid"/>
            <a:miter/>
            <a:headEnd type="none" w="med" len="med"/>
            <a:tailEnd type="none" w="med" len="med"/>
          </a:ln>
        </p:spPr>
      </p:cxnSp>
      <p:sp>
        <p:nvSpPr>
          <p:cNvPr id="21" name="TextBox 39"/>
          <p:cNvSpPr txBox="1"/>
          <p:nvPr/>
        </p:nvSpPr>
        <p:spPr>
          <a:xfrm>
            <a:off x="3076575" y="2738438"/>
            <a:ext cx="6038850" cy="830262"/>
          </a:xfrm>
          <a:prstGeom prst="rect">
            <a:avLst/>
          </a:prstGeom>
          <a:noFill/>
          <a:ln w="9525">
            <a:noFill/>
          </a:ln>
        </p:spPr>
        <p:txBody>
          <a:bodyPr wrap="none" anchor="t" anchorCtr="1">
            <a:spAutoFit/>
          </a:bodyPr>
          <a:lstStyle/>
          <a:p>
            <a:pPr algn="ctr" eaLnBrk="1" hangingPunct="1"/>
            <a:r>
              <a:rPr lang="id-ID" altLang="x-none" sz="4800" b="1" dirty="0">
                <a:solidFill>
                  <a:srgbClr val="FFFFFF"/>
                </a:solidFill>
                <a:latin typeface="Calibri" panose="020F0502020204030204" pitchFamily="34" charset="0"/>
              </a:rPr>
              <a:t>Architecture technique</a:t>
            </a:r>
            <a:endParaRPr lang="fr-FR" altLang="x-none" dirty="0">
              <a:solidFill>
                <a:srgbClr val="FFFFFF"/>
              </a:solidFill>
              <a:latin typeface="Calibri" panose="020F0502020204030204" pitchFamily="34" charset="0"/>
            </a:endParaRPr>
          </a:p>
        </p:txBody>
      </p:sp>
      <p:sp>
        <p:nvSpPr>
          <p:cNvPr id="22" name="Rectangle 40"/>
          <p:cNvSpPr/>
          <p:nvPr/>
        </p:nvSpPr>
        <p:spPr>
          <a:xfrm>
            <a:off x="2127250" y="3151188"/>
            <a:ext cx="7937500" cy="400050"/>
          </a:xfrm>
          <a:prstGeom prst="rect">
            <a:avLst/>
          </a:prstGeom>
          <a:noFill/>
          <a:ln w="9525">
            <a:noFill/>
          </a:ln>
        </p:spPr>
        <p:txBody>
          <a:bodyPr anchor="t" anchorCtr="1">
            <a:spAutoFit/>
          </a:bodyPr>
          <a:lstStyle/>
          <a:p>
            <a:pPr algn="ctr" eaLnBrk="1" hangingPunct="1"/>
            <a:endParaRPr lang="id-ID" altLang="x-none" sz="2000" dirty="0">
              <a:solidFill>
                <a:srgbClr val="88A945"/>
              </a:solidFill>
              <a:latin typeface="Source Sans Pro Light"/>
              <a:ea typeface="Source Sans Pro Light"/>
            </a:endParaRPr>
          </a:p>
        </p:txBody>
      </p:sp>
      <p:cxnSp>
        <p:nvCxnSpPr>
          <p:cNvPr id="23" name="Straight Connector 41"/>
          <p:cNvCxnSpPr/>
          <p:nvPr/>
        </p:nvCxnSpPr>
        <p:spPr>
          <a:xfrm>
            <a:off x="5672138" y="3576638"/>
            <a:ext cx="744537" cy="0"/>
          </a:xfrm>
          <a:prstGeom prst="straightConnector1">
            <a:avLst/>
          </a:prstGeom>
          <a:ln w="15873" cap="flat" cmpd="sng">
            <a:solidFill>
              <a:srgbClr val="88A945"/>
            </a:solidFill>
            <a:prstDash val="solid"/>
            <a:miter/>
            <a:headEnd type="none" w="med" len="med"/>
            <a:tailEnd type="none" w="med" len="med"/>
          </a:ln>
        </p:spPr>
      </p:cxnSp>
      <p:cxnSp>
        <p:nvCxnSpPr>
          <p:cNvPr id="24" name="Straight Connector 43"/>
          <p:cNvCxnSpPr/>
          <p:nvPr/>
        </p:nvCxnSpPr>
        <p:spPr>
          <a:xfrm flipH="1">
            <a:off x="6096000" y="3654425"/>
            <a:ext cx="9525" cy="841375"/>
          </a:xfrm>
          <a:prstGeom prst="straightConnector1">
            <a:avLst/>
          </a:prstGeom>
          <a:ln w="15873" cap="flat" cmpd="sng">
            <a:solidFill>
              <a:srgbClr val="D0DFB3"/>
            </a:solidFill>
            <a:prstDash val="solid"/>
            <a:miter/>
            <a:headEnd type="arrow" w="med" len="med"/>
            <a:tailEnd type="none" w="med" len="med"/>
          </a:ln>
        </p:spPr>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ppt_w</p:attrName>
                                        </p:attrNameLst>
                                      </p:cBhvr>
                                      <p:tavLst>
                                        <p:tav tm="0">
                                          <p:val>
                                            <p:fltVal val="0"/>
                                          </p:val>
                                        </p:tav>
                                        <p:tav tm="100000">
                                          <p:val>
                                            <p:strVal val="#ppt_w"/>
                                          </p:val>
                                        </p:tav>
                                      </p:tavLst>
                                    </p:anim>
                                    <p:anim calcmode="lin" valueType="num">
                                      <p:cBhvr>
                                        <p:cTn id="18" dur="500" fill="hold"/>
                                        <p:tgtEl>
                                          <p:spTgt spid="15"/>
                                        </p:tgtEl>
                                        <p:attrNameLst>
                                          <p:attrName>ppt_h</p:attrName>
                                        </p:attrNameLst>
                                      </p:cBhvr>
                                      <p:tavLst>
                                        <p:tav tm="0">
                                          <p:val>
                                            <p:fltVal val="0"/>
                                          </p:val>
                                        </p:tav>
                                        <p:tav tm="100000">
                                          <p:val>
                                            <p:strVal val="#ppt_h"/>
                                          </p:val>
                                        </p:tav>
                                      </p:tavLst>
                                    </p:anim>
                                    <p:animEffect transition="in" filter="fade">
                                      <p:cBhvr>
                                        <p:cTn id="19" dur="500"/>
                                        <p:tgtEl>
                                          <p:spTgt spid="15"/>
                                        </p:tgtEl>
                                      </p:cBhvr>
                                    </p:animEffect>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anim calcmode="lin" valueType="num">
                                      <p:cBhvr>
                                        <p:cTn id="24" dur="500" fill="hold"/>
                                        <p:tgtEl>
                                          <p:spTgt spid="2"/>
                                        </p:tgtEl>
                                        <p:attrNameLst>
                                          <p:attrName>ppt_x</p:attrName>
                                        </p:attrNameLst>
                                      </p:cBhvr>
                                      <p:tavLst>
                                        <p:tav tm="0">
                                          <p:val>
                                            <p:strVal val="#ppt_x"/>
                                          </p:val>
                                        </p:tav>
                                        <p:tav tm="100000">
                                          <p:val>
                                            <p:strVal val="#ppt_x"/>
                                          </p:val>
                                        </p:tav>
                                      </p:tavLst>
                                    </p:anim>
                                    <p:anim calcmode="lin" valueType="num">
                                      <p:cBhvr>
                                        <p:cTn id="25" dur="500" fill="hold"/>
                                        <p:tgtEl>
                                          <p:spTgt spid="2"/>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anim calcmode="lin" valueType="num">
                                      <p:cBhvr>
                                        <p:cTn id="30" dur="500" fill="hold"/>
                                        <p:tgtEl>
                                          <p:spTgt spid="3"/>
                                        </p:tgtEl>
                                        <p:attrNameLst>
                                          <p:attrName>ppt_x</p:attrName>
                                        </p:attrNameLst>
                                      </p:cBhvr>
                                      <p:tavLst>
                                        <p:tav tm="0">
                                          <p:val>
                                            <p:strVal val="#ppt_x"/>
                                          </p:val>
                                        </p:tav>
                                        <p:tav tm="100000">
                                          <p:val>
                                            <p:strVal val="#ppt_x"/>
                                          </p:val>
                                        </p:tav>
                                      </p:tavLst>
                                    </p:anim>
                                    <p:anim calcmode="lin" valueType="num">
                                      <p:cBhvr>
                                        <p:cTn id="31" dur="500" fill="hold"/>
                                        <p:tgtEl>
                                          <p:spTgt spid="3"/>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anim calcmode="lin" valueType="num">
                                      <p:cBhvr>
                                        <p:cTn id="36" dur="500" fill="hold"/>
                                        <p:tgtEl>
                                          <p:spTgt spid="4"/>
                                        </p:tgtEl>
                                        <p:attrNameLst>
                                          <p:attrName>ppt_x</p:attrName>
                                        </p:attrNameLst>
                                      </p:cBhvr>
                                      <p:tavLst>
                                        <p:tav tm="0">
                                          <p:val>
                                            <p:strVal val="#ppt_x"/>
                                          </p:val>
                                        </p:tav>
                                        <p:tav tm="100000">
                                          <p:val>
                                            <p:strVal val="#ppt_x"/>
                                          </p:val>
                                        </p:tav>
                                      </p:tavLst>
                                    </p:anim>
                                    <p:anim calcmode="lin" valueType="num">
                                      <p:cBhvr>
                                        <p:cTn id="37" dur="500" fill="hold"/>
                                        <p:tgtEl>
                                          <p:spTgt spid="4"/>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anim calcmode="lin" valueType="num">
                                      <p:cBhvr>
                                        <p:cTn id="42" dur="500" fill="hold"/>
                                        <p:tgtEl>
                                          <p:spTgt spid="5"/>
                                        </p:tgtEl>
                                        <p:attrNameLst>
                                          <p:attrName>ppt_x</p:attrName>
                                        </p:attrNameLst>
                                      </p:cBhvr>
                                      <p:tavLst>
                                        <p:tav tm="0">
                                          <p:val>
                                            <p:strVal val="#ppt_x"/>
                                          </p:val>
                                        </p:tav>
                                        <p:tav tm="100000">
                                          <p:val>
                                            <p:strVal val="#ppt_x"/>
                                          </p:val>
                                        </p:tav>
                                      </p:tavLst>
                                    </p:anim>
                                    <p:anim calcmode="lin" valueType="num">
                                      <p:cBhvr>
                                        <p:cTn id="43" dur="500" fill="hold"/>
                                        <p:tgtEl>
                                          <p:spTgt spid="5"/>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42" presetClass="entr" presetSubtype="0"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p:cTn id="48" dur="500" fill="hold"/>
                                        <p:tgtEl>
                                          <p:spTgt spid="6"/>
                                        </p:tgtEl>
                                        <p:attrNameLst>
                                          <p:attrName>ppt_x</p:attrName>
                                        </p:attrNameLst>
                                      </p:cBhvr>
                                      <p:tavLst>
                                        <p:tav tm="0">
                                          <p:val>
                                            <p:strVal val="#ppt_x"/>
                                          </p:val>
                                        </p:tav>
                                        <p:tav tm="100000">
                                          <p:val>
                                            <p:strVal val="#ppt_x"/>
                                          </p:val>
                                        </p:tav>
                                      </p:tavLst>
                                    </p:anim>
                                    <p:anim calcmode="lin" valueType="num">
                                      <p:cBhvr>
                                        <p:cTn id="49" dur="500" fill="hold"/>
                                        <p:tgtEl>
                                          <p:spTgt spid="6"/>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22" presetClass="entr" presetSubtype="4"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down)">
                                      <p:cBhvr>
                                        <p:cTn id="53" dur="500"/>
                                        <p:tgtEl>
                                          <p:spTgt spid="20"/>
                                        </p:tgtEl>
                                      </p:cBhvr>
                                    </p:animEffect>
                                  </p:childTnLst>
                                </p:cTn>
                              </p:par>
                            </p:childTnLst>
                          </p:cTn>
                        </p:par>
                        <p:par>
                          <p:cTn id="54" fill="hold">
                            <p:stCondLst>
                              <p:cond delay="4500"/>
                            </p:stCondLst>
                            <p:childTnLst>
                              <p:par>
                                <p:cTn id="55" presetID="22" presetClass="entr" presetSubtype="8"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childTnLst>
                          </p:cTn>
                        </p:par>
                        <p:par>
                          <p:cTn id="58" fill="hold">
                            <p:stCondLst>
                              <p:cond delay="5000"/>
                            </p:stCondLst>
                            <p:childTnLst>
                              <p:par>
                                <p:cTn id="59" presetID="22" presetClass="entr" presetSubtype="4" fill="hold"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500"/>
                                        <p:tgtEl>
                                          <p:spTgt spid="24"/>
                                        </p:tgtEl>
                                      </p:cBhvr>
                                    </p:animEffect>
                                  </p:childTnLst>
                                </p:cTn>
                              </p:par>
                            </p:childTnLst>
                          </p:cTn>
                        </p:par>
                        <p:par>
                          <p:cTn id="62" fill="hold">
                            <p:stCondLst>
                              <p:cond delay="5500"/>
                            </p:stCondLst>
                            <p:childTnLst>
                              <p:par>
                                <p:cTn id="63" presetID="16" presetClass="entr" presetSubtype="37"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barn(outVertical)">
                                      <p:cBhvr>
                                        <p:cTn id="65" dur="500"/>
                                        <p:tgtEl>
                                          <p:spTgt spid="23"/>
                                        </p:tgtEl>
                                      </p:cBhvr>
                                    </p:animEffect>
                                  </p:childTnLst>
                                </p:cTn>
                              </p:par>
                              <p:par>
                                <p:cTn id="66" presetID="42"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1000"/>
                                        <p:tgtEl>
                                          <p:spTgt spid="22"/>
                                        </p:tgtEl>
                                      </p:cBhvr>
                                    </p:animEffect>
                                    <p:anim calcmode="lin" valueType="num">
                                      <p:cBhvr>
                                        <p:cTn id="69" dur="1000" fill="hold"/>
                                        <p:tgtEl>
                                          <p:spTgt spid="22"/>
                                        </p:tgtEl>
                                        <p:attrNameLst>
                                          <p:attrName>ppt_x</p:attrName>
                                        </p:attrNameLst>
                                      </p:cBhvr>
                                      <p:tavLst>
                                        <p:tav tm="0">
                                          <p:val>
                                            <p:strVal val="#ppt_x"/>
                                          </p:val>
                                        </p:tav>
                                        <p:tav tm="100000">
                                          <p:val>
                                            <p:strVal val="#ppt_x"/>
                                          </p:val>
                                        </p:tav>
                                      </p:tavLst>
                                    </p:anim>
                                    <p:anim calcmode="lin" valueType="num">
                                      <p:cBhvr>
                                        <p:cTn id="70" dur="1000" fill="hold"/>
                                        <p:tgtEl>
                                          <p:spTgt spid="22"/>
                                        </p:tgtEl>
                                        <p:attrNameLst>
                                          <p:attrName>ppt_y</p:attrName>
                                        </p:attrNameLst>
                                      </p:cBhvr>
                                      <p:tavLst>
                                        <p:tav tm="0">
                                          <p:val>
                                            <p:strVal val="#ppt_y+.1"/>
                                          </p:val>
                                        </p:tav>
                                        <p:tav tm="100000">
                                          <p:val>
                                            <p:strVal val="#ppt_y"/>
                                          </p:val>
                                        </p:tav>
                                      </p:tavLst>
                                    </p:anim>
                                  </p:childTnLst>
                                </p:cTn>
                              </p:par>
                            </p:childTnLst>
                          </p:cTn>
                        </p:par>
                        <p:par>
                          <p:cTn id="71" fill="hold">
                            <p:stCondLst>
                              <p:cond delay="6000"/>
                            </p:stCondLst>
                            <p:childTnLst>
                              <p:par>
                                <p:cTn id="72" presetID="42" presetClass="entr" presetSubtype="0"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1000"/>
                                        <p:tgtEl>
                                          <p:spTgt spid="21"/>
                                        </p:tgtEl>
                                      </p:cBhvr>
                                    </p:animEffect>
                                    <p:anim calcmode="lin" valueType="num">
                                      <p:cBhvr>
                                        <p:cTn id="75" dur="1000" fill="hold"/>
                                        <p:tgtEl>
                                          <p:spTgt spid="21"/>
                                        </p:tgtEl>
                                        <p:attrNameLst>
                                          <p:attrName>ppt_x</p:attrName>
                                        </p:attrNameLst>
                                      </p:cBhvr>
                                      <p:tavLst>
                                        <p:tav tm="0">
                                          <p:val>
                                            <p:strVal val="#ppt_x"/>
                                          </p:val>
                                        </p:tav>
                                        <p:tav tm="100000">
                                          <p:val>
                                            <p:strVal val="#ppt_x"/>
                                          </p:val>
                                        </p:tav>
                                      </p:tavLst>
                                    </p:anim>
                                    <p:anim calcmode="lin" valueType="num">
                                      <p:cBhvr>
                                        <p:cTn id="7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animBg="1"/>
      <p:bldP spid="5" grpId="0" animBg="1"/>
      <p:bldP spid="6" grpId="0" animBg="1"/>
      <p:bldP spid="7" grpId="0" bldLvl="0" animBg="1"/>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3"/>
          <p:cNvSpPr/>
          <p:nvPr/>
        </p:nvSpPr>
        <p:spPr>
          <a:xfrm>
            <a:off x="10956925" y="4956175"/>
            <a:ext cx="469900" cy="457200"/>
          </a:xfrm>
          <a:custGeom>
            <a:avLst/>
            <a:gdLst>
              <a:gd name="txL" fmla="*/ 0 w 226"/>
              <a:gd name="txT" fmla="*/ 0 h 220"/>
              <a:gd name="txR" fmla="*/ 226 w 226"/>
              <a:gd name="txB" fmla="*/ 220 h 220"/>
            </a:gdLst>
            <a:ahLst/>
            <a:cxnLst>
              <a:cxn ang="17694720">
                <a:pos x="234269" y="0"/>
              </a:cxn>
              <a:cxn ang="0">
                <a:pos x="468538" y="228138"/>
              </a:cxn>
              <a:cxn ang="5898240">
                <a:pos x="234269" y="456276"/>
              </a:cxn>
              <a:cxn ang="11796480">
                <a:pos x="0" y="228138"/>
              </a:cxn>
              <a:cxn ang="0">
                <a:pos x="333781" y="0"/>
              </a:cxn>
              <a:cxn ang="0">
                <a:pos x="199025" y="97477"/>
              </a:cxn>
              <a:cxn ang="0">
                <a:pos x="196952" y="97477"/>
              </a:cxn>
              <a:cxn ang="0">
                <a:pos x="49756" y="246804"/>
              </a:cxn>
              <a:cxn ang="0">
                <a:pos x="2073" y="391983"/>
              </a:cxn>
              <a:cxn ang="0">
                <a:pos x="49756" y="456276"/>
              </a:cxn>
              <a:cxn ang="0">
                <a:pos x="186586" y="421018"/>
              </a:cxn>
              <a:cxn ang="0">
                <a:pos x="429148" y="188732"/>
              </a:cxn>
              <a:cxn ang="0">
                <a:pos x="228049" y="340133"/>
              </a:cxn>
              <a:cxn ang="0">
                <a:pos x="352440" y="167993"/>
              </a:cxn>
              <a:cxn ang="0">
                <a:pos x="337928" y="238508"/>
              </a:cxn>
              <a:cxn ang="0">
                <a:pos x="228049" y="350503"/>
              </a:cxn>
              <a:cxn ang="0">
                <a:pos x="211464" y="288283"/>
              </a:cxn>
              <a:cxn ang="0">
                <a:pos x="163781" y="242656"/>
              </a:cxn>
              <a:cxn ang="0">
                <a:pos x="329635" y="126513"/>
              </a:cxn>
              <a:cxn ang="0">
                <a:pos x="211464" y="288283"/>
              </a:cxn>
              <a:cxn ang="0">
                <a:pos x="107805" y="228138"/>
              </a:cxn>
              <a:cxn ang="0">
                <a:pos x="284025" y="101625"/>
              </a:cxn>
              <a:cxn ang="0">
                <a:pos x="60122" y="425166"/>
              </a:cxn>
              <a:cxn ang="0">
                <a:pos x="29024" y="406500"/>
              </a:cxn>
              <a:cxn ang="0">
                <a:pos x="45610" y="344281"/>
              </a:cxn>
              <a:cxn ang="0">
                <a:pos x="111952" y="412722"/>
              </a:cxn>
              <a:cxn ang="0">
                <a:pos x="126464" y="408574"/>
              </a:cxn>
              <a:cxn ang="0">
                <a:pos x="49756" y="329763"/>
              </a:cxn>
              <a:cxn ang="0">
                <a:pos x="68415" y="267544"/>
              </a:cxn>
              <a:cxn ang="0">
                <a:pos x="184513" y="391983"/>
              </a:cxn>
              <a:cxn ang="0">
                <a:pos x="126464" y="408574"/>
              </a:cxn>
              <a:cxn ang="0">
                <a:pos x="385611" y="192880"/>
              </a:cxn>
              <a:cxn ang="0">
                <a:pos x="348294" y="107847"/>
              </a:cxn>
              <a:cxn ang="0">
                <a:pos x="288172" y="47702"/>
              </a:cxn>
              <a:cxn ang="0">
                <a:pos x="398050" y="55998"/>
              </a:cxn>
              <a:cxn ang="0">
                <a:pos x="408416" y="167993"/>
              </a:cxn>
            </a:cxnLst>
            <a:rect l="txL" t="txT" r="txR" b="txB"/>
            <a:pathLst>
              <a:path w="226" h="220">
                <a:moveTo>
                  <a:pt x="202" y="18"/>
                </a:moveTo>
                <a:cubicBezTo>
                  <a:pt x="191" y="6"/>
                  <a:pt x="176" y="0"/>
                  <a:pt x="161" y="0"/>
                </a:cubicBezTo>
                <a:cubicBezTo>
                  <a:pt x="149" y="0"/>
                  <a:pt x="137" y="5"/>
                  <a:pt x="129" y="13"/>
                </a:cubicBezTo>
                <a:cubicBezTo>
                  <a:pt x="96" y="47"/>
                  <a:pt x="96" y="47"/>
                  <a:pt x="96" y="47"/>
                </a:cubicBezTo>
                <a:cubicBezTo>
                  <a:pt x="96" y="47"/>
                  <a:pt x="95" y="47"/>
                  <a:pt x="95" y="47"/>
                </a:cubicBezTo>
                <a:cubicBezTo>
                  <a:pt x="95" y="47"/>
                  <a:pt x="95" y="47"/>
                  <a:pt x="95" y="47"/>
                </a:cubicBezTo>
                <a:cubicBezTo>
                  <a:pt x="95" y="47"/>
                  <a:pt x="95" y="47"/>
                  <a:pt x="95" y="47"/>
                </a:cubicBezTo>
                <a:cubicBezTo>
                  <a:pt x="24" y="119"/>
                  <a:pt x="24" y="119"/>
                  <a:pt x="24" y="119"/>
                </a:cubicBezTo>
                <a:cubicBezTo>
                  <a:pt x="21" y="122"/>
                  <a:pt x="19" y="126"/>
                  <a:pt x="17" y="130"/>
                </a:cubicBezTo>
                <a:cubicBezTo>
                  <a:pt x="1" y="189"/>
                  <a:pt x="1" y="189"/>
                  <a:pt x="1" y="189"/>
                </a:cubicBezTo>
                <a:cubicBezTo>
                  <a:pt x="1" y="189"/>
                  <a:pt x="0" y="194"/>
                  <a:pt x="0" y="196"/>
                </a:cubicBezTo>
                <a:cubicBezTo>
                  <a:pt x="0" y="209"/>
                  <a:pt x="11" y="220"/>
                  <a:pt x="24" y="220"/>
                </a:cubicBezTo>
                <a:cubicBezTo>
                  <a:pt x="27" y="220"/>
                  <a:pt x="32" y="219"/>
                  <a:pt x="32" y="219"/>
                </a:cubicBezTo>
                <a:cubicBezTo>
                  <a:pt x="90" y="203"/>
                  <a:pt x="90" y="203"/>
                  <a:pt x="90" y="203"/>
                </a:cubicBezTo>
                <a:cubicBezTo>
                  <a:pt x="95" y="202"/>
                  <a:pt x="99" y="200"/>
                  <a:pt x="102" y="196"/>
                </a:cubicBezTo>
                <a:cubicBezTo>
                  <a:pt x="207" y="91"/>
                  <a:pt x="207" y="91"/>
                  <a:pt x="207" y="91"/>
                </a:cubicBezTo>
                <a:cubicBezTo>
                  <a:pt x="226" y="72"/>
                  <a:pt x="224" y="40"/>
                  <a:pt x="202" y="18"/>
                </a:cubicBezTo>
                <a:close/>
                <a:moveTo>
                  <a:pt x="110" y="164"/>
                </a:moveTo>
                <a:cubicBezTo>
                  <a:pt x="110" y="157"/>
                  <a:pt x="108" y="151"/>
                  <a:pt x="105" y="146"/>
                </a:cubicBezTo>
                <a:cubicBezTo>
                  <a:pt x="170" y="81"/>
                  <a:pt x="170" y="81"/>
                  <a:pt x="170" y="81"/>
                </a:cubicBezTo>
                <a:cubicBezTo>
                  <a:pt x="174" y="93"/>
                  <a:pt x="172" y="106"/>
                  <a:pt x="163" y="115"/>
                </a:cubicBezTo>
                <a:cubicBezTo>
                  <a:pt x="163" y="115"/>
                  <a:pt x="163" y="115"/>
                  <a:pt x="163" y="115"/>
                </a:cubicBezTo>
                <a:cubicBezTo>
                  <a:pt x="163" y="115"/>
                  <a:pt x="163" y="115"/>
                  <a:pt x="163" y="115"/>
                </a:cubicBezTo>
                <a:cubicBezTo>
                  <a:pt x="110" y="169"/>
                  <a:pt x="110" y="169"/>
                  <a:pt x="110" y="169"/>
                </a:cubicBezTo>
                <a:cubicBezTo>
                  <a:pt x="110" y="167"/>
                  <a:pt x="110" y="165"/>
                  <a:pt x="110" y="164"/>
                </a:cubicBezTo>
                <a:close/>
                <a:moveTo>
                  <a:pt x="102" y="139"/>
                </a:moveTo>
                <a:cubicBezTo>
                  <a:pt x="99" y="135"/>
                  <a:pt x="96" y="131"/>
                  <a:pt x="93" y="127"/>
                </a:cubicBezTo>
                <a:cubicBezTo>
                  <a:pt x="88" y="123"/>
                  <a:pt x="84" y="120"/>
                  <a:pt x="79" y="117"/>
                </a:cubicBezTo>
                <a:cubicBezTo>
                  <a:pt x="144" y="52"/>
                  <a:pt x="144" y="52"/>
                  <a:pt x="144" y="52"/>
                </a:cubicBezTo>
                <a:cubicBezTo>
                  <a:pt x="149" y="54"/>
                  <a:pt x="154" y="57"/>
                  <a:pt x="159" y="61"/>
                </a:cubicBezTo>
                <a:cubicBezTo>
                  <a:pt x="162" y="65"/>
                  <a:pt x="165" y="69"/>
                  <a:pt x="167" y="74"/>
                </a:cubicBezTo>
                <a:lnTo>
                  <a:pt x="102" y="139"/>
                </a:lnTo>
                <a:close/>
                <a:moveTo>
                  <a:pt x="72" y="114"/>
                </a:moveTo>
                <a:cubicBezTo>
                  <a:pt x="66" y="111"/>
                  <a:pt x="59" y="110"/>
                  <a:pt x="52" y="110"/>
                </a:cubicBezTo>
                <a:cubicBezTo>
                  <a:pt x="105" y="56"/>
                  <a:pt x="105" y="56"/>
                  <a:pt x="105" y="56"/>
                </a:cubicBezTo>
                <a:cubicBezTo>
                  <a:pt x="113" y="48"/>
                  <a:pt x="125" y="46"/>
                  <a:pt x="137" y="49"/>
                </a:cubicBezTo>
                <a:lnTo>
                  <a:pt x="72" y="114"/>
                </a:lnTo>
                <a:close/>
                <a:moveTo>
                  <a:pt x="29" y="205"/>
                </a:moveTo>
                <a:cubicBezTo>
                  <a:pt x="28" y="206"/>
                  <a:pt x="26" y="206"/>
                  <a:pt x="24" y="206"/>
                </a:cubicBezTo>
                <a:cubicBezTo>
                  <a:pt x="18" y="206"/>
                  <a:pt x="14" y="202"/>
                  <a:pt x="14" y="196"/>
                </a:cubicBezTo>
                <a:cubicBezTo>
                  <a:pt x="14" y="195"/>
                  <a:pt x="14" y="193"/>
                  <a:pt x="14" y="192"/>
                </a:cubicBezTo>
                <a:cubicBezTo>
                  <a:pt x="22" y="166"/>
                  <a:pt x="22" y="166"/>
                  <a:pt x="22" y="166"/>
                </a:cubicBezTo>
                <a:cubicBezTo>
                  <a:pt x="30" y="166"/>
                  <a:pt x="38" y="169"/>
                  <a:pt x="45" y="175"/>
                </a:cubicBezTo>
                <a:cubicBezTo>
                  <a:pt x="51" y="182"/>
                  <a:pt x="55" y="191"/>
                  <a:pt x="54" y="199"/>
                </a:cubicBezTo>
                <a:lnTo>
                  <a:pt x="29" y="205"/>
                </a:lnTo>
                <a:close/>
                <a:moveTo>
                  <a:pt x="61" y="197"/>
                </a:moveTo>
                <a:cubicBezTo>
                  <a:pt x="61" y="188"/>
                  <a:pt x="57" y="178"/>
                  <a:pt x="50" y="170"/>
                </a:cubicBezTo>
                <a:cubicBezTo>
                  <a:pt x="42" y="163"/>
                  <a:pt x="33" y="159"/>
                  <a:pt x="24" y="159"/>
                </a:cubicBezTo>
                <a:cubicBezTo>
                  <a:pt x="30" y="134"/>
                  <a:pt x="30" y="134"/>
                  <a:pt x="30" y="134"/>
                </a:cubicBezTo>
                <a:cubicBezTo>
                  <a:pt x="31" y="132"/>
                  <a:pt x="32" y="131"/>
                  <a:pt x="33" y="129"/>
                </a:cubicBezTo>
                <a:cubicBezTo>
                  <a:pt x="47" y="119"/>
                  <a:pt x="68" y="122"/>
                  <a:pt x="83" y="137"/>
                </a:cubicBezTo>
                <a:cubicBezTo>
                  <a:pt x="98" y="153"/>
                  <a:pt x="101" y="175"/>
                  <a:pt x="89" y="189"/>
                </a:cubicBezTo>
                <a:cubicBezTo>
                  <a:pt x="88" y="190"/>
                  <a:pt x="87" y="190"/>
                  <a:pt x="86" y="190"/>
                </a:cubicBezTo>
                <a:lnTo>
                  <a:pt x="61" y="197"/>
                </a:lnTo>
                <a:close/>
                <a:moveTo>
                  <a:pt x="197" y="81"/>
                </a:moveTo>
                <a:cubicBezTo>
                  <a:pt x="186" y="93"/>
                  <a:pt x="186" y="93"/>
                  <a:pt x="186" y="93"/>
                </a:cubicBezTo>
                <a:cubicBezTo>
                  <a:pt x="186" y="91"/>
                  <a:pt x="186" y="90"/>
                  <a:pt x="186" y="88"/>
                </a:cubicBezTo>
                <a:cubicBezTo>
                  <a:pt x="185" y="75"/>
                  <a:pt x="178" y="62"/>
                  <a:pt x="168" y="52"/>
                </a:cubicBezTo>
                <a:cubicBezTo>
                  <a:pt x="157" y="41"/>
                  <a:pt x="142" y="34"/>
                  <a:pt x="127" y="34"/>
                </a:cubicBezTo>
                <a:cubicBezTo>
                  <a:pt x="139" y="23"/>
                  <a:pt x="139" y="23"/>
                  <a:pt x="139" y="23"/>
                </a:cubicBezTo>
                <a:cubicBezTo>
                  <a:pt x="145" y="17"/>
                  <a:pt x="153" y="14"/>
                  <a:pt x="161" y="14"/>
                </a:cubicBezTo>
                <a:cubicBezTo>
                  <a:pt x="172" y="14"/>
                  <a:pt x="184" y="19"/>
                  <a:pt x="192" y="27"/>
                </a:cubicBezTo>
                <a:cubicBezTo>
                  <a:pt x="201" y="36"/>
                  <a:pt x="205" y="46"/>
                  <a:pt x="206" y="56"/>
                </a:cubicBezTo>
                <a:cubicBezTo>
                  <a:pt x="207" y="66"/>
                  <a:pt x="204" y="75"/>
                  <a:pt x="197" y="81"/>
                </a:cubicBezTo>
                <a:close/>
              </a:path>
            </a:pathLst>
          </a:custGeom>
          <a:solidFill>
            <a:srgbClr val="FFFFFF">
              <a:alpha val="100000"/>
            </a:srgbClr>
          </a:solidFill>
          <a:ln w="9525">
            <a:noFill/>
          </a:ln>
        </p:spPr>
        <p:txBody>
          <a:bodyPr/>
          <a:lstStyle/>
          <a:p>
            <a:endParaRPr lang="fr-FR" altLang="en-US"/>
          </a:p>
        </p:txBody>
      </p:sp>
      <p:grpSp>
        <p:nvGrpSpPr>
          <p:cNvPr id="3" name="Group 6"/>
          <p:cNvGrpSpPr/>
          <p:nvPr/>
        </p:nvGrpSpPr>
        <p:grpSpPr>
          <a:xfrm>
            <a:off x="10026650" y="5613400"/>
            <a:ext cx="2166938" cy="1016000"/>
            <a:chOff x="10026213" y="5613337"/>
            <a:chExt cx="2167374" cy="1015669"/>
          </a:xfrm>
        </p:grpSpPr>
        <p:sp>
          <p:nvSpPr>
            <p:cNvPr id="41993" name="TextBox 62"/>
            <p:cNvSpPr txBox="1"/>
            <p:nvPr/>
          </p:nvSpPr>
          <p:spPr>
            <a:xfrm>
              <a:off x="10599989" y="5613337"/>
              <a:ext cx="1019830" cy="369335"/>
            </a:xfrm>
            <a:prstGeom prst="rect">
              <a:avLst/>
            </a:prstGeom>
            <a:noFill/>
            <a:ln w="9525">
              <a:noFill/>
            </a:ln>
          </p:spPr>
          <p:txBody>
            <a:bodyPr wrap="none" anchor="t" anchorCtr="1">
              <a:spAutoFit/>
            </a:bodyPr>
            <a:lstStyle/>
            <a:p>
              <a:pPr algn="ctr" eaLnBrk="1" hangingPunct="1"/>
              <a:r>
                <a:rPr lang="id-ID" altLang="x-none" b="1" dirty="0">
                  <a:solidFill>
                    <a:srgbClr val="FFFFFF"/>
                  </a:solidFill>
                  <a:latin typeface="Source Sans Pro Light"/>
                </a:rPr>
                <a:t>Powerful</a:t>
              </a:r>
            </a:p>
          </p:txBody>
        </p:sp>
        <p:sp>
          <p:nvSpPr>
            <p:cNvPr id="41994" name="Rectangle 89"/>
            <p:cNvSpPr/>
            <p:nvPr/>
          </p:nvSpPr>
          <p:spPr>
            <a:xfrm>
              <a:off x="10026213" y="5982672"/>
              <a:ext cx="2167374" cy="646334"/>
            </a:xfrm>
            <a:prstGeom prst="rect">
              <a:avLst/>
            </a:prstGeom>
            <a:noFill/>
            <a:ln w="9525">
              <a:noFill/>
            </a:ln>
          </p:spPr>
          <p:txBody>
            <a:bodyPr anchor="t" anchorCtr="1">
              <a:spAutoFit/>
            </a:bodyPr>
            <a:lstStyle/>
            <a:p>
              <a:pPr algn="ctr" eaLnBrk="1" hangingPunct="1"/>
              <a:r>
                <a:rPr lang="id-ID" altLang="x-none" sz="1200" dirty="0">
                  <a:solidFill>
                    <a:srgbClr val="FFFFFF"/>
                  </a:solidFill>
                  <a:latin typeface="Calibri" panose="020F0502020204030204" pitchFamily="34" charset="0"/>
                </a:rPr>
                <a:t>Suitable for all categories busiess and personal presentation</a:t>
              </a:r>
              <a:endParaRPr lang="id-ID" altLang="x-none" sz="1200" dirty="0">
                <a:solidFill>
                  <a:srgbClr val="FFFFFF"/>
                </a:solidFill>
                <a:latin typeface="Calibri" panose="020F0502020204030204" pitchFamily="34" charset="0"/>
                <a:ea typeface="Calibri" panose="020F0502020204030204" pitchFamily="34" charset="0"/>
              </a:endParaRPr>
            </a:p>
          </p:txBody>
        </p:sp>
      </p:grpSp>
      <p:sp>
        <p:nvSpPr>
          <p:cNvPr id="6" name="TextBox 9"/>
          <p:cNvSpPr txBox="1"/>
          <p:nvPr/>
        </p:nvSpPr>
        <p:spPr>
          <a:xfrm>
            <a:off x="2942749" y="1588"/>
            <a:ext cx="603821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Architecture du modèle</a:t>
            </a:r>
            <a:endParaRPr lang="fr-FR" altLang="x-none" dirty="0">
              <a:solidFill>
                <a:srgbClr val="7F7F7F"/>
              </a:solidFill>
              <a:cs typeface="Calibri" panose="020F0502020204030204" pitchFamily="34" charset="0"/>
            </a:endParaRPr>
          </a:p>
        </p:txBody>
      </p:sp>
      <p:sp>
        <p:nvSpPr>
          <p:cNvPr id="41989" name="ZoneTexte 28"/>
          <p:cNvSpPr txBox="1"/>
          <p:nvPr/>
        </p:nvSpPr>
        <p:spPr>
          <a:xfrm>
            <a:off x="11537950" y="300038"/>
            <a:ext cx="436563" cy="369887"/>
          </a:xfrm>
          <a:prstGeom prst="rect">
            <a:avLst/>
          </a:prstGeom>
          <a:noFill/>
          <a:ln w="9525">
            <a:noFill/>
          </a:ln>
        </p:spPr>
        <p:txBody>
          <a:bodyPr>
            <a:spAutoFit/>
          </a:bodyPr>
          <a:lstStyle/>
          <a:p>
            <a:pPr eaLnBrk="1" hangingPunct="1"/>
            <a:r>
              <a:rPr lang="fr-FR" altLang="x-none" b="1" dirty="0">
                <a:solidFill>
                  <a:srgbClr val="FFFFFF"/>
                </a:solidFill>
                <a:latin typeface="Calibri" panose="020F0502020204030204" pitchFamily="34" charset="0"/>
                <a:cs typeface="Calibri" panose="020F0502020204030204" pitchFamily="34" charset="0"/>
              </a:rPr>
              <a:t>13</a:t>
            </a:r>
            <a:endParaRPr lang="fr-FR" altLang="x-none" b="1" dirty="0">
              <a:solidFill>
                <a:srgbClr val="FFFFFF"/>
              </a:solidFill>
              <a:latin typeface="Calibri" panose="020F0502020204030204" pitchFamily="34" charset="0"/>
            </a:endParaRPr>
          </a:p>
        </p:txBody>
      </p:sp>
      <p:sp>
        <p:nvSpPr>
          <p:cNvPr id="8" name="ZoneTexte 29"/>
          <p:cNvSpPr txBox="1"/>
          <p:nvPr/>
        </p:nvSpPr>
        <p:spPr>
          <a:xfrm>
            <a:off x="366713" y="965200"/>
            <a:ext cx="11176000" cy="3415030"/>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PaLM utilise une architecture de modèle </a:t>
            </a:r>
            <a:r>
              <a:rPr kumimoji="0" lang="fr-FR" kern="1200" cap="none" spc="0" normalizeH="0" baseline="0" noProof="0">
                <a:solidFill>
                  <a:srgbClr val="FF0000"/>
                </a:solidFill>
                <a:latin typeface="Calibri" panose="020F0502020204030204"/>
                <a:ea typeface="Calibri" panose="020F0502020204030204"/>
                <a:cs typeface="Calibri" panose="020F0502020204030204"/>
              </a:rPr>
              <a:t>Transformer standard</a:t>
            </a:r>
            <a:r>
              <a:rPr kumimoji="0" lang="fr-FR" kern="1200" cap="none" spc="0" normalizeH="0" baseline="0" noProof="0">
                <a:solidFill>
                  <a:srgbClr val="000000"/>
                </a:solidFill>
                <a:latin typeface="Calibri" panose="020F0502020204030204"/>
                <a:ea typeface="Calibri" panose="020F0502020204030204"/>
                <a:cs typeface="Calibri" panose="020F0502020204030204"/>
              </a:rPr>
              <a:t> dans une configuration </a:t>
            </a:r>
            <a:r>
              <a:rPr kumimoji="0" lang="fr-FR" kern="1200" cap="none" spc="0" normalizeH="0" baseline="0" noProof="0">
                <a:solidFill>
                  <a:srgbClr val="0070C0"/>
                </a:solidFill>
                <a:latin typeface="Calibri" panose="020F0502020204030204"/>
                <a:ea typeface="Calibri" panose="020F0502020204030204"/>
                <a:cs typeface="Calibri" panose="020F0502020204030204"/>
              </a:rPr>
              <a:t>decoder-only</a:t>
            </a:r>
            <a:r>
              <a:rPr kumimoji="0" lang="fr-FR" kern="1200" cap="none" spc="0" normalizeH="0" baseline="0" noProof="0">
                <a:solidFill>
                  <a:srgbClr val="000000"/>
                </a:solidFill>
                <a:latin typeface="Calibri" panose="020F0502020204030204"/>
                <a:ea typeface="Calibri" panose="020F0502020204030204"/>
                <a:cs typeface="Calibri" panose="020F0502020204030204"/>
              </a:rPr>
              <a:t> , où chaque étape temporelle ne peut prêter attention</a:t>
            </a:r>
            <a:r>
              <a:rPr kumimoji="0" lang="fr-FR" kern="1200" cap="none" spc="0" normalizeH="0" baseline="0" noProof="0">
                <a:solidFill>
                  <a:srgbClr val="F5148F"/>
                </a:solidFill>
                <a:latin typeface="Calibri" panose="020F0502020204030204"/>
                <a:ea typeface="Calibri" panose="020F0502020204030204"/>
                <a:cs typeface="Calibri" panose="020F0502020204030204"/>
              </a:rPr>
              <a:t> qu’à elle-même et aux étapes précédentes.</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F5148F"/>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kern="1200" cap="none" spc="0" normalizeH="0" baseline="0" noProof="0">
                <a:solidFill>
                  <a:srgbClr val="000000"/>
                </a:solidFill>
                <a:latin typeface="Calibri" panose="020F0502020204030204"/>
                <a:ea typeface="Calibri" panose="020F0502020204030204"/>
                <a:cs typeface="Calibri" panose="020F0502020204030204"/>
              </a:rPr>
              <a:t>D'autres modifications ont aussi été importés telles que :</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r>
              <a:rPr kumimoji="0" lang="fr-FR" b="1" kern="1200" cap="none" spc="0" normalizeH="0" baseline="0" noProof="0">
                <a:solidFill>
                  <a:srgbClr val="000000"/>
                </a:solidFill>
                <a:latin typeface="Calibri" panose="020F0502020204030204"/>
                <a:ea typeface="Calibri" panose="020F0502020204030204"/>
                <a:cs typeface="Calibri" panose="020F0502020204030204"/>
              </a:rPr>
              <a:t>Activation SwiGLU</a:t>
            </a:r>
            <a:r>
              <a:rPr kumimoji="0" lang="fr-FR" kern="1200" cap="none" spc="0" normalizeH="0" baseline="0" noProof="0">
                <a:solidFill>
                  <a:srgbClr val="000000"/>
                </a:solidFill>
                <a:latin typeface="Calibri" panose="020F0502020204030204"/>
                <a:ea typeface="Calibri" panose="020F0502020204030204"/>
                <a:cs typeface="Calibri" panose="020F0502020204030204"/>
              </a:rPr>
              <a:t> : C'est comme un nouveau type de "neurone artificiel" qui permet au modèle de mieux apprendre les relations complexes dans les données. Elle combine deux concep ts précédents: la fonction </a:t>
            </a:r>
            <a:r>
              <a:rPr kumimoji="0" lang="fr-FR" kern="1200" cap="none" spc="0" normalizeH="0" baseline="0" noProof="0">
                <a:solidFill>
                  <a:srgbClr val="FF0000"/>
                </a:solidFill>
                <a:latin typeface="Calibri" panose="020F0502020204030204"/>
                <a:ea typeface="Calibri" panose="020F0502020204030204"/>
                <a:cs typeface="Calibri" panose="020F0502020204030204"/>
              </a:rPr>
              <a:t>Swish</a:t>
            </a:r>
            <a:r>
              <a:rPr kumimoji="0" lang="fr-FR" kern="1200" cap="none" spc="0" normalizeH="0" baseline="0" noProof="0">
                <a:solidFill>
                  <a:srgbClr val="000000"/>
                </a:solidFill>
                <a:latin typeface="Calibri" panose="020F0502020204030204"/>
                <a:ea typeface="Calibri" panose="020F0502020204030204"/>
                <a:cs typeface="Calibri" panose="020F0502020204030204"/>
              </a:rPr>
              <a:t> et </a:t>
            </a:r>
            <a:r>
              <a:rPr kumimoji="0" lang="fr-FR" kern="1200" cap="none" spc="0" normalizeH="0" baseline="0" noProof="0">
                <a:solidFill>
                  <a:srgbClr val="FF0000"/>
                </a:solidFill>
                <a:latin typeface="Calibri" panose="020F0502020204030204"/>
                <a:ea typeface="Calibri" panose="020F0502020204030204"/>
                <a:cs typeface="Calibri" panose="020F0502020204030204"/>
              </a:rPr>
              <a:t>les unités linéaires à portes</a:t>
            </a:r>
            <a:r>
              <a:rPr kumimoji="0" lang="fr-FR" kern="1200" cap="none" spc="0" normalizeH="0" baseline="0" noProof="0">
                <a:solidFill>
                  <a:srgbClr val="000000"/>
                </a:solidFill>
                <a:latin typeface="Calibri" panose="020F0502020204030204"/>
                <a:ea typeface="Calibri" panose="020F0502020204030204"/>
                <a:cs typeface="Calibri" panose="020F0502020204030204"/>
              </a:rPr>
              <a:t> (GLU). </a:t>
            </a: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L="914400" marR="0" lvl="2"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fr-FR" sz="1800" b="0" i="0" u="none" strike="noStrike" kern="1200" cap="none" spc="0" normalizeH="0" baseline="0" noProof="0">
              <a:ln>
                <a:noFill/>
              </a:ln>
              <a:solidFill>
                <a:srgbClr val="0070C0"/>
              </a:solidFill>
              <a:effectLst/>
              <a:uLnTx/>
              <a:uFillTx/>
              <a:latin typeface="Calibri" panose="020F0502020204030204"/>
              <a:ea typeface="Calibri" panose="020F0502020204030204"/>
              <a:cs typeface="Calibri" panose="020F0502020204030204"/>
            </a:endParaRPr>
          </a:p>
          <a:p>
            <a:pPr marL="342900" marR="0" indent="-342900" defTabSz="914400" eaLnBrk="1" fontAlgn="auto" hangingPunct="1">
              <a:spcBef>
                <a:spcPts val="0"/>
              </a:spcBef>
              <a:spcAft>
                <a:spcPts val="0"/>
              </a:spcAft>
              <a:buClrTx/>
              <a:buSzPct val="100000"/>
              <a:buFontTx/>
              <a:buAutoNum type="arabicPeriod"/>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kern="1200" cap="none" spc="0" normalizeH="0" baseline="0" noProof="0">
              <a:solidFill>
                <a:srgbClr val="000000"/>
              </a:solidFill>
              <a:latin typeface="Calibri" panose="020F0502020204030204"/>
              <a:ea typeface="Calibri" panose="020F0502020204030204"/>
              <a:cs typeface="Calibri" panose="020F0502020204030204"/>
            </a:endParaRPr>
          </a:p>
        </p:txBody>
      </p:sp>
      <p:sp>
        <p:nvSpPr>
          <p:cNvPr id="41991" name="Graphique 30"/>
          <p:cNvSpPr>
            <a:spLocks noChangeAspect="1"/>
          </p:cNvSpPr>
          <p:nvPr/>
        </p:nvSpPr>
        <p:spPr>
          <a:xfrm>
            <a:off x="5327650" y="3032125"/>
            <a:ext cx="6423025" cy="3706813"/>
          </a:xfrm>
          <a:prstGeom prst="rect">
            <a:avLst/>
          </a:prstGeom>
          <a:noFill/>
          <a:ln w="9525">
            <a:noFill/>
          </a:ln>
        </p:spPr>
        <p:txBody>
          <a:bodyPr/>
          <a:lstStyle/>
          <a:p>
            <a:endParaRPr lang="fr-FR" altLang="en-US"/>
          </a:p>
        </p:txBody>
      </p:sp>
      <p:sp>
        <p:nvSpPr>
          <p:cNvPr id="41992" name="ZoneTexte 31"/>
          <p:cNvSpPr txBox="1"/>
          <p:nvPr/>
        </p:nvSpPr>
        <p:spPr>
          <a:xfrm>
            <a:off x="512763" y="3425825"/>
            <a:ext cx="4813300" cy="1995805"/>
          </a:xfrm>
          <a:prstGeom prst="rect">
            <a:avLst/>
          </a:prstGeom>
          <a:noFill/>
          <a:ln w="9525">
            <a:noFill/>
          </a:ln>
        </p:spPr>
        <p:txBody>
          <a:bodyPr>
            <a:spAutoFit/>
          </a:bodyPr>
          <a:lstStyle/>
          <a:p>
            <a:pPr eaLnBrk="1" hangingPunct="1">
              <a:lnSpc>
                <a:spcPts val="1650"/>
              </a:lnSpc>
            </a:pPr>
            <a:r>
              <a:rPr lang="fr-FR" altLang="x-none" dirty="0">
                <a:solidFill>
                  <a:srgbClr val="000000"/>
                </a:solidFill>
                <a:latin typeface="Calibri" panose="020F0502020204030204" pitchFamily="34" charset="0"/>
                <a:cs typeface="Segoe UI" panose="020B0502040204020203" pitchFamily="34" charset="0"/>
              </a:rPr>
              <a:t>Sa formule est la suivante : </a:t>
            </a:r>
            <a:endParaRPr lang="fr-FR" altLang="x-none" dirty="0">
              <a:solidFill>
                <a:srgbClr val="000000"/>
              </a:solidFill>
              <a:latin typeface="Calibri" panose="020F0502020204030204" pitchFamily="34" charset="0"/>
            </a:endParaRPr>
          </a:p>
          <a:p>
            <a:pPr eaLnBrk="1" hangingPunct="1">
              <a:lnSpc>
                <a:spcPts val="1650"/>
              </a:lnSpc>
            </a:pPr>
            <a:endParaRPr lang="fr-FR" altLang="x-none" dirty="0">
              <a:solidFill>
                <a:srgbClr val="000000"/>
              </a:solidFill>
              <a:latin typeface="Calibri" panose="020F0502020204030204" pitchFamily="34" charset="0"/>
              <a:cs typeface="Segoe UI" panose="020B0502040204020203" pitchFamily="34" charset="0"/>
            </a:endParaRPr>
          </a:p>
          <a:p>
            <a:pPr eaLnBrk="1" hangingPunct="1">
              <a:lnSpc>
                <a:spcPts val="1650"/>
              </a:lnSpc>
            </a:pPr>
            <a:r>
              <a:rPr lang="fr-FR" altLang="x-none" dirty="0">
                <a:solidFill>
                  <a:srgbClr val="0070C0"/>
                </a:solidFill>
                <a:latin typeface="Calibri" panose="020F0502020204030204" pitchFamily="34" charset="0"/>
                <a:cs typeface="Segoe UI" panose="020B0502040204020203" pitchFamily="34" charset="0"/>
              </a:rPr>
              <a:t>       SwiGLU(x, W, V, β) = Swish(x</a:t>
            </a:r>
            <a:r>
              <a:rPr lang="fr-FR" altLang="x-none" dirty="0">
                <a:solidFill>
                  <a:srgbClr val="0070C0"/>
                </a:solidFill>
                <a:latin typeface="Calibri" panose="020F0502020204030204" pitchFamily="34" charset="0"/>
                <a:ea typeface="Segoe UI" panose="020B0502040204020203" pitchFamily="34" charset="0"/>
              </a:rPr>
              <a:t>·</a:t>
            </a:r>
            <a:r>
              <a:rPr lang="fr-FR" altLang="x-none" dirty="0">
                <a:solidFill>
                  <a:srgbClr val="0070C0"/>
                </a:solidFill>
                <a:latin typeface="Calibri" panose="020F0502020204030204" pitchFamily="34" charset="0"/>
                <a:cs typeface="Segoe UI" panose="020B0502040204020203" pitchFamily="34" charset="0"/>
              </a:rPr>
              <a:t>W) .× (x</a:t>
            </a:r>
            <a:r>
              <a:rPr lang="fr-FR" altLang="x-none" dirty="0">
                <a:solidFill>
                  <a:srgbClr val="0070C0"/>
                </a:solidFill>
                <a:latin typeface="Calibri" panose="020F0502020204030204" pitchFamily="34" charset="0"/>
                <a:ea typeface="Segoe UI" panose="020B0502040204020203" pitchFamily="34" charset="0"/>
              </a:rPr>
              <a:t>·</a:t>
            </a:r>
            <a:r>
              <a:rPr lang="fr-FR" altLang="x-none" dirty="0">
                <a:solidFill>
                  <a:srgbClr val="0070C0"/>
                </a:solidFill>
                <a:latin typeface="Calibri" panose="020F0502020204030204" pitchFamily="34" charset="0"/>
                <a:cs typeface="Segoe UI" panose="020B0502040204020203" pitchFamily="34" charset="0"/>
              </a:rPr>
              <a:t>V)</a:t>
            </a:r>
            <a:r>
              <a:rPr dirty="0">
                <a:solidFill>
                  <a:srgbClr val="000000"/>
                </a:solidFill>
                <a:latin typeface="Calibri" panose="020F0502020204030204" pitchFamily="34" charset="0"/>
                <a:cs typeface="Segoe UI" panose="020B0502040204020203" pitchFamily="34" charset="0"/>
              </a:rPr>
              <a:t>​</a:t>
            </a:r>
            <a:endParaRPr dirty="0">
              <a:solidFill>
                <a:srgbClr val="000000"/>
              </a:solidFill>
              <a:latin typeface="Calibri" panose="020F0502020204030204" pitchFamily="34" charset="0"/>
            </a:endParaRPr>
          </a:p>
          <a:p>
            <a:pPr eaLnBrk="1" hangingPunct="1">
              <a:lnSpc>
                <a:spcPts val="1650"/>
              </a:lnSpc>
            </a:pPr>
            <a:endParaRPr dirty="0">
              <a:solidFill>
                <a:srgbClr val="000000"/>
              </a:solidFill>
              <a:latin typeface="Calibri" panose="020F0502020204030204" pitchFamily="34" charset="0"/>
              <a:cs typeface="Segoe UI" panose="020B0502040204020203" pitchFamily="34" charset="0"/>
            </a:endParaRPr>
          </a:p>
          <a:p>
            <a:pPr eaLnBrk="1" hangingPunct="1">
              <a:lnSpc>
                <a:spcPts val="1650"/>
              </a:lnSpc>
            </a:pPr>
            <a:r>
              <a:rPr lang="fr-FR" altLang="x-none" dirty="0">
                <a:solidFill>
                  <a:srgbClr val="000000"/>
                </a:solidFill>
                <a:latin typeface="Calibri" panose="020F0502020204030204" pitchFamily="34" charset="0"/>
                <a:cs typeface="Segoe UI" panose="020B0502040204020203" pitchFamily="34" charset="0"/>
              </a:rPr>
              <a:t>Où la formule de la fonction Swish est :</a:t>
            </a:r>
            <a:endParaRPr lang="fr-FR" altLang="x-none" dirty="0">
              <a:solidFill>
                <a:srgbClr val="000000"/>
              </a:solidFill>
              <a:latin typeface="Calibri" panose="020F0502020204030204" pitchFamily="34" charset="0"/>
              <a:cs typeface="Calibri" panose="020F0502020204030204" pitchFamily="34" charset="0"/>
            </a:endParaRPr>
          </a:p>
          <a:p>
            <a:pPr eaLnBrk="1" hangingPunct="1">
              <a:lnSpc>
                <a:spcPts val="1650"/>
              </a:lnSpc>
            </a:pPr>
            <a:endParaRPr lang="fr-FR" altLang="x-none" dirty="0">
              <a:solidFill>
                <a:srgbClr val="000000"/>
              </a:solidFill>
              <a:latin typeface="Calibri" panose="020F0502020204030204" pitchFamily="34" charset="0"/>
              <a:cs typeface="Segoe UI" panose="020B0502040204020203" pitchFamily="34" charset="0"/>
            </a:endParaRPr>
          </a:p>
          <a:p>
            <a:pPr eaLnBrk="1" hangingPunct="1">
              <a:lnSpc>
                <a:spcPts val="1650"/>
              </a:lnSpc>
            </a:pPr>
            <a:r>
              <a:rPr lang="fr-FR" altLang="x-none" dirty="0">
                <a:solidFill>
                  <a:srgbClr val="000000"/>
                </a:solidFill>
                <a:latin typeface="Calibri" panose="020F0502020204030204" pitchFamily="34" charset="0"/>
                <a:cs typeface="Segoe UI" panose="020B0502040204020203" pitchFamily="34" charset="0"/>
              </a:rPr>
              <a:t>       </a:t>
            </a:r>
            <a:r>
              <a:rPr lang="fr-FR" altLang="x-none" dirty="0">
                <a:solidFill>
                  <a:srgbClr val="FF0000"/>
                </a:solidFill>
                <a:latin typeface="Calibri" panose="020F0502020204030204" pitchFamily="34" charset="0"/>
                <a:cs typeface="Segoe UI" panose="020B0502040204020203" pitchFamily="34" charset="0"/>
              </a:rPr>
              <a:t>Swish(z) = z</a:t>
            </a:r>
            <a:r>
              <a:rPr lang="fr-FR" altLang="x-none" dirty="0">
                <a:solidFill>
                  <a:srgbClr val="FF0000"/>
                </a:solidFill>
                <a:latin typeface="Calibri" panose="020F0502020204030204" pitchFamily="34" charset="0"/>
                <a:ea typeface="Segoe UI" panose="020B0502040204020203" pitchFamily="34" charset="0"/>
              </a:rPr>
              <a:t>·</a:t>
            </a:r>
            <a:r>
              <a:rPr lang="fr-FR" altLang="x-none" dirty="0">
                <a:solidFill>
                  <a:srgbClr val="FF0000"/>
                </a:solidFill>
                <a:latin typeface="Calibri" panose="020F0502020204030204" pitchFamily="34" charset="0"/>
                <a:cs typeface="Segoe UI" panose="020B0502040204020203" pitchFamily="34" charset="0"/>
              </a:rPr>
              <a:t>sigmoid(β</a:t>
            </a:r>
            <a:r>
              <a:rPr lang="fr-FR" altLang="x-none" dirty="0">
                <a:solidFill>
                  <a:srgbClr val="FF0000"/>
                </a:solidFill>
                <a:latin typeface="Calibri" panose="020F0502020204030204" pitchFamily="34" charset="0"/>
                <a:ea typeface="Segoe UI" panose="020B0502040204020203" pitchFamily="34" charset="0"/>
              </a:rPr>
              <a:t>·</a:t>
            </a:r>
            <a:r>
              <a:rPr lang="fr-FR" altLang="x-none" dirty="0">
                <a:solidFill>
                  <a:srgbClr val="FF0000"/>
                </a:solidFill>
                <a:latin typeface="Calibri" panose="020F0502020204030204" pitchFamily="34" charset="0"/>
                <a:cs typeface="Segoe UI" panose="020B0502040204020203" pitchFamily="34" charset="0"/>
              </a:rPr>
              <a:t>z), </a:t>
            </a:r>
            <a:r>
              <a:rPr lang="fr-FR" altLang="x-none" dirty="0">
                <a:solidFill>
                  <a:schemeClr val="accent4"/>
                </a:solidFill>
                <a:latin typeface="Calibri" panose="020F0502020204030204" pitchFamily="34" charset="0"/>
                <a:cs typeface="Segoe UI" panose="020B0502040204020203" pitchFamily="34" charset="0"/>
              </a:rPr>
              <a:t>(SiLU when </a:t>
            </a:r>
            <a:r>
              <a:rPr lang="fr-FR" altLang="x-none" dirty="0">
                <a:solidFill>
                  <a:schemeClr val="accent4"/>
                </a:solidFill>
                <a:cs typeface="Segoe UI" panose="020B0502040204020203" pitchFamily="34" charset="0"/>
                <a:sym typeface="+mn-ea"/>
              </a:rPr>
              <a:t>β</a:t>
            </a:r>
            <a:r>
              <a:rPr lang="fr-FR" altLang="x-none" dirty="0">
                <a:solidFill>
                  <a:schemeClr val="accent4"/>
                </a:solidFill>
                <a:latin typeface="Calibri" panose="020F0502020204030204" pitchFamily="34" charset="0"/>
                <a:cs typeface="Segoe UI" panose="020B0502040204020203" pitchFamily="34" charset="0"/>
              </a:rPr>
              <a:t>=1)</a:t>
            </a:r>
            <a:endParaRPr lang="fr-FR" altLang="x-none" dirty="0">
              <a:solidFill>
                <a:schemeClr val="accent4"/>
              </a:solidFill>
              <a:latin typeface="Calibri" panose="020F0502020204030204" pitchFamily="34" charset="0"/>
              <a:cs typeface="Calibri" panose="020F0502020204030204" pitchFamily="34" charset="0"/>
            </a:endParaRPr>
          </a:p>
          <a:p>
            <a:pPr eaLnBrk="1" hangingPunct="1">
              <a:lnSpc>
                <a:spcPts val="1650"/>
              </a:lnSpc>
            </a:pPr>
            <a:endParaRPr lang="fr-FR" altLang="x-none" dirty="0">
              <a:solidFill>
                <a:srgbClr val="FF0000"/>
              </a:solidFill>
              <a:latin typeface="Calibri" panose="020F0502020204030204" pitchFamily="34" charset="0"/>
              <a:cs typeface="Segoe UI" panose="020B0502040204020203" pitchFamily="34" charset="0"/>
            </a:endParaRPr>
          </a:p>
          <a:p>
            <a:pPr eaLnBrk="1" hangingPunct="1">
              <a:lnSpc>
                <a:spcPts val="1650"/>
              </a:lnSpc>
            </a:pPr>
            <a:r>
              <a:rPr lang="fr-FR" altLang="x-none" dirty="0">
                <a:solidFill>
                  <a:srgbClr val="FF0000"/>
                </a:solidFill>
                <a:latin typeface="Calibri" panose="020F0502020204030204" pitchFamily="34" charset="0"/>
                <a:cs typeface="Segoe UI" panose="020B0502040204020203" pitchFamily="34" charset="0"/>
              </a:rPr>
              <a:t> </a:t>
            </a:r>
            <a:r>
              <a:rPr lang="fr-FR" altLang="x-none" dirty="0">
                <a:solidFill>
                  <a:srgbClr val="000000"/>
                </a:solidFill>
                <a:latin typeface="Calibri" panose="020F0502020204030204" pitchFamily="34" charset="0"/>
                <a:cs typeface="Segoe UI" panose="020B0502040204020203" pitchFamily="34" charset="0"/>
              </a:rPr>
              <a:t>et W et V sont des matrices des poids.</a:t>
            </a:r>
            <a:r>
              <a:rPr dirty="0">
                <a:solidFill>
                  <a:srgbClr val="000000"/>
                </a:solidFill>
                <a:latin typeface="Calibri" panose="020F0502020204030204" pitchFamily="34" charset="0"/>
                <a:cs typeface="Segoe UI" panose="020B0502040204020203" pitchFamily="34" charset="0"/>
              </a:rPr>
              <a:t>​</a:t>
            </a:r>
            <a:endParaRPr lang="fr-FR" altLang="x-none" dirty="0">
              <a:solidFill>
                <a:srgbClr val="000000"/>
              </a:solidFill>
              <a:latin typeface="Calibri" panose="020F0502020204030204" pitchFamily="34" charset="0"/>
              <a:ea typeface="Calibri" panose="020F0502020204030204" pitchFamily="34" charset="0"/>
            </a:endParaRPr>
          </a:p>
        </p:txBody>
      </p:sp>
      <p:pic>
        <p:nvPicPr>
          <p:cNvPr id="7" name="Image 6" descr="Capture d'écran 2025-04-17 112229"/>
          <p:cNvPicPr>
            <a:picLocks noChangeAspect="1"/>
          </p:cNvPicPr>
          <p:nvPr/>
        </p:nvPicPr>
        <p:blipFill>
          <a:blip r:embed="rId3"/>
          <a:stretch>
            <a:fillRect/>
          </a:stretch>
        </p:blipFill>
        <p:spPr>
          <a:xfrm>
            <a:off x="5562600" y="3200400"/>
            <a:ext cx="5318125" cy="3063875"/>
          </a:xfrm>
          <a:prstGeom prst="rect">
            <a:avLst/>
          </a:prstGeom>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p:stCondLst>
                              <p:cond delay="1000"/>
                            </p:stCondLst>
                            <p:childTnLst>
                              <p:par>
                                <p:cTn id="15" presetID="47"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anim calcmode="lin" valueType="num">
                                      <p:cBhvr>
                                        <p:cTn id="18" dur="500" fill="hold"/>
                                        <p:tgtEl>
                                          <p:spTgt spid="6"/>
                                        </p:tgtEl>
                                        <p:attrNameLst>
                                          <p:attrName>ppt_x</p:attrName>
                                        </p:attrNameLst>
                                      </p:cBhvr>
                                      <p:tavLst>
                                        <p:tav tm="0">
                                          <p:val>
                                            <p:strVal val="#ppt_x"/>
                                          </p:val>
                                        </p:tav>
                                        <p:tav tm="100000">
                                          <p:val>
                                            <p:strVal val="#ppt_x"/>
                                          </p:val>
                                        </p:tav>
                                      </p:tavLst>
                                    </p:anim>
                                    <p:anim calcmode="lin" valueType="num">
                                      <p:cBhvr>
                                        <p:cTn id="1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500"/>
                                        <p:tgtEl>
                                          <p:spTgt spid="8">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1992"/>
                                        </p:tgtEl>
                                        <p:attrNameLst>
                                          <p:attrName>style.visibility</p:attrName>
                                        </p:attrNameLst>
                                      </p:cBhvr>
                                      <p:to>
                                        <p:strVal val="visible"/>
                                      </p:to>
                                    </p:set>
                                    <p:animEffect transition="in" filter="fade">
                                      <p:cBhvr>
                                        <p:cTn id="29" dur="500"/>
                                        <p:tgtEl>
                                          <p:spTgt spid="4199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1992" grpId="0"/>
      <p:bldP spid="4199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ZoneTexte 11"/>
          <p:cNvSpPr txBox="1"/>
          <p:nvPr/>
        </p:nvSpPr>
        <p:spPr>
          <a:xfrm>
            <a:off x="461963" y="944563"/>
            <a:ext cx="11279187" cy="1201737"/>
          </a:xfrm>
          <a:prstGeom prst="rect">
            <a:avLst/>
          </a:prstGeom>
          <a:noFill/>
          <a:ln w="9525">
            <a:noFill/>
          </a:ln>
        </p:spPr>
        <p:txBody>
          <a:bodyPr>
            <a:spAutoFit/>
          </a:bodyPr>
          <a:lstStyle/>
          <a:p>
            <a:pPr marL="342900" indent="-342900" eaLnBrk="1" hangingPunct="1">
              <a:buSzPct val="100000"/>
              <a:buAutoNum type="arabicPeriod" startAt="2"/>
            </a:pPr>
            <a:r>
              <a:rPr lang="fr-FR" altLang="x-none" b="1" dirty="0">
                <a:solidFill>
                  <a:srgbClr val="000000"/>
                </a:solidFill>
                <a:latin typeface="Calibri" panose="020F0502020204030204" pitchFamily="34" charset="0"/>
                <a:cs typeface="Arial" panose="020B0604020202020204" pitchFamily="34" charset="0"/>
              </a:rPr>
              <a:t>Couches parallèles</a:t>
            </a:r>
            <a:r>
              <a:rPr lang="fr-FR" altLang="x-none" dirty="0">
                <a:solidFill>
                  <a:srgbClr val="000000"/>
                </a:solidFill>
                <a:latin typeface="Calibri" panose="020F0502020204030204" pitchFamily="34" charset="0"/>
                <a:cs typeface="Arial" panose="020B0604020202020204" pitchFamily="34" charset="0"/>
              </a:rPr>
              <a:t> : Au lieu de traiter les informations en série (une étape après l'autre), PaLM effectue certains traitements en parallèle. Cela rend l'entraînement environ 15% plus rapide pour les très grands modèles.​</a:t>
            </a:r>
            <a:endParaRPr lang="fr-FR" altLang="x-none" dirty="0">
              <a:solidFill>
                <a:srgbClr val="000000"/>
              </a:solidFill>
              <a:latin typeface="Calibri" panose="020F0502020204030204" pitchFamily="34" charset="0"/>
              <a:cs typeface="Calibri" panose="020F0502020204030204" pitchFamily="34" charset="0"/>
            </a:endParaRPr>
          </a:p>
          <a:p>
            <a:pPr marL="342900" indent="-342900" eaLnBrk="1" hangingPunct="1">
              <a:buSzPct val="100000"/>
              <a:buAutoNum type="arabicPeriod" startAt="2"/>
            </a:pPr>
            <a:endParaRPr lang="fr-FR" altLang="x-none" dirty="0">
              <a:solidFill>
                <a:srgbClr val="000000"/>
              </a:solidFill>
              <a:latin typeface="Arial" panose="020B0604020202020204" pitchFamily="34" charset="0"/>
              <a:cs typeface="Arial" panose="020B0604020202020204" pitchFamily="34" charset="0"/>
            </a:endParaRPr>
          </a:p>
          <a:p>
            <a:pPr marL="342900" indent="-342900" eaLnBrk="1" hangingPunct="1">
              <a:buSzPct val="100000"/>
              <a:buAutoNum type="arabicPeriod" startAt="2"/>
            </a:pPr>
            <a:endParaRPr lang="fr-FR" altLang="x-none" dirty="0">
              <a:solidFill>
                <a:srgbClr val="000000"/>
              </a:solidFill>
              <a:latin typeface="Calibri" panose="020F0502020204030204" pitchFamily="34" charset="0"/>
              <a:ea typeface="Calibri" panose="020F0502020204030204" pitchFamily="34" charset="0"/>
            </a:endParaRPr>
          </a:p>
        </p:txBody>
      </p:sp>
      <p:sp>
        <p:nvSpPr>
          <p:cNvPr id="3" name="TextBox 9"/>
          <p:cNvSpPr txBox="1"/>
          <p:nvPr/>
        </p:nvSpPr>
        <p:spPr>
          <a:xfrm>
            <a:off x="2942749" y="1588"/>
            <a:ext cx="603821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Architecture du modèle</a:t>
            </a:r>
            <a:endParaRPr lang="fr-FR" altLang="x-none" dirty="0">
              <a:solidFill>
                <a:srgbClr val="7F7F7F"/>
              </a:solidFill>
              <a:cs typeface="Calibri" panose="020F0502020204030204" pitchFamily="34" charset="0"/>
            </a:endParaRPr>
          </a:p>
        </p:txBody>
      </p:sp>
      <p:pic>
        <p:nvPicPr>
          <p:cNvPr id="44036" name="Image 14"/>
          <p:cNvPicPr>
            <a:picLocks noChangeAspect="1"/>
          </p:cNvPicPr>
          <p:nvPr/>
        </p:nvPicPr>
        <p:blipFill>
          <a:blip r:embed="rId2"/>
          <a:srcRect t="-983" r="130" b="2113"/>
          <a:stretch>
            <a:fillRect/>
          </a:stretch>
        </p:blipFill>
        <p:spPr>
          <a:xfrm>
            <a:off x="2147888" y="1716088"/>
            <a:ext cx="7905750" cy="4811712"/>
          </a:xfrm>
          <a:prstGeom prst="rect">
            <a:avLst/>
          </a:prstGeom>
          <a:noFill/>
          <a:ln w="9525">
            <a:noFill/>
          </a:ln>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7"/>
          <p:cNvSpPr txBox="1"/>
          <p:nvPr/>
        </p:nvSpPr>
        <p:spPr>
          <a:xfrm>
            <a:off x="542925" y="944563"/>
            <a:ext cx="11106150" cy="1201738"/>
          </a:xfrm>
          <a:prstGeom prst="rect">
            <a:avLst/>
          </a:prstGeom>
          <a:noFill/>
          <a:ln cap="flat">
            <a:noFill/>
          </a:ln>
        </p:spPr>
        <p:txBody>
          <a:bodyPr vert="horz" wrap="square" lIns="91440" tIns="45720" rIns="91440" bIns="45720" anchor="t" anchorCtr="0" compatLnSpc="1">
            <a:spAutoFit/>
          </a:bodyPr>
          <a:lstStyle/>
          <a:p>
            <a:pPr marL="342900" indent="-342900" eaLnBrk="1" hangingPunct="1">
              <a:buSzPct val="100000"/>
              <a:buAutoNum type="arabicPeriod" startAt="3"/>
            </a:pPr>
            <a:r>
              <a:rPr lang="fr-FR" altLang="x-none" b="1" dirty="0">
                <a:solidFill>
                  <a:srgbClr val="000000"/>
                </a:solidFill>
                <a:latin typeface="Calibri" panose="020F0502020204030204" pitchFamily="34" charset="0"/>
                <a:cs typeface="Arial" panose="020B0604020202020204" pitchFamily="34" charset="0"/>
              </a:rPr>
              <a:t>Attention Multi-Query</a:t>
            </a:r>
            <a:r>
              <a:rPr lang="fr-FR" altLang="x-none" dirty="0">
                <a:solidFill>
                  <a:srgbClr val="000000"/>
                </a:solidFill>
                <a:latin typeface="Calibri" panose="020F0502020204030204" pitchFamily="34" charset="0"/>
                <a:cs typeface="Arial" panose="020B0604020202020204" pitchFamily="34" charset="0"/>
              </a:rPr>
              <a:t> : L'attention est un mécanisme clé qui permet au modèle de "se concentrer" sur différentes parties du texte. PaLM utilise une version optimisée qui maintient la qualité tout en étant plus efficace lors de la génération de texte.​​</a:t>
            </a:r>
            <a:endParaRPr lang="fr-FR" altLang="x-none" dirty="0">
              <a:solidFill>
                <a:srgbClr val="000000"/>
              </a:solidFill>
              <a:latin typeface="Calibri" panose="020F0502020204030204" pitchFamily="34" charset="0"/>
            </a:endParaRPr>
          </a:p>
          <a:p>
            <a:pPr marL="342900" indent="-342900" eaLnBrk="1" hangingPunct="1">
              <a:buNone/>
            </a:pPr>
            <a:endParaRPr lang="fr-FR" altLang="x-none" dirty="0">
              <a:solidFill>
                <a:srgbClr val="000000"/>
              </a:solidFill>
              <a:latin typeface="Calibri" panose="020F0502020204030204" pitchFamily="34" charset="0"/>
              <a:ea typeface="Calibri" panose="020F0502020204030204" pitchFamily="34" charset="0"/>
            </a:endParaRPr>
          </a:p>
        </p:txBody>
      </p:sp>
      <p:sp>
        <p:nvSpPr>
          <p:cNvPr id="3" name="TextBox 9"/>
          <p:cNvSpPr txBox="1"/>
          <p:nvPr/>
        </p:nvSpPr>
        <p:spPr>
          <a:xfrm>
            <a:off x="2942749" y="1588"/>
            <a:ext cx="603821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Architecture du modèle</a:t>
            </a:r>
            <a:endParaRPr lang="fr-FR" altLang="x-none" dirty="0">
              <a:solidFill>
                <a:srgbClr val="7F7F7F"/>
              </a:solidFill>
              <a:cs typeface="Calibri" panose="020F0502020204030204" pitchFamily="34" charset="0"/>
            </a:endParaRPr>
          </a:p>
        </p:txBody>
      </p:sp>
      <p:pic>
        <p:nvPicPr>
          <p:cNvPr id="4" name="Image 3" descr="Capture d'écran 2025-04-17 170513"/>
          <p:cNvPicPr>
            <a:picLocks noChangeAspect="1"/>
          </p:cNvPicPr>
          <p:nvPr/>
        </p:nvPicPr>
        <p:blipFill>
          <a:blip r:embed="rId2"/>
          <a:stretch>
            <a:fillRect/>
          </a:stretch>
        </p:blipFill>
        <p:spPr>
          <a:xfrm>
            <a:off x="1680210" y="1981200"/>
            <a:ext cx="8562975" cy="4572000"/>
          </a:xfrm>
          <a:prstGeom prst="rect">
            <a:avLst/>
          </a:prstGeom>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ZoneTexte 5"/>
          <p:cNvSpPr txBox="1"/>
          <p:nvPr/>
        </p:nvSpPr>
        <p:spPr>
          <a:xfrm>
            <a:off x="430213" y="831850"/>
            <a:ext cx="11074400" cy="923925"/>
          </a:xfrm>
          <a:prstGeom prst="rect">
            <a:avLst/>
          </a:prstGeom>
          <a:noFill/>
          <a:ln w="9525">
            <a:noFill/>
          </a:ln>
        </p:spPr>
        <p:txBody>
          <a:bodyPr>
            <a:spAutoFit/>
          </a:bodyPr>
          <a:lstStyle/>
          <a:p>
            <a:pPr marL="342900" indent="-342900" eaLnBrk="1" hangingPunct="1">
              <a:buSzPct val="100000"/>
              <a:buAutoNum type="arabicPeriod"/>
            </a:pPr>
            <a:endParaRPr lang="fr-FR" altLang="x-none" dirty="0">
              <a:solidFill>
                <a:srgbClr val="000000"/>
              </a:solidFill>
              <a:latin typeface="Calibri" panose="020F0502020204030204" pitchFamily="34" charset="0"/>
            </a:endParaRPr>
          </a:p>
          <a:p>
            <a:pPr marL="342900" indent="-342900" eaLnBrk="1" hangingPunct="1">
              <a:buSzPct val="100000"/>
              <a:buAutoNum type="arabicPeriod" startAt="4"/>
            </a:pPr>
            <a:r>
              <a:rPr lang="fr-FR" altLang="x-none" b="1" dirty="0">
                <a:solidFill>
                  <a:srgbClr val="000000"/>
                </a:solidFill>
                <a:latin typeface="Calibri" panose="020F0502020204030204" pitchFamily="34" charset="0"/>
                <a:cs typeface="Arial" panose="020B0604020202020204" pitchFamily="34" charset="0"/>
              </a:rPr>
              <a:t>Embeddings RoPE</a:t>
            </a:r>
            <a:r>
              <a:rPr lang="fr-FR" altLang="x-none" dirty="0">
                <a:solidFill>
                  <a:srgbClr val="000000"/>
                </a:solidFill>
                <a:latin typeface="Calibri" panose="020F0502020204030204" pitchFamily="34" charset="0"/>
                <a:cs typeface="Arial" panose="020B0604020202020204" pitchFamily="34" charset="0"/>
              </a:rPr>
              <a:t> </a:t>
            </a:r>
            <a:r>
              <a:rPr lang="fr-FR" altLang="x-none" dirty="0">
                <a:solidFill>
                  <a:srgbClr val="88A945"/>
                </a:solidFill>
                <a:latin typeface="Calibri" panose="020F0502020204030204" pitchFamily="34" charset="0"/>
                <a:cs typeface="Calibri" panose="020F0502020204030204" pitchFamily="34" charset="0"/>
              </a:rPr>
              <a:t>(Rotary Position Embedding)</a:t>
            </a:r>
            <a:r>
              <a:rPr lang="fr-FR" altLang="x-none" dirty="0">
                <a:solidFill>
                  <a:srgbClr val="000000"/>
                </a:solidFill>
                <a:latin typeface="Calibri" panose="020F0502020204030204" pitchFamily="34" charset="0"/>
                <a:cs typeface="Arial" panose="020B0604020202020204" pitchFamily="34" charset="0"/>
              </a:rPr>
              <a:t>: Il s'agit de la façon dont le modèle comprend </a:t>
            </a:r>
            <a:r>
              <a:rPr lang="fr-FR" altLang="x-none" dirty="0">
                <a:solidFill>
                  <a:srgbClr val="FF0000"/>
                </a:solidFill>
                <a:latin typeface="Calibri" panose="020F0502020204030204" pitchFamily="34" charset="0"/>
                <a:cs typeface="Arial" panose="020B0604020202020204" pitchFamily="34" charset="0"/>
              </a:rPr>
              <a:t>l'ordre des mots.</a:t>
            </a:r>
            <a:r>
              <a:rPr lang="fr-FR" altLang="x-none" dirty="0">
                <a:solidFill>
                  <a:srgbClr val="000000"/>
                </a:solidFill>
                <a:latin typeface="Calibri" panose="020F0502020204030204" pitchFamily="34" charset="0"/>
                <a:cs typeface="Arial" panose="020B0604020202020204" pitchFamily="34" charset="0"/>
              </a:rPr>
              <a:t> PaLM utilise </a:t>
            </a:r>
            <a:r>
              <a:rPr lang="fr-FR" altLang="x-none" dirty="0">
                <a:solidFill>
                  <a:srgbClr val="0070C0"/>
                </a:solidFill>
                <a:latin typeface="Calibri" panose="020F0502020204030204" pitchFamily="34" charset="0"/>
                <a:cs typeface="Arial" panose="020B0604020202020204" pitchFamily="34" charset="0"/>
              </a:rPr>
              <a:t>un système rotatif</a:t>
            </a:r>
            <a:r>
              <a:rPr lang="fr-FR" altLang="x-none" dirty="0">
                <a:solidFill>
                  <a:srgbClr val="000000"/>
                </a:solidFill>
                <a:latin typeface="Calibri" panose="020F0502020204030204" pitchFamily="34" charset="0"/>
                <a:cs typeface="Arial" panose="020B0604020202020204" pitchFamily="34" charset="0"/>
              </a:rPr>
              <a:t> qui fonctionne mieux pour traiter de longues séquences de texte.</a:t>
            </a:r>
            <a:endParaRPr lang="fr-FR" altLang="x-none" dirty="0">
              <a:solidFill>
                <a:srgbClr val="000000"/>
              </a:solidFill>
              <a:latin typeface="Calibri" panose="020F0502020204030204" pitchFamily="34" charset="0"/>
              <a:ea typeface="Calibri" panose="020F0502020204030204" pitchFamily="34" charset="0"/>
            </a:endParaRPr>
          </a:p>
        </p:txBody>
      </p:sp>
      <p:sp>
        <p:nvSpPr>
          <p:cNvPr id="3" name="TextBox 9"/>
          <p:cNvSpPr txBox="1"/>
          <p:nvPr/>
        </p:nvSpPr>
        <p:spPr>
          <a:xfrm>
            <a:off x="2942749" y="1588"/>
            <a:ext cx="603821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Architecture du modèle</a:t>
            </a:r>
            <a:endParaRPr lang="fr-FR" altLang="x-none" dirty="0">
              <a:solidFill>
                <a:srgbClr val="7F7F7F"/>
              </a:solidFill>
              <a:cs typeface="Calibri" panose="020F0502020204030204" pitchFamily="34" charset="0"/>
            </a:endParaRPr>
          </a:p>
        </p:txBody>
      </p:sp>
      <p:pic>
        <p:nvPicPr>
          <p:cNvPr id="46084" name="Image 1" descr="Une image contenant texte, capture d’écran, diagramme&#10;&#10;Le contenu généré par l’IA peut être incorrect."/>
          <p:cNvPicPr>
            <a:picLocks noChangeAspect="1"/>
          </p:cNvPicPr>
          <p:nvPr/>
        </p:nvPicPr>
        <p:blipFill>
          <a:blip r:embed="rId2"/>
          <a:stretch>
            <a:fillRect/>
          </a:stretch>
        </p:blipFill>
        <p:spPr>
          <a:xfrm>
            <a:off x="1035050" y="2101850"/>
            <a:ext cx="9874250" cy="3324225"/>
          </a:xfrm>
          <a:prstGeom prst="rect">
            <a:avLst/>
          </a:prstGeom>
          <a:noFill/>
          <a:ln w="9525">
            <a:noFill/>
          </a:ln>
        </p:spPr>
      </p:pic>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9"/>
          <p:cNvSpPr txBox="1"/>
          <p:nvPr/>
        </p:nvSpPr>
        <p:spPr>
          <a:xfrm>
            <a:off x="2934177" y="1588"/>
            <a:ext cx="605536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Dataset d'entraînement</a:t>
            </a:r>
            <a:endParaRPr lang="fr-FR" altLang="x-none" dirty="0">
              <a:solidFill>
                <a:srgbClr val="7F7F7F"/>
              </a:solidFill>
              <a:cs typeface="Calibri" panose="020F0502020204030204" pitchFamily="34" charset="0"/>
            </a:endParaRPr>
          </a:p>
        </p:txBody>
      </p:sp>
      <p:sp>
        <p:nvSpPr>
          <p:cNvPr id="48131" name="ZoneTexte 5"/>
          <p:cNvSpPr txBox="1"/>
          <p:nvPr/>
        </p:nvSpPr>
        <p:spPr>
          <a:xfrm>
            <a:off x="708025" y="996950"/>
            <a:ext cx="11331575" cy="2030413"/>
          </a:xfrm>
          <a:prstGeom prst="rect">
            <a:avLst/>
          </a:prstGeom>
          <a:noFill/>
          <a:ln w="9525">
            <a:noFill/>
          </a:ln>
        </p:spPr>
        <p:txBody>
          <a:bodyPr>
            <a:spAutoFit/>
          </a:bodyPr>
          <a:lstStyle/>
          <a:p>
            <a:pPr eaLnBrk="1" hangingPunct="1"/>
            <a:r>
              <a:rPr dirty="0">
                <a:solidFill>
                  <a:srgbClr val="000000"/>
                </a:solidFill>
                <a:latin typeface="Calibri" panose="020F0502020204030204" pitchFamily="34" charset="0"/>
              </a:rPr>
              <a:t>Le</a:t>
            </a:r>
            <a:r>
              <a:rPr b="1" dirty="0">
                <a:solidFill>
                  <a:srgbClr val="000000"/>
                </a:solidFill>
                <a:latin typeface="Calibri" panose="020F0502020204030204" pitchFamily="34" charset="0"/>
              </a:rPr>
              <a:t> </a:t>
            </a:r>
            <a:r>
              <a:rPr dirty="0">
                <a:solidFill>
                  <a:srgbClr val="000000"/>
                </a:solidFill>
                <a:latin typeface="Calibri" panose="020F0502020204030204" pitchFamily="34" charset="0"/>
              </a:rPr>
              <a:t>jeu de données de pré-entraînement de PaLM est constitué d’un corpus de haute qualité contenant</a:t>
            </a:r>
            <a:r>
              <a:rPr dirty="0">
                <a:solidFill>
                  <a:srgbClr val="88A945"/>
                </a:solidFill>
                <a:latin typeface="Calibri" panose="020F0502020204030204" pitchFamily="34" charset="0"/>
              </a:rPr>
              <a:t> 780 milliards de tokens</a:t>
            </a:r>
            <a:r>
              <a:rPr dirty="0">
                <a:solidFill>
                  <a:srgbClr val="000000"/>
                </a:solidFill>
                <a:latin typeface="Calibri" panose="020F0502020204030204" pitchFamily="34" charset="0"/>
              </a:rPr>
              <a:t>, représentant une large variété d’usages du langage naturel, couvrant</a:t>
            </a:r>
            <a:r>
              <a:rPr dirty="0">
                <a:solidFill>
                  <a:srgbClr val="000000"/>
                </a:solidFill>
                <a:latin typeface="Calibri" panose="020F0502020204030204" pitchFamily="34" charset="0"/>
                <a:cs typeface="Calibri" panose="020F0502020204030204" pitchFamily="34" charset="0"/>
              </a:rPr>
              <a:t> </a:t>
            </a:r>
            <a:r>
              <a:rPr dirty="0">
                <a:solidFill>
                  <a:srgbClr val="FF0000"/>
                </a:solidFill>
                <a:latin typeface="Calibri" panose="020F0502020204030204" pitchFamily="34" charset="0"/>
                <a:cs typeface="Calibri" panose="020F0502020204030204" pitchFamily="34" charset="0"/>
              </a:rPr>
              <a:t>plus de 100 langues</a:t>
            </a:r>
            <a:r>
              <a:rPr dirty="0">
                <a:solidFill>
                  <a:srgbClr val="000000"/>
                </a:solidFill>
                <a:latin typeface="Calibri" panose="020F0502020204030204" pitchFamily="34" charset="0"/>
                <a:cs typeface="Calibri" panose="020F0502020204030204" pitchFamily="34" charset="0"/>
              </a:rPr>
              <a:t>.</a:t>
            </a:r>
          </a:p>
          <a:p>
            <a:pPr eaLnBrk="1" hangingPunct="1"/>
            <a:endParaRPr dirty="0">
              <a:solidFill>
                <a:srgbClr val="000000"/>
              </a:solidFill>
              <a:latin typeface="Calibri" panose="020F0502020204030204" pitchFamily="34" charset="0"/>
            </a:endParaRPr>
          </a:p>
          <a:p>
            <a:pPr eaLnBrk="1" hangingPunct="1"/>
            <a:r>
              <a:rPr dirty="0">
                <a:solidFill>
                  <a:srgbClr val="000000"/>
                </a:solidFill>
                <a:latin typeface="Calibri" panose="020F0502020204030204" pitchFamily="34" charset="0"/>
              </a:rPr>
              <a:t>Ce jeu de données est un </a:t>
            </a:r>
            <a:r>
              <a:rPr dirty="0">
                <a:solidFill>
                  <a:srgbClr val="0070C0"/>
                </a:solidFill>
                <a:latin typeface="Calibri" panose="020F0502020204030204" pitchFamily="34" charset="0"/>
              </a:rPr>
              <a:t>mélange de pages web filtrées,</a:t>
            </a:r>
            <a:r>
              <a:rPr dirty="0">
                <a:solidFill>
                  <a:srgbClr val="000000"/>
                </a:solidFill>
                <a:latin typeface="Calibri" panose="020F0502020204030204" pitchFamily="34" charset="0"/>
              </a:rPr>
              <a:t> de </a:t>
            </a:r>
            <a:r>
              <a:rPr dirty="0">
                <a:solidFill>
                  <a:srgbClr val="0070C0"/>
                </a:solidFill>
                <a:latin typeface="Calibri" panose="020F0502020204030204" pitchFamily="34" charset="0"/>
              </a:rPr>
              <a:t>livres</a:t>
            </a:r>
            <a:r>
              <a:rPr dirty="0">
                <a:solidFill>
                  <a:srgbClr val="000000"/>
                </a:solidFill>
                <a:latin typeface="Calibri" panose="020F0502020204030204" pitchFamily="34" charset="0"/>
              </a:rPr>
              <a:t>,</a:t>
            </a:r>
            <a:r>
              <a:rPr dirty="0">
                <a:solidFill>
                  <a:srgbClr val="0070C0"/>
                </a:solidFill>
                <a:latin typeface="Calibri" panose="020F0502020204030204" pitchFamily="34" charset="0"/>
              </a:rPr>
              <a:t> Wikipedia</a:t>
            </a:r>
            <a:r>
              <a:rPr dirty="0">
                <a:solidFill>
                  <a:srgbClr val="000000"/>
                </a:solidFill>
                <a:latin typeface="Calibri" panose="020F0502020204030204" pitchFamily="34" charset="0"/>
              </a:rPr>
              <a:t>,</a:t>
            </a:r>
            <a:r>
              <a:rPr dirty="0">
                <a:solidFill>
                  <a:srgbClr val="0070C0"/>
                </a:solidFill>
                <a:latin typeface="Calibri" panose="020F0502020204030204" pitchFamily="34" charset="0"/>
              </a:rPr>
              <a:t> articles de presse</a:t>
            </a:r>
            <a:r>
              <a:rPr dirty="0">
                <a:solidFill>
                  <a:srgbClr val="000000"/>
                </a:solidFill>
                <a:latin typeface="Calibri" panose="020F0502020204030204" pitchFamily="34" charset="0"/>
              </a:rPr>
              <a:t>, </a:t>
            </a:r>
            <a:r>
              <a:rPr dirty="0">
                <a:solidFill>
                  <a:srgbClr val="0070C0"/>
                </a:solidFill>
                <a:latin typeface="Calibri" panose="020F0502020204030204" pitchFamily="34" charset="0"/>
              </a:rPr>
              <a:t>code source</a:t>
            </a:r>
            <a:r>
              <a:rPr dirty="0">
                <a:solidFill>
                  <a:srgbClr val="000000"/>
                </a:solidFill>
                <a:latin typeface="Calibri" panose="020F0502020204030204" pitchFamily="34" charset="0"/>
              </a:rPr>
              <a:t>, et de</a:t>
            </a:r>
            <a:r>
              <a:rPr dirty="0">
                <a:solidFill>
                  <a:srgbClr val="0070C0"/>
                </a:solidFill>
                <a:latin typeface="Calibri" panose="020F0502020204030204" pitchFamily="34" charset="0"/>
              </a:rPr>
              <a:t> conversations issues des réseaux sociaux.</a:t>
            </a:r>
            <a:endParaRPr dirty="0">
              <a:solidFill>
                <a:srgbClr val="0070C0"/>
              </a:solidFill>
              <a:latin typeface="Calibri" panose="020F0502020204030204" pitchFamily="34" charset="0"/>
              <a:cs typeface="Calibri" panose="020F0502020204030204" pitchFamily="34" charset="0"/>
            </a:endParaRPr>
          </a:p>
          <a:p>
            <a:pPr eaLnBrk="1" hangingPunct="1"/>
            <a:br>
              <a:rPr dirty="0">
                <a:solidFill>
                  <a:srgbClr val="000000"/>
                </a:solidFill>
                <a:latin typeface="Calibri" panose="020F0502020204030204" pitchFamily="34" charset="0"/>
              </a:rPr>
            </a:br>
            <a:r>
              <a:rPr dirty="0">
                <a:solidFill>
                  <a:srgbClr val="FF0000"/>
                </a:solidFill>
                <a:latin typeface="Calibri" panose="020F0502020204030204" pitchFamily="34" charset="0"/>
              </a:rPr>
              <a:t>N.B:</a:t>
            </a:r>
            <a:r>
              <a:rPr dirty="0">
                <a:solidFill>
                  <a:srgbClr val="000000"/>
                </a:solidFill>
                <a:latin typeface="Calibri" panose="020F0502020204030204" pitchFamily="34" charset="0"/>
              </a:rPr>
              <a:t> Il s’appuie sur les jeux de données utilisés pour entraîner </a:t>
            </a:r>
            <a:r>
              <a:rPr b="1" dirty="0">
                <a:solidFill>
                  <a:srgbClr val="000000"/>
                </a:solidFill>
                <a:latin typeface="Calibri" panose="020F0502020204030204" pitchFamily="34" charset="0"/>
              </a:rPr>
              <a:t>LaMDA</a:t>
            </a:r>
            <a:r>
              <a:rPr dirty="0">
                <a:solidFill>
                  <a:srgbClr val="000000"/>
                </a:solidFill>
                <a:latin typeface="Calibri" panose="020F0502020204030204" pitchFamily="34" charset="0"/>
              </a:rPr>
              <a:t> (Thoppilan et al., 2022) et </a:t>
            </a:r>
            <a:r>
              <a:rPr b="1" dirty="0">
                <a:solidFill>
                  <a:srgbClr val="000000"/>
                </a:solidFill>
                <a:latin typeface="Calibri" panose="020F0502020204030204" pitchFamily="34" charset="0"/>
              </a:rPr>
              <a:t>GLaM</a:t>
            </a:r>
            <a:r>
              <a:rPr dirty="0">
                <a:solidFill>
                  <a:srgbClr val="000000"/>
                </a:solidFill>
                <a:latin typeface="Calibri" panose="020F0502020204030204" pitchFamily="34" charset="0"/>
              </a:rPr>
              <a:t> (Du et al., 2021).</a:t>
            </a:r>
          </a:p>
        </p:txBody>
      </p:sp>
      <p:pic>
        <p:nvPicPr>
          <p:cNvPr id="48132" name="Image 7" descr="Une image contenant texte, capture d’écran, Police, nombre&#10;&#10;Le contenu généré par l’IA peut être incorrect."/>
          <p:cNvPicPr>
            <a:picLocks noChangeAspect="1"/>
          </p:cNvPicPr>
          <p:nvPr/>
        </p:nvPicPr>
        <p:blipFill>
          <a:blip r:embed="rId2"/>
          <a:stretch>
            <a:fillRect/>
          </a:stretch>
        </p:blipFill>
        <p:spPr>
          <a:xfrm>
            <a:off x="2286000" y="3246438"/>
            <a:ext cx="6715125" cy="287655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2242503" y="1588"/>
            <a:ext cx="770699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Infrastructure d'entraînement </a:t>
            </a:r>
            <a:endParaRPr lang="fr-FR" altLang="x-none" dirty="0">
              <a:solidFill>
                <a:srgbClr val="7F7F7F"/>
              </a:solidFill>
              <a:cs typeface="Calibri" panose="020F0502020204030204" pitchFamily="34" charset="0"/>
            </a:endParaRPr>
          </a:p>
        </p:txBody>
      </p:sp>
      <p:pic>
        <p:nvPicPr>
          <p:cNvPr id="49155" name="Image 1" descr="Une image contenant texte, carte, Plan, circuit&#10;&#10;Le contenu généré par l’IA peut être incorrect."/>
          <p:cNvPicPr>
            <a:picLocks noChangeAspect="1"/>
          </p:cNvPicPr>
          <p:nvPr/>
        </p:nvPicPr>
        <p:blipFill>
          <a:blip r:embed="rId2"/>
          <a:srcRect t="53453" r="269"/>
          <a:stretch>
            <a:fillRect/>
          </a:stretch>
        </p:blipFill>
        <p:spPr>
          <a:xfrm>
            <a:off x="1035050" y="3130550"/>
            <a:ext cx="3810000" cy="3192463"/>
          </a:xfrm>
          <a:prstGeom prst="rect">
            <a:avLst/>
          </a:prstGeom>
          <a:noFill/>
          <a:ln w="9525">
            <a:noFill/>
          </a:ln>
        </p:spPr>
      </p:pic>
      <p:sp>
        <p:nvSpPr>
          <p:cNvPr id="49156" name="ZoneTexte 2"/>
          <p:cNvSpPr txBox="1"/>
          <p:nvPr/>
        </p:nvSpPr>
        <p:spPr>
          <a:xfrm>
            <a:off x="471488" y="1192213"/>
            <a:ext cx="10929937" cy="1939925"/>
          </a:xfrm>
          <a:prstGeom prst="rect">
            <a:avLst/>
          </a:prstGeom>
          <a:noFill/>
          <a:ln w="9525">
            <a:noFill/>
          </a:ln>
        </p:spPr>
        <p:txBody>
          <a:bodyPr>
            <a:spAutoFit/>
          </a:bodyPr>
          <a:lstStyle/>
          <a:p>
            <a:pPr eaLnBrk="1" hangingPunct="1"/>
            <a:r>
              <a:rPr sz="2000" dirty="0">
                <a:solidFill>
                  <a:srgbClr val="000000"/>
                </a:solidFill>
                <a:latin typeface="Calibri" panose="020F0502020204030204" pitchFamily="34" charset="0"/>
              </a:rPr>
              <a:t>Le modèle </a:t>
            </a:r>
            <a:r>
              <a:rPr sz="2000" b="1" dirty="0">
                <a:solidFill>
                  <a:srgbClr val="000000"/>
                </a:solidFill>
                <a:latin typeface="Calibri" panose="020F0502020204030204" pitchFamily="34" charset="0"/>
              </a:rPr>
              <a:t>PaLM 540B</a:t>
            </a:r>
            <a:r>
              <a:rPr sz="2000" dirty="0">
                <a:solidFill>
                  <a:srgbClr val="000000"/>
                </a:solidFill>
                <a:latin typeface="Calibri" panose="020F0502020204030204" pitchFamily="34" charset="0"/>
              </a:rPr>
              <a:t> a été entraîné sur </a:t>
            </a:r>
            <a:r>
              <a:rPr sz="2000" dirty="0">
                <a:solidFill>
                  <a:srgbClr val="FF0000"/>
                </a:solidFill>
                <a:latin typeface="Calibri" panose="020F0502020204030204" pitchFamily="34" charset="0"/>
              </a:rPr>
              <a:t>deux Pods TPU v4</a:t>
            </a:r>
            <a:r>
              <a:rPr sz="2000" dirty="0">
                <a:solidFill>
                  <a:srgbClr val="000000"/>
                </a:solidFill>
                <a:latin typeface="Calibri" panose="020F0502020204030204" pitchFamily="34" charset="0"/>
              </a:rPr>
              <a:t>, interconnectés via le </a:t>
            </a:r>
            <a:r>
              <a:rPr sz="2000" dirty="0">
                <a:solidFill>
                  <a:srgbClr val="0070C0"/>
                </a:solidFill>
                <a:latin typeface="Calibri" panose="020F0502020204030204" pitchFamily="34" charset="0"/>
              </a:rPr>
              <a:t>réseau interne du data center</a:t>
            </a:r>
            <a:r>
              <a:rPr sz="2000" b="1" dirty="0">
                <a:solidFill>
                  <a:srgbClr val="000000"/>
                </a:solidFill>
                <a:latin typeface="Calibri" panose="020F0502020204030204" pitchFamily="34" charset="0"/>
              </a:rPr>
              <a:t> (DCN)</a:t>
            </a:r>
            <a:r>
              <a:rPr sz="2000" dirty="0">
                <a:solidFill>
                  <a:srgbClr val="000000"/>
                </a:solidFill>
                <a:latin typeface="Calibri" panose="020F0502020204030204" pitchFamily="34" charset="0"/>
              </a:rPr>
              <a:t>, en utilisant une combinaison de </a:t>
            </a:r>
            <a:r>
              <a:rPr sz="2000" dirty="0">
                <a:solidFill>
                  <a:srgbClr val="F5148F"/>
                </a:solidFill>
                <a:latin typeface="Calibri" panose="020F0502020204030204" pitchFamily="34" charset="0"/>
              </a:rPr>
              <a:t>parallélisme de modèle et de données</a:t>
            </a:r>
            <a:r>
              <a:rPr sz="2000" dirty="0">
                <a:solidFill>
                  <a:srgbClr val="000000"/>
                </a:solidFill>
                <a:latin typeface="Calibri" panose="020F0502020204030204" pitchFamily="34" charset="0"/>
              </a:rPr>
              <a:t> .</a:t>
            </a:r>
            <a:endParaRPr sz="2000" dirty="0">
              <a:solidFill>
                <a:srgbClr val="000000"/>
              </a:solidFill>
              <a:latin typeface="Calibri" panose="020F0502020204030204" pitchFamily="34" charset="0"/>
              <a:cs typeface="Calibri" panose="020F0502020204030204" pitchFamily="34" charset="0"/>
            </a:endParaRPr>
          </a:p>
          <a:p>
            <a:pPr eaLnBrk="1" hangingPunct="1"/>
            <a:endParaRPr sz="2000" dirty="0">
              <a:solidFill>
                <a:srgbClr val="000000"/>
              </a:solidFill>
              <a:latin typeface="Calibri" panose="020F0502020204030204" pitchFamily="34" charset="0"/>
              <a:cs typeface="Calibri" panose="020F0502020204030204" pitchFamily="34" charset="0"/>
            </a:endParaRPr>
          </a:p>
          <a:p>
            <a:pPr eaLnBrk="1" hangingPunct="1"/>
            <a:r>
              <a:rPr sz="2000" dirty="0">
                <a:solidFill>
                  <a:srgbClr val="000000"/>
                </a:solidFill>
                <a:latin typeface="Calibri" panose="020F0502020204030204" pitchFamily="34" charset="0"/>
              </a:rPr>
              <a:t>Chaque </a:t>
            </a:r>
            <a:r>
              <a:rPr sz="2000" b="1" dirty="0">
                <a:solidFill>
                  <a:srgbClr val="000000"/>
                </a:solidFill>
                <a:latin typeface="Calibri" panose="020F0502020204030204" pitchFamily="34" charset="0"/>
              </a:rPr>
              <a:t>Pod TPU v4</a:t>
            </a:r>
            <a:r>
              <a:rPr sz="2000" dirty="0">
                <a:solidFill>
                  <a:srgbClr val="000000"/>
                </a:solidFill>
                <a:latin typeface="Calibri" panose="020F0502020204030204" pitchFamily="34" charset="0"/>
              </a:rPr>
              <a:t> contient :</a:t>
            </a:r>
            <a:endParaRPr sz="2000" dirty="0">
              <a:solidFill>
                <a:srgbClr val="000000"/>
              </a:solidFill>
              <a:latin typeface="Calibri" panose="020F0502020204030204" pitchFamily="34" charset="0"/>
              <a:cs typeface="Calibri" panose="020F0502020204030204" pitchFamily="34" charset="0"/>
            </a:endParaRPr>
          </a:p>
          <a:p>
            <a:pPr marL="685800" lvl="1" indent="-228600" eaLnBrk="1" hangingPunct="1">
              <a:buSzPct val="100000"/>
              <a:buFont typeface="Courier New" panose="02070309020205020404" pitchFamily="49" charset="0"/>
              <a:buChar char="o"/>
            </a:pPr>
            <a:r>
              <a:rPr sz="2000" b="1" dirty="0">
                <a:solidFill>
                  <a:srgbClr val="000000"/>
                </a:solidFill>
                <a:latin typeface="Calibri" panose="020F0502020204030204" pitchFamily="34" charset="0"/>
              </a:rPr>
              <a:t>3072 puces TPU v4</a:t>
            </a:r>
            <a:endParaRPr sz="2000" b="1" dirty="0">
              <a:solidFill>
                <a:srgbClr val="000000"/>
              </a:solidFill>
              <a:latin typeface="Calibri" panose="020F0502020204030204" pitchFamily="34" charset="0"/>
              <a:cs typeface="Calibri" panose="020F0502020204030204" pitchFamily="34" charset="0"/>
            </a:endParaRPr>
          </a:p>
          <a:p>
            <a:pPr marL="685800" lvl="1" indent="-228600" eaLnBrk="1" hangingPunct="1">
              <a:buSzPct val="100000"/>
              <a:buFont typeface="Courier New" panose="02070309020205020404" pitchFamily="49" charset="0"/>
              <a:buChar char="o"/>
            </a:pPr>
            <a:r>
              <a:rPr sz="2000" b="1" dirty="0">
                <a:solidFill>
                  <a:srgbClr val="000000"/>
                </a:solidFill>
                <a:latin typeface="Calibri" panose="020F0502020204030204" pitchFamily="34" charset="0"/>
              </a:rPr>
              <a:t>768 hôtes</a:t>
            </a:r>
            <a:endParaRPr sz="2000" b="1" dirty="0">
              <a:solidFill>
                <a:srgbClr val="000000"/>
              </a:solidFill>
              <a:latin typeface="Calibri" panose="020F0502020204030204" pitchFamily="34" charset="0"/>
              <a:ea typeface="Calibri" panose="020F0502020204030204" pitchFamily="34" charset="0"/>
            </a:endParaRPr>
          </a:p>
        </p:txBody>
      </p:sp>
      <p:pic>
        <p:nvPicPr>
          <p:cNvPr id="49157" name="Image 4" descr="Une image contenant intérieur, doublé&#10;&#10;Le contenu généré par l’IA peut être incorrect."/>
          <p:cNvPicPr>
            <a:picLocks noChangeAspect="1"/>
          </p:cNvPicPr>
          <p:nvPr/>
        </p:nvPicPr>
        <p:blipFill>
          <a:blip r:embed="rId3"/>
          <a:stretch>
            <a:fillRect/>
          </a:stretch>
        </p:blipFill>
        <p:spPr>
          <a:xfrm>
            <a:off x="5035550" y="2889250"/>
            <a:ext cx="6600825" cy="3436938"/>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2242503" y="1588"/>
            <a:ext cx="770699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Infrastructure d'entraînement </a:t>
            </a:r>
            <a:endParaRPr lang="fr-FR" altLang="x-none" dirty="0">
              <a:solidFill>
                <a:srgbClr val="7F7F7F"/>
              </a:solidFill>
              <a:cs typeface="Calibri" panose="020F0502020204030204" pitchFamily="34" charset="0"/>
            </a:endParaRPr>
          </a:p>
        </p:txBody>
      </p:sp>
      <p:sp>
        <p:nvSpPr>
          <p:cNvPr id="3" name="ZoneTexte 1"/>
          <p:cNvSpPr txBox="1"/>
          <p:nvPr/>
        </p:nvSpPr>
        <p:spPr>
          <a:xfrm>
            <a:off x="457200" y="1416050"/>
            <a:ext cx="11283950" cy="4400550"/>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Chaque pod contient </a:t>
            </a:r>
            <a:r>
              <a:rPr kumimoji="0" lang="fr-FR" sz="2000" kern="1200" cap="none" spc="0" normalizeH="0" baseline="0" noProof="0">
                <a:solidFill>
                  <a:srgbClr val="FF0000"/>
                </a:solidFill>
                <a:latin typeface="Calibri" panose="020F0502020204030204"/>
                <a:ea typeface="Calibri" panose="020F0502020204030204"/>
                <a:cs typeface="Calibri" panose="020F0502020204030204"/>
              </a:rPr>
              <a:t>plusieurs puces TPU interconnectées</a:t>
            </a: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 qui forment une architecture distribuée où on a :</a:t>
            </a:r>
          </a:p>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r>
              <a:rPr kumimoji="0" lang="fr-FR" sz="2000" b="1" i="0" u="none" strike="noStrike" kern="1200" cap="none" spc="0" normalizeH="0" baseline="0" noProof="0">
                <a:ln>
                  <a:noFill/>
                </a:ln>
                <a:solidFill>
                  <a:srgbClr val="88A945"/>
                </a:solidFill>
                <a:effectLst/>
                <a:uLnTx/>
                <a:uFillTx/>
                <a:latin typeface="Calibri" panose="020F0502020204030204"/>
                <a:ea typeface="Calibri" panose="020F0502020204030204"/>
                <a:cs typeface="Calibri" panose="020F0502020204030204"/>
              </a:rPr>
              <a:t>Hôte:</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Serveur gérant plusieurs TPU et orchestrant les calculs locaux </a:t>
            </a:r>
          </a:p>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r>
              <a:rPr kumimoji="0" lang="fr-FR" sz="2000" b="1" i="0" u="none" strike="noStrike" kern="1200" cap="none" spc="0" normalizeH="0" baseline="0" noProof="0">
                <a:ln>
                  <a:noFill/>
                </a:ln>
                <a:solidFill>
                  <a:srgbClr val="88A945"/>
                </a:solidFill>
                <a:effectLst/>
                <a:uLnTx/>
                <a:uFillTx/>
                <a:latin typeface="Calibri" panose="020F0502020204030204"/>
                <a:ea typeface="Calibri" panose="020F0502020204030204"/>
                <a:cs typeface="Calibri" panose="020F0502020204030204"/>
              </a:rPr>
              <a:t>Ordonnanceur:</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Coordonne l'exécution et l'allocation des ressources au sein du pod</a:t>
            </a:r>
          </a:p>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Un </a:t>
            </a:r>
            <a:r>
              <a:rPr kumimoji="0" lang="fr-FR" sz="2000" b="1" kern="1200" cap="none" spc="0" normalizeH="0" baseline="0" noProof="0">
                <a:solidFill>
                  <a:srgbClr val="000000"/>
                </a:solidFill>
                <a:latin typeface="Calibri" panose="020F0502020204030204"/>
                <a:ea typeface="Calibri" panose="020F0502020204030204"/>
                <a:cs typeface="Calibri" panose="020F0502020204030204"/>
              </a:rPr>
              <a:t>client Python unique</a:t>
            </a: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 construit un </a:t>
            </a:r>
            <a:r>
              <a:rPr kumimoji="0" lang="fr-FR" sz="2000" b="1" kern="1200" cap="none" spc="0" normalizeH="0" baseline="0" noProof="0">
                <a:solidFill>
                  <a:srgbClr val="0070C0"/>
                </a:solidFill>
                <a:latin typeface="Calibri" panose="020F0502020204030204"/>
                <a:ea typeface="Calibri" panose="020F0502020204030204"/>
                <a:cs typeface="Calibri" panose="020F0502020204030204"/>
              </a:rPr>
              <a:t>programme de flux de données fragmenté</a:t>
            </a: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 qui:</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Divise les données entre les deux pods</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Effectue </a:t>
            </a:r>
            <a:r>
              <a:rPr kumimoji="0" lang="fr-FR" sz="2000" b="0" i="0" u="none" strike="noStrike" kern="1200" cap="none" spc="0" normalizeH="0" baseline="0" noProof="0">
                <a:ln>
                  <a:noFill/>
                </a:ln>
                <a:solidFill>
                  <a:srgbClr val="0070C0"/>
                </a:solidFill>
                <a:effectLst/>
                <a:uLnTx/>
                <a:uFillTx/>
                <a:latin typeface="Calibri" panose="020F0502020204030204"/>
                <a:ea typeface="Calibri" panose="020F0502020204030204"/>
                <a:cs typeface="Calibri" panose="020F0502020204030204"/>
              </a:rPr>
              <a:t>le calcul du gradient</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a:t>
            </a:r>
            <a:r>
              <a:rPr kumimoji="0" lang="fr-FR" sz="2000" b="0" i="0" u="none" strike="noStrike" kern="1200" cap="none" spc="0" normalizeH="0" baseline="0" noProof="0">
                <a:ln>
                  <a:noFill/>
                </a:ln>
                <a:solidFill>
                  <a:srgbClr val="88A945"/>
                </a:solidFill>
                <a:effectLst/>
                <a:uLnTx/>
                <a:uFillTx/>
                <a:latin typeface="Calibri" panose="020F0502020204030204"/>
                <a:ea typeface="Calibri" panose="020F0502020204030204"/>
                <a:cs typeface="Calibri" panose="020F0502020204030204"/>
              </a:rPr>
              <a:t>(Forward + Backward)</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en parallèle sur chaque pod</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0" i="0" u="none" strike="noStrike" kern="1200" cap="none" spc="0" normalizeH="0" baseline="0" noProof="0">
                <a:ln>
                  <a:noFill/>
                </a:ln>
                <a:solidFill>
                  <a:srgbClr val="0070C0"/>
                </a:solidFill>
                <a:effectLst/>
                <a:uLnTx/>
                <a:uFillTx/>
                <a:latin typeface="Calibri" panose="020F0502020204030204"/>
                <a:ea typeface="Calibri" panose="020F0502020204030204"/>
                <a:cs typeface="Calibri" panose="020F0502020204030204"/>
              </a:rPr>
              <a:t>Transfère</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les résultats entre les deux pods pour maintenir la cohérence du modèle</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Applique la </a:t>
            </a:r>
            <a:r>
              <a:rPr kumimoji="0" lang="fr-FR" sz="2000" b="0" i="0" u="none" strike="noStrike" kern="1200" cap="none" spc="0" normalizeH="0" baseline="0" noProof="0">
                <a:ln>
                  <a:noFill/>
                </a:ln>
                <a:solidFill>
                  <a:srgbClr val="0070C0"/>
                </a:solidFill>
                <a:effectLst/>
                <a:uLnTx/>
                <a:uFillTx/>
                <a:latin typeface="Calibri" panose="020F0502020204030204"/>
                <a:ea typeface="Calibri" panose="020F0502020204030204"/>
                <a:cs typeface="Calibri" panose="020F0502020204030204"/>
              </a:rPr>
              <a:t>mise à jour de l'optimiseur </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à travers le réseau du centre de données</a:t>
            </a: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endParaRPr kumimoji="0" lang="fr-FR" sz="2000" kern="1200" cap="none" spc="0" normalizeH="0" baseline="0" noProof="0">
              <a:solidFill>
                <a:srgbClr val="000000"/>
              </a:solidFill>
              <a:latin typeface="Calibri" panose="020F0502020204030204"/>
              <a:ea typeface="Calibri" panose="020F0502020204030204"/>
              <a:cs typeface="Calibri" panose="020F0502020204030204"/>
            </a:endParaRP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L'architecture distribue chaque </a:t>
            </a:r>
            <a:r>
              <a:rPr kumimoji="0" lang="fr-FR" sz="2000" b="1" kern="1200" cap="none" spc="0" normalizeH="0" baseline="0" noProof="0">
                <a:solidFill>
                  <a:srgbClr val="000000"/>
                </a:solidFill>
                <a:latin typeface="Calibri" panose="020F0502020204030204"/>
                <a:ea typeface="Calibri" panose="020F0502020204030204"/>
                <a:cs typeface="Calibri" panose="020F0502020204030204"/>
              </a:rPr>
              <a:t>tenseur de poids</a:t>
            </a:r>
            <a:r>
              <a:rPr kumimoji="0" lang="fr-FR" sz="2000" kern="1200" cap="none" spc="0" normalizeH="0" baseline="0" noProof="0">
                <a:solidFill>
                  <a:srgbClr val="000000"/>
                </a:solidFill>
                <a:latin typeface="Calibri" panose="020F0502020204030204"/>
                <a:ea typeface="Calibri" panose="020F0502020204030204"/>
                <a:cs typeface="Calibri" panose="020F0502020204030204"/>
              </a:rPr>
              <a:t> efficacement sur 3072 puces grâce au parallélisme 2D:</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Parallélisme de modèle: 12 voies</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 découpe le modèle en 12 sections</a:t>
            </a:r>
          </a:p>
          <a:p>
            <a:pPr marL="742950" marR="0" lvl="1" indent="-285750" algn="l" defTabSz="914400" rtl="0" eaLnBrk="1" fontAlgn="auto" latinLnBrk="0" hangingPunct="1">
              <a:lnSpc>
                <a:spcPct val="100000"/>
              </a:lnSpc>
              <a:spcBef>
                <a:spcPts val="0"/>
              </a:spcBef>
              <a:spcAft>
                <a:spcPts val="0"/>
              </a:spcAft>
              <a:buClrTx/>
              <a:buSzPct val="100000"/>
              <a:buFont typeface="Courier New" panose="02070309020205020404"/>
              <a:buChar char="o"/>
              <a:defRPr sz="1800" b="0" i="0" u="none" strike="noStrike" kern="0" cap="none" spc="0" baseline="0">
                <a:solidFill>
                  <a:srgbClr val="000000"/>
                </a:solidFill>
                <a:uFillTx/>
              </a:defRPr>
            </a:pPr>
            <a:r>
              <a:rPr kumimoji="0" lang="fr-FR" sz="20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Parallélisme de données: 256 voies</a:t>
            </a:r>
            <a:r>
              <a:rPr kumimoji="0" lang="fr-FR" sz="2000" b="0"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rPr>
              <a:t> - traite différents lots de données simultanément</a:t>
            </a:r>
          </a:p>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endParaRPr kumimoji="0" lang="fr-FR" sz="2000" kern="1200" cap="none" spc="0" normalizeH="0" baseline="0" noProof="0">
              <a:solidFill>
                <a:srgbClr val="000000"/>
              </a:solidFill>
              <a:latin typeface="Calibri" panose="020F0502020204030204"/>
              <a:ea typeface="Calibri" panose="020F0502020204030204"/>
              <a:cs typeface="Calibri" panose="020F0502020204030204"/>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202" name="Image 1" descr="Une image contenant texte, capture d’écran, diagramme&#10;&#10;Le contenu généré par l’IA peut être incorrect."/>
          <p:cNvPicPr>
            <a:picLocks noChangeAspect="1"/>
          </p:cNvPicPr>
          <p:nvPr/>
        </p:nvPicPr>
        <p:blipFill>
          <a:blip r:embed="rId2"/>
          <a:stretch>
            <a:fillRect/>
          </a:stretch>
        </p:blipFill>
        <p:spPr>
          <a:xfrm>
            <a:off x="304800" y="1600200"/>
            <a:ext cx="12130088" cy="3670300"/>
          </a:xfrm>
          <a:prstGeom prst="rect">
            <a:avLst/>
          </a:prstGeom>
          <a:noFill/>
          <a:ln w="9525">
            <a:noFill/>
          </a:ln>
        </p:spPr>
      </p:pic>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34139" y="1588"/>
            <a:ext cx="698563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Paramètres d'entraînement</a:t>
            </a:r>
            <a:endParaRPr lang="fr-FR" altLang="x-none" dirty="0">
              <a:solidFill>
                <a:srgbClr val="7F7F7F"/>
              </a:solidFill>
              <a:cs typeface="Calibri" panose="020F0502020204030204" pitchFamily="34" charset="0"/>
            </a:endParaRPr>
          </a:p>
        </p:txBody>
      </p:sp>
      <p:grpSp>
        <p:nvGrpSpPr>
          <p:cNvPr id="52227" name="Groupe 1"/>
          <p:cNvGrpSpPr/>
          <p:nvPr/>
        </p:nvGrpSpPr>
        <p:grpSpPr>
          <a:xfrm>
            <a:off x="801688" y="1411288"/>
            <a:ext cx="10598150" cy="4677176"/>
            <a:chOff x="801572" y="1411065"/>
            <a:chExt cx="10598920" cy="4677544"/>
          </a:xfrm>
        </p:grpSpPr>
        <p:sp>
          <p:nvSpPr>
            <p:cNvPr id="4" name="TextBox 49"/>
            <p:cNvSpPr txBox="1"/>
            <p:nvPr/>
          </p:nvSpPr>
          <p:spPr>
            <a:xfrm>
              <a:off x="8051877" y="4243154"/>
              <a:ext cx="3348615" cy="1845455"/>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en-US" sz="1200" kern="1200" cap="none" spc="0" normalizeH="0" baseline="0" noProof="0">
                  <a:solidFill>
                    <a:srgbClr val="000000"/>
                  </a:solidFill>
                  <a:latin typeface="Calibri" panose="020F0502020204030204"/>
                  <a:ea typeface="Calibri" panose="020F0502020204030204"/>
                  <a:cs typeface="Calibri" panose="020F0502020204030204"/>
                </a:rPr>
                <a:t>La </a:t>
              </a:r>
              <a:r>
                <a:rPr kumimoji="0" lang="en-US" sz="1200" b="1" kern="1200" cap="none" spc="0" normalizeH="0" baseline="0" noProof="0">
                  <a:solidFill>
                    <a:srgbClr val="000000"/>
                  </a:solidFill>
                  <a:latin typeface="Calibri" panose="020F0502020204030204"/>
                  <a:ea typeface="Calibri" panose="020F0502020204030204"/>
                  <a:cs typeface="Calibri" panose="020F0502020204030204"/>
                </a:rPr>
                <a:t>taille des batchs augmente</a:t>
              </a:r>
              <a:r>
                <a:rPr kumimoji="0" lang="en-US" sz="1200" kern="1200" cap="none" spc="0" normalizeH="0" baseline="0" noProof="0">
                  <a:solidFill>
                    <a:srgbClr val="000000"/>
                  </a:solidFill>
                  <a:latin typeface="Calibri" panose="020F0502020204030204"/>
                  <a:ea typeface="Calibri" panose="020F0502020204030204"/>
                  <a:cs typeface="Calibri" panose="020F0502020204030204"/>
                </a:rPr>
                <a:t> au fil de l’entraînement :</a:t>
              </a:r>
              <a:endParaRPr kumimoji="0" lang="fr-FR" sz="1200" kern="1200" cap="none" spc="0" normalizeH="0" baseline="0" noProof="0">
                <a:solidFill>
                  <a:srgbClr val="000000"/>
                </a:solidFill>
                <a:latin typeface="Calibri" panose="020F0502020204030204"/>
                <a:ea typeface="Calibri" panose="020F0502020204030204"/>
                <a:cs typeface="Calibri" panose="020F0502020204030204"/>
              </a:endParaRP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en-US" sz="1200" kern="1200" cap="none" spc="0" normalizeH="0" baseline="0" noProof="0">
                  <a:solidFill>
                    <a:srgbClr val="000000"/>
                  </a:solidFill>
                  <a:latin typeface="Calibri" panose="020F0502020204030204"/>
                  <a:ea typeface="Calibri" panose="020F0502020204030204"/>
                  <a:cs typeface="Calibri" panose="020F0502020204030204"/>
                </a:rPr>
                <a:t>On commence petit pour apprendre efficacement</a:t>
              </a:r>
              <a:r>
                <a:rPr kumimoji="0" lang="fr-FR" altLang="en-US" sz="1200" kern="1200" cap="none" spc="0" normalizeH="0" baseline="0" noProof="0">
                  <a:solidFill>
                    <a:srgbClr val="000000"/>
                  </a:solidFill>
                  <a:latin typeface="Calibri" panose="020F0502020204030204"/>
                  <a:ea typeface="Calibri" panose="020F0502020204030204"/>
                  <a:cs typeface="Calibri" panose="020F0502020204030204"/>
                </a:rPr>
                <a:t>.</a:t>
              </a:r>
              <a:endParaRPr kumimoji="0" lang="en-US" sz="1200" kern="1200" cap="none" spc="0" normalizeH="0" baseline="0" noProof="0">
                <a:solidFill>
                  <a:srgbClr val="000000"/>
                </a:solidFill>
                <a:latin typeface="Calibri" panose="020F0502020204030204"/>
                <a:ea typeface="Calibri" panose="020F0502020204030204"/>
                <a:cs typeface="Calibri" panose="020F0502020204030204"/>
              </a:endParaRPr>
            </a:p>
            <a:p>
              <a:pPr marL="285750" marR="0" indent="-285750" defTabSz="914400" eaLnBrk="1" fontAlgn="auto" hangingPunct="1">
                <a:spcBef>
                  <a:spcPts val="0"/>
                </a:spcBef>
                <a:spcAft>
                  <a:spcPts val="0"/>
                </a:spcAft>
                <a:buClrTx/>
                <a:buSzPct val="100000"/>
                <a:buFont typeface="Arial" panose="020B0604020202020204" pitchFamily="34"/>
                <a:buChar char="•"/>
                <a:defRPr sz="1800" b="0" i="0" u="none" strike="noStrike" kern="0" cap="none" spc="0" baseline="0">
                  <a:solidFill>
                    <a:srgbClr val="000000"/>
                  </a:solidFill>
                  <a:uFillTx/>
                </a:defRPr>
              </a:pPr>
              <a:r>
                <a:rPr kumimoji="0" lang="en-US" sz="1200" kern="1200" cap="none" spc="0" normalizeH="0" baseline="0" noProof="0">
                  <a:solidFill>
                    <a:srgbClr val="000000"/>
                  </a:solidFill>
                  <a:latin typeface="Calibri" panose="020F0502020204030204"/>
                  <a:ea typeface="Calibri" panose="020F0502020204030204"/>
                  <a:cs typeface="Calibri" panose="020F0502020204030204"/>
                </a:rPr>
                <a:t>Puis on augmente pour profiter d’une meilleure stabilité et efficacité sur les TPUs.</a:t>
              </a:r>
              <a:br>
                <a:rPr kumimoji="0" lang="en-US" sz="1200" kern="1200" cap="none" spc="0" normalizeH="0" baseline="0" noProof="0">
                  <a:solidFill>
                    <a:srgbClr val="000000"/>
                  </a:solidFill>
                  <a:latin typeface="Calibri" panose="020F0502020204030204"/>
                  <a:ea typeface="Calibri" panose="020F0502020204030204"/>
                  <a:cs typeface="Calibri" panose="020F0502020204030204"/>
                </a:rPr>
              </a:br>
              <a:r>
                <a:rPr kumimoji="0" lang="en-US" sz="1200" kern="1200" cap="none" spc="0" normalizeH="0" baseline="0" noProof="0">
                  <a:solidFill>
                    <a:srgbClr val="000000"/>
                  </a:solidFill>
                  <a:latin typeface="Calibri" panose="020F0502020204030204"/>
                  <a:ea typeface="Calibri" panose="020F0502020204030204"/>
                  <a:cs typeface="Calibri" panose="020F0502020204030204"/>
                </a:rPr>
                <a:t> Cela permet de mieux utiliser le matériel sans sacrifier la qualité d’apprentissage.</a:t>
              </a:r>
            </a:p>
            <a:p>
              <a:pPr marR="0" defTabSz="914400" eaLnBrk="1" fontAlgn="auto" hangingPunct="1">
                <a:lnSpc>
                  <a:spcPct val="150000"/>
                </a:lnSpc>
                <a:spcBef>
                  <a:spcPts val="0"/>
                </a:spcBef>
                <a:spcAft>
                  <a:spcPts val="0"/>
                </a:spcAft>
                <a:buClrTx/>
                <a:buSzTx/>
                <a:buFontTx/>
                <a:buNone/>
                <a:defRPr sz="1800" b="0" i="0" u="none" strike="noStrike" kern="0" cap="none" spc="0" baseline="0">
                  <a:solidFill>
                    <a:srgbClr val="000000"/>
                  </a:solidFill>
                  <a:uFillTx/>
                </a:defRPr>
              </a:pPr>
              <a:endParaRPr kumimoji="0" lang="en-US" sz="1200" kern="1200" cap="none" spc="0" normalizeH="0" baseline="0" noProof="0">
                <a:solidFill>
                  <a:srgbClr val="000000"/>
                </a:solidFill>
                <a:latin typeface="Calibri" panose="020F0502020204030204"/>
                <a:ea typeface="Calibri" panose="020F0502020204030204"/>
                <a:cs typeface="Calibri" panose="020F0502020204030204"/>
              </a:endParaRPr>
            </a:p>
          </p:txBody>
        </p:sp>
        <p:sp>
          <p:nvSpPr>
            <p:cNvPr id="52229" name="Freeform 11"/>
            <p:cNvSpPr/>
            <p:nvPr/>
          </p:nvSpPr>
          <p:spPr>
            <a:xfrm>
              <a:off x="5500399" y="1884304"/>
              <a:ext cx="1550785" cy="1550785"/>
            </a:xfrm>
            <a:custGeom>
              <a:avLst/>
              <a:gdLst>
                <a:gd name="txL" fmla="*/ 0 w 972"/>
                <a:gd name="txT" fmla="*/ 0 h 972"/>
                <a:gd name="txR" fmla="*/ 972 w 972"/>
                <a:gd name="txB" fmla="*/ 972 h 972"/>
              </a:gdLst>
              <a:ahLst/>
              <a:cxnLst>
                <a:cxn ang="17694720">
                  <a:pos x="775393" y="0"/>
                </a:cxn>
                <a:cxn ang="0">
                  <a:pos x="1550785" y="775393"/>
                </a:cxn>
                <a:cxn ang="5898240">
                  <a:pos x="775393" y="1550785"/>
                </a:cxn>
                <a:cxn ang="11796480">
                  <a:pos x="0" y="775393"/>
                </a:cxn>
                <a:cxn ang="0">
                  <a:pos x="0" y="1550785"/>
                </a:cxn>
                <a:cxn ang="0">
                  <a:pos x="0" y="775393"/>
                </a:cxn>
                <a:cxn ang="0">
                  <a:pos x="775393" y="0"/>
                </a:cxn>
                <a:cxn ang="0">
                  <a:pos x="1550785" y="775393"/>
                </a:cxn>
                <a:cxn ang="0">
                  <a:pos x="775393" y="1550785"/>
                </a:cxn>
                <a:cxn ang="0">
                  <a:pos x="0" y="1550785"/>
                </a:cxn>
              </a:cxnLst>
              <a:rect l="txL" t="txT" r="txR" b="tx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88A945">
                <a:alpha val="100000"/>
              </a:srgbClr>
            </a:solidFill>
            <a:ln w="9525">
              <a:noFill/>
            </a:ln>
          </p:spPr>
          <p:txBody>
            <a:bodyPr/>
            <a:lstStyle/>
            <a:p>
              <a:endParaRPr lang="fr-FR" altLang="en-US"/>
            </a:p>
          </p:txBody>
        </p:sp>
        <p:sp>
          <p:nvSpPr>
            <p:cNvPr id="52230" name="Freeform 12"/>
            <p:cNvSpPr/>
            <p:nvPr/>
          </p:nvSpPr>
          <p:spPr>
            <a:xfrm>
              <a:off x="5612175" y="1992898"/>
              <a:ext cx="1318665" cy="1320485"/>
            </a:xfrm>
            <a:custGeom>
              <a:avLst/>
              <a:gdLst>
                <a:gd name="txL" fmla="*/ 0 w 916"/>
                <a:gd name="txT" fmla="*/ 0 h 917"/>
                <a:gd name="txR" fmla="*/ 916 w 916"/>
                <a:gd name="txB" fmla="*/ 917 h 917"/>
              </a:gdLst>
              <a:ahLst/>
              <a:cxnLst>
                <a:cxn ang="17694720">
                  <a:pos x="659333" y="0"/>
                </a:cxn>
                <a:cxn ang="0">
                  <a:pos x="1318665" y="660243"/>
                </a:cxn>
                <a:cxn ang="5898240">
                  <a:pos x="659333" y="1320485"/>
                </a:cxn>
                <a:cxn ang="11796480">
                  <a:pos x="0" y="660243"/>
                </a:cxn>
                <a:cxn ang="0">
                  <a:pos x="1217894" y="659522"/>
                </a:cxn>
                <a:cxn ang="0">
                  <a:pos x="1310027" y="567362"/>
                </a:cxn>
                <a:cxn ang="0">
                  <a:pos x="1202058" y="531362"/>
                </a:cxn>
                <a:cxn ang="0">
                  <a:pos x="1272598" y="420482"/>
                </a:cxn>
                <a:cxn ang="0">
                  <a:pos x="1158870" y="410402"/>
                </a:cxn>
                <a:cxn ang="0">
                  <a:pos x="1200619" y="286561"/>
                </a:cxn>
                <a:cxn ang="0">
                  <a:pos x="1086891" y="302401"/>
                </a:cxn>
                <a:cxn ang="0">
                  <a:pos x="1099847" y="171361"/>
                </a:cxn>
                <a:cxn ang="0">
                  <a:pos x="993318" y="213121"/>
                </a:cxn>
                <a:cxn ang="0">
                  <a:pos x="974603" y="83520"/>
                </a:cxn>
                <a:cxn ang="0">
                  <a:pos x="881029" y="148321"/>
                </a:cxn>
                <a:cxn ang="0">
                  <a:pos x="833523" y="27360"/>
                </a:cxn>
                <a:cxn ang="0">
                  <a:pos x="757225" y="110880"/>
                </a:cxn>
                <a:cxn ang="0">
                  <a:pos x="682366" y="4320"/>
                </a:cxn>
                <a:cxn ang="0">
                  <a:pos x="627662" y="103680"/>
                </a:cxn>
                <a:cxn ang="0">
                  <a:pos x="531209" y="17280"/>
                </a:cxn>
                <a:cxn ang="0">
                  <a:pos x="500978" y="126720"/>
                </a:cxn>
                <a:cxn ang="0">
                  <a:pos x="385810" y="63360"/>
                </a:cxn>
                <a:cxn ang="0">
                  <a:pos x="382931" y="177121"/>
                </a:cxn>
                <a:cxn ang="0">
                  <a:pos x="256247" y="144001"/>
                </a:cxn>
                <a:cxn ang="0">
                  <a:pos x="279281" y="254881"/>
                </a:cxn>
                <a:cxn ang="0">
                  <a:pos x="148278" y="250561"/>
                </a:cxn>
                <a:cxn ang="0">
                  <a:pos x="195784" y="354241"/>
                </a:cxn>
                <a:cxn ang="0">
                  <a:pos x="67661" y="380161"/>
                </a:cxn>
                <a:cxn ang="0">
                  <a:pos x="138201" y="469442"/>
                </a:cxn>
                <a:cxn ang="0">
                  <a:pos x="18715" y="524162"/>
                </a:cxn>
                <a:cxn ang="0">
                  <a:pos x="107969" y="596162"/>
                </a:cxn>
                <a:cxn ang="0">
                  <a:pos x="4319" y="676803"/>
                </a:cxn>
                <a:cxn ang="0">
                  <a:pos x="107969" y="724323"/>
                </a:cxn>
                <a:cxn ang="0">
                  <a:pos x="25913" y="826563"/>
                </a:cxn>
                <a:cxn ang="0">
                  <a:pos x="138201" y="851043"/>
                </a:cxn>
                <a:cxn ang="0">
                  <a:pos x="82057" y="969124"/>
                </a:cxn>
                <a:cxn ang="0">
                  <a:pos x="195784" y="966244"/>
                </a:cxn>
                <a:cxn ang="0">
                  <a:pos x="168432" y="1094404"/>
                </a:cxn>
                <a:cxn ang="0">
                  <a:pos x="279281" y="1065604"/>
                </a:cxn>
                <a:cxn ang="0">
                  <a:pos x="282160" y="1196645"/>
                </a:cxn>
                <a:cxn ang="0">
                  <a:pos x="382931" y="1141924"/>
                </a:cxn>
                <a:cxn ang="0">
                  <a:pos x="416042" y="1268645"/>
                </a:cxn>
                <a:cxn ang="0">
                  <a:pos x="500978" y="1193765"/>
                </a:cxn>
                <a:cxn ang="0">
                  <a:pos x="562880" y="1308965"/>
                </a:cxn>
                <a:cxn ang="0">
                  <a:pos x="629101" y="1216805"/>
                </a:cxn>
                <a:cxn ang="0">
                  <a:pos x="715477" y="1314725"/>
                </a:cxn>
                <a:cxn ang="0">
                  <a:pos x="757225" y="1208165"/>
                </a:cxn>
                <a:cxn ang="0">
                  <a:pos x="865194" y="1284485"/>
                </a:cxn>
                <a:cxn ang="0">
                  <a:pos x="881029" y="1172164"/>
                </a:cxn>
                <a:cxn ang="0">
                  <a:pos x="1003395" y="1219685"/>
                </a:cxn>
                <a:cxn ang="0">
                  <a:pos x="993318" y="1107364"/>
                </a:cxn>
                <a:cxn ang="0">
                  <a:pos x="1122881" y="1126084"/>
                </a:cxn>
                <a:cxn ang="0">
                  <a:pos x="1086891" y="1018084"/>
                </a:cxn>
                <a:cxn ang="0">
                  <a:pos x="1217894" y="1006564"/>
                </a:cxn>
                <a:cxn ang="0">
                  <a:pos x="1158870" y="910083"/>
                </a:cxn>
                <a:cxn ang="0">
                  <a:pos x="1282675" y="869763"/>
                </a:cxn>
                <a:cxn ang="0">
                  <a:pos x="1202058" y="789123"/>
                </a:cxn>
                <a:cxn ang="0">
                  <a:pos x="1314346" y="720003"/>
                </a:cxn>
              </a:cxnLst>
              <a:rect l="txL" t="txT" r="txR" b="tx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rotWithShape="0">
              <a:gsLst>
                <a:gs pos="0">
                  <a:srgbClr val="D9D9D9">
                    <a:alpha val="100000"/>
                  </a:srgbClr>
                </a:gs>
                <a:gs pos="100000">
                  <a:srgbClr val="FFFFFF">
                    <a:alpha val="100000"/>
                  </a:srgbClr>
                </a:gs>
              </a:gsLst>
              <a:lin ang="0"/>
              <a:tileRect/>
            </a:gradFill>
            <a:ln w="9525">
              <a:noFill/>
            </a:ln>
          </p:spPr>
          <p:txBody>
            <a:bodyPr/>
            <a:lstStyle/>
            <a:p>
              <a:endParaRPr lang="fr-FR" altLang="en-US"/>
            </a:p>
          </p:txBody>
        </p:sp>
        <p:sp>
          <p:nvSpPr>
            <p:cNvPr id="52231" name="Oval 13"/>
            <p:cNvSpPr/>
            <p:nvPr/>
          </p:nvSpPr>
          <p:spPr>
            <a:xfrm>
              <a:off x="5779291" y="2160013"/>
              <a:ext cx="984443" cy="985046"/>
            </a:xfrm>
            <a:custGeom>
              <a:avLst/>
              <a:gdLst>
                <a:gd name="txL" fmla="*/ 144168 w 984443"/>
                <a:gd name="txT" fmla="*/ 144257 h 985046"/>
                <a:gd name="txR" fmla="*/ 840275 w 984443"/>
                <a:gd name="txB" fmla="*/ 840789 h 985046"/>
              </a:gdLst>
              <a:ahLst/>
              <a:cxnLst>
                <a:cxn ang="17694720">
                  <a:pos x="492222" y="0"/>
                </a:cxn>
                <a:cxn ang="0">
                  <a:pos x="984443" y="492523"/>
                </a:cxn>
                <a:cxn ang="5898240">
                  <a:pos x="492222" y="985046"/>
                </a:cxn>
                <a:cxn ang="11796480">
                  <a:pos x="0" y="492523"/>
                </a:cxn>
                <a:cxn ang="17694720">
                  <a:pos x="144168" y="144257"/>
                </a:cxn>
                <a:cxn ang="5898240">
                  <a:pos x="144168" y="840789"/>
                </a:cxn>
                <a:cxn ang="5898240">
                  <a:pos x="840275" y="840789"/>
                </a:cxn>
                <a:cxn ang="17694720">
                  <a:pos x="840275" y="144257"/>
                </a:cxn>
              </a:cxnLst>
              <a:rect l="txL" t="txT" r="txR" b="txB"/>
              <a:pathLst>
                <a:path w="984443" h="985046">
                  <a:moveTo>
                    <a:pt x="0" y="492523"/>
                  </a:moveTo>
                  <a:arcTo wR="492222" hR="492523" stAng="-10800000" swAng="-21600000"/>
                  <a:close/>
                </a:path>
              </a:pathLst>
            </a:custGeom>
            <a:gradFill rotWithShape="0">
              <a:gsLst>
                <a:gs pos="0">
                  <a:srgbClr val="D9D9D9">
                    <a:alpha val="100000"/>
                  </a:srgbClr>
                </a:gs>
                <a:gs pos="100000">
                  <a:srgbClr val="FFFFFF">
                    <a:alpha val="100000"/>
                  </a:srgbClr>
                </a:gs>
              </a:gsLst>
              <a:lin ang="9000000"/>
              <a:tileRect/>
            </a:gradFill>
            <a:ln w="9525">
              <a:noFill/>
            </a:ln>
          </p:spPr>
          <p:txBody>
            <a:bodyPr/>
            <a:lstStyle/>
            <a:p>
              <a:endParaRPr lang="fr-FR" altLang="en-US"/>
            </a:p>
          </p:txBody>
        </p:sp>
        <p:sp>
          <p:nvSpPr>
            <p:cNvPr id="52232" name="Freeform 108"/>
            <p:cNvSpPr/>
            <p:nvPr/>
          </p:nvSpPr>
          <p:spPr>
            <a:xfrm rot="-5399996">
              <a:off x="3409825" y="1411065"/>
              <a:ext cx="2024033" cy="2024033"/>
            </a:xfrm>
            <a:custGeom>
              <a:avLst/>
              <a:gdLst>
                <a:gd name="txL" fmla="*/ 0 w 972"/>
                <a:gd name="txT" fmla="*/ 0 h 972"/>
                <a:gd name="txR" fmla="*/ 972 w 972"/>
                <a:gd name="txB" fmla="*/ 972 h 972"/>
              </a:gdLst>
              <a:ahLst/>
              <a:cxnLst>
                <a:cxn ang="17694720">
                  <a:pos x="1012017" y="0"/>
                </a:cxn>
                <a:cxn ang="0">
                  <a:pos x="2024033" y="1012017"/>
                </a:cxn>
                <a:cxn ang="5898240">
                  <a:pos x="1012017" y="2024033"/>
                </a:cxn>
                <a:cxn ang="11796480">
                  <a:pos x="0" y="1012017"/>
                </a:cxn>
                <a:cxn ang="0">
                  <a:pos x="0" y="2024033"/>
                </a:cxn>
                <a:cxn ang="0">
                  <a:pos x="0" y="1012017"/>
                </a:cxn>
                <a:cxn ang="0">
                  <a:pos x="1012017" y="0"/>
                </a:cxn>
                <a:cxn ang="0">
                  <a:pos x="2024033" y="1012017"/>
                </a:cxn>
                <a:cxn ang="0">
                  <a:pos x="1012017" y="2024033"/>
                </a:cxn>
                <a:cxn ang="0">
                  <a:pos x="0" y="2024033"/>
                </a:cxn>
              </a:cxnLst>
              <a:rect l="txL" t="txT" r="txR" b="tx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77933C">
                <a:alpha val="100000"/>
              </a:srgbClr>
            </a:solidFill>
            <a:ln w="9525">
              <a:noFill/>
            </a:ln>
          </p:spPr>
          <p:txBody>
            <a:bodyPr/>
            <a:lstStyle/>
            <a:p>
              <a:endParaRPr lang="fr-FR" altLang="en-US"/>
            </a:p>
          </p:txBody>
        </p:sp>
        <p:sp>
          <p:nvSpPr>
            <p:cNvPr id="52233" name="Freeform 109"/>
            <p:cNvSpPr/>
            <p:nvPr/>
          </p:nvSpPr>
          <p:spPr>
            <a:xfrm rot="-5399996">
              <a:off x="3552755" y="1566924"/>
              <a:ext cx="1721083" cy="1723461"/>
            </a:xfrm>
            <a:custGeom>
              <a:avLst/>
              <a:gdLst>
                <a:gd name="txL" fmla="*/ 0 w 916"/>
                <a:gd name="txT" fmla="*/ 0 h 917"/>
                <a:gd name="txR" fmla="*/ 916 w 916"/>
                <a:gd name="txB" fmla="*/ 917 h 917"/>
              </a:gdLst>
              <a:ahLst/>
              <a:cxnLst>
                <a:cxn ang="17694720">
                  <a:pos x="860542" y="0"/>
                </a:cxn>
                <a:cxn ang="0">
                  <a:pos x="1721083" y="861731"/>
                </a:cxn>
                <a:cxn ang="5898240">
                  <a:pos x="860542" y="1723461"/>
                </a:cxn>
                <a:cxn ang="11796480">
                  <a:pos x="0" y="861731"/>
                </a:cxn>
                <a:cxn ang="0">
                  <a:pos x="1589559" y="860791"/>
                </a:cxn>
                <a:cxn ang="0">
                  <a:pos x="1709810" y="740506"/>
                </a:cxn>
                <a:cxn ang="0">
                  <a:pos x="1568891" y="693519"/>
                </a:cxn>
                <a:cxn ang="0">
                  <a:pos x="1660958" y="548801"/>
                </a:cxn>
                <a:cxn ang="0">
                  <a:pos x="1512524" y="535645"/>
                </a:cxn>
                <a:cxn ang="0">
                  <a:pos x="1567012" y="374012"/>
                </a:cxn>
                <a:cxn ang="0">
                  <a:pos x="1418578" y="394686"/>
                </a:cxn>
                <a:cxn ang="0">
                  <a:pos x="1435488" y="223655"/>
                </a:cxn>
                <a:cxn ang="0">
                  <a:pos x="1296449" y="278159"/>
                </a:cxn>
                <a:cxn ang="0">
                  <a:pos x="1272023" y="109008"/>
                </a:cxn>
                <a:cxn ang="0">
                  <a:pos x="1149894" y="193584"/>
                </a:cxn>
                <a:cxn ang="0">
                  <a:pos x="1087890" y="35710"/>
                </a:cxn>
                <a:cxn ang="0">
                  <a:pos x="988307" y="144718"/>
                </a:cxn>
                <a:cxn ang="0">
                  <a:pos x="890604" y="5638"/>
                </a:cxn>
                <a:cxn ang="0">
                  <a:pos x="819205" y="135321"/>
                </a:cxn>
                <a:cxn ang="0">
                  <a:pos x="693318" y="22553"/>
                </a:cxn>
                <a:cxn ang="0">
                  <a:pos x="653861" y="165392"/>
                </a:cxn>
                <a:cxn ang="0">
                  <a:pos x="503548" y="82696"/>
                </a:cxn>
                <a:cxn ang="0">
                  <a:pos x="499790" y="231173"/>
                </a:cxn>
                <a:cxn ang="0">
                  <a:pos x="334446" y="187946"/>
                </a:cxn>
                <a:cxn ang="0">
                  <a:pos x="364509" y="332664"/>
                </a:cxn>
                <a:cxn ang="0">
                  <a:pos x="193528" y="327025"/>
                </a:cxn>
                <a:cxn ang="0">
                  <a:pos x="255532" y="462346"/>
                </a:cxn>
                <a:cxn ang="0">
                  <a:pos x="88309" y="496176"/>
                </a:cxn>
                <a:cxn ang="0">
                  <a:pos x="180376" y="612703"/>
                </a:cxn>
                <a:cxn ang="0">
                  <a:pos x="24426" y="684122"/>
                </a:cxn>
                <a:cxn ang="0">
                  <a:pos x="140918" y="778095"/>
                </a:cxn>
                <a:cxn ang="0">
                  <a:pos x="5637" y="883344"/>
                </a:cxn>
                <a:cxn ang="0">
                  <a:pos x="140918" y="945366"/>
                </a:cxn>
                <a:cxn ang="0">
                  <a:pos x="33820" y="1078808"/>
                </a:cxn>
                <a:cxn ang="0">
                  <a:pos x="180376" y="1110758"/>
                </a:cxn>
                <a:cxn ang="0">
                  <a:pos x="107098" y="1264874"/>
                </a:cxn>
                <a:cxn ang="0">
                  <a:pos x="255532" y="1261115"/>
                </a:cxn>
                <a:cxn ang="0">
                  <a:pos x="219833" y="1428386"/>
                </a:cxn>
                <a:cxn ang="0">
                  <a:pos x="364509" y="1390797"/>
                </a:cxn>
                <a:cxn ang="0">
                  <a:pos x="368267" y="1561828"/>
                </a:cxn>
                <a:cxn ang="0">
                  <a:pos x="499790" y="1490408"/>
                </a:cxn>
                <a:cxn ang="0">
                  <a:pos x="543005" y="1655801"/>
                </a:cxn>
                <a:cxn ang="0">
                  <a:pos x="653861" y="1558069"/>
                </a:cxn>
                <a:cxn ang="0">
                  <a:pos x="734654" y="1708425"/>
                </a:cxn>
                <a:cxn ang="0">
                  <a:pos x="821084" y="1588140"/>
                </a:cxn>
                <a:cxn ang="0">
                  <a:pos x="933819" y="1715943"/>
                </a:cxn>
                <a:cxn ang="0">
                  <a:pos x="988307" y="1576863"/>
                </a:cxn>
                <a:cxn ang="0">
                  <a:pos x="1129226" y="1676475"/>
                </a:cxn>
                <a:cxn ang="0">
                  <a:pos x="1149894" y="1529877"/>
                </a:cxn>
                <a:cxn ang="0">
                  <a:pos x="1309601" y="1591899"/>
                </a:cxn>
                <a:cxn ang="0">
                  <a:pos x="1296449" y="1445302"/>
                </a:cxn>
                <a:cxn ang="0">
                  <a:pos x="1465551" y="1469734"/>
                </a:cxn>
                <a:cxn ang="0">
                  <a:pos x="1418578" y="1328775"/>
                </a:cxn>
                <a:cxn ang="0">
                  <a:pos x="1589559" y="1313740"/>
                </a:cxn>
                <a:cxn ang="0">
                  <a:pos x="1512524" y="1187816"/>
                </a:cxn>
                <a:cxn ang="0">
                  <a:pos x="1674110" y="1135191"/>
                </a:cxn>
                <a:cxn ang="0">
                  <a:pos x="1568891" y="1029942"/>
                </a:cxn>
                <a:cxn ang="0">
                  <a:pos x="1715446" y="939728"/>
                </a:cxn>
              </a:cxnLst>
              <a:rect l="txL" t="txT" r="txR" b="tx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rotWithShape="0">
              <a:gsLst>
                <a:gs pos="0">
                  <a:srgbClr val="D9D9D9">
                    <a:alpha val="100000"/>
                  </a:srgbClr>
                </a:gs>
                <a:gs pos="100000">
                  <a:srgbClr val="FFFFFF">
                    <a:alpha val="100000"/>
                  </a:srgbClr>
                </a:gs>
              </a:gsLst>
              <a:lin ang="0"/>
              <a:tileRect/>
            </a:gradFill>
            <a:ln w="9525">
              <a:noFill/>
            </a:ln>
          </p:spPr>
          <p:txBody>
            <a:bodyPr/>
            <a:lstStyle/>
            <a:p>
              <a:endParaRPr lang="fr-FR" altLang="en-US"/>
            </a:p>
          </p:txBody>
        </p:sp>
        <p:sp>
          <p:nvSpPr>
            <p:cNvPr id="52234" name="Oval 110"/>
            <p:cNvSpPr/>
            <p:nvPr/>
          </p:nvSpPr>
          <p:spPr>
            <a:xfrm rot="-5399996">
              <a:off x="3770065" y="1785827"/>
              <a:ext cx="1284860" cy="1285655"/>
            </a:xfrm>
            <a:custGeom>
              <a:avLst/>
              <a:gdLst>
                <a:gd name="txL" fmla="*/ 188163 w 1284860"/>
                <a:gd name="txT" fmla="*/ 188280 h 1285655"/>
                <a:gd name="txR" fmla="*/ 1096697 w 1284860"/>
                <a:gd name="txB" fmla="*/ 1097375 h 1285655"/>
              </a:gdLst>
              <a:ahLst/>
              <a:cxnLst>
                <a:cxn ang="17694720">
                  <a:pos x="642430" y="0"/>
                </a:cxn>
                <a:cxn ang="0">
                  <a:pos x="1284860" y="642828"/>
                </a:cxn>
                <a:cxn ang="5898240">
                  <a:pos x="642430" y="1285655"/>
                </a:cxn>
                <a:cxn ang="11796480">
                  <a:pos x="0" y="642828"/>
                </a:cxn>
                <a:cxn ang="17694720">
                  <a:pos x="188163" y="188280"/>
                </a:cxn>
                <a:cxn ang="5898240">
                  <a:pos x="188163" y="1097375"/>
                </a:cxn>
                <a:cxn ang="5898240">
                  <a:pos x="1096697" y="1097375"/>
                </a:cxn>
                <a:cxn ang="17694720">
                  <a:pos x="1096697" y="188280"/>
                </a:cxn>
              </a:cxnLst>
              <a:rect l="txL" t="txT" r="txR" b="txB"/>
              <a:pathLst>
                <a:path w="1284860" h="1285655">
                  <a:moveTo>
                    <a:pt x="0" y="642827"/>
                  </a:moveTo>
                  <a:arcTo wR="642430" hR="642827" stAng="-10800000" swAng="-21600000"/>
                  <a:close/>
                </a:path>
              </a:pathLst>
            </a:custGeom>
            <a:gradFill rotWithShape="0">
              <a:gsLst>
                <a:gs pos="0">
                  <a:srgbClr val="D9D9D9">
                    <a:alpha val="100000"/>
                  </a:srgbClr>
                </a:gs>
                <a:gs pos="100000">
                  <a:srgbClr val="FFFFFF">
                    <a:alpha val="100000"/>
                  </a:srgbClr>
                </a:gs>
              </a:gsLst>
              <a:lin ang="9000000"/>
              <a:tileRect/>
            </a:gradFill>
            <a:ln w="9525">
              <a:noFill/>
            </a:ln>
          </p:spPr>
          <p:txBody>
            <a:bodyPr/>
            <a:lstStyle/>
            <a:p>
              <a:endParaRPr lang="fr-FR" altLang="en-US"/>
            </a:p>
          </p:txBody>
        </p:sp>
        <p:sp>
          <p:nvSpPr>
            <p:cNvPr id="52235" name="Freeform 120"/>
            <p:cNvSpPr/>
            <p:nvPr/>
          </p:nvSpPr>
          <p:spPr>
            <a:xfrm flipV="1">
              <a:off x="5500399" y="3503377"/>
              <a:ext cx="2331985" cy="2331985"/>
            </a:xfrm>
            <a:custGeom>
              <a:avLst/>
              <a:gdLst>
                <a:gd name="txL" fmla="*/ 0 w 972"/>
                <a:gd name="txT" fmla="*/ 0 h 972"/>
                <a:gd name="txR" fmla="*/ 972 w 972"/>
                <a:gd name="txB" fmla="*/ 972 h 972"/>
              </a:gdLst>
              <a:ahLst/>
              <a:cxnLst>
                <a:cxn ang="17694720">
                  <a:pos x="1165993" y="0"/>
                </a:cxn>
                <a:cxn ang="0">
                  <a:pos x="2331985" y="1165993"/>
                </a:cxn>
                <a:cxn ang="5898240">
                  <a:pos x="1165993" y="2331985"/>
                </a:cxn>
                <a:cxn ang="11796480">
                  <a:pos x="0" y="1165993"/>
                </a:cxn>
                <a:cxn ang="0">
                  <a:pos x="0" y="2331985"/>
                </a:cxn>
                <a:cxn ang="0">
                  <a:pos x="0" y="1165993"/>
                </a:cxn>
                <a:cxn ang="0">
                  <a:pos x="1165993" y="0"/>
                </a:cxn>
                <a:cxn ang="0">
                  <a:pos x="2331985" y="1165993"/>
                </a:cxn>
                <a:cxn ang="0">
                  <a:pos x="1165993" y="2331985"/>
                </a:cxn>
                <a:cxn ang="0">
                  <a:pos x="0" y="2331985"/>
                </a:cxn>
              </a:cxnLst>
              <a:rect l="txL" t="txT" r="txR" b="tx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ACC777">
                <a:alpha val="100000"/>
              </a:srgbClr>
            </a:solidFill>
            <a:ln w="9525">
              <a:noFill/>
            </a:ln>
          </p:spPr>
          <p:txBody>
            <a:bodyPr/>
            <a:lstStyle/>
            <a:p>
              <a:endParaRPr lang="fr-FR" altLang="en-US"/>
            </a:p>
          </p:txBody>
        </p:sp>
        <p:sp>
          <p:nvSpPr>
            <p:cNvPr id="52236" name="Freeform 121"/>
            <p:cNvSpPr/>
            <p:nvPr/>
          </p:nvSpPr>
          <p:spPr>
            <a:xfrm flipV="1">
              <a:off x="5668484" y="3686385"/>
              <a:ext cx="1982940" cy="1985674"/>
            </a:xfrm>
            <a:custGeom>
              <a:avLst/>
              <a:gdLst>
                <a:gd name="txL" fmla="*/ 0 w 916"/>
                <a:gd name="txT" fmla="*/ 0 h 917"/>
                <a:gd name="txR" fmla="*/ 916 w 916"/>
                <a:gd name="txB" fmla="*/ 917 h 917"/>
              </a:gdLst>
              <a:ahLst/>
              <a:cxnLst>
                <a:cxn ang="17694720">
                  <a:pos x="991470" y="0"/>
                </a:cxn>
                <a:cxn ang="0">
                  <a:pos x="1982940" y="992837"/>
                </a:cxn>
                <a:cxn ang="5898240">
                  <a:pos x="991470" y="1985674"/>
                </a:cxn>
                <a:cxn ang="11796480">
                  <a:pos x="0" y="992837"/>
                </a:cxn>
                <a:cxn ang="0">
                  <a:pos x="1831405" y="991754"/>
                </a:cxn>
                <a:cxn ang="0">
                  <a:pos x="1969951" y="853169"/>
                </a:cxn>
                <a:cxn ang="0">
                  <a:pos x="1807593" y="799033"/>
                </a:cxn>
                <a:cxn ang="0">
                  <a:pos x="1913667" y="632298"/>
                </a:cxn>
                <a:cxn ang="0">
                  <a:pos x="1742649" y="617140"/>
                </a:cxn>
                <a:cxn ang="0">
                  <a:pos x="1805428" y="430915"/>
                </a:cxn>
                <a:cxn ang="0">
                  <a:pos x="1634410" y="454735"/>
                </a:cxn>
                <a:cxn ang="0">
                  <a:pos x="1653893" y="257683"/>
                </a:cxn>
                <a:cxn ang="0">
                  <a:pos x="1493699" y="320480"/>
                </a:cxn>
                <a:cxn ang="0">
                  <a:pos x="1465557" y="125593"/>
                </a:cxn>
                <a:cxn ang="0">
                  <a:pos x="1324846" y="223036"/>
                </a:cxn>
                <a:cxn ang="0">
                  <a:pos x="1253409" y="41143"/>
                </a:cxn>
                <a:cxn ang="0">
                  <a:pos x="1138675" y="166736"/>
                </a:cxn>
                <a:cxn ang="0">
                  <a:pos x="1026107" y="6496"/>
                </a:cxn>
                <a:cxn ang="0">
                  <a:pos x="943845" y="155909"/>
                </a:cxn>
                <a:cxn ang="0">
                  <a:pos x="798804" y="25985"/>
                </a:cxn>
                <a:cxn ang="0">
                  <a:pos x="753344" y="190555"/>
                </a:cxn>
                <a:cxn ang="0">
                  <a:pos x="580161" y="95278"/>
                </a:cxn>
                <a:cxn ang="0">
                  <a:pos x="575832" y="266344"/>
                </a:cxn>
                <a:cxn ang="0">
                  <a:pos x="385331" y="216540"/>
                </a:cxn>
                <a:cxn ang="0">
                  <a:pos x="419968" y="383276"/>
                </a:cxn>
                <a:cxn ang="0">
                  <a:pos x="222973" y="376780"/>
                </a:cxn>
                <a:cxn ang="0">
                  <a:pos x="294410" y="532689"/>
                </a:cxn>
                <a:cxn ang="0">
                  <a:pos x="101745" y="571666"/>
                </a:cxn>
                <a:cxn ang="0">
                  <a:pos x="207819" y="705921"/>
                </a:cxn>
                <a:cxn ang="0">
                  <a:pos x="28142" y="788206"/>
                </a:cxn>
                <a:cxn ang="0">
                  <a:pos x="162359" y="896477"/>
                </a:cxn>
                <a:cxn ang="0">
                  <a:pos x="6494" y="1017739"/>
                </a:cxn>
                <a:cxn ang="0">
                  <a:pos x="162359" y="1089197"/>
                </a:cxn>
                <a:cxn ang="0">
                  <a:pos x="38966" y="1242941"/>
                </a:cxn>
                <a:cxn ang="0">
                  <a:pos x="207819" y="1279753"/>
                </a:cxn>
                <a:cxn ang="0">
                  <a:pos x="123393" y="1457316"/>
                </a:cxn>
                <a:cxn ang="0">
                  <a:pos x="294410" y="1452985"/>
                </a:cxn>
                <a:cxn ang="0">
                  <a:pos x="253279" y="1645706"/>
                </a:cxn>
                <a:cxn ang="0">
                  <a:pos x="419968" y="1602398"/>
                </a:cxn>
                <a:cxn ang="0">
                  <a:pos x="424297" y="1799449"/>
                </a:cxn>
                <a:cxn ang="0">
                  <a:pos x="575832" y="1717164"/>
                </a:cxn>
                <a:cxn ang="0">
                  <a:pos x="625622" y="1907720"/>
                </a:cxn>
                <a:cxn ang="0">
                  <a:pos x="753344" y="1795119"/>
                </a:cxn>
                <a:cxn ang="0">
                  <a:pos x="846430" y="1968351"/>
                </a:cxn>
                <a:cxn ang="0">
                  <a:pos x="946010" y="1829765"/>
                </a:cxn>
                <a:cxn ang="0">
                  <a:pos x="1075896" y="1977012"/>
                </a:cxn>
                <a:cxn ang="0">
                  <a:pos x="1138675" y="1816773"/>
                </a:cxn>
                <a:cxn ang="0">
                  <a:pos x="1301034" y="1931539"/>
                </a:cxn>
                <a:cxn ang="0">
                  <a:pos x="1324846" y="1762638"/>
                </a:cxn>
                <a:cxn ang="0">
                  <a:pos x="1508853" y="1834096"/>
                </a:cxn>
                <a:cxn ang="0">
                  <a:pos x="1493699" y="1665194"/>
                </a:cxn>
                <a:cxn ang="0">
                  <a:pos x="1688530" y="1693345"/>
                </a:cxn>
                <a:cxn ang="0">
                  <a:pos x="1634410" y="1530939"/>
                </a:cxn>
                <a:cxn ang="0">
                  <a:pos x="1831405" y="1513616"/>
                </a:cxn>
                <a:cxn ang="0">
                  <a:pos x="1742649" y="1368534"/>
                </a:cxn>
                <a:cxn ang="0">
                  <a:pos x="1928820" y="1307903"/>
                </a:cxn>
                <a:cxn ang="0">
                  <a:pos x="1807593" y="1186641"/>
                </a:cxn>
                <a:cxn ang="0">
                  <a:pos x="1976446" y="1082701"/>
                </a:cxn>
              </a:cxnLst>
              <a:rect l="txL" t="txT" r="txR" b="tx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rotWithShape="0">
              <a:gsLst>
                <a:gs pos="0">
                  <a:srgbClr val="D9D9D9">
                    <a:alpha val="100000"/>
                  </a:srgbClr>
                </a:gs>
                <a:gs pos="100000">
                  <a:srgbClr val="FFFFFF">
                    <a:alpha val="100000"/>
                  </a:srgbClr>
                </a:gs>
              </a:gsLst>
              <a:lin ang="0"/>
              <a:tileRect/>
            </a:gradFill>
            <a:ln w="9525">
              <a:noFill/>
            </a:ln>
          </p:spPr>
          <p:txBody>
            <a:bodyPr/>
            <a:lstStyle/>
            <a:p>
              <a:endParaRPr lang="fr-FR" altLang="en-US"/>
            </a:p>
          </p:txBody>
        </p:sp>
        <p:sp>
          <p:nvSpPr>
            <p:cNvPr id="52237" name="Oval 122"/>
            <p:cNvSpPr/>
            <p:nvPr/>
          </p:nvSpPr>
          <p:spPr>
            <a:xfrm flipV="1">
              <a:off x="5919779" y="3939509"/>
              <a:ext cx="1480349" cy="1481263"/>
            </a:xfrm>
            <a:custGeom>
              <a:avLst/>
              <a:gdLst>
                <a:gd name="txL" fmla="*/ 216792 w 1480349"/>
                <a:gd name="txT" fmla="*/ 216926 h 1481263"/>
                <a:gd name="txR" fmla="*/ 1263557 w 1480349"/>
                <a:gd name="txB" fmla="*/ 1264337 h 1481263"/>
              </a:gdLst>
              <a:ahLst/>
              <a:cxnLst>
                <a:cxn ang="17694720">
                  <a:pos x="740175" y="0"/>
                </a:cxn>
                <a:cxn ang="0">
                  <a:pos x="1480349" y="740632"/>
                </a:cxn>
                <a:cxn ang="5898240">
                  <a:pos x="740175" y="1481263"/>
                </a:cxn>
                <a:cxn ang="11796480">
                  <a:pos x="0" y="740632"/>
                </a:cxn>
                <a:cxn ang="17694720">
                  <a:pos x="216792" y="216926"/>
                </a:cxn>
                <a:cxn ang="5898240">
                  <a:pos x="216792" y="1264337"/>
                </a:cxn>
                <a:cxn ang="5898240">
                  <a:pos x="1263557" y="1264337"/>
                </a:cxn>
                <a:cxn ang="17694720">
                  <a:pos x="1263557" y="216926"/>
                </a:cxn>
              </a:cxnLst>
              <a:rect l="txL" t="txT" r="txR" b="txB"/>
              <a:pathLst>
                <a:path w="1480349" h="1481263">
                  <a:moveTo>
                    <a:pt x="0" y="740632"/>
                  </a:moveTo>
                  <a:arcTo wR="740175" hR="740632" stAng="-10800000" swAng="-21600000"/>
                  <a:close/>
                </a:path>
              </a:pathLst>
            </a:custGeom>
            <a:gradFill rotWithShape="0">
              <a:gsLst>
                <a:gs pos="0">
                  <a:srgbClr val="D9D9D9">
                    <a:alpha val="100000"/>
                  </a:srgbClr>
                </a:gs>
                <a:gs pos="100000">
                  <a:srgbClr val="FFFFFF">
                    <a:alpha val="100000"/>
                  </a:srgbClr>
                </a:gs>
              </a:gsLst>
              <a:lin ang="9000000"/>
              <a:tileRect/>
            </a:gradFill>
            <a:ln w="9525">
              <a:noFill/>
            </a:ln>
          </p:spPr>
          <p:txBody>
            <a:bodyPr/>
            <a:lstStyle/>
            <a:p>
              <a:endParaRPr lang="fr-FR" altLang="en-US"/>
            </a:p>
          </p:txBody>
        </p:sp>
        <p:sp>
          <p:nvSpPr>
            <p:cNvPr id="52238" name="Freeform 124"/>
            <p:cNvSpPr/>
            <p:nvPr/>
          </p:nvSpPr>
          <p:spPr>
            <a:xfrm rot="5399996" flipV="1">
              <a:off x="3701198" y="3503378"/>
              <a:ext cx="1732659" cy="1732659"/>
            </a:xfrm>
            <a:custGeom>
              <a:avLst/>
              <a:gdLst>
                <a:gd name="txL" fmla="*/ 0 w 972"/>
                <a:gd name="txT" fmla="*/ 0 h 972"/>
                <a:gd name="txR" fmla="*/ 972 w 972"/>
                <a:gd name="txB" fmla="*/ 972 h 972"/>
              </a:gdLst>
              <a:ahLst/>
              <a:cxnLst>
                <a:cxn ang="17694720">
                  <a:pos x="866330" y="0"/>
                </a:cxn>
                <a:cxn ang="0">
                  <a:pos x="1732659" y="866330"/>
                </a:cxn>
                <a:cxn ang="5898240">
                  <a:pos x="866330" y="1732659"/>
                </a:cxn>
                <a:cxn ang="11796480">
                  <a:pos x="0" y="866330"/>
                </a:cxn>
                <a:cxn ang="0">
                  <a:pos x="0" y="1732659"/>
                </a:cxn>
                <a:cxn ang="0">
                  <a:pos x="0" y="866330"/>
                </a:cxn>
                <a:cxn ang="0">
                  <a:pos x="866330" y="0"/>
                </a:cxn>
                <a:cxn ang="0">
                  <a:pos x="1732659" y="866330"/>
                </a:cxn>
                <a:cxn ang="0">
                  <a:pos x="866330" y="1732659"/>
                </a:cxn>
                <a:cxn ang="0">
                  <a:pos x="0" y="1732659"/>
                </a:cxn>
              </a:cxnLst>
              <a:rect l="txL" t="txT" r="txR" b="txB"/>
              <a:pathLst>
                <a:path w="972" h="972">
                  <a:moveTo>
                    <a:pt x="0" y="972"/>
                  </a:moveTo>
                  <a:cubicBezTo>
                    <a:pt x="0" y="486"/>
                    <a:pt x="0" y="486"/>
                    <a:pt x="0" y="486"/>
                  </a:cubicBezTo>
                  <a:cubicBezTo>
                    <a:pt x="0" y="218"/>
                    <a:pt x="218" y="0"/>
                    <a:pt x="486" y="0"/>
                  </a:cubicBezTo>
                  <a:cubicBezTo>
                    <a:pt x="754" y="0"/>
                    <a:pt x="972" y="218"/>
                    <a:pt x="972" y="486"/>
                  </a:cubicBezTo>
                  <a:cubicBezTo>
                    <a:pt x="972" y="754"/>
                    <a:pt x="754" y="972"/>
                    <a:pt x="486" y="972"/>
                  </a:cubicBezTo>
                  <a:lnTo>
                    <a:pt x="0" y="972"/>
                  </a:lnTo>
                  <a:close/>
                </a:path>
              </a:pathLst>
            </a:custGeom>
            <a:solidFill>
              <a:srgbClr val="C0D498">
                <a:alpha val="100000"/>
              </a:srgbClr>
            </a:solidFill>
            <a:ln w="9525">
              <a:noFill/>
            </a:ln>
          </p:spPr>
          <p:txBody>
            <a:bodyPr/>
            <a:lstStyle/>
            <a:p>
              <a:endParaRPr lang="fr-FR" altLang="en-US"/>
            </a:p>
          </p:txBody>
        </p:sp>
        <p:sp>
          <p:nvSpPr>
            <p:cNvPr id="52239" name="Freeform 125"/>
            <p:cNvSpPr/>
            <p:nvPr/>
          </p:nvSpPr>
          <p:spPr>
            <a:xfrm rot="5399996" flipV="1">
              <a:off x="3823559" y="3627255"/>
              <a:ext cx="1473317" cy="1475356"/>
            </a:xfrm>
            <a:custGeom>
              <a:avLst/>
              <a:gdLst>
                <a:gd name="txL" fmla="*/ 0 w 916"/>
                <a:gd name="txT" fmla="*/ 0 h 917"/>
                <a:gd name="txR" fmla="*/ 916 w 916"/>
                <a:gd name="txB" fmla="*/ 917 h 917"/>
              </a:gdLst>
              <a:ahLst/>
              <a:cxnLst>
                <a:cxn ang="17694720">
                  <a:pos x="736659" y="0"/>
                </a:cxn>
                <a:cxn ang="0">
                  <a:pos x="1473317" y="737678"/>
                </a:cxn>
                <a:cxn ang="5898240">
                  <a:pos x="736659" y="1475356"/>
                </a:cxn>
                <a:cxn ang="11796480">
                  <a:pos x="0" y="737678"/>
                </a:cxn>
                <a:cxn ang="0">
                  <a:pos x="1360727" y="736874"/>
                </a:cxn>
                <a:cxn ang="0">
                  <a:pos x="1463666" y="633904"/>
                </a:cxn>
                <a:cxn ang="0">
                  <a:pos x="1343035" y="593682"/>
                </a:cxn>
                <a:cxn ang="0">
                  <a:pos x="1421847" y="469797"/>
                </a:cxn>
                <a:cxn ang="0">
                  <a:pos x="1294782" y="458535"/>
                </a:cxn>
                <a:cxn ang="0">
                  <a:pos x="1341426" y="320170"/>
                </a:cxn>
                <a:cxn ang="0">
                  <a:pos x="1214361" y="337868"/>
                </a:cxn>
                <a:cxn ang="0">
                  <a:pos x="1228836" y="191458"/>
                </a:cxn>
                <a:cxn ang="0">
                  <a:pos x="1109813" y="238116"/>
                </a:cxn>
                <a:cxn ang="0">
                  <a:pos x="1088904" y="93316"/>
                </a:cxn>
                <a:cxn ang="0">
                  <a:pos x="984356" y="165716"/>
                </a:cxn>
                <a:cxn ang="0">
                  <a:pos x="931278" y="30569"/>
                </a:cxn>
                <a:cxn ang="0">
                  <a:pos x="846031" y="123885"/>
                </a:cxn>
                <a:cxn ang="0">
                  <a:pos x="762393" y="4827"/>
                </a:cxn>
                <a:cxn ang="0">
                  <a:pos x="701273" y="115840"/>
                </a:cxn>
                <a:cxn ang="0">
                  <a:pos x="593509" y="19307"/>
                </a:cxn>
                <a:cxn ang="0">
                  <a:pos x="559732" y="141583"/>
                </a:cxn>
                <a:cxn ang="0">
                  <a:pos x="431058" y="70791"/>
                </a:cxn>
                <a:cxn ang="0">
                  <a:pos x="427841" y="197894"/>
                </a:cxn>
                <a:cxn ang="0">
                  <a:pos x="286300" y="160889"/>
                </a:cxn>
                <a:cxn ang="0">
                  <a:pos x="312034" y="284774"/>
                </a:cxn>
                <a:cxn ang="0">
                  <a:pos x="165668" y="279948"/>
                </a:cxn>
                <a:cxn ang="0">
                  <a:pos x="218746" y="395788"/>
                </a:cxn>
                <a:cxn ang="0">
                  <a:pos x="75596" y="424748"/>
                </a:cxn>
                <a:cxn ang="0">
                  <a:pos x="154409" y="524500"/>
                </a:cxn>
                <a:cxn ang="0">
                  <a:pos x="20910" y="585637"/>
                </a:cxn>
                <a:cxn ang="0">
                  <a:pos x="120632" y="666082"/>
                </a:cxn>
                <a:cxn ang="0">
                  <a:pos x="4825" y="756180"/>
                </a:cxn>
                <a:cxn ang="0">
                  <a:pos x="120632" y="809274"/>
                </a:cxn>
                <a:cxn ang="0">
                  <a:pos x="28952" y="923505"/>
                </a:cxn>
                <a:cxn ang="0">
                  <a:pos x="154409" y="950856"/>
                </a:cxn>
                <a:cxn ang="0">
                  <a:pos x="91680" y="1082786"/>
                </a:cxn>
                <a:cxn ang="0">
                  <a:pos x="218746" y="1079568"/>
                </a:cxn>
                <a:cxn ang="0">
                  <a:pos x="188186" y="1222760"/>
                </a:cxn>
                <a:cxn ang="0">
                  <a:pos x="312034" y="1190582"/>
                </a:cxn>
                <a:cxn ang="0">
                  <a:pos x="315251" y="1336991"/>
                </a:cxn>
                <a:cxn ang="0">
                  <a:pos x="427841" y="1275853"/>
                </a:cxn>
                <a:cxn ang="0">
                  <a:pos x="464835" y="1417436"/>
                </a:cxn>
                <a:cxn ang="0">
                  <a:pos x="559732" y="1333773"/>
                </a:cxn>
                <a:cxn ang="0">
                  <a:pos x="628894" y="1462485"/>
                </a:cxn>
                <a:cxn ang="0">
                  <a:pos x="702882" y="1359516"/>
                </a:cxn>
                <a:cxn ang="0">
                  <a:pos x="799387" y="1468920"/>
                </a:cxn>
                <a:cxn ang="0">
                  <a:pos x="846031" y="1349862"/>
                </a:cxn>
                <a:cxn ang="0">
                  <a:pos x="966663" y="1435134"/>
                </a:cxn>
                <a:cxn ang="0">
                  <a:pos x="984356" y="1309640"/>
                </a:cxn>
                <a:cxn ang="0">
                  <a:pos x="1121072" y="1362733"/>
                </a:cxn>
                <a:cxn ang="0">
                  <a:pos x="1109813" y="1237240"/>
                </a:cxn>
                <a:cxn ang="0">
                  <a:pos x="1254571" y="1258155"/>
                </a:cxn>
                <a:cxn ang="0">
                  <a:pos x="1214361" y="1137488"/>
                </a:cxn>
                <a:cxn ang="0">
                  <a:pos x="1360727" y="1124617"/>
                </a:cxn>
                <a:cxn ang="0">
                  <a:pos x="1294782" y="1016821"/>
                </a:cxn>
                <a:cxn ang="0">
                  <a:pos x="1433106" y="971772"/>
                </a:cxn>
                <a:cxn ang="0">
                  <a:pos x="1343035" y="881674"/>
                </a:cxn>
                <a:cxn ang="0">
                  <a:pos x="1468492" y="804447"/>
                </a:cxn>
              </a:cxnLst>
              <a:rect l="txL" t="txT" r="txR" b="txB"/>
              <a:pathLst>
                <a:path w="916" h="917">
                  <a:moveTo>
                    <a:pt x="880" y="485"/>
                  </a:moveTo>
                  <a:cubicBezTo>
                    <a:pt x="864" y="479"/>
                    <a:pt x="848" y="473"/>
                    <a:pt x="847" y="472"/>
                  </a:cubicBezTo>
                  <a:cubicBezTo>
                    <a:pt x="844" y="469"/>
                    <a:pt x="846" y="459"/>
                    <a:pt x="846" y="459"/>
                  </a:cubicBezTo>
                  <a:cubicBezTo>
                    <a:pt x="846" y="458"/>
                    <a:pt x="846" y="458"/>
                    <a:pt x="846" y="458"/>
                  </a:cubicBezTo>
                  <a:cubicBezTo>
                    <a:pt x="846" y="458"/>
                    <a:pt x="845" y="447"/>
                    <a:pt x="847" y="445"/>
                  </a:cubicBezTo>
                  <a:cubicBezTo>
                    <a:pt x="848" y="443"/>
                    <a:pt x="864" y="439"/>
                    <a:pt x="880" y="433"/>
                  </a:cubicBezTo>
                  <a:cubicBezTo>
                    <a:pt x="896" y="427"/>
                    <a:pt x="912" y="421"/>
                    <a:pt x="913" y="418"/>
                  </a:cubicBezTo>
                  <a:cubicBezTo>
                    <a:pt x="916" y="414"/>
                    <a:pt x="914" y="398"/>
                    <a:pt x="910" y="394"/>
                  </a:cubicBezTo>
                  <a:cubicBezTo>
                    <a:pt x="909" y="392"/>
                    <a:pt x="892" y="389"/>
                    <a:pt x="875" y="387"/>
                  </a:cubicBezTo>
                  <a:cubicBezTo>
                    <a:pt x="858" y="385"/>
                    <a:pt x="841" y="383"/>
                    <a:pt x="840" y="382"/>
                  </a:cubicBezTo>
                  <a:cubicBezTo>
                    <a:pt x="836" y="380"/>
                    <a:pt x="835" y="369"/>
                    <a:pt x="835" y="369"/>
                  </a:cubicBezTo>
                  <a:cubicBezTo>
                    <a:pt x="835" y="369"/>
                    <a:pt x="835" y="369"/>
                    <a:pt x="835" y="369"/>
                  </a:cubicBezTo>
                  <a:cubicBezTo>
                    <a:pt x="835" y="369"/>
                    <a:pt x="832" y="359"/>
                    <a:pt x="833" y="356"/>
                  </a:cubicBezTo>
                  <a:cubicBezTo>
                    <a:pt x="834" y="354"/>
                    <a:pt x="848" y="346"/>
                    <a:pt x="863" y="337"/>
                  </a:cubicBezTo>
                  <a:cubicBezTo>
                    <a:pt x="877" y="328"/>
                    <a:pt x="891" y="317"/>
                    <a:pt x="892" y="315"/>
                  </a:cubicBezTo>
                  <a:cubicBezTo>
                    <a:pt x="894" y="309"/>
                    <a:pt x="888" y="295"/>
                    <a:pt x="884" y="292"/>
                  </a:cubicBezTo>
                  <a:cubicBezTo>
                    <a:pt x="881" y="290"/>
                    <a:pt x="864" y="291"/>
                    <a:pt x="847" y="293"/>
                  </a:cubicBezTo>
                  <a:cubicBezTo>
                    <a:pt x="830" y="295"/>
                    <a:pt x="814" y="297"/>
                    <a:pt x="812" y="296"/>
                  </a:cubicBezTo>
                  <a:cubicBezTo>
                    <a:pt x="808" y="295"/>
                    <a:pt x="805" y="285"/>
                    <a:pt x="805" y="285"/>
                  </a:cubicBezTo>
                  <a:cubicBezTo>
                    <a:pt x="805" y="285"/>
                    <a:pt x="805" y="285"/>
                    <a:pt x="805" y="285"/>
                  </a:cubicBezTo>
                  <a:cubicBezTo>
                    <a:pt x="805" y="285"/>
                    <a:pt x="799" y="275"/>
                    <a:pt x="799" y="272"/>
                  </a:cubicBezTo>
                  <a:cubicBezTo>
                    <a:pt x="800" y="271"/>
                    <a:pt x="812" y="259"/>
                    <a:pt x="824" y="247"/>
                  </a:cubicBezTo>
                  <a:cubicBezTo>
                    <a:pt x="835" y="235"/>
                    <a:pt x="847" y="222"/>
                    <a:pt x="847" y="219"/>
                  </a:cubicBezTo>
                  <a:cubicBezTo>
                    <a:pt x="847" y="213"/>
                    <a:pt x="839" y="200"/>
                    <a:pt x="834" y="199"/>
                  </a:cubicBezTo>
                  <a:cubicBezTo>
                    <a:pt x="831" y="198"/>
                    <a:pt x="815" y="202"/>
                    <a:pt x="798" y="208"/>
                  </a:cubicBezTo>
                  <a:cubicBezTo>
                    <a:pt x="782" y="213"/>
                    <a:pt x="767" y="220"/>
                    <a:pt x="765" y="220"/>
                  </a:cubicBezTo>
                  <a:cubicBezTo>
                    <a:pt x="761" y="219"/>
                    <a:pt x="755" y="210"/>
                    <a:pt x="755" y="210"/>
                  </a:cubicBezTo>
                  <a:cubicBezTo>
                    <a:pt x="755" y="210"/>
                    <a:pt x="755" y="210"/>
                    <a:pt x="755" y="210"/>
                  </a:cubicBezTo>
                  <a:cubicBezTo>
                    <a:pt x="755" y="210"/>
                    <a:pt x="748" y="202"/>
                    <a:pt x="747" y="199"/>
                  </a:cubicBezTo>
                  <a:cubicBezTo>
                    <a:pt x="747" y="197"/>
                    <a:pt x="756" y="183"/>
                    <a:pt x="765" y="169"/>
                  </a:cubicBezTo>
                  <a:cubicBezTo>
                    <a:pt x="774" y="154"/>
                    <a:pt x="782" y="139"/>
                    <a:pt x="781" y="136"/>
                  </a:cubicBezTo>
                  <a:cubicBezTo>
                    <a:pt x="780" y="130"/>
                    <a:pt x="769" y="120"/>
                    <a:pt x="764" y="119"/>
                  </a:cubicBezTo>
                  <a:cubicBezTo>
                    <a:pt x="761" y="119"/>
                    <a:pt x="746" y="127"/>
                    <a:pt x="732" y="136"/>
                  </a:cubicBezTo>
                  <a:cubicBezTo>
                    <a:pt x="717" y="145"/>
                    <a:pt x="703" y="155"/>
                    <a:pt x="701" y="155"/>
                  </a:cubicBezTo>
                  <a:cubicBezTo>
                    <a:pt x="698" y="156"/>
                    <a:pt x="690" y="148"/>
                    <a:pt x="690" y="148"/>
                  </a:cubicBezTo>
                  <a:cubicBezTo>
                    <a:pt x="690" y="148"/>
                    <a:pt x="690" y="148"/>
                    <a:pt x="690" y="148"/>
                  </a:cubicBezTo>
                  <a:cubicBezTo>
                    <a:pt x="690" y="148"/>
                    <a:pt x="681" y="142"/>
                    <a:pt x="680" y="139"/>
                  </a:cubicBezTo>
                  <a:cubicBezTo>
                    <a:pt x="679" y="138"/>
                    <a:pt x="685" y="122"/>
                    <a:pt x="690" y="106"/>
                  </a:cubicBezTo>
                  <a:cubicBezTo>
                    <a:pt x="695" y="90"/>
                    <a:pt x="699" y="73"/>
                    <a:pt x="698" y="70"/>
                  </a:cubicBezTo>
                  <a:cubicBezTo>
                    <a:pt x="696" y="65"/>
                    <a:pt x="683" y="58"/>
                    <a:pt x="677" y="58"/>
                  </a:cubicBezTo>
                  <a:cubicBezTo>
                    <a:pt x="675" y="58"/>
                    <a:pt x="662" y="70"/>
                    <a:pt x="650" y="82"/>
                  </a:cubicBezTo>
                  <a:cubicBezTo>
                    <a:pt x="638" y="94"/>
                    <a:pt x="627" y="107"/>
                    <a:pt x="625" y="108"/>
                  </a:cubicBezTo>
                  <a:cubicBezTo>
                    <a:pt x="622" y="109"/>
                    <a:pt x="612" y="103"/>
                    <a:pt x="612" y="103"/>
                  </a:cubicBezTo>
                  <a:cubicBezTo>
                    <a:pt x="612" y="103"/>
                    <a:pt x="612" y="103"/>
                    <a:pt x="612" y="103"/>
                  </a:cubicBezTo>
                  <a:cubicBezTo>
                    <a:pt x="612" y="103"/>
                    <a:pt x="602" y="100"/>
                    <a:pt x="600" y="97"/>
                  </a:cubicBezTo>
                  <a:cubicBezTo>
                    <a:pt x="599" y="95"/>
                    <a:pt x="601" y="79"/>
                    <a:pt x="602" y="62"/>
                  </a:cubicBezTo>
                  <a:cubicBezTo>
                    <a:pt x="604" y="45"/>
                    <a:pt x="604" y="28"/>
                    <a:pt x="602" y="26"/>
                  </a:cubicBezTo>
                  <a:cubicBezTo>
                    <a:pt x="599" y="21"/>
                    <a:pt x="584" y="17"/>
                    <a:pt x="579" y="19"/>
                  </a:cubicBezTo>
                  <a:cubicBezTo>
                    <a:pt x="577" y="19"/>
                    <a:pt x="567" y="34"/>
                    <a:pt x="558" y="48"/>
                  </a:cubicBezTo>
                  <a:cubicBezTo>
                    <a:pt x="549" y="63"/>
                    <a:pt x="541" y="78"/>
                    <a:pt x="540" y="79"/>
                  </a:cubicBezTo>
                  <a:cubicBezTo>
                    <a:pt x="537" y="81"/>
                    <a:pt x="526" y="78"/>
                    <a:pt x="526" y="78"/>
                  </a:cubicBezTo>
                  <a:cubicBezTo>
                    <a:pt x="526" y="77"/>
                    <a:pt x="526" y="77"/>
                    <a:pt x="526" y="77"/>
                  </a:cubicBezTo>
                  <a:cubicBezTo>
                    <a:pt x="526" y="77"/>
                    <a:pt x="515" y="77"/>
                    <a:pt x="513" y="74"/>
                  </a:cubicBezTo>
                  <a:cubicBezTo>
                    <a:pt x="512" y="73"/>
                    <a:pt x="510" y="56"/>
                    <a:pt x="507" y="40"/>
                  </a:cubicBezTo>
                  <a:cubicBezTo>
                    <a:pt x="504" y="23"/>
                    <a:pt x="501" y="6"/>
                    <a:pt x="499" y="4"/>
                  </a:cubicBezTo>
                  <a:cubicBezTo>
                    <a:pt x="494" y="0"/>
                    <a:pt x="479" y="0"/>
                    <a:pt x="474" y="3"/>
                  </a:cubicBezTo>
                  <a:cubicBezTo>
                    <a:pt x="472" y="4"/>
                    <a:pt x="466" y="20"/>
                    <a:pt x="461" y="37"/>
                  </a:cubicBezTo>
                  <a:cubicBezTo>
                    <a:pt x="456" y="53"/>
                    <a:pt x="451" y="69"/>
                    <a:pt x="450" y="71"/>
                  </a:cubicBezTo>
                  <a:cubicBezTo>
                    <a:pt x="447" y="73"/>
                    <a:pt x="437" y="72"/>
                    <a:pt x="437" y="72"/>
                  </a:cubicBezTo>
                  <a:cubicBezTo>
                    <a:pt x="436" y="72"/>
                    <a:pt x="436" y="72"/>
                    <a:pt x="436" y="72"/>
                  </a:cubicBezTo>
                  <a:cubicBezTo>
                    <a:pt x="436" y="72"/>
                    <a:pt x="426" y="74"/>
                    <a:pt x="423" y="72"/>
                  </a:cubicBezTo>
                  <a:cubicBezTo>
                    <a:pt x="421" y="71"/>
                    <a:pt x="416" y="56"/>
                    <a:pt x="409" y="40"/>
                  </a:cubicBezTo>
                  <a:cubicBezTo>
                    <a:pt x="403" y="24"/>
                    <a:pt x="395" y="9"/>
                    <a:pt x="393" y="7"/>
                  </a:cubicBezTo>
                  <a:cubicBezTo>
                    <a:pt x="388" y="5"/>
                    <a:pt x="373" y="8"/>
                    <a:pt x="369" y="12"/>
                  </a:cubicBezTo>
                  <a:cubicBezTo>
                    <a:pt x="367" y="13"/>
                    <a:pt x="365" y="31"/>
                    <a:pt x="363" y="47"/>
                  </a:cubicBezTo>
                  <a:cubicBezTo>
                    <a:pt x="362" y="65"/>
                    <a:pt x="362" y="81"/>
                    <a:pt x="361" y="83"/>
                  </a:cubicBezTo>
                  <a:cubicBezTo>
                    <a:pt x="359" y="86"/>
                    <a:pt x="348" y="88"/>
                    <a:pt x="348" y="88"/>
                  </a:cubicBezTo>
                  <a:cubicBezTo>
                    <a:pt x="348" y="88"/>
                    <a:pt x="348" y="88"/>
                    <a:pt x="348" y="88"/>
                  </a:cubicBezTo>
                  <a:cubicBezTo>
                    <a:pt x="348" y="88"/>
                    <a:pt x="338" y="92"/>
                    <a:pt x="335" y="91"/>
                  </a:cubicBezTo>
                  <a:cubicBezTo>
                    <a:pt x="333" y="90"/>
                    <a:pt x="324" y="76"/>
                    <a:pt x="314" y="63"/>
                  </a:cubicBezTo>
                  <a:cubicBezTo>
                    <a:pt x="304" y="49"/>
                    <a:pt x="293" y="35"/>
                    <a:pt x="290" y="35"/>
                  </a:cubicBezTo>
                  <a:cubicBezTo>
                    <a:pt x="285" y="33"/>
                    <a:pt x="271" y="40"/>
                    <a:pt x="268" y="44"/>
                  </a:cubicBezTo>
                  <a:cubicBezTo>
                    <a:pt x="267" y="47"/>
                    <a:pt x="269" y="64"/>
                    <a:pt x="271" y="81"/>
                  </a:cubicBezTo>
                  <a:cubicBezTo>
                    <a:pt x="274" y="97"/>
                    <a:pt x="277" y="114"/>
                    <a:pt x="277" y="116"/>
                  </a:cubicBezTo>
                  <a:cubicBezTo>
                    <a:pt x="276" y="119"/>
                    <a:pt x="266" y="123"/>
                    <a:pt x="266" y="123"/>
                  </a:cubicBezTo>
                  <a:cubicBezTo>
                    <a:pt x="266" y="123"/>
                    <a:pt x="266" y="123"/>
                    <a:pt x="266" y="123"/>
                  </a:cubicBezTo>
                  <a:cubicBezTo>
                    <a:pt x="266" y="123"/>
                    <a:pt x="257" y="130"/>
                    <a:pt x="253" y="129"/>
                  </a:cubicBezTo>
                  <a:cubicBezTo>
                    <a:pt x="252" y="129"/>
                    <a:pt x="240" y="118"/>
                    <a:pt x="227" y="107"/>
                  </a:cubicBezTo>
                  <a:cubicBezTo>
                    <a:pt x="214" y="96"/>
                    <a:pt x="200" y="85"/>
                    <a:pt x="197" y="85"/>
                  </a:cubicBezTo>
                  <a:cubicBezTo>
                    <a:pt x="192" y="85"/>
                    <a:pt x="179" y="95"/>
                    <a:pt x="178" y="100"/>
                  </a:cubicBezTo>
                  <a:cubicBezTo>
                    <a:pt x="177" y="102"/>
                    <a:pt x="183" y="118"/>
                    <a:pt x="189" y="134"/>
                  </a:cubicBezTo>
                  <a:cubicBezTo>
                    <a:pt x="196" y="150"/>
                    <a:pt x="203" y="165"/>
                    <a:pt x="203" y="167"/>
                  </a:cubicBezTo>
                  <a:cubicBezTo>
                    <a:pt x="203" y="171"/>
                    <a:pt x="194" y="177"/>
                    <a:pt x="194" y="177"/>
                  </a:cubicBezTo>
                  <a:cubicBezTo>
                    <a:pt x="194" y="177"/>
                    <a:pt x="194" y="177"/>
                    <a:pt x="194" y="177"/>
                  </a:cubicBezTo>
                  <a:cubicBezTo>
                    <a:pt x="194" y="177"/>
                    <a:pt x="186" y="185"/>
                    <a:pt x="183" y="186"/>
                  </a:cubicBezTo>
                  <a:cubicBezTo>
                    <a:pt x="181" y="186"/>
                    <a:pt x="167" y="178"/>
                    <a:pt x="152" y="170"/>
                  </a:cubicBezTo>
                  <a:cubicBezTo>
                    <a:pt x="137" y="162"/>
                    <a:pt x="121" y="155"/>
                    <a:pt x="118" y="156"/>
                  </a:cubicBezTo>
                  <a:cubicBezTo>
                    <a:pt x="113" y="157"/>
                    <a:pt x="103" y="169"/>
                    <a:pt x="103" y="174"/>
                  </a:cubicBezTo>
                  <a:cubicBezTo>
                    <a:pt x="103" y="177"/>
                    <a:pt x="112" y="191"/>
                    <a:pt x="122" y="205"/>
                  </a:cubicBezTo>
                  <a:cubicBezTo>
                    <a:pt x="132" y="219"/>
                    <a:pt x="142" y="232"/>
                    <a:pt x="143" y="234"/>
                  </a:cubicBezTo>
                  <a:cubicBezTo>
                    <a:pt x="143" y="238"/>
                    <a:pt x="136" y="246"/>
                    <a:pt x="136" y="246"/>
                  </a:cubicBezTo>
                  <a:cubicBezTo>
                    <a:pt x="136" y="246"/>
                    <a:pt x="136" y="246"/>
                    <a:pt x="136" y="246"/>
                  </a:cubicBezTo>
                  <a:cubicBezTo>
                    <a:pt x="136" y="246"/>
                    <a:pt x="131" y="256"/>
                    <a:pt x="128" y="257"/>
                  </a:cubicBezTo>
                  <a:cubicBezTo>
                    <a:pt x="126" y="257"/>
                    <a:pt x="110" y="253"/>
                    <a:pt x="94" y="248"/>
                  </a:cubicBezTo>
                  <a:cubicBezTo>
                    <a:pt x="77" y="244"/>
                    <a:pt x="60" y="241"/>
                    <a:pt x="58" y="242"/>
                  </a:cubicBezTo>
                  <a:cubicBezTo>
                    <a:pt x="52" y="245"/>
                    <a:pt x="46" y="259"/>
                    <a:pt x="47" y="264"/>
                  </a:cubicBezTo>
                  <a:cubicBezTo>
                    <a:pt x="47" y="266"/>
                    <a:pt x="60" y="279"/>
                    <a:pt x="72" y="290"/>
                  </a:cubicBezTo>
                  <a:cubicBezTo>
                    <a:pt x="85" y="301"/>
                    <a:pt x="98" y="311"/>
                    <a:pt x="99" y="313"/>
                  </a:cubicBezTo>
                  <a:cubicBezTo>
                    <a:pt x="101" y="317"/>
                    <a:pt x="96" y="326"/>
                    <a:pt x="96" y="326"/>
                  </a:cubicBezTo>
                  <a:cubicBezTo>
                    <a:pt x="96" y="326"/>
                    <a:pt x="96" y="326"/>
                    <a:pt x="96" y="326"/>
                  </a:cubicBezTo>
                  <a:cubicBezTo>
                    <a:pt x="95" y="326"/>
                    <a:pt x="93" y="337"/>
                    <a:pt x="90" y="339"/>
                  </a:cubicBezTo>
                  <a:cubicBezTo>
                    <a:pt x="89" y="340"/>
                    <a:pt x="72" y="339"/>
                    <a:pt x="55" y="338"/>
                  </a:cubicBezTo>
                  <a:cubicBezTo>
                    <a:pt x="38" y="338"/>
                    <a:pt x="21" y="339"/>
                    <a:pt x="19" y="341"/>
                  </a:cubicBezTo>
                  <a:cubicBezTo>
                    <a:pt x="14" y="344"/>
                    <a:pt x="11" y="359"/>
                    <a:pt x="13" y="364"/>
                  </a:cubicBezTo>
                  <a:cubicBezTo>
                    <a:pt x="14" y="367"/>
                    <a:pt x="29" y="376"/>
                    <a:pt x="44" y="383"/>
                  </a:cubicBezTo>
                  <a:cubicBezTo>
                    <a:pt x="59" y="391"/>
                    <a:pt x="74" y="398"/>
                    <a:pt x="76" y="400"/>
                  </a:cubicBezTo>
                  <a:cubicBezTo>
                    <a:pt x="78" y="403"/>
                    <a:pt x="75" y="413"/>
                    <a:pt x="75" y="413"/>
                  </a:cubicBezTo>
                  <a:cubicBezTo>
                    <a:pt x="75" y="414"/>
                    <a:pt x="75" y="414"/>
                    <a:pt x="75" y="414"/>
                  </a:cubicBezTo>
                  <a:cubicBezTo>
                    <a:pt x="75" y="414"/>
                    <a:pt x="75" y="424"/>
                    <a:pt x="72" y="427"/>
                  </a:cubicBezTo>
                  <a:cubicBezTo>
                    <a:pt x="71" y="428"/>
                    <a:pt x="55" y="431"/>
                    <a:pt x="38" y="435"/>
                  </a:cubicBezTo>
                  <a:cubicBezTo>
                    <a:pt x="22" y="439"/>
                    <a:pt x="5" y="443"/>
                    <a:pt x="3" y="445"/>
                  </a:cubicBezTo>
                  <a:cubicBezTo>
                    <a:pt x="0" y="450"/>
                    <a:pt x="0" y="465"/>
                    <a:pt x="3" y="470"/>
                  </a:cubicBezTo>
                  <a:cubicBezTo>
                    <a:pt x="5" y="472"/>
                    <a:pt x="21" y="477"/>
                    <a:pt x="38" y="481"/>
                  </a:cubicBezTo>
                  <a:cubicBezTo>
                    <a:pt x="54" y="485"/>
                    <a:pt x="71" y="489"/>
                    <a:pt x="72" y="490"/>
                  </a:cubicBezTo>
                  <a:cubicBezTo>
                    <a:pt x="75" y="492"/>
                    <a:pt x="75" y="503"/>
                    <a:pt x="75" y="503"/>
                  </a:cubicBezTo>
                  <a:cubicBezTo>
                    <a:pt x="75" y="503"/>
                    <a:pt x="75" y="503"/>
                    <a:pt x="75" y="503"/>
                  </a:cubicBezTo>
                  <a:cubicBezTo>
                    <a:pt x="75" y="503"/>
                    <a:pt x="77" y="514"/>
                    <a:pt x="76" y="517"/>
                  </a:cubicBezTo>
                  <a:cubicBezTo>
                    <a:pt x="75" y="519"/>
                    <a:pt x="59" y="525"/>
                    <a:pt x="44" y="533"/>
                  </a:cubicBezTo>
                  <a:cubicBezTo>
                    <a:pt x="29" y="540"/>
                    <a:pt x="14" y="548"/>
                    <a:pt x="13" y="551"/>
                  </a:cubicBezTo>
                  <a:cubicBezTo>
                    <a:pt x="10" y="556"/>
                    <a:pt x="14" y="571"/>
                    <a:pt x="18" y="574"/>
                  </a:cubicBezTo>
                  <a:cubicBezTo>
                    <a:pt x="20" y="576"/>
                    <a:pt x="37" y="577"/>
                    <a:pt x="54" y="578"/>
                  </a:cubicBezTo>
                  <a:cubicBezTo>
                    <a:pt x="71" y="578"/>
                    <a:pt x="88" y="577"/>
                    <a:pt x="90" y="578"/>
                  </a:cubicBezTo>
                  <a:cubicBezTo>
                    <a:pt x="93" y="580"/>
                    <a:pt x="96" y="591"/>
                    <a:pt x="96" y="591"/>
                  </a:cubicBezTo>
                  <a:cubicBezTo>
                    <a:pt x="96" y="591"/>
                    <a:pt x="96" y="591"/>
                    <a:pt x="96" y="591"/>
                  </a:cubicBezTo>
                  <a:cubicBezTo>
                    <a:pt x="96" y="591"/>
                    <a:pt x="100" y="601"/>
                    <a:pt x="99" y="604"/>
                  </a:cubicBezTo>
                  <a:cubicBezTo>
                    <a:pt x="99" y="606"/>
                    <a:pt x="86" y="615"/>
                    <a:pt x="72" y="626"/>
                  </a:cubicBezTo>
                  <a:cubicBezTo>
                    <a:pt x="59" y="637"/>
                    <a:pt x="47" y="649"/>
                    <a:pt x="46" y="651"/>
                  </a:cubicBezTo>
                  <a:cubicBezTo>
                    <a:pt x="45" y="657"/>
                    <a:pt x="52" y="671"/>
                    <a:pt x="57" y="673"/>
                  </a:cubicBezTo>
                  <a:cubicBezTo>
                    <a:pt x="59" y="674"/>
                    <a:pt x="76" y="672"/>
                    <a:pt x="93" y="668"/>
                  </a:cubicBezTo>
                  <a:cubicBezTo>
                    <a:pt x="110" y="664"/>
                    <a:pt x="126" y="660"/>
                    <a:pt x="128" y="660"/>
                  </a:cubicBezTo>
                  <a:cubicBezTo>
                    <a:pt x="131" y="661"/>
                    <a:pt x="136" y="671"/>
                    <a:pt x="136" y="671"/>
                  </a:cubicBezTo>
                  <a:cubicBezTo>
                    <a:pt x="136" y="671"/>
                    <a:pt x="136" y="671"/>
                    <a:pt x="136" y="671"/>
                  </a:cubicBezTo>
                  <a:cubicBezTo>
                    <a:pt x="136" y="671"/>
                    <a:pt x="143" y="680"/>
                    <a:pt x="143" y="683"/>
                  </a:cubicBezTo>
                  <a:cubicBezTo>
                    <a:pt x="143" y="685"/>
                    <a:pt x="132" y="697"/>
                    <a:pt x="122" y="711"/>
                  </a:cubicBezTo>
                  <a:cubicBezTo>
                    <a:pt x="111" y="724"/>
                    <a:pt x="102" y="739"/>
                    <a:pt x="102" y="741"/>
                  </a:cubicBezTo>
                  <a:cubicBezTo>
                    <a:pt x="102" y="747"/>
                    <a:pt x="112" y="759"/>
                    <a:pt x="117" y="760"/>
                  </a:cubicBezTo>
                  <a:cubicBezTo>
                    <a:pt x="120" y="761"/>
                    <a:pt x="136" y="754"/>
                    <a:pt x="151" y="747"/>
                  </a:cubicBezTo>
                  <a:cubicBezTo>
                    <a:pt x="166" y="739"/>
                    <a:pt x="181" y="731"/>
                    <a:pt x="183" y="731"/>
                  </a:cubicBezTo>
                  <a:cubicBezTo>
                    <a:pt x="187" y="731"/>
                    <a:pt x="194" y="740"/>
                    <a:pt x="194" y="740"/>
                  </a:cubicBezTo>
                  <a:cubicBezTo>
                    <a:pt x="194" y="740"/>
                    <a:pt x="194" y="740"/>
                    <a:pt x="194" y="740"/>
                  </a:cubicBezTo>
                  <a:cubicBezTo>
                    <a:pt x="194" y="740"/>
                    <a:pt x="202" y="747"/>
                    <a:pt x="203" y="750"/>
                  </a:cubicBezTo>
                  <a:cubicBezTo>
                    <a:pt x="203" y="751"/>
                    <a:pt x="196" y="766"/>
                    <a:pt x="189" y="782"/>
                  </a:cubicBezTo>
                  <a:cubicBezTo>
                    <a:pt x="182" y="797"/>
                    <a:pt x="176" y="813"/>
                    <a:pt x="177" y="816"/>
                  </a:cubicBezTo>
                  <a:cubicBezTo>
                    <a:pt x="178" y="822"/>
                    <a:pt x="191" y="831"/>
                    <a:pt x="196" y="831"/>
                  </a:cubicBezTo>
                  <a:cubicBezTo>
                    <a:pt x="199" y="831"/>
                    <a:pt x="213" y="821"/>
                    <a:pt x="226" y="810"/>
                  </a:cubicBezTo>
                  <a:cubicBezTo>
                    <a:pt x="239" y="799"/>
                    <a:pt x="252" y="788"/>
                    <a:pt x="254" y="787"/>
                  </a:cubicBezTo>
                  <a:cubicBezTo>
                    <a:pt x="257" y="787"/>
                    <a:pt x="266" y="793"/>
                    <a:pt x="266" y="793"/>
                  </a:cubicBezTo>
                  <a:cubicBezTo>
                    <a:pt x="266" y="793"/>
                    <a:pt x="266" y="793"/>
                    <a:pt x="266" y="793"/>
                  </a:cubicBezTo>
                  <a:cubicBezTo>
                    <a:pt x="266" y="793"/>
                    <a:pt x="276" y="798"/>
                    <a:pt x="277" y="801"/>
                  </a:cubicBezTo>
                  <a:cubicBezTo>
                    <a:pt x="278" y="803"/>
                    <a:pt x="274" y="819"/>
                    <a:pt x="271" y="835"/>
                  </a:cubicBezTo>
                  <a:cubicBezTo>
                    <a:pt x="268" y="852"/>
                    <a:pt x="265" y="869"/>
                    <a:pt x="267" y="872"/>
                  </a:cubicBezTo>
                  <a:cubicBezTo>
                    <a:pt x="269" y="877"/>
                    <a:pt x="284" y="883"/>
                    <a:pt x="289" y="881"/>
                  </a:cubicBezTo>
                  <a:cubicBezTo>
                    <a:pt x="291" y="881"/>
                    <a:pt x="303" y="868"/>
                    <a:pt x="313" y="854"/>
                  </a:cubicBezTo>
                  <a:cubicBezTo>
                    <a:pt x="324" y="841"/>
                    <a:pt x="333" y="827"/>
                    <a:pt x="335" y="826"/>
                  </a:cubicBezTo>
                  <a:cubicBezTo>
                    <a:pt x="338" y="824"/>
                    <a:pt x="348" y="829"/>
                    <a:pt x="348" y="829"/>
                  </a:cubicBezTo>
                  <a:cubicBezTo>
                    <a:pt x="348" y="829"/>
                    <a:pt x="348" y="829"/>
                    <a:pt x="348" y="829"/>
                  </a:cubicBezTo>
                  <a:cubicBezTo>
                    <a:pt x="348" y="829"/>
                    <a:pt x="359" y="831"/>
                    <a:pt x="361" y="834"/>
                  </a:cubicBezTo>
                  <a:cubicBezTo>
                    <a:pt x="362" y="835"/>
                    <a:pt x="362" y="852"/>
                    <a:pt x="363" y="869"/>
                  </a:cubicBezTo>
                  <a:cubicBezTo>
                    <a:pt x="364" y="886"/>
                    <a:pt x="365" y="903"/>
                    <a:pt x="367" y="905"/>
                  </a:cubicBezTo>
                  <a:cubicBezTo>
                    <a:pt x="371" y="909"/>
                    <a:pt x="386" y="912"/>
                    <a:pt x="391" y="909"/>
                  </a:cubicBezTo>
                  <a:cubicBezTo>
                    <a:pt x="393" y="908"/>
                    <a:pt x="401" y="893"/>
                    <a:pt x="408" y="877"/>
                  </a:cubicBezTo>
                  <a:cubicBezTo>
                    <a:pt x="415" y="862"/>
                    <a:pt x="422" y="846"/>
                    <a:pt x="423" y="845"/>
                  </a:cubicBezTo>
                  <a:cubicBezTo>
                    <a:pt x="426" y="842"/>
                    <a:pt x="436" y="844"/>
                    <a:pt x="436" y="844"/>
                  </a:cubicBezTo>
                  <a:cubicBezTo>
                    <a:pt x="437" y="845"/>
                    <a:pt x="437" y="845"/>
                    <a:pt x="437" y="845"/>
                  </a:cubicBezTo>
                  <a:cubicBezTo>
                    <a:pt x="437" y="845"/>
                    <a:pt x="448" y="844"/>
                    <a:pt x="450" y="846"/>
                  </a:cubicBezTo>
                  <a:cubicBezTo>
                    <a:pt x="451" y="847"/>
                    <a:pt x="455" y="864"/>
                    <a:pt x="460" y="880"/>
                  </a:cubicBezTo>
                  <a:cubicBezTo>
                    <a:pt x="465" y="896"/>
                    <a:pt x="470" y="912"/>
                    <a:pt x="473" y="914"/>
                  </a:cubicBezTo>
                  <a:cubicBezTo>
                    <a:pt x="477" y="917"/>
                    <a:pt x="493" y="916"/>
                    <a:pt x="497" y="913"/>
                  </a:cubicBezTo>
                  <a:cubicBezTo>
                    <a:pt x="499" y="911"/>
                    <a:pt x="503" y="894"/>
                    <a:pt x="506" y="878"/>
                  </a:cubicBezTo>
                  <a:cubicBezTo>
                    <a:pt x="510" y="861"/>
                    <a:pt x="512" y="844"/>
                    <a:pt x="513" y="843"/>
                  </a:cubicBezTo>
                  <a:cubicBezTo>
                    <a:pt x="515" y="840"/>
                    <a:pt x="526" y="839"/>
                    <a:pt x="526" y="839"/>
                  </a:cubicBezTo>
                  <a:cubicBezTo>
                    <a:pt x="526" y="839"/>
                    <a:pt x="526" y="839"/>
                    <a:pt x="526" y="839"/>
                  </a:cubicBezTo>
                  <a:cubicBezTo>
                    <a:pt x="526" y="839"/>
                    <a:pt x="537" y="837"/>
                    <a:pt x="540" y="838"/>
                  </a:cubicBezTo>
                  <a:cubicBezTo>
                    <a:pt x="541" y="839"/>
                    <a:pt x="549" y="854"/>
                    <a:pt x="557" y="868"/>
                  </a:cubicBezTo>
                  <a:cubicBezTo>
                    <a:pt x="565" y="883"/>
                    <a:pt x="575" y="898"/>
                    <a:pt x="577" y="899"/>
                  </a:cubicBezTo>
                  <a:cubicBezTo>
                    <a:pt x="583" y="901"/>
                    <a:pt x="597" y="896"/>
                    <a:pt x="601" y="892"/>
                  </a:cubicBezTo>
                  <a:cubicBezTo>
                    <a:pt x="602" y="890"/>
                    <a:pt x="602" y="873"/>
                    <a:pt x="602" y="855"/>
                  </a:cubicBezTo>
                  <a:cubicBezTo>
                    <a:pt x="601" y="838"/>
                    <a:pt x="600" y="822"/>
                    <a:pt x="600" y="820"/>
                  </a:cubicBezTo>
                  <a:cubicBezTo>
                    <a:pt x="602" y="816"/>
                    <a:pt x="612" y="814"/>
                    <a:pt x="612" y="814"/>
                  </a:cubicBezTo>
                  <a:cubicBezTo>
                    <a:pt x="612" y="814"/>
                    <a:pt x="612" y="814"/>
                    <a:pt x="612" y="814"/>
                  </a:cubicBezTo>
                  <a:cubicBezTo>
                    <a:pt x="612" y="814"/>
                    <a:pt x="622" y="808"/>
                    <a:pt x="625" y="809"/>
                  </a:cubicBezTo>
                  <a:cubicBezTo>
                    <a:pt x="627" y="809"/>
                    <a:pt x="638" y="822"/>
                    <a:pt x="649" y="835"/>
                  </a:cubicBezTo>
                  <a:cubicBezTo>
                    <a:pt x="661" y="847"/>
                    <a:pt x="673" y="859"/>
                    <a:pt x="676" y="860"/>
                  </a:cubicBezTo>
                  <a:cubicBezTo>
                    <a:pt x="681" y="860"/>
                    <a:pt x="695" y="852"/>
                    <a:pt x="697" y="847"/>
                  </a:cubicBezTo>
                  <a:cubicBezTo>
                    <a:pt x="698" y="845"/>
                    <a:pt x="694" y="828"/>
                    <a:pt x="689" y="812"/>
                  </a:cubicBezTo>
                  <a:cubicBezTo>
                    <a:pt x="685" y="795"/>
                    <a:pt x="679" y="779"/>
                    <a:pt x="680" y="778"/>
                  </a:cubicBezTo>
                  <a:cubicBezTo>
                    <a:pt x="680" y="774"/>
                    <a:pt x="690" y="769"/>
                    <a:pt x="690" y="769"/>
                  </a:cubicBezTo>
                  <a:cubicBezTo>
                    <a:pt x="690" y="769"/>
                    <a:pt x="690" y="769"/>
                    <a:pt x="690" y="769"/>
                  </a:cubicBezTo>
                  <a:cubicBezTo>
                    <a:pt x="690" y="769"/>
                    <a:pt x="698" y="761"/>
                    <a:pt x="702" y="761"/>
                  </a:cubicBezTo>
                  <a:cubicBezTo>
                    <a:pt x="703" y="761"/>
                    <a:pt x="717" y="771"/>
                    <a:pt x="731" y="781"/>
                  </a:cubicBezTo>
                  <a:cubicBezTo>
                    <a:pt x="745" y="790"/>
                    <a:pt x="759" y="799"/>
                    <a:pt x="762" y="799"/>
                  </a:cubicBezTo>
                  <a:cubicBezTo>
                    <a:pt x="768" y="798"/>
                    <a:pt x="779" y="787"/>
                    <a:pt x="780" y="782"/>
                  </a:cubicBezTo>
                  <a:cubicBezTo>
                    <a:pt x="780" y="780"/>
                    <a:pt x="773" y="764"/>
                    <a:pt x="765" y="749"/>
                  </a:cubicBezTo>
                  <a:cubicBezTo>
                    <a:pt x="756" y="734"/>
                    <a:pt x="748" y="720"/>
                    <a:pt x="747" y="718"/>
                  </a:cubicBezTo>
                  <a:cubicBezTo>
                    <a:pt x="747" y="714"/>
                    <a:pt x="755" y="707"/>
                    <a:pt x="755" y="707"/>
                  </a:cubicBezTo>
                  <a:cubicBezTo>
                    <a:pt x="755" y="707"/>
                    <a:pt x="755" y="707"/>
                    <a:pt x="755" y="707"/>
                  </a:cubicBezTo>
                  <a:cubicBezTo>
                    <a:pt x="755" y="707"/>
                    <a:pt x="762" y="698"/>
                    <a:pt x="765" y="697"/>
                  </a:cubicBezTo>
                  <a:cubicBezTo>
                    <a:pt x="767" y="697"/>
                    <a:pt x="782" y="703"/>
                    <a:pt x="798" y="709"/>
                  </a:cubicBezTo>
                  <a:cubicBezTo>
                    <a:pt x="813" y="715"/>
                    <a:pt x="830" y="721"/>
                    <a:pt x="833" y="720"/>
                  </a:cubicBezTo>
                  <a:cubicBezTo>
                    <a:pt x="838" y="718"/>
                    <a:pt x="846" y="705"/>
                    <a:pt x="846" y="699"/>
                  </a:cubicBezTo>
                  <a:cubicBezTo>
                    <a:pt x="846" y="697"/>
                    <a:pt x="835" y="683"/>
                    <a:pt x="824" y="671"/>
                  </a:cubicBezTo>
                  <a:cubicBezTo>
                    <a:pt x="812" y="658"/>
                    <a:pt x="800" y="646"/>
                    <a:pt x="800" y="645"/>
                  </a:cubicBezTo>
                  <a:cubicBezTo>
                    <a:pt x="799" y="641"/>
                    <a:pt x="805" y="632"/>
                    <a:pt x="805" y="632"/>
                  </a:cubicBezTo>
                  <a:cubicBezTo>
                    <a:pt x="805" y="632"/>
                    <a:pt x="805" y="632"/>
                    <a:pt x="805" y="632"/>
                  </a:cubicBezTo>
                  <a:cubicBezTo>
                    <a:pt x="805" y="632"/>
                    <a:pt x="809" y="622"/>
                    <a:pt x="812" y="620"/>
                  </a:cubicBezTo>
                  <a:cubicBezTo>
                    <a:pt x="813" y="619"/>
                    <a:pt x="830" y="622"/>
                    <a:pt x="846" y="624"/>
                  </a:cubicBezTo>
                  <a:cubicBezTo>
                    <a:pt x="863" y="627"/>
                    <a:pt x="880" y="628"/>
                    <a:pt x="883" y="626"/>
                  </a:cubicBezTo>
                  <a:cubicBezTo>
                    <a:pt x="888" y="624"/>
                    <a:pt x="893" y="609"/>
                    <a:pt x="891" y="604"/>
                  </a:cubicBezTo>
                  <a:cubicBezTo>
                    <a:pt x="891" y="601"/>
                    <a:pt x="877" y="591"/>
                    <a:pt x="863" y="581"/>
                  </a:cubicBezTo>
                  <a:cubicBezTo>
                    <a:pt x="849" y="571"/>
                    <a:pt x="834" y="563"/>
                    <a:pt x="833" y="561"/>
                  </a:cubicBezTo>
                  <a:cubicBezTo>
                    <a:pt x="831" y="558"/>
                    <a:pt x="835" y="548"/>
                    <a:pt x="835" y="548"/>
                  </a:cubicBezTo>
                  <a:cubicBezTo>
                    <a:pt x="835" y="548"/>
                    <a:pt x="835" y="548"/>
                    <a:pt x="835" y="548"/>
                  </a:cubicBezTo>
                  <a:cubicBezTo>
                    <a:pt x="836" y="548"/>
                    <a:pt x="837" y="537"/>
                    <a:pt x="840" y="535"/>
                  </a:cubicBezTo>
                  <a:cubicBezTo>
                    <a:pt x="841" y="533"/>
                    <a:pt x="857" y="533"/>
                    <a:pt x="874" y="531"/>
                  </a:cubicBezTo>
                  <a:cubicBezTo>
                    <a:pt x="891" y="529"/>
                    <a:pt x="908" y="526"/>
                    <a:pt x="910" y="524"/>
                  </a:cubicBezTo>
                  <a:cubicBezTo>
                    <a:pt x="914" y="520"/>
                    <a:pt x="916" y="505"/>
                    <a:pt x="913" y="500"/>
                  </a:cubicBezTo>
                  <a:cubicBezTo>
                    <a:pt x="912" y="498"/>
                    <a:pt x="896" y="491"/>
                    <a:pt x="880" y="485"/>
                  </a:cubicBezTo>
                  <a:close/>
                </a:path>
              </a:pathLst>
            </a:custGeom>
            <a:gradFill rotWithShape="0">
              <a:gsLst>
                <a:gs pos="0">
                  <a:srgbClr val="D9D9D9">
                    <a:alpha val="100000"/>
                  </a:srgbClr>
                </a:gs>
                <a:gs pos="100000">
                  <a:srgbClr val="FFFFFF">
                    <a:alpha val="100000"/>
                  </a:srgbClr>
                </a:gs>
              </a:gsLst>
              <a:lin ang="0"/>
              <a:tileRect/>
            </a:gradFill>
            <a:ln w="9525">
              <a:noFill/>
            </a:ln>
          </p:spPr>
          <p:txBody>
            <a:bodyPr/>
            <a:lstStyle/>
            <a:p>
              <a:endParaRPr lang="fr-FR" altLang="en-US"/>
            </a:p>
          </p:txBody>
        </p:sp>
        <p:sp>
          <p:nvSpPr>
            <p:cNvPr id="52240" name="Oval 126"/>
            <p:cNvSpPr/>
            <p:nvPr/>
          </p:nvSpPr>
          <p:spPr>
            <a:xfrm rot="5399996" flipV="1">
              <a:off x="4009570" y="3814649"/>
              <a:ext cx="1099904" cy="1100580"/>
            </a:xfrm>
            <a:custGeom>
              <a:avLst/>
              <a:gdLst>
                <a:gd name="txL" fmla="*/ 161077 w 1099904"/>
                <a:gd name="txT" fmla="*/ 161176 h 1100580"/>
                <a:gd name="txR" fmla="*/ 938827 w 1099904"/>
                <a:gd name="txB" fmla="*/ 939404 h 1100580"/>
              </a:gdLst>
              <a:ahLst/>
              <a:cxnLst>
                <a:cxn ang="17694720">
                  <a:pos x="549952" y="0"/>
                </a:cxn>
                <a:cxn ang="0">
                  <a:pos x="1099904" y="550290"/>
                </a:cxn>
                <a:cxn ang="5898240">
                  <a:pos x="549952" y="1100580"/>
                </a:cxn>
                <a:cxn ang="11796480">
                  <a:pos x="0" y="550290"/>
                </a:cxn>
                <a:cxn ang="17694720">
                  <a:pos x="161077" y="161176"/>
                </a:cxn>
                <a:cxn ang="5898240">
                  <a:pos x="161077" y="939404"/>
                </a:cxn>
                <a:cxn ang="5898240">
                  <a:pos x="938827" y="939404"/>
                </a:cxn>
                <a:cxn ang="17694720">
                  <a:pos x="938827" y="161176"/>
                </a:cxn>
              </a:cxnLst>
              <a:rect l="txL" t="txT" r="txR" b="txB"/>
              <a:pathLst>
                <a:path w="1099904" h="1100580">
                  <a:moveTo>
                    <a:pt x="0" y="550290"/>
                  </a:moveTo>
                  <a:arcTo wR="549952" hR="550290" stAng="-10800000" swAng="-21600000"/>
                  <a:close/>
                </a:path>
              </a:pathLst>
            </a:custGeom>
            <a:gradFill rotWithShape="0">
              <a:gsLst>
                <a:gs pos="0">
                  <a:srgbClr val="D9D9D9">
                    <a:alpha val="100000"/>
                  </a:srgbClr>
                </a:gs>
                <a:gs pos="100000">
                  <a:srgbClr val="FFFFFF">
                    <a:alpha val="100000"/>
                  </a:srgbClr>
                </a:gs>
              </a:gsLst>
              <a:lin ang="9000000"/>
              <a:tileRect/>
            </a:gradFill>
            <a:ln w="9525">
              <a:noFill/>
            </a:ln>
          </p:spPr>
          <p:txBody>
            <a:bodyPr/>
            <a:lstStyle/>
            <a:p>
              <a:endParaRPr lang="fr-FR" altLang="en-US"/>
            </a:p>
          </p:txBody>
        </p:sp>
        <p:cxnSp>
          <p:nvCxnSpPr>
            <p:cNvPr id="52241" name="Straight Connector 19"/>
            <p:cNvCxnSpPr/>
            <p:nvPr/>
          </p:nvCxnSpPr>
          <p:spPr>
            <a:xfrm flipH="1" flipV="1">
              <a:off x="3064044" y="1945824"/>
              <a:ext cx="497964" cy="316191"/>
            </a:xfrm>
            <a:prstGeom prst="straightConnector1">
              <a:avLst/>
            </a:prstGeom>
            <a:ln w="6345" cap="flat" cmpd="sng">
              <a:solidFill>
                <a:srgbClr val="77933C"/>
              </a:solidFill>
              <a:prstDash val="solid"/>
              <a:miter/>
              <a:headEnd type="none" w="med" len="med"/>
              <a:tailEnd type="none" w="med" len="med"/>
            </a:ln>
          </p:spPr>
        </p:cxnSp>
        <p:cxnSp>
          <p:nvCxnSpPr>
            <p:cNvPr id="52242" name="Straight Connector 21"/>
            <p:cNvCxnSpPr/>
            <p:nvPr/>
          </p:nvCxnSpPr>
          <p:spPr>
            <a:xfrm flipH="1">
              <a:off x="1250826" y="1945824"/>
              <a:ext cx="1813218" cy="0"/>
            </a:xfrm>
            <a:prstGeom prst="straightConnector1">
              <a:avLst/>
            </a:prstGeom>
            <a:ln w="6345" cap="flat" cmpd="sng">
              <a:solidFill>
                <a:srgbClr val="77933C"/>
              </a:solidFill>
              <a:prstDash val="solid"/>
              <a:miter/>
              <a:headEnd type="none" w="med" len="med"/>
              <a:tailEnd type="arrow" w="med" len="med"/>
            </a:ln>
          </p:spPr>
        </p:cxnSp>
        <p:cxnSp>
          <p:nvCxnSpPr>
            <p:cNvPr id="52243" name="Straight Connector 127"/>
            <p:cNvCxnSpPr/>
            <p:nvPr/>
          </p:nvCxnSpPr>
          <p:spPr>
            <a:xfrm flipH="1">
              <a:off x="3203234" y="4243154"/>
              <a:ext cx="497964" cy="316190"/>
            </a:xfrm>
            <a:prstGeom prst="straightConnector1">
              <a:avLst/>
            </a:prstGeom>
            <a:ln w="6345" cap="flat" cmpd="sng">
              <a:solidFill>
                <a:srgbClr val="C0D498"/>
              </a:solidFill>
              <a:prstDash val="solid"/>
              <a:miter/>
              <a:headEnd type="none" w="med" len="med"/>
              <a:tailEnd type="none" w="med" len="med"/>
            </a:ln>
          </p:spPr>
        </p:cxnSp>
        <p:cxnSp>
          <p:nvCxnSpPr>
            <p:cNvPr id="52244" name="Straight Connector 128"/>
            <p:cNvCxnSpPr/>
            <p:nvPr/>
          </p:nvCxnSpPr>
          <p:spPr>
            <a:xfrm flipH="1">
              <a:off x="1587901" y="4559344"/>
              <a:ext cx="1615333" cy="0"/>
            </a:xfrm>
            <a:prstGeom prst="straightConnector1">
              <a:avLst/>
            </a:prstGeom>
            <a:ln w="6345" cap="flat" cmpd="sng">
              <a:solidFill>
                <a:srgbClr val="C0D498"/>
              </a:solidFill>
              <a:prstDash val="solid"/>
              <a:miter/>
              <a:headEnd type="none" w="med" len="med"/>
              <a:tailEnd type="arrow" w="med" len="med"/>
            </a:ln>
          </p:spPr>
        </p:cxnSp>
        <p:cxnSp>
          <p:nvCxnSpPr>
            <p:cNvPr id="52245" name="Straight Connector 134"/>
            <p:cNvCxnSpPr/>
            <p:nvPr/>
          </p:nvCxnSpPr>
          <p:spPr>
            <a:xfrm flipV="1">
              <a:off x="6930841" y="1929137"/>
              <a:ext cx="497973" cy="316190"/>
            </a:xfrm>
            <a:prstGeom prst="straightConnector1">
              <a:avLst/>
            </a:prstGeom>
            <a:ln w="6345" cap="flat" cmpd="sng">
              <a:solidFill>
                <a:srgbClr val="88A945"/>
              </a:solidFill>
              <a:prstDash val="solid"/>
              <a:miter/>
              <a:headEnd type="none" w="med" len="med"/>
              <a:tailEnd type="none" w="med" len="med"/>
            </a:ln>
          </p:spPr>
        </p:cxnSp>
        <p:cxnSp>
          <p:nvCxnSpPr>
            <p:cNvPr id="52246" name="Straight Connector 135"/>
            <p:cNvCxnSpPr/>
            <p:nvPr/>
          </p:nvCxnSpPr>
          <p:spPr>
            <a:xfrm>
              <a:off x="7428814" y="1929137"/>
              <a:ext cx="1563971" cy="0"/>
            </a:xfrm>
            <a:prstGeom prst="straightConnector1">
              <a:avLst/>
            </a:prstGeom>
            <a:ln w="6345" cap="flat" cmpd="sng">
              <a:solidFill>
                <a:srgbClr val="88A945"/>
              </a:solidFill>
              <a:prstDash val="solid"/>
              <a:miter/>
              <a:headEnd type="none" w="med" len="med"/>
              <a:tailEnd type="arrow" w="med" len="med"/>
            </a:ln>
          </p:spPr>
        </p:cxnSp>
        <p:sp>
          <p:nvSpPr>
            <p:cNvPr id="52247" name="TextBox 28"/>
            <p:cNvSpPr txBox="1"/>
            <p:nvPr/>
          </p:nvSpPr>
          <p:spPr>
            <a:xfrm>
              <a:off x="801572" y="1499826"/>
              <a:ext cx="2511454" cy="400114"/>
            </a:xfrm>
            <a:prstGeom prst="rect">
              <a:avLst/>
            </a:prstGeom>
            <a:noFill/>
            <a:ln w="9525">
              <a:noFill/>
            </a:ln>
          </p:spPr>
          <p:txBody>
            <a:bodyPr wrap="none">
              <a:spAutoFit/>
            </a:bodyPr>
            <a:lstStyle/>
            <a:p>
              <a:pPr eaLnBrk="1" hangingPunct="1"/>
              <a:r>
                <a:rPr lang="id-ID" altLang="x-none" sz="2000" dirty="0">
                  <a:solidFill>
                    <a:srgbClr val="0070C0"/>
                  </a:solidFill>
                  <a:latin typeface="Calibri" panose="020F0502020204030204" pitchFamily="34" charset="0"/>
                </a:rPr>
                <a:t>Initialisation des poids</a:t>
              </a:r>
              <a:endParaRPr lang="fr-FR" altLang="x-none" dirty="0">
                <a:solidFill>
                  <a:srgbClr val="0070C0"/>
                </a:solidFill>
                <a:latin typeface="Calibri" panose="020F0502020204030204" pitchFamily="34" charset="0"/>
                <a:ea typeface="Calibri" panose="020F0502020204030204" pitchFamily="34" charset="0"/>
              </a:endParaRPr>
            </a:p>
          </p:txBody>
        </p:sp>
        <p:sp>
          <p:nvSpPr>
            <p:cNvPr id="52248" name="TextBox 29"/>
            <p:cNvSpPr txBox="1"/>
            <p:nvPr/>
          </p:nvSpPr>
          <p:spPr>
            <a:xfrm>
              <a:off x="837770" y="1980705"/>
              <a:ext cx="2625281" cy="1753373"/>
            </a:xfrm>
            <a:prstGeom prst="rect">
              <a:avLst/>
            </a:prstGeom>
            <a:noFill/>
            <a:ln w="9525">
              <a:noFill/>
            </a:ln>
          </p:spPr>
          <p:txBody>
            <a:bodyPr wrap="square">
              <a:spAutoFit/>
            </a:bodyPr>
            <a:lstStyle/>
            <a:p>
              <a:pPr eaLnBrk="1" hangingPunct="1">
                <a:lnSpc>
                  <a:spcPct val="150000"/>
                </a:lnSpc>
              </a:pPr>
              <a:r>
                <a:rPr lang="fr-FR" altLang="en-US" sz="1200" dirty="0">
                  <a:solidFill>
                    <a:srgbClr val="000000"/>
                  </a:solidFill>
                  <a:latin typeface="Calibri" panose="020F0502020204030204" pitchFamily="34" charset="0"/>
                  <a:ea typeface="Calibri" panose="020F0502020204030204" pitchFamily="34" charset="0"/>
                </a:rPr>
                <a:t>       </a:t>
              </a:r>
              <a:r>
                <a:rPr lang="en-US" altLang="fr-FR" sz="1200" dirty="0">
                  <a:solidFill>
                    <a:srgbClr val="FF0000"/>
                  </a:solidFill>
                  <a:latin typeface="Calibri" panose="020F0502020204030204" pitchFamily="34" charset="0"/>
                  <a:ea typeface="Calibri" panose="020F0502020204030204" pitchFamily="34" charset="0"/>
                </a:rPr>
                <a:t>W ~ N(0, 1/n_in)</a:t>
              </a:r>
              <a:endParaRPr lang="en-US" altLang="fr-FR" sz="1200" dirty="0">
                <a:solidFill>
                  <a:srgbClr val="000000"/>
                </a:solidFill>
                <a:latin typeface="Calibri" panose="020F0502020204030204" pitchFamily="34" charset="0"/>
                <a:ea typeface="Calibri" panose="020F0502020204030204" pitchFamily="34" charset="0"/>
              </a:endParaRPr>
            </a:p>
            <a:p>
              <a:pPr eaLnBrk="1" hangingPunct="1">
                <a:lnSpc>
                  <a:spcPct val="150000"/>
                </a:lnSpc>
              </a:pPr>
              <a:r>
                <a:rPr lang="fr-FR" altLang="en-US" sz="1200" dirty="0">
                  <a:solidFill>
                    <a:srgbClr val="000000"/>
                  </a:solidFill>
                  <a:latin typeface="Calibri" panose="020F0502020204030204" pitchFamily="34" charset="0"/>
                  <a:ea typeface="Calibri" panose="020F0502020204030204" pitchFamily="34" charset="0"/>
                </a:rPr>
                <a:t>avec :</a:t>
              </a:r>
            </a:p>
            <a:p>
              <a:pPr eaLnBrk="1" hangingPunct="1">
                <a:lnSpc>
                  <a:spcPct val="150000"/>
                </a:lnSpc>
              </a:pPr>
              <a:r>
                <a:rPr lang="fr-FR" altLang="en-US" sz="1200" dirty="0">
                  <a:solidFill>
                    <a:srgbClr val="000000"/>
                  </a:solidFill>
                  <a:latin typeface="Calibri" panose="020F0502020204030204" pitchFamily="34" charset="0"/>
                  <a:ea typeface="Calibri" panose="020F0502020204030204" pitchFamily="34" charset="0"/>
                </a:rPr>
                <a:t>   </a:t>
              </a:r>
              <a:r>
                <a:rPr lang="fr-FR" altLang="en-US" sz="1200" dirty="0">
                  <a:solidFill>
                    <a:srgbClr val="7030A0"/>
                  </a:solidFill>
                  <a:latin typeface="Calibri" panose="020F0502020204030204" pitchFamily="34" charset="0"/>
                  <a:ea typeface="Calibri" panose="020F0502020204030204" pitchFamily="34" charset="0"/>
                </a:rPr>
                <a:t>N :</a:t>
              </a:r>
              <a:r>
                <a:rPr lang="fr-FR" altLang="en-US" sz="1200" dirty="0">
                  <a:solidFill>
                    <a:srgbClr val="000000"/>
                  </a:solidFill>
                  <a:latin typeface="Calibri" panose="020F0502020204030204" pitchFamily="34" charset="0"/>
                  <a:ea typeface="Calibri" panose="020F0502020204030204" pitchFamily="34" charset="0"/>
                </a:rPr>
                <a:t> Distribution normale(gaussienne)</a:t>
              </a:r>
            </a:p>
            <a:p>
              <a:pPr lvl="0" eaLnBrk="1" hangingPunct="1">
                <a:lnSpc>
                  <a:spcPct val="150000"/>
                </a:lnSpc>
              </a:pPr>
              <a:r>
                <a:rPr lang="fr-FR" altLang="en-US" sz="1200" dirty="0">
                  <a:solidFill>
                    <a:srgbClr val="000000"/>
                  </a:solidFill>
                  <a:latin typeface="Calibri" panose="020F0502020204030204" pitchFamily="34" charset="0"/>
                  <a:ea typeface="Calibri" panose="020F0502020204030204" pitchFamily="34" charset="0"/>
                </a:rPr>
                <a:t>  </a:t>
              </a:r>
              <a:r>
                <a:rPr lang="fr-FR" altLang="en-US" sz="1200" dirty="0">
                  <a:solidFill>
                    <a:srgbClr val="7030A0"/>
                  </a:solidFill>
                  <a:latin typeface="Calibri" panose="020F0502020204030204" pitchFamily="34" charset="0"/>
                  <a:ea typeface="Calibri" panose="020F0502020204030204" pitchFamily="34" charset="0"/>
                </a:rPr>
                <a:t> n_in:</a:t>
              </a:r>
              <a:r>
                <a:rPr lang="fr-FR" altLang="en-US" sz="1200" dirty="0">
                  <a:solidFill>
                    <a:srgbClr val="000000"/>
                  </a:solidFill>
                  <a:latin typeface="Calibri" panose="020F0502020204030204" pitchFamily="34" charset="0"/>
                  <a:ea typeface="Calibri" panose="020F0502020204030204" pitchFamily="34" charset="0"/>
                </a:rPr>
                <a:t> nombre de neuronnes dans la     couche précédente.</a:t>
              </a:r>
              <a:endParaRPr lang="en-US" altLang="fr-FR" sz="1200" dirty="0">
                <a:solidFill>
                  <a:srgbClr val="000000"/>
                </a:solidFill>
                <a:latin typeface="Calibri" panose="020F0502020204030204" pitchFamily="34" charset="0"/>
                <a:ea typeface="Calibri" panose="020F0502020204030204" pitchFamily="34" charset="0"/>
              </a:endParaRPr>
            </a:p>
            <a:p>
              <a:pPr eaLnBrk="1" hangingPunct="1">
                <a:lnSpc>
                  <a:spcPct val="150000"/>
                </a:lnSpc>
              </a:pPr>
              <a:endParaRPr lang="en-US" altLang="fr-FR" sz="1200" dirty="0">
                <a:solidFill>
                  <a:srgbClr val="000000"/>
                </a:solidFill>
                <a:latin typeface="Calibri" panose="020F0502020204030204" pitchFamily="34" charset="0"/>
                <a:ea typeface="Calibri" panose="020F0502020204030204" pitchFamily="34" charset="0"/>
              </a:endParaRPr>
            </a:p>
          </p:txBody>
        </p:sp>
        <p:sp>
          <p:nvSpPr>
            <p:cNvPr id="52249" name="TextBox 31"/>
            <p:cNvSpPr txBox="1"/>
            <p:nvPr/>
          </p:nvSpPr>
          <p:spPr>
            <a:xfrm>
              <a:off x="1521360" y="4124181"/>
              <a:ext cx="2036259" cy="400114"/>
            </a:xfrm>
            <a:prstGeom prst="rect">
              <a:avLst/>
            </a:prstGeom>
            <a:noFill/>
            <a:ln w="9525">
              <a:noFill/>
            </a:ln>
          </p:spPr>
          <p:txBody>
            <a:bodyPr wrap="none">
              <a:spAutoFit/>
            </a:bodyPr>
            <a:lstStyle/>
            <a:p>
              <a:pPr eaLnBrk="1" hangingPunct="1"/>
              <a:r>
                <a:rPr lang="id-ID" altLang="x-none" sz="2000" dirty="0">
                  <a:solidFill>
                    <a:srgbClr val="0070C0"/>
                  </a:solidFill>
                  <a:latin typeface="Calibri" panose="020F0502020204030204" pitchFamily="34" charset="0"/>
                </a:rPr>
                <a:t>Fonction de perte</a:t>
              </a:r>
              <a:endParaRPr lang="fr-FR" altLang="x-none" dirty="0">
                <a:solidFill>
                  <a:srgbClr val="0070C0"/>
                </a:solidFill>
                <a:latin typeface="Calibri" panose="020F0502020204030204" pitchFamily="34" charset="0"/>
                <a:ea typeface="Calibri" panose="020F0502020204030204" pitchFamily="34" charset="0"/>
              </a:endParaRPr>
            </a:p>
          </p:txBody>
        </p:sp>
        <p:sp>
          <p:nvSpPr>
            <p:cNvPr id="52250" name="TextBox 34"/>
            <p:cNvSpPr txBox="1"/>
            <p:nvPr/>
          </p:nvSpPr>
          <p:spPr>
            <a:xfrm>
              <a:off x="7691978" y="1494321"/>
              <a:ext cx="1352104" cy="400114"/>
            </a:xfrm>
            <a:prstGeom prst="rect">
              <a:avLst/>
            </a:prstGeom>
            <a:noFill/>
            <a:ln w="9525">
              <a:noFill/>
            </a:ln>
          </p:spPr>
          <p:txBody>
            <a:bodyPr wrap="none">
              <a:spAutoFit/>
            </a:bodyPr>
            <a:lstStyle/>
            <a:p>
              <a:pPr algn="r" eaLnBrk="1" hangingPunct="1"/>
              <a:r>
                <a:rPr lang="id-ID" altLang="x-none" sz="2000" dirty="0">
                  <a:solidFill>
                    <a:srgbClr val="0070C0"/>
                  </a:solidFill>
                  <a:latin typeface="Calibri" panose="020F0502020204030204" pitchFamily="34" charset="0"/>
                </a:rPr>
                <a:t>Optimiseur</a:t>
              </a:r>
              <a:endParaRPr lang="fr-FR" altLang="x-none" dirty="0">
                <a:solidFill>
                  <a:srgbClr val="0070C0"/>
                </a:solidFill>
                <a:latin typeface="Calibri" panose="020F0502020204030204" pitchFamily="34" charset="0"/>
                <a:ea typeface="Calibri" panose="020F0502020204030204" pitchFamily="34" charset="0"/>
              </a:endParaRPr>
            </a:p>
          </p:txBody>
        </p:sp>
        <p:sp>
          <p:nvSpPr>
            <p:cNvPr id="52251" name="TextBox 37"/>
            <p:cNvSpPr txBox="1"/>
            <p:nvPr/>
          </p:nvSpPr>
          <p:spPr>
            <a:xfrm>
              <a:off x="8230669" y="3786402"/>
              <a:ext cx="1680328" cy="400114"/>
            </a:xfrm>
            <a:prstGeom prst="rect">
              <a:avLst/>
            </a:prstGeom>
            <a:noFill/>
            <a:ln w="9525">
              <a:noFill/>
            </a:ln>
          </p:spPr>
          <p:txBody>
            <a:bodyPr wrap="none">
              <a:spAutoFit/>
            </a:bodyPr>
            <a:lstStyle/>
            <a:p>
              <a:pPr algn="r" eaLnBrk="1" hangingPunct="1"/>
              <a:r>
                <a:rPr lang="id-ID" altLang="x-none" sz="2000" dirty="0">
                  <a:solidFill>
                    <a:srgbClr val="0070C0"/>
                  </a:solidFill>
                  <a:latin typeface="Calibri" panose="020F0502020204030204" pitchFamily="34" charset="0"/>
                </a:rPr>
                <a:t>Taille de batch</a:t>
              </a:r>
              <a:endParaRPr lang="fr-FR" altLang="x-none" dirty="0">
                <a:solidFill>
                  <a:srgbClr val="0070C0"/>
                </a:solidFill>
                <a:latin typeface="Calibri" panose="020F0502020204030204" pitchFamily="34" charset="0"/>
                <a:ea typeface="Calibri" panose="020F0502020204030204" pitchFamily="34" charset="0"/>
              </a:endParaRPr>
            </a:p>
          </p:txBody>
        </p:sp>
        <p:sp>
          <p:nvSpPr>
            <p:cNvPr id="52252" name="TextBox 43"/>
            <p:cNvSpPr txBox="1"/>
            <p:nvPr/>
          </p:nvSpPr>
          <p:spPr>
            <a:xfrm>
              <a:off x="927832" y="4539749"/>
              <a:ext cx="2638098" cy="1476491"/>
            </a:xfrm>
            <a:prstGeom prst="rect">
              <a:avLst/>
            </a:prstGeom>
            <a:noFill/>
            <a:ln w="9525">
              <a:noFill/>
            </a:ln>
          </p:spPr>
          <p:txBody>
            <a:bodyPr>
              <a:spAutoFit/>
            </a:bodyPr>
            <a:lstStyle/>
            <a:p>
              <a:pPr eaLnBrk="1" hangingPunct="1">
                <a:lnSpc>
                  <a:spcPct val="150000"/>
                </a:lnSpc>
              </a:pPr>
              <a:r>
                <a:rPr lang="id-ID" altLang="x-none" sz="1200" dirty="0">
                  <a:solidFill>
                    <a:srgbClr val="000000"/>
                  </a:solidFill>
                  <a:latin typeface="Calibri" panose="020F0502020204030204" pitchFamily="34" charset="0"/>
                </a:rPr>
                <a:t>La fonction utilisée </a:t>
              </a:r>
              <a:r>
                <a:rPr lang="id-ID" altLang="x-none" sz="1200" dirty="0">
                  <a:solidFill>
                    <a:srgbClr val="000000"/>
                  </a:solidFill>
                  <a:latin typeface="Calibri" panose="020F0502020204030204" pitchFamily="34" charset="0"/>
                  <a:cs typeface="Calibri" panose="020F0502020204030204" pitchFamily="34" charset="0"/>
                </a:rPr>
                <a:t>est </a:t>
              </a:r>
              <a:r>
                <a:rPr lang="id-ID" altLang="x-none" sz="1200" b="1" dirty="0">
                  <a:solidFill>
                    <a:srgbClr val="000000"/>
                  </a:solidFill>
                  <a:latin typeface="Calibri" panose="020F0502020204030204" pitchFamily="34" charset="0"/>
                  <a:cs typeface="Calibri" panose="020F0502020204030204" pitchFamily="34" charset="0"/>
                </a:rPr>
                <a:t>log-vraisemblance négative </a:t>
              </a:r>
              <a:r>
                <a:rPr lang="id-ID" altLang="x-none" sz="1200" dirty="0">
                  <a:solidFill>
                    <a:srgbClr val="000000"/>
                  </a:solidFill>
                  <a:latin typeface="Calibri" panose="020F0502020204030204" pitchFamily="34" charset="0"/>
                  <a:cs typeface="Calibri" panose="020F0502020204030204" pitchFamily="34" charset="0"/>
                </a:rPr>
                <a:t>qui est utilisée pour tous les modèles de langues et on ajoute </a:t>
              </a:r>
              <a:r>
                <a:rPr lang="id-ID" altLang="x-none" sz="1200" b="1" dirty="0">
                  <a:solidFill>
                    <a:srgbClr val="000000"/>
                  </a:solidFill>
                  <a:latin typeface="Calibri" panose="020F0502020204030204" pitchFamily="34" charset="0"/>
                  <a:cs typeface="Calibri" panose="020F0502020204030204" pitchFamily="34" charset="0"/>
                </a:rPr>
                <a:t>un pénalité</a:t>
              </a:r>
              <a:r>
                <a:rPr lang="id-ID" altLang="x-none" sz="1200" dirty="0">
                  <a:solidFill>
                    <a:srgbClr val="000000"/>
                  </a:solidFill>
                  <a:latin typeface="Calibri" panose="020F0502020204030204" pitchFamily="34" charset="0"/>
                  <a:cs typeface="Calibri" panose="020F0502020204030204" pitchFamily="34" charset="0"/>
                </a:rPr>
                <a:t> afin de stabiliser l'apprentissage</a:t>
              </a:r>
              <a:endParaRPr lang="fr-FR" altLang="x-none" sz="1200" dirty="0">
                <a:solidFill>
                  <a:srgbClr val="000000"/>
                </a:solidFill>
                <a:latin typeface="Calibri" panose="020F0502020204030204" pitchFamily="34" charset="0"/>
                <a:ea typeface="Calibri" panose="020F0502020204030204" pitchFamily="34" charset="0"/>
              </a:endParaRPr>
            </a:p>
          </p:txBody>
        </p:sp>
        <p:sp>
          <p:nvSpPr>
            <p:cNvPr id="52253" name="TextBox 45"/>
            <p:cNvSpPr txBox="1"/>
            <p:nvPr/>
          </p:nvSpPr>
          <p:spPr>
            <a:xfrm>
              <a:off x="7689482" y="2000743"/>
              <a:ext cx="3564861" cy="1448729"/>
            </a:xfrm>
            <a:prstGeom prst="rect">
              <a:avLst/>
            </a:prstGeom>
            <a:noFill/>
            <a:ln w="9525">
              <a:noFill/>
            </a:ln>
          </p:spPr>
          <p:txBody>
            <a:bodyPr>
              <a:spAutoFit/>
            </a:bodyPr>
            <a:lstStyle/>
            <a:p>
              <a:pPr eaLnBrk="1" hangingPunct="1">
                <a:lnSpc>
                  <a:spcPct val="150000"/>
                </a:lnSpc>
              </a:pPr>
              <a:r>
                <a:rPr sz="1200" dirty="0">
                  <a:solidFill>
                    <a:srgbClr val="000000"/>
                  </a:solidFill>
                  <a:latin typeface="Calibri" panose="020F0502020204030204" pitchFamily="34" charset="0"/>
                  <a:cs typeface="Calibri" panose="020F0502020204030204" pitchFamily="34" charset="0"/>
                </a:rPr>
                <a:t>Le modèle utilise </a:t>
              </a:r>
              <a:r>
                <a:rPr sz="1200" b="1" dirty="0">
                  <a:solidFill>
                    <a:srgbClr val="000000"/>
                  </a:solidFill>
                  <a:latin typeface="Calibri" panose="020F0502020204030204" pitchFamily="34" charset="0"/>
                  <a:cs typeface="Calibri" panose="020F0502020204030204" pitchFamily="34" charset="0"/>
                </a:rPr>
                <a:t>Adafactor</a:t>
              </a:r>
              <a:r>
                <a:rPr sz="1200" dirty="0">
                  <a:solidFill>
                    <a:srgbClr val="000000"/>
                  </a:solidFill>
                  <a:latin typeface="Calibri" panose="020F0502020204030204" pitchFamily="34" charset="0"/>
                  <a:cs typeface="Calibri" panose="020F0502020204030204" pitchFamily="34" charset="0"/>
                </a:rPr>
                <a:t>, un optimiseur très proche de </a:t>
              </a:r>
              <a:r>
                <a:rPr sz="1200" b="1" dirty="0">
                  <a:solidFill>
                    <a:srgbClr val="000000"/>
                  </a:solidFill>
                  <a:latin typeface="Calibri" panose="020F0502020204030204" pitchFamily="34" charset="0"/>
                  <a:cs typeface="Calibri" panose="020F0502020204030204" pitchFamily="34" charset="0"/>
                </a:rPr>
                <a:t>Adam</a:t>
              </a:r>
              <a:r>
                <a:rPr sz="1200" dirty="0">
                  <a:solidFill>
                    <a:srgbClr val="000000"/>
                  </a:solidFill>
                  <a:latin typeface="Calibri" panose="020F0502020204030204" pitchFamily="34" charset="0"/>
                  <a:cs typeface="Calibri" panose="020F0502020204030204" pitchFamily="34" charset="0"/>
                </a:rPr>
                <a:t>, mais plus économe en mémoire.</a:t>
              </a:r>
              <a:br>
                <a:rPr sz="1200" dirty="0">
                  <a:solidFill>
                    <a:srgbClr val="000000"/>
                  </a:solidFill>
                  <a:latin typeface="Calibri" panose="020F0502020204030204" pitchFamily="34" charset="0"/>
                  <a:cs typeface="Calibri" panose="020F0502020204030204" pitchFamily="34" charset="0"/>
                </a:rPr>
              </a:br>
              <a:r>
                <a:rPr sz="1200" dirty="0">
                  <a:solidFill>
                    <a:srgbClr val="000000"/>
                  </a:solidFill>
                  <a:latin typeface="Calibri" panose="020F0502020204030204" pitchFamily="34" charset="0"/>
                  <a:cs typeface="Calibri" panose="020F0502020204030204" pitchFamily="34" charset="0"/>
                </a:rPr>
                <a:t> Il adapte le taux d’apprentissage automatiquement selon la taille des poids, ce qui rend l’entraînement plus stable, surtout pour les très gros modèles.</a:t>
              </a:r>
              <a:endParaRPr lang="fr-FR" altLang="x-none" sz="1200" dirty="0">
                <a:solidFill>
                  <a:srgbClr val="000000"/>
                </a:solidFill>
                <a:latin typeface="Calibri" panose="020F0502020204030204" pitchFamily="34" charset="0"/>
                <a:ea typeface="Calibri" panose="020F0502020204030204" pitchFamily="34" charset="0"/>
              </a:endParaRPr>
            </a:p>
          </p:txBody>
        </p:sp>
        <p:cxnSp>
          <p:nvCxnSpPr>
            <p:cNvPr id="52254" name="Straight Connector 47"/>
            <p:cNvCxnSpPr/>
            <p:nvPr/>
          </p:nvCxnSpPr>
          <p:spPr>
            <a:xfrm>
              <a:off x="7528090" y="3993559"/>
              <a:ext cx="522141" cy="203034"/>
            </a:xfrm>
            <a:prstGeom prst="straightConnector1">
              <a:avLst/>
            </a:prstGeom>
            <a:ln w="6345" cap="flat" cmpd="sng">
              <a:solidFill>
                <a:srgbClr val="ACC777"/>
              </a:solidFill>
              <a:prstDash val="solid"/>
              <a:miter/>
              <a:headEnd type="none" w="med" len="med"/>
              <a:tailEnd type="none" w="med" len="med"/>
            </a:ln>
          </p:spPr>
        </p:cxnSp>
        <p:cxnSp>
          <p:nvCxnSpPr>
            <p:cNvPr id="52255" name="Straight Connector 48"/>
            <p:cNvCxnSpPr/>
            <p:nvPr/>
          </p:nvCxnSpPr>
          <p:spPr>
            <a:xfrm>
              <a:off x="8050231" y="4196593"/>
              <a:ext cx="1867451" cy="0"/>
            </a:xfrm>
            <a:prstGeom prst="straightConnector1">
              <a:avLst/>
            </a:prstGeom>
            <a:ln w="6345" cap="flat" cmpd="sng">
              <a:solidFill>
                <a:srgbClr val="ACC777"/>
              </a:solidFill>
              <a:prstDash val="solid"/>
              <a:miter/>
              <a:headEnd type="none" w="med" len="med"/>
              <a:tailEnd type="arrow" w="med" len="med"/>
            </a:ln>
          </p:spPr>
        </p:cxnSp>
        <p:grpSp>
          <p:nvGrpSpPr>
            <p:cNvPr id="52256" name="Group 20"/>
            <p:cNvGrpSpPr/>
            <p:nvPr/>
          </p:nvGrpSpPr>
          <p:grpSpPr>
            <a:xfrm>
              <a:off x="4185135" y="2245327"/>
              <a:ext cx="400031" cy="426723"/>
              <a:chOff x="4185135" y="2245327"/>
              <a:chExt cx="400031" cy="426723"/>
            </a:xfrm>
          </p:grpSpPr>
          <p:sp>
            <p:nvSpPr>
              <p:cNvPr id="52264" name="Freeform 5"/>
              <p:cNvSpPr/>
              <p:nvPr/>
            </p:nvSpPr>
            <p:spPr>
              <a:xfrm>
                <a:off x="4185135" y="2245327"/>
                <a:ext cx="400031" cy="426723"/>
              </a:xfrm>
              <a:custGeom>
                <a:avLst/>
                <a:gdLst>
                  <a:gd name="txL" fmla="*/ 0 w 384"/>
                  <a:gd name="txT" fmla="*/ 0 h 410"/>
                  <a:gd name="txR" fmla="*/ 384 w 384"/>
                  <a:gd name="txB" fmla="*/ 410 h 410"/>
                </a:gdLst>
                <a:ahLst/>
                <a:cxnLst>
                  <a:cxn ang="17694720">
                    <a:pos x="200016" y="0"/>
                  </a:cxn>
                  <a:cxn ang="0">
                    <a:pos x="400031" y="213362"/>
                  </a:cxn>
                  <a:cxn ang="5898240">
                    <a:pos x="200016" y="426723"/>
                  </a:cxn>
                  <a:cxn ang="11796480">
                    <a:pos x="0" y="213362"/>
                  </a:cxn>
                  <a:cxn ang="0">
                    <a:pos x="372946" y="0"/>
                  </a:cxn>
                  <a:cxn ang="0">
                    <a:pos x="27085" y="0"/>
                  </a:cxn>
                  <a:cxn ang="0">
                    <a:pos x="0" y="27060"/>
                  </a:cxn>
                  <a:cxn ang="0">
                    <a:pos x="0" y="372602"/>
                  </a:cxn>
                  <a:cxn ang="0">
                    <a:pos x="27085" y="399663"/>
                  </a:cxn>
                  <a:cxn ang="0">
                    <a:pos x="53129" y="399663"/>
                  </a:cxn>
                  <a:cxn ang="0">
                    <a:pos x="80215" y="426723"/>
                  </a:cxn>
                  <a:cxn ang="0">
                    <a:pos x="106258" y="399663"/>
                  </a:cxn>
                  <a:cxn ang="0">
                    <a:pos x="293773" y="399663"/>
                  </a:cxn>
                  <a:cxn ang="0">
                    <a:pos x="319816" y="426723"/>
                  </a:cxn>
                  <a:cxn ang="0">
                    <a:pos x="346902" y="399663"/>
                  </a:cxn>
                  <a:cxn ang="0">
                    <a:pos x="372946" y="399663"/>
                  </a:cxn>
                  <a:cxn ang="0">
                    <a:pos x="400031" y="372602"/>
                  </a:cxn>
                  <a:cxn ang="0">
                    <a:pos x="400031" y="27060"/>
                  </a:cxn>
                  <a:cxn ang="0">
                    <a:pos x="372946" y="0"/>
                  </a:cxn>
                  <a:cxn ang="0">
                    <a:pos x="346902" y="346582"/>
                  </a:cxn>
                  <a:cxn ang="0">
                    <a:pos x="53129" y="346582"/>
                  </a:cxn>
                  <a:cxn ang="0">
                    <a:pos x="53129" y="213362"/>
                  </a:cxn>
                  <a:cxn ang="0">
                    <a:pos x="346902" y="213362"/>
                  </a:cxn>
                  <a:cxn ang="0">
                    <a:pos x="346902" y="346582"/>
                  </a:cxn>
                  <a:cxn ang="0">
                    <a:pos x="346902" y="186301"/>
                  </a:cxn>
                  <a:cxn ang="0">
                    <a:pos x="53129" y="186301"/>
                  </a:cxn>
                  <a:cxn ang="0">
                    <a:pos x="53129" y="53080"/>
                  </a:cxn>
                  <a:cxn ang="0">
                    <a:pos x="346902" y="53080"/>
                  </a:cxn>
                  <a:cxn ang="0">
                    <a:pos x="346902" y="186301"/>
                  </a:cxn>
                </a:cxnLst>
                <a:rect l="txL" t="txT" r="txR" b="txB"/>
                <a:pathLst>
                  <a:path w="384" h="410">
                    <a:moveTo>
                      <a:pt x="358" y="0"/>
                    </a:moveTo>
                    <a:cubicBezTo>
                      <a:pt x="26" y="0"/>
                      <a:pt x="26" y="0"/>
                      <a:pt x="26" y="0"/>
                    </a:cubicBezTo>
                    <a:cubicBezTo>
                      <a:pt x="12" y="0"/>
                      <a:pt x="0" y="12"/>
                      <a:pt x="0" y="26"/>
                    </a:cubicBezTo>
                    <a:cubicBezTo>
                      <a:pt x="0" y="358"/>
                      <a:pt x="0" y="358"/>
                      <a:pt x="0" y="358"/>
                    </a:cubicBezTo>
                    <a:cubicBezTo>
                      <a:pt x="0" y="372"/>
                      <a:pt x="12" y="384"/>
                      <a:pt x="26" y="384"/>
                    </a:cubicBezTo>
                    <a:cubicBezTo>
                      <a:pt x="51" y="384"/>
                      <a:pt x="51" y="384"/>
                      <a:pt x="51" y="384"/>
                    </a:cubicBezTo>
                    <a:cubicBezTo>
                      <a:pt x="51" y="398"/>
                      <a:pt x="63" y="410"/>
                      <a:pt x="77" y="410"/>
                    </a:cubicBezTo>
                    <a:cubicBezTo>
                      <a:pt x="91" y="410"/>
                      <a:pt x="102" y="398"/>
                      <a:pt x="102" y="384"/>
                    </a:cubicBezTo>
                    <a:cubicBezTo>
                      <a:pt x="282" y="384"/>
                      <a:pt x="282" y="384"/>
                      <a:pt x="282" y="384"/>
                    </a:cubicBezTo>
                    <a:cubicBezTo>
                      <a:pt x="282" y="398"/>
                      <a:pt x="293" y="410"/>
                      <a:pt x="307" y="410"/>
                    </a:cubicBezTo>
                    <a:cubicBezTo>
                      <a:pt x="321" y="410"/>
                      <a:pt x="333" y="398"/>
                      <a:pt x="333" y="384"/>
                    </a:cubicBezTo>
                    <a:cubicBezTo>
                      <a:pt x="358" y="384"/>
                      <a:pt x="358" y="384"/>
                      <a:pt x="358" y="384"/>
                    </a:cubicBezTo>
                    <a:cubicBezTo>
                      <a:pt x="372" y="384"/>
                      <a:pt x="384" y="372"/>
                      <a:pt x="384" y="358"/>
                    </a:cubicBezTo>
                    <a:cubicBezTo>
                      <a:pt x="384" y="26"/>
                      <a:pt x="384" y="26"/>
                      <a:pt x="384" y="26"/>
                    </a:cubicBezTo>
                    <a:cubicBezTo>
                      <a:pt x="384" y="12"/>
                      <a:pt x="372" y="0"/>
                      <a:pt x="358" y="0"/>
                    </a:cubicBezTo>
                    <a:close/>
                    <a:moveTo>
                      <a:pt x="333" y="333"/>
                    </a:moveTo>
                    <a:cubicBezTo>
                      <a:pt x="51" y="333"/>
                      <a:pt x="51" y="333"/>
                      <a:pt x="51" y="333"/>
                    </a:cubicBezTo>
                    <a:cubicBezTo>
                      <a:pt x="51" y="205"/>
                      <a:pt x="51" y="205"/>
                      <a:pt x="51" y="205"/>
                    </a:cubicBezTo>
                    <a:cubicBezTo>
                      <a:pt x="333" y="205"/>
                      <a:pt x="333" y="205"/>
                      <a:pt x="333" y="205"/>
                    </a:cubicBezTo>
                    <a:lnTo>
                      <a:pt x="333" y="333"/>
                    </a:lnTo>
                    <a:close/>
                    <a:moveTo>
                      <a:pt x="333" y="179"/>
                    </a:moveTo>
                    <a:cubicBezTo>
                      <a:pt x="51" y="179"/>
                      <a:pt x="51" y="179"/>
                      <a:pt x="51" y="179"/>
                    </a:cubicBezTo>
                    <a:cubicBezTo>
                      <a:pt x="51" y="51"/>
                      <a:pt x="51" y="51"/>
                      <a:pt x="51" y="51"/>
                    </a:cubicBezTo>
                    <a:cubicBezTo>
                      <a:pt x="333" y="51"/>
                      <a:pt x="333" y="51"/>
                      <a:pt x="333" y="51"/>
                    </a:cubicBezTo>
                    <a:lnTo>
                      <a:pt x="333" y="179"/>
                    </a:lnTo>
                    <a:close/>
                  </a:path>
                </a:pathLst>
              </a:custGeom>
              <a:solidFill>
                <a:srgbClr val="77933C">
                  <a:alpha val="100000"/>
                </a:srgbClr>
              </a:solidFill>
              <a:ln w="9525">
                <a:noFill/>
              </a:ln>
            </p:spPr>
            <p:txBody>
              <a:bodyPr/>
              <a:lstStyle/>
              <a:p>
                <a:endParaRPr lang="fr-FR" altLang="en-US"/>
              </a:p>
            </p:txBody>
          </p:sp>
          <p:sp>
            <p:nvSpPr>
              <p:cNvPr id="52265" name="Freeform 6"/>
              <p:cNvSpPr/>
              <p:nvPr/>
            </p:nvSpPr>
            <p:spPr>
              <a:xfrm>
                <a:off x="4265666" y="2484726"/>
                <a:ext cx="239408" cy="80092"/>
              </a:xfrm>
              <a:custGeom>
                <a:avLst/>
                <a:gdLst>
                  <a:gd name="txL" fmla="*/ 0 w 547"/>
                  <a:gd name="txT" fmla="*/ 0 h 183"/>
                  <a:gd name="txR" fmla="*/ 547 w 547"/>
                  <a:gd name="txB" fmla="*/ 183 h 183"/>
                </a:gdLst>
                <a:ahLst/>
                <a:cxnLst>
                  <a:cxn ang="17694720">
                    <a:pos x="119704" y="0"/>
                  </a:cxn>
                  <a:cxn ang="0">
                    <a:pos x="239408" y="40046"/>
                  </a:cxn>
                  <a:cxn ang="5898240">
                    <a:pos x="119704" y="80092"/>
                  </a:cxn>
                  <a:cxn ang="11796480">
                    <a:pos x="0" y="40046"/>
                  </a:cxn>
                  <a:cxn ang="0">
                    <a:pos x="239408" y="0"/>
                  </a:cxn>
                  <a:cxn ang="0">
                    <a:pos x="0" y="0"/>
                  </a:cxn>
                  <a:cxn ang="0">
                    <a:pos x="0" y="80092"/>
                  </a:cxn>
                  <a:cxn ang="0">
                    <a:pos x="239408" y="80092"/>
                  </a:cxn>
                  <a:cxn ang="0">
                    <a:pos x="239408" y="0"/>
                  </a:cxn>
                  <a:cxn ang="0">
                    <a:pos x="159314" y="54270"/>
                  </a:cxn>
                  <a:cxn ang="0">
                    <a:pos x="80094" y="54270"/>
                  </a:cxn>
                  <a:cxn ang="0">
                    <a:pos x="80094" y="27135"/>
                  </a:cxn>
                  <a:cxn ang="0">
                    <a:pos x="159314" y="27135"/>
                  </a:cxn>
                  <a:cxn ang="0">
                    <a:pos x="159314" y="54270"/>
                  </a:cxn>
                </a:cxnLst>
                <a:rect l="txL" t="txT" r="txR" b="txB"/>
                <a:pathLst>
                  <a:path w="547" h="183">
                    <a:moveTo>
                      <a:pt x="547" y="0"/>
                    </a:moveTo>
                    <a:lnTo>
                      <a:pt x="0" y="0"/>
                    </a:lnTo>
                    <a:lnTo>
                      <a:pt x="0" y="183"/>
                    </a:lnTo>
                    <a:lnTo>
                      <a:pt x="547" y="183"/>
                    </a:lnTo>
                    <a:lnTo>
                      <a:pt x="547" y="0"/>
                    </a:lnTo>
                    <a:close/>
                    <a:moveTo>
                      <a:pt x="364" y="124"/>
                    </a:moveTo>
                    <a:lnTo>
                      <a:pt x="183" y="124"/>
                    </a:lnTo>
                    <a:lnTo>
                      <a:pt x="183" y="62"/>
                    </a:lnTo>
                    <a:lnTo>
                      <a:pt x="364" y="62"/>
                    </a:lnTo>
                    <a:lnTo>
                      <a:pt x="364" y="124"/>
                    </a:lnTo>
                    <a:close/>
                  </a:path>
                </a:pathLst>
              </a:custGeom>
              <a:solidFill>
                <a:srgbClr val="77933C">
                  <a:alpha val="100000"/>
                </a:srgbClr>
              </a:solidFill>
              <a:ln w="9525">
                <a:noFill/>
              </a:ln>
            </p:spPr>
            <p:txBody>
              <a:bodyPr/>
              <a:lstStyle/>
              <a:p>
                <a:endParaRPr lang="fr-FR" altLang="en-US"/>
              </a:p>
            </p:txBody>
          </p:sp>
          <p:sp>
            <p:nvSpPr>
              <p:cNvPr id="52266" name="Freeform 7"/>
              <p:cNvSpPr/>
              <p:nvPr/>
            </p:nvSpPr>
            <p:spPr>
              <a:xfrm>
                <a:off x="4265666" y="2325419"/>
                <a:ext cx="239408" cy="80092"/>
              </a:xfrm>
              <a:custGeom>
                <a:avLst/>
                <a:gdLst>
                  <a:gd name="txL" fmla="*/ 0 w 547"/>
                  <a:gd name="txT" fmla="*/ 0 h 183"/>
                  <a:gd name="txR" fmla="*/ 547 w 547"/>
                  <a:gd name="txB" fmla="*/ 183 h 183"/>
                </a:gdLst>
                <a:ahLst/>
                <a:cxnLst>
                  <a:cxn ang="17694720">
                    <a:pos x="119704" y="0"/>
                  </a:cxn>
                  <a:cxn ang="0">
                    <a:pos x="239408" y="40046"/>
                  </a:cxn>
                  <a:cxn ang="5898240">
                    <a:pos x="119704" y="80092"/>
                  </a:cxn>
                  <a:cxn ang="11796480">
                    <a:pos x="0" y="40046"/>
                  </a:cxn>
                  <a:cxn ang="0">
                    <a:pos x="239408" y="0"/>
                  </a:cxn>
                  <a:cxn ang="0">
                    <a:pos x="0" y="0"/>
                  </a:cxn>
                  <a:cxn ang="0">
                    <a:pos x="0" y="80092"/>
                  </a:cxn>
                  <a:cxn ang="0">
                    <a:pos x="239408" y="80092"/>
                  </a:cxn>
                  <a:cxn ang="0">
                    <a:pos x="239408" y="0"/>
                  </a:cxn>
                  <a:cxn ang="0">
                    <a:pos x="159314" y="52957"/>
                  </a:cxn>
                  <a:cxn ang="0">
                    <a:pos x="80094" y="52957"/>
                  </a:cxn>
                  <a:cxn ang="0">
                    <a:pos x="80094" y="25822"/>
                  </a:cxn>
                  <a:cxn ang="0">
                    <a:pos x="159314" y="25822"/>
                  </a:cxn>
                  <a:cxn ang="0">
                    <a:pos x="159314" y="52957"/>
                  </a:cxn>
                </a:cxnLst>
                <a:rect l="txL" t="txT" r="txR" b="txB"/>
                <a:pathLst>
                  <a:path w="547" h="183">
                    <a:moveTo>
                      <a:pt x="547" y="0"/>
                    </a:moveTo>
                    <a:lnTo>
                      <a:pt x="0" y="0"/>
                    </a:lnTo>
                    <a:lnTo>
                      <a:pt x="0" y="183"/>
                    </a:lnTo>
                    <a:lnTo>
                      <a:pt x="547" y="183"/>
                    </a:lnTo>
                    <a:lnTo>
                      <a:pt x="547" y="0"/>
                    </a:lnTo>
                    <a:close/>
                    <a:moveTo>
                      <a:pt x="364" y="121"/>
                    </a:moveTo>
                    <a:lnTo>
                      <a:pt x="183" y="121"/>
                    </a:lnTo>
                    <a:lnTo>
                      <a:pt x="183" y="59"/>
                    </a:lnTo>
                    <a:lnTo>
                      <a:pt x="364" y="59"/>
                    </a:lnTo>
                    <a:lnTo>
                      <a:pt x="364" y="121"/>
                    </a:lnTo>
                    <a:close/>
                  </a:path>
                </a:pathLst>
              </a:custGeom>
              <a:solidFill>
                <a:srgbClr val="77933C">
                  <a:alpha val="100000"/>
                </a:srgbClr>
              </a:solidFill>
              <a:ln w="9525">
                <a:noFill/>
              </a:ln>
            </p:spPr>
            <p:txBody>
              <a:bodyPr/>
              <a:lstStyle/>
              <a:p>
                <a:endParaRPr lang="fr-FR" altLang="en-US"/>
              </a:p>
            </p:txBody>
          </p:sp>
        </p:grpSp>
        <p:sp>
          <p:nvSpPr>
            <p:cNvPr id="52257" name="Freeform 11"/>
            <p:cNvSpPr/>
            <p:nvPr/>
          </p:nvSpPr>
          <p:spPr>
            <a:xfrm>
              <a:off x="6094503" y="2471202"/>
              <a:ext cx="354009" cy="403149"/>
            </a:xfrm>
            <a:custGeom>
              <a:avLst/>
              <a:gdLst>
                <a:gd name="txL" fmla="*/ 0 w 280"/>
                <a:gd name="txT" fmla="*/ 0 h 320"/>
                <a:gd name="txR" fmla="*/ 280 w 280"/>
                <a:gd name="txB" fmla="*/ 320 h 320"/>
              </a:gdLst>
              <a:ahLst/>
              <a:cxnLst>
                <a:cxn ang="17694720">
                  <a:pos x="177005" y="0"/>
                </a:cxn>
                <a:cxn ang="0">
                  <a:pos x="354009" y="201575"/>
                </a:cxn>
                <a:cxn ang="5898240">
                  <a:pos x="177005" y="403149"/>
                </a:cxn>
                <a:cxn ang="11796480">
                  <a:pos x="0" y="201575"/>
                </a:cxn>
                <a:cxn ang="0">
                  <a:pos x="303436" y="0"/>
                </a:cxn>
                <a:cxn ang="0">
                  <a:pos x="50573" y="0"/>
                </a:cxn>
                <a:cxn ang="0">
                  <a:pos x="0" y="50394"/>
                </a:cxn>
                <a:cxn ang="0">
                  <a:pos x="0" y="251968"/>
                </a:cxn>
                <a:cxn ang="0">
                  <a:pos x="0" y="264567"/>
                </a:cxn>
                <a:cxn ang="0">
                  <a:pos x="12643" y="277165"/>
                </a:cxn>
                <a:cxn ang="0">
                  <a:pos x="25286" y="277165"/>
                </a:cxn>
                <a:cxn ang="0">
                  <a:pos x="25286" y="340157"/>
                </a:cxn>
                <a:cxn ang="0">
                  <a:pos x="37930" y="352755"/>
                </a:cxn>
                <a:cxn ang="0">
                  <a:pos x="50573" y="352755"/>
                </a:cxn>
                <a:cxn ang="0">
                  <a:pos x="50573" y="377952"/>
                </a:cxn>
                <a:cxn ang="0">
                  <a:pos x="75859" y="403149"/>
                </a:cxn>
                <a:cxn ang="0">
                  <a:pos x="101145" y="403149"/>
                </a:cxn>
                <a:cxn ang="0">
                  <a:pos x="126432" y="377952"/>
                </a:cxn>
                <a:cxn ang="0">
                  <a:pos x="126432" y="352755"/>
                </a:cxn>
                <a:cxn ang="0">
                  <a:pos x="227577" y="352755"/>
                </a:cxn>
                <a:cxn ang="0">
                  <a:pos x="227577" y="377952"/>
                </a:cxn>
                <a:cxn ang="0">
                  <a:pos x="252864" y="403149"/>
                </a:cxn>
                <a:cxn ang="0">
                  <a:pos x="278150" y="403149"/>
                </a:cxn>
                <a:cxn ang="0">
                  <a:pos x="303436" y="377952"/>
                </a:cxn>
                <a:cxn ang="0">
                  <a:pos x="303436" y="352755"/>
                </a:cxn>
                <a:cxn ang="0">
                  <a:pos x="316079" y="352755"/>
                </a:cxn>
                <a:cxn ang="0">
                  <a:pos x="328723" y="340157"/>
                </a:cxn>
                <a:cxn ang="0">
                  <a:pos x="328723" y="277165"/>
                </a:cxn>
                <a:cxn ang="0">
                  <a:pos x="341366" y="277165"/>
                </a:cxn>
                <a:cxn ang="0">
                  <a:pos x="354009" y="264567"/>
                </a:cxn>
                <a:cxn ang="0">
                  <a:pos x="354009" y="251968"/>
                </a:cxn>
                <a:cxn ang="0">
                  <a:pos x="354009" y="50394"/>
                </a:cxn>
                <a:cxn ang="0">
                  <a:pos x="303436" y="0"/>
                </a:cxn>
                <a:cxn ang="0">
                  <a:pos x="252864" y="100787"/>
                </a:cxn>
                <a:cxn ang="0">
                  <a:pos x="278150" y="125984"/>
                </a:cxn>
                <a:cxn ang="0">
                  <a:pos x="278150" y="176378"/>
                </a:cxn>
                <a:cxn ang="0">
                  <a:pos x="75859" y="176378"/>
                </a:cxn>
                <a:cxn ang="0">
                  <a:pos x="75859" y="125984"/>
                </a:cxn>
                <a:cxn ang="0">
                  <a:pos x="101145" y="100787"/>
                </a:cxn>
                <a:cxn ang="0">
                  <a:pos x="252864" y="100787"/>
                </a:cxn>
                <a:cxn ang="0">
                  <a:pos x="101145" y="302362"/>
                </a:cxn>
                <a:cxn ang="0">
                  <a:pos x="75859" y="302362"/>
                </a:cxn>
                <a:cxn ang="0">
                  <a:pos x="50573" y="277165"/>
                </a:cxn>
                <a:cxn ang="0">
                  <a:pos x="75859" y="251968"/>
                </a:cxn>
                <a:cxn ang="0">
                  <a:pos x="101145" y="251968"/>
                </a:cxn>
                <a:cxn ang="0">
                  <a:pos x="126432" y="277165"/>
                </a:cxn>
                <a:cxn ang="0">
                  <a:pos x="101145" y="302362"/>
                </a:cxn>
                <a:cxn ang="0">
                  <a:pos x="278150" y="302362"/>
                </a:cxn>
                <a:cxn ang="0">
                  <a:pos x="252864" y="302362"/>
                </a:cxn>
                <a:cxn ang="0">
                  <a:pos x="227577" y="277165"/>
                </a:cxn>
                <a:cxn ang="0">
                  <a:pos x="252864" y="251968"/>
                </a:cxn>
                <a:cxn ang="0">
                  <a:pos x="278150" y="251968"/>
                </a:cxn>
                <a:cxn ang="0">
                  <a:pos x="303436" y="277165"/>
                </a:cxn>
                <a:cxn ang="0">
                  <a:pos x="278150" y="302362"/>
                </a:cxn>
              </a:cxnLst>
              <a:rect l="txL" t="txT" r="txR" b="txB"/>
              <a:pathLst>
                <a:path w="280" h="320">
                  <a:moveTo>
                    <a:pt x="240" y="0"/>
                  </a:moveTo>
                  <a:cubicBezTo>
                    <a:pt x="40" y="0"/>
                    <a:pt x="40" y="0"/>
                    <a:pt x="40" y="0"/>
                  </a:cubicBezTo>
                  <a:cubicBezTo>
                    <a:pt x="18" y="0"/>
                    <a:pt x="0" y="18"/>
                    <a:pt x="0" y="40"/>
                  </a:cubicBezTo>
                  <a:cubicBezTo>
                    <a:pt x="0" y="200"/>
                    <a:pt x="0" y="200"/>
                    <a:pt x="0" y="200"/>
                  </a:cubicBezTo>
                  <a:cubicBezTo>
                    <a:pt x="0" y="210"/>
                    <a:pt x="0" y="210"/>
                    <a:pt x="0" y="210"/>
                  </a:cubicBezTo>
                  <a:cubicBezTo>
                    <a:pt x="0" y="216"/>
                    <a:pt x="4" y="220"/>
                    <a:pt x="10" y="220"/>
                  </a:cubicBezTo>
                  <a:cubicBezTo>
                    <a:pt x="20" y="220"/>
                    <a:pt x="20" y="220"/>
                    <a:pt x="20" y="220"/>
                  </a:cubicBezTo>
                  <a:cubicBezTo>
                    <a:pt x="20" y="270"/>
                    <a:pt x="20" y="270"/>
                    <a:pt x="20" y="270"/>
                  </a:cubicBezTo>
                  <a:cubicBezTo>
                    <a:pt x="20" y="276"/>
                    <a:pt x="24" y="280"/>
                    <a:pt x="30" y="280"/>
                  </a:cubicBezTo>
                  <a:cubicBezTo>
                    <a:pt x="40" y="280"/>
                    <a:pt x="40" y="280"/>
                    <a:pt x="40" y="280"/>
                  </a:cubicBezTo>
                  <a:cubicBezTo>
                    <a:pt x="40" y="300"/>
                    <a:pt x="40" y="300"/>
                    <a:pt x="40" y="300"/>
                  </a:cubicBezTo>
                  <a:cubicBezTo>
                    <a:pt x="40" y="311"/>
                    <a:pt x="49" y="320"/>
                    <a:pt x="60" y="320"/>
                  </a:cubicBezTo>
                  <a:cubicBezTo>
                    <a:pt x="80" y="320"/>
                    <a:pt x="80" y="320"/>
                    <a:pt x="80" y="320"/>
                  </a:cubicBezTo>
                  <a:cubicBezTo>
                    <a:pt x="91" y="320"/>
                    <a:pt x="100" y="311"/>
                    <a:pt x="100" y="300"/>
                  </a:cubicBezTo>
                  <a:cubicBezTo>
                    <a:pt x="100" y="280"/>
                    <a:pt x="100" y="280"/>
                    <a:pt x="100" y="280"/>
                  </a:cubicBezTo>
                  <a:cubicBezTo>
                    <a:pt x="180" y="280"/>
                    <a:pt x="180" y="280"/>
                    <a:pt x="180" y="280"/>
                  </a:cubicBezTo>
                  <a:cubicBezTo>
                    <a:pt x="180" y="300"/>
                    <a:pt x="180" y="300"/>
                    <a:pt x="180" y="300"/>
                  </a:cubicBezTo>
                  <a:cubicBezTo>
                    <a:pt x="180" y="311"/>
                    <a:pt x="189" y="320"/>
                    <a:pt x="200" y="320"/>
                  </a:cubicBezTo>
                  <a:cubicBezTo>
                    <a:pt x="220" y="320"/>
                    <a:pt x="220" y="320"/>
                    <a:pt x="220" y="320"/>
                  </a:cubicBezTo>
                  <a:cubicBezTo>
                    <a:pt x="231" y="320"/>
                    <a:pt x="240" y="311"/>
                    <a:pt x="240" y="300"/>
                  </a:cubicBezTo>
                  <a:cubicBezTo>
                    <a:pt x="240" y="280"/>
                    <a:pt x="240" y="280"/>
                    <a:pt x="240" y="280"/>
                  </a:cubicBezTo>
                  <a:cubicBezTo>
                    <a:pt x="250" y="280"/>
                    <a:pt x="250" y="280"/>
                    <a:pt x="250" y="280"/>
                  </a:cubicBezTo>
                  <a:cubicBezTo>
                    <a:pt x="256" y="280"/>
                    <a:pt x="260" y="276"/>
                    <a:pt x="260" y="270"/>
                  </a:cubicBezTo>
                  <a:cubicBezTo>
                    <a:pt x="260" y="220"/>
                    <a:pt x="260" y="220"/>
                    <a:pt x="260" y="220"/>
                  </a:cubicBezTo>
                  <a:cubicBezTo>
                    <a:pt x="270" y="220"/>
                    <a:pt x="270" y="220"/>
                    <a:pt x="270" y="220"/>
                  </a:cubicBezTo>
                  <a:cubicBezTo>
                    <a:pt x="276" y="220"/>
                    <a:pt x="280" y="216"/>
                    <a:pt x="280" y="210"/>
                  </a:cubicBezTo>
                  <a:cubicBezTo>
                    <a:pt x="280" y="200"/>
                    <a:pt x="280" y="200"/>
                    <a:pt x="280" y="200"/>
                  </a:cubicBezTo>
                  <a:cubicBezTo>
                    <a:pt x="280" y="40"/>
                    <a:pt x="280" y="40"/>
                    <a:pt x="280" y="40"/>
                  </a:cubicBezTo>
                  <a:cubicBezTo>
                    <a:pt x="280" y="18"/>
                    <a:pt x="262" y="0"/>
                    <a:pt x="240" y="0"/>
                  </a:cubicBezTo>
                  <a:close/>
                  <a:moveTo>
                    <a:pt x="200" y="80"/>
                  </a:moveTo>
                  <a:cubicBezTo>
                    <a:pt x="211" y="80"/>
                    <a:pt x="220" y="89"/>
                    <a:pt x="220" y="100"/>
                  </a:cubicBezTo>
                  <a:cubicBezTo>
                    <a:pt x="220" y="140"/>
                    <a:pt x="220" y="140"/>
                    <a:pt x="220" y="140"/>
                  </a:cubicBezTo>
                  <a:cubicBezTo>
                    <a:pt x="60" y="140"/>
                    <a:pt x="60" y="140"/>
                    <a:pt x="60" y="140"/>
                  </a:cubicBezTo>
                  <a:cubicBezTo>
                    <a:pt x="60" y="100"/>
                    <a:pt x="60" y="100"/>
                    <a:pt x="60" y="100"/>
                  </a:cubicBezTo>
                  <a:cubicBezTo>
                    <a:pt x="60" y="89"/>
                    <a:pt x="69" y="80"/>
                    <a:pt x="80" y="80"/>
                  </a:cubicBezTo>
                  <a:lnTo>
                    <a:pt x="200" y="80"/>
                  </a:lnTo>
                  <a:close/>
                  <a:moveTo>
                    <a:pt x="80" y="240"/>
                  </a:moveTo>
                  <a:cubicBezTo>
                    <a:pt x="60" y="240"/>
                    <a:pt x="60" y="240"/>
                    <a:pt x="60" y="240"/>
                  </a:cubicBezTo>
                  <a:cubicBezTo>
                    <a:pt x="49" y="240"/>
                    <a:pt x="40" y="231"/>
                    <a:pt x="40" y="220"/>
                  </a:cubicBezTo>
                  <a:cubicBezTo>
                    <a:pt x="40" y="209"/>
                    <a:pt x="49" y="200"/>
                    <a:pt x="60" y="200"/>
                  </a:cubicBezTo>
                  <a:cubicBezTo>
                    <a:pt x="80" y="200"/>
                    <a:pt x="80" y="200"/>
                    <a:pt x="80" y="200"/>
                  </a:cubicBezTo>
                  <a:cubicBezTo>
                    <a:pt x="91" y="200"/>
                    <a:pt x="100" y="209"/>
                    <a:pt x="100" y="220"/>
                  </a:cubicBezTo>
                  <a:cubicBezTo>
                    <a:pt x="100" y="231"/>
                    <a:pt x="91" y="240"/>
                    <a:pt x="80" y="240"/>
                  </a:cubicBezTo>
                  <a:close/>
                  <a:moveTo>
                    <a:pt x="220" y="240"/>
                  </a:moveTo>
                  <a:cubicBezTo>
                    <a:pt x="200" y="240"/>
                    <a:pt x="200" y="240"/>
                    <a:pt x="200" y="240"/>
                  </a:cubicBezTo>
                  <a:cubicBezTo>
                    <a:pt x="189" y="240"/>
                    <a:pt x="180" y="231"/>
                    <a:pt x="180" y="220"/>
                  </a:cubicBezTo>
                  <a:cubicBezTo>
                    <a:pt x="180" y="209"/>
                    <a:pt x="189" y="200"/>
                    <a:pt x="200" y="200"/>
                  </a:cubicBezTo>
                  <a:cubicBezTo>
                    <a:pt x="220" y="200"/>
                    <a:pt x="220" y="200"/>
                    <a:pt x="220" y="200"/>
                  </a:cubicBezTo>
                  <a:cubicBezTo>
                    <a:pt x="231" y="200"/>
                    <a:pt x="240" y="209"/>
                    <a:pt x="240" y="220"/>
                  </a:cubicBezTo>
                  <a:cubicBezTo>
                    <a:pt x="240" y="231"/>
                    <a:pt x="231" y="240"/>
                    <a:pt x="220" y="240"/>
                  </a:cubicBezTo>
                  <a:close/>
                </a:path>
              </a:pathLst>
            </a:custGeom>
            <a:solidFill>
              <a:srgbClr val="88A945">
                <a:alpha val="100000"/>
              </a:srgbClr>
            </a:solidFill>
            <a:ln w="9525">
              <a:noFill/>
            </a:ln>
          </p:spPr>
          <p:txBody>
            <a:bodyPr/>
            <a:lstStyle/>
            <a:p>
              <a:endParaRPr lang="fr-FR" altLang="en-US"/>
            </a:p>
          </p:txBody>
        </p:sp>
        <p:grpSp>
          <p:nvGrpSpPr>
            <p:cNvPr id="52258" name="Group 59"/>
            <p:cNvGrpSpPr/>
            <p:nvPr/>
          </p:nvGrpSpPr>
          <p:grpSpPr>
            <a:xfrm>
              <a:off x="6402317" y="4483595"/>
              <a:ext cx="515273" cy="537319"/>
              <a:chOff x="6402317" y="4483595"/>
              <a:chExt cx="515273" cy="537319"/>
            </a:xfrm>
          </p:grpSpPr>
          <p:sp>
            <p:nvSpPr>
              <p:cNvPr id="52262" name="Freeform 22"/>
              <p:cNvSpPr/>
              <p:nvPr/>
            </p:nvSpPr>
            <p:spPr>
              <a:xfrm>
                <a:off x="6479072" y="4483595"/>
                <a:ext cx="438518" cy="377510"/>
              </a:xfrm>
              <a:custGeom>
                <a:avLst/>
                <a:gdLst>
                  <a:gd name="txL" fmla="*/ 0 w 469"/>
                  <a:gd name="txT" fmla="*/ 0 h 404"/>
                  <a:gd name="txR" fmla="*/ 469 w 469"/>
                  <a:gd name="txB" fmla="*/ 404 h 404"/>
                </a:gdLst>
                <a:ahLst/>
                <a:cxnLst>
                  <a:cxn ang="17694720">
                    <a:pos x="219259" y="0"/>
                  </a:cxn>
                  <a:cxn ang="0">
                    <a:pos x="438518" y="188755"/>
                  </a:cxn>
                  <a:cxn ang="5898240">
                    <a:pos x="219259" y="377510"/>
                  </a:cxn>
                  <a:cxn ang="11796480">
                    <a:pos x="0" y="188755"/>
                  </a:cxn>
                  <a:cxn ang="0">
                    <a:pos x="403923" y="0"/>
                  </a:cxn>
                  <a:cxn ang="0">
                    <a:pos x="0" y="0"/>
                  </a:cxn>
                  <a:cxn ang="0">
                    <a:pos x="137446" y="68213"/>
                  </a:cxn>
                  <a:cxn ang="0">
                    <a:pos x="369328" y="68213"/>
                  </a:cxn>
                  <a:cxn ang="0">
                    <a:pos x="369328" y="102787"/>
                  </a:cxn>
                  <a:cxn ang="0">
                    <a:pos x="205701" y="102787"/>
                  </a:cxn>
                  <a:cxn ang="0">
                    <a:pos x="251517" y="125214"/>
                  </a:cxn>
                  <a:cxn ang="0">
                    <a:pos x="293592" y="171935"/>
                  </a:cxn>
                  <a:cxn ang="0">
                    <a:pos x="369328" y="171935"/>
                  </a:cxn>
                  <a:cxn ang="0">
                    <a:pos x="369328" y="205575"/>
                  </a:cxn>
                  <a:cxn ang="0">
                    <a:pos x="301072" y="205575"/>
                  </a:cxn>
                  <a:cxn ang="0">
                    <a:pos x="301072" y="377510"/>
                  </a:cxn>
                  <a:cxn ang="0">
                    <a:pos x="403923" y="377510"/>
                  </a:cxn>
                  <a:cxn ang="0">
                    <a:pos x="438518" y="342936"/>
                  </a:cxn>
                  <a:cxn ang="0">
                    <a:pos x="438518" y="34574"/>
                  </a:cxn>
                  <a:cxn ang="0">
                    <a:pos x="403923" y="0"/>
                  </a:cxn>
                </a:cxnLst>
                <a:rect l="txL" t="txT" r="txR" b="txB"/>
                <a:pathLst>
                  <a:path w="469" h="404">
                    <a:moveTo>
                      <a:pt x="432" y="0"/>
                    </a:moveTo>
                    <a:cubicBezTo>
                      <a:pt x="0" y="0"/>
                      <a:pt x="0" y="0"/>
                      <a:pt x="0" y="0"/>
                    </a:cubicBezTo>
                    <a:cubicBezTo>
                      <a:pt x="147" y="73"/>
                      <a:pt x="147" y="73"/>
                      <a:pt x="147" y="73"/>
                    </a:cubicBezTo>
                    <a:cubicBezTo>
                      <a:pt x="395" y="73"/>
                      <a:pt x="395" y="73"/>
                      <a:pt x="395" y="73"/>
                    </a:cubicBezTo>
                    <a:cubicBezTo>
                      <a:pt x="395" y="110"/>
                      <a:pt x="395" y="110"/>
                      <a:pt x="395" y="110"/>
                    </a:cubicBezTo>
                    <a:cubicBezTo>
                      <a:pt x="220" y="110"/>
                      <a:pt x="220" y="110"/>
                      <a:pt x="220" y="110"/>
                    </a:cubicBezTo>
                    <a:cubicBezTo>
                      <a:pt x="269" y="134"/>
                      <a:pt x="269" y="134"/>
                      <a:pt x="269" y="134"/>
                    </a:cubicBezTo>
                    <a:cubicBezTo>
                      <a:pt x="288" y="144"/>
                      <a:pt x="304" y="163"/>
                      <a:pt x="314" y="184"/>
                    </a:cubicBezTo>
                    <a:cubicBezTo>
                      <a:pt x="395" y="184"/>
                      <a:pt x="395" y="184"/>
                      <a:pt x="395" y="184"/>
                    </a:cubicBezTo>
                    <a:cubicBezTo>
                      <a:pt x="395" y="220"/>
                      <a:pt x="395" y="220"/>
                      <a:pt x="395" y="220"/>
                    </a:cubicBezTo>
                    <a:cubicBezTo>
                      <a:pt x="322" y="220"/>
                      <a:pt x="322" y="220"/>
                      <a:pt x="322" y="220"/>
                    </a:cubicBezTo>
                    <a:cubicBezTo>
                      <a:pt x="322" y="404"/>
                      <a:pt x="322" y="404"/>
                      <a:pt x="322" y="404"/>
                    </a:cubicBezTo>
                    <a:cubicBezTo>
                      <a:pt x="432" y="404"/>
                      <a:pt x="432" y="404"/>
                      <a:pt x="432" y="404"/>
                    </a:cubicBezTo>
                    <a:cubicBezTo>
                      <a:pt x="452" y="404"/>
                      <a:pt x="469" y="387"/>
                      <a:pt x="469" y="367"/>
                    </a:cubicBezTo>
                    <a:cubicBezTo>
                      <a:pt x="469" y="37"/>
                      <a:pt x="469" y="37"/>
                      <a:pt x="469" y="37"/>
                    </a:cubicBezTo>
                    <a:cubicBezTo>
                      <a:pt x="469" y="17"/>
                      <a:pt x="452" y="0"/>
                      <a:pt x="432" y="0"/>
                    </a:cubicBezTo>
                    <a:close/>
                  </a:path>
                </a:pathLst>
              </a:custGeom>
              <a:solidFill>
                <a:srgbClr val="ACC777">
                  <a:alpha val="100000"/>
                </a:srgbClr>
              </a:solidFill>
              <a:ln w="9525">
                <a:noFill/>
              </a:ln>
            </p:spPr>
            <p:txBody>
              <a:bodyPr/>
              <a:lstStyle/>
              <a:p>
                <a:endParaRPr lang="fr-FR" altLang="en-US"/>
              </a:p>
            </p:txBody>
          </p:sp>
          <p:sp>
            <p:nvSpPr>
              <p:cNvPr id="52263" name="Freeform 23"/>
              <p:cNvSpPr/>
              <p:nvPr/>
            </p:nvSpPr>
            <p:spPr>
              <a:xfrm>
                <a:off x="6402317" y="4495400"/>
                <a:ext cx="343256" cy="525514"/>
              </a:xfrm>
              <a:custGeom>
                <a:avLst/>
                <a:gdLst>
                  <a:gd name="txL" fmla="*/ 0 w 367"/>
                  <a:gd name="txT" fmla="*/ 0 h 562"/>
                  <a:gd name="txR" fmla="*/ 367 w 367"/>
                  <a:gd name="txB" fmla="*/ 562 h 562"/>
                </a:gdLst>
                <a:ahLst/>
                <a:cxnLst>
                  <a:cxn ang="17694720">
                    <a:pos x="171628" y="0"/>
                  </a:cxn>
                  <a:cxn ang="0">
                    <a:pos x="343256" y="262757"/>
                  </a:cxn>
                  <a:cxn ang="5898240">
                    <a:pos x="171628" y="525514"/>
                  </a:cxn>
                  <a:cxn ang="11796480">
                    <a:pos x="0" y="262757"/>
                  </a:cxn>
                  <a:cxn ang="0">
                    <a:pos x="312391" y="144002"/>
                  </a:cxn>
                  <a:cxn ang="0">
                    <a:pos x="30865" y="2805"/>
                  </a:cxn>
                  <a:cxn ang="0">
                    <a:pos x="18706" y="0"/>
                  </a:cxn>
                  <a:cxn ang="0">
                    <a:pos x="0" y="22442"/>
                  </a:cxn>
                  <a:cxn ang="0">
                    <a:pos x="0" y="331018"/>
                  </a:cxn>
                  <a:cxn ang="0">
                    <a:pos x="30865" y="380577"/>
                  </a:cxn>
                  <a:cxn ang="0">
                    <a:pos x="312391" y="521774"/>
                  </a:cxn>
                  <a:cxn ang="0">
                    <a:pos x="325485" y="525514"/>
                  </a:cxn>
                  <a:cxn ang="0">
                    <a:pos x="343256" y="503072"/>
                  </a:cxn>
                  <a:cxn ang="0">
                    <a:pos x="343256" y="193561"/>
                  </a:cxn>
                  <a:cxn ang="0">
                    <a:pos x="312391" y="144002"/>
                  </a:cxn>
                  <a:cxn ang="0">
                    <a:pos x="240373" y="365616"/>
                  </a:cxn>
                  <a:cxn ang="0">
                    <a:pos x="205767" y="314186"/>
                  </a:cxn>
                  <a:cxn ang="0">
                    <a:pos x="240373" y="262757"/>
                  </a:cxn>
                  <a:cxn ang="0">
                    <a:pos x="274979" y="314186"/>
                  </a:cxn>
                  <a:cxn ang="0">
                    <a:pos x="240373" y="365616"/>
                  </a:cxn>
                </a:cxnLst>
                <a:rect l="txL" t="txT" r="txR" b="txB"/>
                <a:pathLst>
                  <a:path w="367" h="562">
                    <a:moveTo>
                      <a:pt x="334" y="154"/>
                    </a:moveTo>
                    <a:cubicBezTo>
                      <a:pt x="33" y="3"/>
                      <a:pt x="33" y="3"/>
                      <a:pt x="33" y="3"/>
                    </a:cubicBezTo>
                    <a:cubicBezTo>
                      <a:pt x="28" y="1"/>
                      <a:pt x="24" y="0"/>
                      <a:pt x="20" y="0"/>
                    </a:cubicBezTo>
                    <a:cubicBezTo>
                      <a:pt x="8" y="0"/>
                      <a:pt x="0" y="9"/>
                      <a:pt x="0" y="24"/>
                    </a:cubicBezTo>
                    <a:cubicBezTo>
                      <a:pt x="0" y="354"/>
                      <a:pt x="0" y="354"/>
                      <a:pt x="0" y="354"/>
                    </a:cubicBezTo>
                    <a:cubicBezTo>
                      <a:pt x="0" y="374"/>
                      <a:pt x="15" y="398"/>
                      <a:pt x="33" y="407"/>
                    </a:cubicBezTo>
                    <a:cubicBezTo>
                      <a:pt x="334" y="558"/>
                      <a:pt x="334" y="558"/>
                      <a:pt x="334" y="558"/>
                    </a:cubicBezTo>
                    <a:cubicBezTo>
                      <a:pt x="339" y="560"/>
                      <a:pt x="344" y="562"/>
                      <a:pt x="348" y="562"/>
                    </a:cubicBezTo>
                    <a:cubicBezTo>
                      <a:pt x="359" y="562"/>
                      <a:pt x="367" y="553"/>
                      <a:pt x="367" y="538"/>
                    </a:cubicBezTo>
                    <a:cubicBezTo>
                      <a:pt x="367" y="207"/>
                      <a:pt x="367" y="207"/>
                      <a:pt x="367" y="207"/>
                    </a:cubicBezTo>
                    <a:cubicBezTo>
                      <a:pt x="367" y="187"/>
                      <a:pt x="352" y="163"/>
                      <a:pt x="334" y="154"/>
                    </a:cubicBezTo>
                    <a:close/>
                    <a:moveTo>
                      <a:pt x="257" y="391"/>
                    </a:moveTo>
                    <a:cubicBezTo>
                      <a:pt x="237" y="391"/>
                      <a:pt x="220" y="366"/>
                      <a:pt x="220" y="336"/>
                    </a:cubicBezTo>
                    <a:cubicBezTo>
                      <a:pt x="220" y="305"/>
                      <a:pt x="237" y="281"/>
                      <a:pt x="257" y="281"/>
                    </a:cubicBezTo>
                    <a:cubicBezTo>
                      <a:pt x="277" y="281"/>
                      <a:pt x="294" y="305"/>
                      <a:pt x="294" y="336"/>
                    </a:cubicBezTo>
                    <a:cubicBezTo>
                      <a:pt x="294" y="366"/>
                      <a:pt x="277" y="391"/>
                      <a:pt x="257" y="391"/>
                    </a:cubicBezTo>
                    <a:close/>
                  </a:path>
                </a:pathLst>
              </a:custGeom>
              <a:solidFill>
                <a:srgbClr val="ACC777">
                  <a:alpha val="100000"/>
                </a:srgbClr>
              </a:solidFill>
              <a:ln w="9525">
                <a:noFill/>
              </a:ln>
            </p:spPr>
            <p:txBody>
              <a:bodyPr/>
              <a:lstStyle/>
              <a:p>
                <a:endParaRPr lang="fr-FR" altLang="en-US"/>
              </a:p>
            </p:txBody>
          </p:sp>
        </p:grpSp>
        <p:grpSp>
          <p:nvGrpSpPr>
            <p:cNvPr id="52259" name="Group 97"/>
            <p:cNvGrpSpPr/>
            <p:nvPr/>
          </p:nvGrpSpPr>
          <p:grpSpPr>
            <a:xfrm>
              <a:off x="4359566" y="4247634"/>
              <a:ext cx="415924" cy="293266"/>
              <a:chOff x="4359566" y="4247634"/>
              <a:chExt cx="415924" cy="293266"/>
            </a:xfrm>
          </p:grpSpPr>
          <p:sp>
            <p:nvSpPr>
              <p:cNvPr id="52260" name="Freeform 27"/>
              <p:cNvSpPr/>
              <p:nvPr/>
            </p:nvSpPr>
            <p:spPr>
              <a:xfrm>
                <a:off x="4359566" y="4247634"/>
                <a:ext cx="292708" cy="293266"/>
              </a:xfrm>
              <a:custGeom>
                <a:avLst/>
                <a:gdLst>
                  <a:gd name="txL" fmla="*/ 0 w 220"/>
                  <a:gd name="txT" fmla="*/ 0 h 220"/>
                  <a:gd name="txR" fmla="*/ 220 w 220"/>
                  <a:gd name="txB" fmla="*/ 220 h 220"/>
                </a:gdLst>
                <a:ahLst/>
                <a:cxnLst>
                  <a:cxn ang="17694720">
                    <a:pos x="146354" y="0"/>
                  </a:cxn>
                  <a:cxn ang="0">
                    <a:pos x="292708" y="146633"/>
                  </a:cxn>
                  <a:cxn ang="5898240">
                    <a:pos x="146354" y="293266"/>
                  </a:cxn>
                  <a:cxn ang="11796480">
                    <a:pos x="0" y="146633"/>
                  </a:cxn>
                  <a:cxn ang="0">
                    <a:pos x="266098" y="0"/>
                  </a:cxn>
                  <a:cxn ang="0">
                    <a:pos x="26610" y="0"/>
                  </a:cxn>
                  <a:cxn ang="0">
                    <a:pos x="0" y="26661"/>
                  </a:cxn>
                  <a:cxn ang="0">
                    <a:pos x="0" y="266605"/>
                  </a:cxn>
                  <a:cxn ang="0">
                    <a:pos x="26610" y="293266"/>
                  </a:cxn>
                  <a:cxn ang="0">
                    <a:pos x="266098" y="293266"/>
                  </a:cxn>
                  <a:cxn ang="0">
                    <a:pos x="292708" y="266605"/>
                  </a:cxn>
                  <a:cxn ang="0">
                    <a:pos x="292708" y="26661"/>
                  </a:cxn>
                  <a:cxn ang="0">
                    <a:pos x="266098" y="0"/>
                  </a:cxn>
                </a:cxnLst>
                <a:rect l="txL" t="txT" r="txR" b="txB"/>
                <a:pathLst>
                  <a:path w="220" h="220">
                    <a:moveTo>
                      <a:pt x="200" y="0"/>
                    </a:moveTo>
                    <a:cubicBezTo>
                      <a:pt x="20" y="0"/>
                      <a:pt x="20" y="0"/>
                      <a:pt x="20" y="0"/>
                    </a:cubicBezTo>
                    <a:cubicBezTo>
                      <a:pt x="9" y="0"/>
                      <a:pt x="0" y="9"/>
                      <a:pt x="0" y="20"/>
                    </a:cubicBezTo>
                    <a:cubicBezTo>
                      <a:pt x="0" y="200"/>
                      <a:pt x="0" y="200"/>
                      <a:pt x="0" y="200"/>
                    </a:cubicBezTo>
                    <a:cubicBezTo>
                      <a:pt x="0" y="211"/>
                      <a:pt x="9" y="220"/>
                      <a:pt x="20" y="220"/>
                    </a:cubicBezTo>
                    <a:cubicBezTo>
                      <a:pt x="200" y="220"/>
                      <a:pt x="200" y="220"/>
                      <a:pt x="200" y="220"/>
                    </a:cubicBezTo>
                    <a:cubicBezTo>
                      <a:pt x="211" y="220"/>
                      <a:pt x="220" y="211"/>
                      <a:pt x="220" y="200"/>
                    </a:cubicBezTo>
                    <a:cubicBezTo>
                      <a:pt x="220" y="20"/>
                      <a:pt x="220" y="20"/>
                      <a:pt x="220" y="20"/>
                    </a:cubicBezTo>
                    <a:cubicBezTo>
                      <a:pt x="220" y="9"/>
                      <a:pt x="211" y="0"/>
                      <a:pt x="200" y="0"/>
                    </a:cubicBezTo>
                    <a:close/>
                  </a:path>
                </a:pathLst>
              </a:custGeom>
              <a:solidFill>
                <a:srgbClr val="C0D498">
                  <a:alpha val="100000"/>
                </a:srgbClr>
              </a:solidFill>
              <a:ln w="9525">
                <a:noFill/>
              </a:ln>
            </p:spPr>
            <p:txBody>
              <a:bodyPr/>
              <a:lstStyle/>
              <a:p>
                <a:endParaRPr lang="fr-FR" altLang="en-US"/>
              </a:p>
            </p:txBody>
          </p:sp>
          <p:sp>
            <p:nvSpPr>
              <p:cNvPr id="52261" name="Freeform 28"/>
              <p:cNvSpPr/>
              <p:nvPr/>
            </p:nvSpPr>
            <p:spPr>
              <a:xfrm>
                <a:off x="4668999" y="4286112"/>
                <a:ext cx="106491" cy="215213"/>
              </a:xfrm>
              <a:custGeom>
                <a:avLst/>
                <a:gdLst>
                  <a:gd name="txL" fmla="*/ 0 w 80"/>
                  <a:gd name="txT" fmla="*/ 0 h 161"/>
                  <a:gd name="txR" fmla="*/ 80 w 80"/>
                  <a:gd name="txB" fmla="*/ 161 h 161"/>
                </a:gdLst>
                <a:ahLst/>
                <a:cxnLst>
                  <a:cxn ang="17694720">
                    <a:pos x="53246" y="0"/>
                  </a:cxn>
                  <a:cxn ang="0">
                    <a:pos x="106491" y="107607"/>
                  </a:cxn>
                  <a:cxn ang="5898240">
                    <a:pos x="53246" y="215213"/>
                  </a:cxn>
                  <a:cxn ang="11796480">
                    <a:pos x="0" y="107607"/>
                  </a:cxn>
                  <a:cxn ang="0">
                    <a:pos x="83862" y="6684"/>
                  </a:cxn>
                  <a:cxn ang="0">
                    <a:pos x="34610" y="37428"/>
                  </a:cxn>
                  <a:cxn ang="0">
                    <a:pos x="0" y="57479"/>
                  </a:cxn>
                  <a:cxn ang="0">
                    <a:pos x="0" y="157734"/>
                  </a:cxn>
                  <a:cxn ang="0">
                    <a:pos x="34610" y="179121"/>
                  </a:cxn>
                  <a:cxn ang="0">
                    <a:pos x="83862" y="208529"/>
                  </a:cxn>
                  <a:cxn ang="0">
                    <a:pos x="106491" y="195162"/>
                  </a:cxn>
                  <a:cxn ang="0">
                    <a:pos x="106491" y="20051"/>
                  </a:cxn>
                  <a:cxn ang="0">
                    <a:pos x="83862" y="6684"/>
                  </a:cxn>
                </a:cxnLst>
                <a:rect l="txL" t="txT" r="txR" b="txB"/>
                <a:pathLst>
                  <a:path w="80" h="161">
                    <a:moveTo>
                      <a:pt x="63" y="5"/>
                    </a:moveTo>
                    <a:cubicBezTo>
                      <a:pt x="26" y="28"/>
                      <a:pt x="26" y="28"/>
                      <a:pt x="26" y="28"/>
                    </a:cubicBezTo>
                    <a:cubicBezTo>
                      <a:pt x="18" y="32"/>
                      <a:pt x="8" y="38"/>
                      <a:pt x="0" y="43"/>
                    </a:cubicBezTo>
                    <a:cubicBezTo>
                      <a:pt x="0" y="118"/>
                      <a:pt x="0" y="118"/>
                      <a:pt x="0" y="118"/>
                    </a:cubicBezTo>
                    <a:cubicBezTo>
                      <a:pt x="8" y="123"/>
                      <a:pt x="18" y="129"/>
                      <a:pt x="26" y="134"/>
                    </a:cubicBezTo>
                    <a:cubicBezTo>
                      <a:pt x="63" y="156"/>
                      <a:pt x="63" y="156"/>
                      <a:pt x="63" y="156"/>
                    </a:cubicBezTo>
                    <a:cubicBezTo>
                      <a:pt x="72" y="161"/>
                      <a:pt x="80" y="157"/>
                      <a:pt x="80" y="146"/>
                    </a:cubicBezTo>
                    <a:cubicBezTo>
                      <a:pt x="80" y="15"/>
                      <a:pt x="80" y="15"/>
                      <a:pt x="80" y="15"/>
                    </a:cubicBezTo>
                    <a:cubicBezTo>
                      <a:pt x="80" y="4"/>
                      <a:pt x="72" y="0"/>
                      <a:pt x="63" y="5"/>
                    </a:cubicBezTo>
                    <a:close/>
                  </a:path>
                </a:pathLst>
              </a:custGeom>
              <a:solidFill>
                <a:srgbClr val="C0D498">
                  <a:alpha val="100000"/>
                </a:srgbClr>
              </a:solidFill>
              <a:ln w="9525">
                <a:noFill/>
              </a:ln>
            </p:spPr>
            <p:txBody>
              <a:bodyPr/>
              <a:lstStyle/>
              <a:p>
                <a:endParaRPr lang="fr-FR" altLang="en-US"/>
              </a:p>
            </p:txBody>
          </p:sp>
        </p:grpSp>
      </p:grpSp>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2227"/>
                                        </p:tgtEl>
                                        <p:attrNameLst>
                                          <p:attrName>style.visibility</p:attrName>
                                        </p:attrNameLst>
                                      </p:cBhvr>
                                      <p:to>
                                        <p:strVal val="visible"/>
                                      </p:to>
                                    </p:set>
                                    <p:animEffect transition="in" filter="fade">
                                      <p:cBhvr>
                                        <p:cTn id="14"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6278563" y="4887913"/>
            <a:ext cx="16668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2671763" y="5478463"/>
            <a:ext cx="7524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4703763" y="5456238"/>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8767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465763"/>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639763" y="5465763"/>
            <a:ext cx="752475"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0" y="6737350"/>
            <a:ext cx="12192000" cy="133350"/>
            <a:chOff x="0" y="6736614"/>
            <a:chExt cx="12191996" cy="134343"/>
          </a:xfrm>
        </p:grpSpPr>
        <p:sp>
          <p:nvSpPr>
            <p:cNvPr id="53265"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3266"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3267"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3268"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3269"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3270"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cxnSp>
        <p:nvCxnSpPr>
          <p:cNvPr id="15" name="Straight Connector 34"/>
          <p:cNvCxnSpPr/>
          <p:nvPr/>
        </p:nvCxnSpPr>
        <p:spPr>
          <a:xfrm flipH="1">
            <a:off x="6096000" y="4648200"/>
            <a:ext cx="1066800" cy="0"/>
          </a:xfrm>
          <a:prstGeom prst="straightConnector1">
            <a:avLst/>
          </a:prstGeom>
          <a:ln w="15873" cap="flat" cmpd="sng">
            <a:solidFill>
              <a:srgbClr val="D0DFB3"/>
            </a:solidFill>
            <a:prstDash val="solid"/>
            <a:miter/>
            <a:headEnd type="none" w="med" len="med"/>
            <a:tailEnd type="none" w="med" len="med"/>
          </a:ln>
        </p:spPr>
      </p:cxnSp>
      <p:cxnSp>
        <p:nvCxnSpPr>
          <p:cNvPr id="16" name="Straight Connector 35"/>
          <p:cNvCxnSpPr/>
          <p:nvPr/>
        </p:nvCxnSpPr>
        <p:spPr>
          <a:xfrm>
            <a:off x="7162800" y="4632325"/>
            <a:ext cx="0" cy="438150"/>
          </a:xfrm>
          <a:prstGeom prst="straightConnector1">
            <a:avLst/>
          </a:prstGeom>
          <a:ln w="15873" cap="flat" cmpd="sng">
            <a:solidFill>
              <a:srgbClr val="D0DFB3"/>
            </a:solidFill>
            <a:prstDash val="solid"/>
            <a:miter/>
            <a:headEnd type="none" w="med" len="med"/>
            <a:tailEnd type="none" w="med" len="med"/>
          </a:ln>
        </p:spPr>
      </p:cxnSp>
      <p:sp>
        <p:nvSpPr>
          <p:cNvPr id="17" name="TextBox 39"/>
          <p:cNvSpPr txBox="1"/>
          <p:nvPr/>
        </p:nvSpPr>
        <p:spPr>
          <a:xfrm>
            <a:off x="3297238" y="3036888"/>
            <a:ext cx="5616575" cy="706755"/>
          </a:xfrm>
          <a:prstGeom prst="rect">
            <a:avLst/>
          </a:prstGeom>
          <a:noFill/>
          <a:ln w="9525">
            <a:noFill/>
          </a:ln>
        </p:spPr>
        <p:txBody>
          <a:bodyPr wrap="none">
            <a:spAutoFit/>
          </a:bodyPr>
          <a:lstStyle/>
          <a:p>
            <a:pPr algn="r" eaLnBrk="1" hangingPunct="1"/>
            <a:r>
              <a:rPr lang="id-ID" altLang="x-none" sz="4000" b="1" dirty="0">
                <a:solidFill>
                  <a:srgbClr val="FFFFFF"/>
                </a:solidFill>
                <a:ea typeface="Source Sans Pro Light"/>
                <a:cs typeface="Calibri" panose="020F0502020204030204" pitchFamily="34" charset="0"/>
              </a:rPr>
              <a:t>Résultat et Raisonnement</a:t>
            </a:r>
            <a:endParaRPr lang="fr-FR" altLang="x-none" dirty="0">
              <a:solidFill>
                <a:srgbClr val="FFFFFF"/>
              </a:solidFill>
              <a:cs typeface="Calibri" panose="020F0502020204030204" pitchFamily="34" charset="0"/>
            </a:endParaRPr>
          </a:p>
        </p:txBody>
      </p:sp>
      <p:cxnSp>
        <p:nvCxnSpPr>
          <p:cNvPr id="18" name="Straight Connector 41"/>
          <p:cNvCxnSpPr/>
          <p:nvPr/>
        </p:nvCxnSpPr>
        <p:spPr>
          <a:xfrm>
            <a:off x="5724525" y="3802063"/>
            <a:ext cx="742950" cy="0"/>
          </a:xfrm>
          <a:prstGeom prst="straightConnector1">
            <a:avLst/>
          </a:prstGeom>
          <a:ln w="15873" cap="flat" cmpd="sng">
            <a:solidFill>
              <a:srgbClr val="88A945"/>
            </a:solidFill>
            <a:prstDash val="solid"/>
            <a:miter/>
            <a:headEnd type="none" w="med" len="med"/>
            <a:tailEnd type="none" w="med" len="med"/>
          </a:ln>
        </p:spPr>
      </p:cxnSp>
      <p:cxnSp>
        <p:nvCxnSpPr>
          <p:cNvPr id="19" name="Straight Connector 43"/>
          <p:cNvCxnSpPr/>
          <p:nvPr/>
        </p:nvCxnSpPr>
        <p:spPr>
          <a:xfrm>
            <a:off x="6096000" y="3952875"/>
            <a:ext cx="0" cy="695325"/>
          </a:xfrm>
          <a:prstGeom prst="straightConnector1">
            <a:avLst/>
          </a:prstGeom>
          <a:ln w="15873" cap="flat" cmpd="sng">
            <a:solidFill>
              <a:srgbClr val="D0DFB3"/>
            </a:solidFill>
            <a:prstDash val="solid"/>
            <a:miter/>
            <a:headEnd type="arrow" w="med" len="med"/>
            <a:tailEnd type="none" w="med" len="med"/>
          </a:ln>
        </p:spPr>
      </p:cxnSp>
      <p:grpSp>
        <p:nvGrpSpPr>
          <p:cNvPr id="20" name="Group 9"/>
          <p:cNvGrpSpPr/>
          <p:nvPr/>
        </p:nvGrpSpPr>
        <p:grpSpPr>
          <a:xfrm>
            <a:off x="6781800" y="5790883"/>
            <a:ext cx="609600" cy="611187"/>
            <a:chOff x="2742642" y="5659038"/>
            <a:chExt cx="610727" cy="611184"/>
          </a:xfrm>
        </p:grpSpPr>
        <p:sp>
          <p:nvSpPr>
            <p:cNvPr id="53263" name="Freeform 5"/>
            <p:cNvSpPr/>
            <p:nvPr/>
          </p:nvSpPr>
          <p:spPr>
            <a:xfrm>
              <a:off x="2742642" y="5659038"/>
              <a:ext cx="610727" cy="611184"/>
            </a:xfrm>
            <a:custGeom>
              <a:avLst/>
              <a:gdLst>
                <a:gd name="txL" fmla="*/ 0 w 560"/>
                <a:gd name="txT" fmla="*/ 0 h 560"/>
                <a:gd name="txR" fmla="*/ 560 w 560"/>
                <a:gd name="txB" fmla="*/ 560 h 560"/>
              </a:gdLst>
              <a:ahLst/>
              <a:cxnLst>
                <a:cxn ang="17694720">
                  <a:pos x="305364" y="0"/>
                </a:cxn>
                <a:cxn ang="0">
                  <a:pos x="610727" y="305592"/>
                </a:cxn>
                <a:cxn ang="5898240">
                  <a:pos x="305364" y="611184"/>
                </a:cxn>
                <a:cxn ang="11796480">
                  <a:pos x="0" y="305592"/>
                </a:cxn>
                <a:cxn ang="0">
                  <a:pos x="394791" y="192086"/>
                </a:cxn>
                <a:cxn ang="0">
                  <a:pos x="305364" y="0"/>
                </a:cxn>
                <a:cxn ang="0">
                  <a:pos x="172312" y="195361"/>
                </a:cxn>
                <a:cxn ang="0">
                  <a:pos x="152682" y="206275"/>
                </a:cxn>
                <a:cxn ang="0">
                  <a:pos x="57801" y="190995"/>
                </a:cxn>
                <a:cxn ang="0">
                  <a:pos x="0" y="554431"/>
                </a:cxn>
                <a:cxn ang="0">
                  <a:pos x="114511" y="611184"/>
                </a:cxn>
                <a:cxn ang="0">
                  <a:pos x="166859" y="578442"/>
                </a:cxn>
                <a:cxn ang="0">
                  <a:pos x="172312" y="579533"/>
                </a:cxn>
                <a:cxn ang="0">
                  <a:pos x="363164" y="611184"/>
                </a:cxn>
                <a:cxn ang="0">
                  <a:pos x="535477" y="574076"/>
                </a:cxn>
                <a:cxn ang="0">
                  <a:pos x="544201" y="520598"/>
                </a:cxn>
                <a:cxn ang="0">
                  <a:pos x="575828" y="419098"/>
                </a:cxn>
                <a:cxn ang="0">
                  <a:pos x="594368" y="320872"/>
                </a:cxn>
                <a:cxn ang="0">
                  <a:pos x="610727" y="275033"/>
                </a:cxn>
                <a:cxn ang="0">
                  <a:pos x="556198" y="199726"/>
                </a:cxn>
                <a:cxn ang="0">
                  <a:pos x="114511" y="572985"/>
                </a:cxn>
                <a:cxn ang="0">
                  <a:pos x="38170" y="554431"/>
                </a:cxn>
                <a:cxn ang="0">
                  <a:pos x="57801" y="229194"/>
                </a:cxn>
                <a:cxn ang="0">
                  <a:pos x="134142" y="248839"/>
                </a:cxn>
                <a:cxn ang="0">
                  <a:pos x="572557" y="277216"/>
                </a:cxn>
                <a:cxn ang="0">
                  <a:pos x="496216" y="305592"/>
                </a:cxn>
                <a:cxn ang="0">
                  <a:pos x="496216" y="325237"/>
                </a:cxn>
                <a:cxn ang="0">
                  <a:pos x="563832" y="360162"/>
                </a:cxn>
                <a:cxn ang="0">
                  <a:pos x="477676" y="401635"/>
                </a:cxn>
                <a:cxn ang="0">
                  <a:pos x="477676" y="420189"/>
                </a:cxn>
                <a:cxn ang="0">
                  <a:pos x="539839" y="459479"/>
                </a:cxn>
                <a:cxn ang="0">
                  <a:pos x="458045" y="496587"/>
                </a:cxn>
                <a:cxn ang="0">
                  <a:pos x="458045" y="516232"/>
                </a:cxn>
                <a:cxn ang="0">
                  <a:pos x="507122" y="542426"/>
                </a:cxn>
                <a:cxn ang="0">
                  <a:pos x="467861" y="572985"/>
                </a:cxn>
                <a:cxn ang="0">
                  <a:pos x="257378" y="560980"/>
                </a:cxn>
                <a:cxn ang="0">
                  <a:pos x="152682" y="522781"/>
                </a:cxn>
                <a:cxn ang="0">
                  <a:pos x="167950" y="239017"/>
                </a:cxn>
                <a:cxn ang="0">
                  <a:pos x="286824" y="57844"/>
                </a:cxn>
                <a:cxn ang="0">
                  <a:pos x="360983" y="128785"/>
                </a:cxn>
                <a:cxn ang="0">
                  <a:pos x="549654" y="236834"/>
                </a:cxn>
                <a:cxn ang="0">
                  <a:pos x="572557" y="277216"/>
                </a:cxn>
              </a:cxnLst>
              <a:rect l="txL" t="txT" r="txR" b="txB"/>
              <a:pathLst>
                <a:path w="560" h="560">
                  <a:moveTo>
                    <a:pt x="510" y="183"/>
                  </a:moveTo>
                  <a:cubicBezTo>
                    <a:pt x="489" y="178"/>
                    <a:pt x="437" y="178"/>
                    <a:pt x="362" y="176"/>
                  </a:cubicBezTo>
                  <a:cubicBezTo>
                    <a:pt x="365" y="159"/>
                    <a:pt x="366" y="144"/>
                    <a:pt x="366" y="118"/>
                  </a:cubicBezTo>
                  <a:cubicBezTo>
                    <a:pt x="366" y="55"/>
                    <a:pt x="320" y="0"/>
                    <a:pt x="280" y="0"/>
                  </a:cubicBezTo>
                  <a:cubicBezTo>
                    <a:pt x="251" y="0"/>
                    <a:pt x="228" y="23"/>
                    <a:pt x="228" y="52"/>
                  </a:cubicBezTo>
                  <a:cubicBezTo>
                    <a:pt x="227" y="87"/>
                    <a:pt x="216" y="148"/>
                    <a:pt x="158" y="179"/>
                  </a:cubicBezTo>
                  <a:cubicBezTo>
                    <a:pt x="153" y="181"/>
                    <a:pt x="141" y="187"/>
                    <a:pt x="139" y="188"/>
                  </a:cubicBezTo>
                  <a:cubicBezTo>
                    <a:pt x="140" y="189"/>
                    <a:pt x="140" y="189"/>
                    <a:pt x="140" y="189"/>
                  </a:cubicBezTo>
                  <a:cubicBezTo>
                    <a:pt x="131" y="181"/>
                    <a:pt x="118" y="175"/>
                    <a:pt x="105" y="175"/>
                  </a:cubicBezTo>
                  <a:cubicBezTo>
                    <a:pt x="53" y="175"/>
                    <a:pt x="53" y="175"/>
                    <a:pt x="53" y="175"/>
                  </a:cubicBezTo>
                  <a:cubicBezTo>
                    <a:pt x="24" y="175"/>
                    <a:pt x="0" y="199"/>
                    <a:pt x="0" y="228"/>
                  </a:cubicBezTo>
                  <a:cubicBezTo>
                    <a:pt x="0" y="508"/>
                    <a:pt x="0" y="508"/>
                    <a:pt x="0" y="508"/>
                  </a:cubicBezTo>
                  <a:cubicBezTo>
                    <a:pt x="0" y="536"/>
                    <a:pt x="24" y="560"/>
                    <a:pt x="53" y="560"/>
                  </a:cubicBezTo>
                  <a:cubicBezTo>
                    <a:pt x="105" y="560"/>
                    <a:pt x="105" y="560"/>
                    <a:pt x="105" y="560"/>
                  </a:cubicBezTo>
                  <a:cubicBezTo>
                    <a:pt x="126" y="560"/>
                    <a:pt x="143" y="547"/>
                    <a:pt x="152" y="530"/>
                  </a:cubicBezTo>
                  <a:cubicBezTo>
                    <a:pt x="152" y="530"/>
                    <a:pt x="152" y="530"/>
                    <a:pt x="153" y="530"/>
                  </a:cubicBezTo>
                  <a:cubicBezTo>
                    <a:pt x="154" y="530"/>
                    <a:pt x="155" y="531"/>
                    <a:pt x="157" y="531"/>
                  </a:cubicBezTo>
                  <a:cubicBezTo>
                    <a:pt x="157" y="531"/>
                    <a:pt x="157" y="531"/>
                    <a:pt x="158" y="531"/>
                  </a:cubicBezTo>
                  <a:cubicBezTo>
                    <a:pt x="168" y="534"/>
                    <a:pt x="187" y="538"/>
                    <a:pt x="228" y="548"/>
                  </a:cubicBezTo>
                  <a:cubicBezTo>
                    <a:pt x="237" y="550"/>
                    <a:pt x="284" y="560"/>
                    <a:pt x="333" y="560"/>
                  </a:cubicBezTo>
                  <a:cubicBezTo>
                    <a:pt x="429" y="560"/>
                    <a:pt x="429" y="560"/>
                    <a:pt x="429" y="560"/>
                  </a:cubicBezTo>
                  <a:cubicBezTo>
                    <a:pt x="458" y="560"/>
                    <a:pt x="479" y="549"/>
                    <a:pt x="491" y="526"/>
                  </a:cubicBezTo>
                  <a:cubicBezTo>
                    <a:pt x="492" y="526"/>
                    <a:pt x="496" y="518"/>
                    <a:pt x="499" y="507"/>
                  </a:cubicBezTo>
                  <a:cubicBezTo>
                    <a:pt x="501" y="499"/>
                    <a:pt x="502" y="488"/>
                    <a:pt x="499" y="477"/>
                  </a:cubicBezTo>
                  <a:cubicBezTo>
                    <a:pt x="518" y="464"/>
                    <a:pt x="524" y="444"/>
                    <a:pt x="528" y="431"/>
                  </a:cubicBezTo>
                  <a:cubicBezTo>
                    <a:pt x="535" y="411"/>
                    <a:pt x="533" y="395"/>
                    <a:pt x="528" y="384"/>
                  </a:cubicBezTo>
                  <a:cubicBezTo>
                    <a:pt x="539" y="374"/>
                    <a:pt x="548" y="359"/>
                    <a:pt x="551" y="335"/>
                  </a:cubicBezTo>
                  <a:cubicBezTo>
                    <a:pt x="554" y="321"/>
                    <a:pt x="551" y="306"/>
                    <a:pt x="545" y="294"/>
                  </a:cubicBezTo>
                  <a:cubicBezTo>
                    <a:pt x="555" y="283"/>
                    <a:pt x="559" y="269"/>
                    <a:pt x="560" y="256"/>
                  </a:cubicBezTo>
                  <a:cubicBezTo>
                    <a:pt x="560" y="252"/>
                    <a:pt x="560" y="252"/>
                    <a:pt x="560" y="252"/>
                  </a:cubicBezTo>
                  <a:cubicBezTo>
                    <a:pt x="560" y="250"/>
                    <a:pt x="560" y="248"/>
                    <a:pt x="560" y="243"/>
                  </a:cubicBezTo>
                  <a:cubicBezTo>
                    <a:pt x="560" y="221"/>
                    <a:pt x="545" y="193"/>
                    <a:pt x="510" y="183"/>
                  </a:cubicBezTo>
                  <a:close/>
                  <a:moveTo>
                    <a:pt x="123" y="508"/>
                  </a:moveTo>
                  <a:cubicBezTo>
                    <a:pt x="123" y="517"/>
                    <a:pt x="115" y="525"/>
                    <a:pt x="105" y="525"/>
                  </a:cubicBezTo>
                  <a:cubicBezTo>
                    <a:pt x="53" y="525"/>
                    <a:pt x="53" y="525"/>
                    <a:pt x="53" y="525"/>
                  </a:cubicBezTo>
                  <a:cubicBezTo>
                    <a:pt x="43" y="525"/>
                    <a:pt x="35" y="517"/>
                    <a:pt x="35" y="508"/>
                  </a:cubicBezTo>
                  <a:cubicBezTo>
                    <a:pt x="35" y="228"/>
                    <a:pt x="35" y="228"/>
                    <a:pt x="35" y="228"/>
                  </a:cubicBezTo>
                  <a:cubicBezTo>
                    <a:pt x="35" y="218"/>
                    <a:pt x="43" y="210"/>
                    <a:pt x="53" y="210"/>
                  </a:cubicBezTo>
                  <a:cubicBezTo>
                    <a:pt x="105" y="210"/>
                    <a:pt x="105" y="210"/>
                    <a:pt x="105" y="210"/>
                  </a:cubicBezTo>
                  <a:cubicBezTo>
                    <a:pt x="115" y="210"/>
                    <a:pt x="123" y="218"/>
                    <a:pt x="123" y="228"/>
                  </a:cubicBezTo>
                  <a:lnTo>
                    <a:pt x="123" y="508"/>
                  </a:lnTo>
                  <a:close/>
                  <a:moveTo>
                    <a:pt x="525" y="254"/>
                  </a:moveTo>
                  <a:cubicBezTo>
                    <a:pt x="524" y="263"/>
                    <a:pt x="521" y="280"/>
                    <a:pt x="490" y="280"/>
                  </a:cubicBezTo>
                  <a:cubicBezTo>
                    <a:pt x="464" y="280"/>
                    <a:pt x="455" y="280"/>
                    <a:pt x="455" y="280"/>
                  </a:cubicBezTo>
                  <a:cubicBezTo>
                    <a:pt x="450" y="280"/>
                    <a:pt x="446" y="284"/>
                    <a:pt x="446" y="289"/>
                  </a:cubicBezTo>
                  <a:cubicBezTo>
                    <a:pt x="446" y="294"/>
                    <a:pt x="450" y="298"/>
                    <a:pt x="455" y="298"/>
                  </a:cubicBezTo>
                  <a:cubicBezTo>
                    <a:pt x="455" y="298"/>
                    <a:pt x="463" y="298"/>
                    <a:pt x="489" y="298"/>
                  </a:cubicBezTo>
                  <a:cubicBezTo>
                    <a:pt x="515" y="298"/>
                    <a:pt x="519" y="319"/>
                    <a:pt x="517" y="330"/>
                  </a:cubicBezTo>
                  <a:cubicBezTo>
                    <a:pt x="515" y="343"/>
                    <a:pt x="509" y="368"/>
                    <a:pt x="479" y="368"/>
                  </a:cubicBezTo>
                  <a:cubicBezTo>
                    <a:pt x="450" y="368"/>
                    <a:pt x="438" y="368"/>
                    <a:pt x="438" y="368"/>
                  </a:cubicBezTo>
                  <a:cubicBezTo>
                    <a:pt x="433" y="368"/>
                    <a:pt x="429" y="371"/>
                    <a:pt x="429" y="376"/>
                  </a:cubicBezTo>
                  <a:cubicBezTo>
                    <a:pt x="429" y="381"/>
                    <a:pt x="433" y="385"/>
                    <a:pt x="438" y="385"/>
                  </a:cubicBezTo>
                  <a:cubicBezTo>
                    <a:pt x="438" y="385"/>
                    <a:pt x="458" y="385"/>
                    <a:pt x="472" y="385"/>
                  </a:cubicBezTo>
                  <a:cubicBezTo>
                    <a:pt x="501" y="385"/>
                    <a:pt x="499" y="408"/>
                    <a:pt x="495" y="421"/>
                  </a:cubicBezTo>
                  <a:cubicBezTo>
                    <a:pt x="489" y="439"/>
                    <a:pt x="486" y="455"/>
                    <a:pt x="448" y="455"/>
                  </a:cubicBezTo>
                  <a:cubicBezTo>
                    <a:pt x="436" y="455"/>
                    <a:pt x="420" y="455"/>
                    <a:pt x="420" y="455"/>
                  </a:cubicBezTo>
                  <a:cubicBezTo>
                    <a:pt x="415" y="455"/>
                    <a:pt x="411" y="459"/>
                    <a:pt x="411" y="464"/>
                  </a:cubicBezTo>
                  <a:cubicBezTo>
                    <a:pt x="411" y="469"/>
                    <a:pt x="415" y="473"/>
                    <a:pt x="420" y="473"/>
                  </a:cubicBezTo>
                  <a:cubicBezTo>
                    <a:pt x="420" y="473"/>
                    <a:pt x="432" y="473"/>
                    <a:pt x="447" y="473"/>
                  </a:cubicBezTo>
                  <a:cubicBezTo>
                    <a:pt x="466" y="473"/>
                    <a:pt x="467" y="491"/>
                    <a:pt x="465" y="497"/>
                  </a:cubicBezTo>
                  <a:cubicBezTo>
                    <a:pt x="463" y="504"/>
                    <a:pt x="461" y="509"/>
                    <a:pt x="461" y="510"/>
                  </a:cubicBezTo>
                  <a:cubicBezTo>
                    <a:pt x="455" y="519"/>
                    <a:pt x="447" y="525"/>
                    <a:pt x="429" y="525"/>
                  </a:cubicBezTo>
                  <a:cubicBezTo>
                    <a:pt x="333" y="525"/>
                    <a:pt x="333" y="525"/>
                    <a:pt x="333" y="525"/>
                  </a:cubicBezTo>
                  <a:cubicBezTo>
                    <a:pt x="285" y="525"/>
                    <a:pt x="237" y="514"/>
                    <a:pt x="236" y="514"/>
                  </a:cubicBezTo>
                  <a:cubicBezTo>
                    <a:pt x="163" y="497"/>
                    <a:pt x="160" y="496"/>
                    <a:pt x="155" y="494"/>
                  </a:cubicBezTo>
                  <a:cubicBezTo>
                    <a:pt x="155" y="494"/>
                    <a:pt x="140" y="492"/>
                    <a:pt x="140" y="479"/>
                  </a:cubicBezTo>
                  <a:cubicBezTo>
                    <a:pt x="140" y="237"/>
                    <a:pt x="140" y="237"/>
                    <a:pt x="140" y="237"/>
                  </a:cubicBezTo>
                  <a:cubicBezTo>
                    <a:pt x="140" y="229"/>
                    <a:pt x="145" y="222"/>
                    <a:pt x="154" y="219"/>
                  </a:cubicBezTo>
                  <a:cubicBezTo>
                    <a:pt x="155" y="219"/>
                    <a:pt x="156" y="218"/>
                    <a:pt x="158" y="218"/>
                  </a:cubicBezTo>
                  <a:cubicBezTo>
                    <a:pt x="237" y="185"/>
                    <a:pt x="262" y="112"/>
                    <a:pt x="263" y="53"/>
                  </a:cubicBezTo>
                  <a:cubicBezTo>
                    <a:pt x="263" y="44"/>
                    <a:pt x="269" y="35"/>
                    <a:pt x="280" y="35"/>
                  </a:cubicBezTo>
                  <a:cubicBezTo>
                    <a:pt x="299" y="35"/>
                    <a:pt x="331" y="72"/>
                    <a:pt x="331" y="118"/>
                  </a:cubicBezTo>
                  <a:cubicBezTo>
                    <a:pt x="331" y="160"/>
                    <a:pt x="330" y="167"/>
                    <a:pt x="315" y="210"/>
                  </a:cubicBezTo>
                  <a:cubicBezTo>
                    <a:pt x="490" y="210"/>
                    <a:pt x="489" y="213"/>
                    <a:pt x="504" y="217"/>
                  </a:cubicBezTo>
                  <a:cubicBezTo>
                    <a:pt x="523" y="222"/>
                    <a:pt x="525" y="238"/>
                    <a:pt x="525" y="243"/>
                  </a:cubicBezTo>
                  <a:cubicBezTo>
                    <a:pt x="525" y="249"/>
                    <a:pt x="525" y="248"/>
                    <a:pt x="525" y="254"/>
                  </a:cubicBezTo>
                  <a:close/>
                </a:path>
              </a:pathLst>
            </a:custGeom>
            <a:solidFill>
              <a:srgbClr val="FFFFFF">
                <a:alpha val="100000"/>
              </a:srgbClr>
            </a:solidFill>
            <a:ln w="9525">
              <a:noFill/>
            </a:ln>
          </p:spPr>
          <p:txBody>
            <a:bodyPr/>
            <a:lstStyle/>
            <a:p>
              <a:endParaRPr lang="fr-FR" altLang="en-US"/>
            </a:p>
          </p:txBody>
        </p:sp>
        <p:sp>
          <p:nvSpPr>
            <p:cNvPr id="53264" name="Freeform 6"/>
            <p:cNvSpPr/>
            <p:nvPr/>
          </p:nvSpPr>
          <p:spPr>
            <a:xfrm>
              <a:off x="2800075" y="6155804"/>
              <a:ext cx="56985" cy="57899"/>
            </a:xfrm>
            <a:custGeom>
              <a:avLst/>
              <a:gdLst>
                <a:gd name="txL" fmla="*/ 0 w 52"/>
                <a:gd name="txT" fmla="*/ 0 h 53"/>
                <a:gd name="txR" fmla="*/ 52 w 52"/>
                <a:gd name="txB" fmla="*/ 53 h 53"/>
              </a:gdLst>
              <a:ahLst/>
              <a:cxnLst>
                <a:cxn ang="17694720">
                  <a:pos x="28493" y="0"/>
                </a:cxn>
                <a:cxn ang="0">
                  <a:pos x="56985" y="28950"/>
                </a:cxn>
                <a:cxn ang="5898240">
                  <a:pos x="28493" y="57899"/>
                </a:cxn>
                <a:cxn ang="11796480">
                  <a:pos x="0" y="28950"/>
                </a:cxn>
                <a:cxn ang="0">
                  <a:pos x="28493" y="0"/>
                </a:cxn>
                <a:cxn ang="0">
                  <a:pos x="0" y="28403"/>
                </a:cxn>
                <a:cxn ang="0">
                  <a:pos x="28493" y="57899"/>
                </a:cxn>
                <a:cxn ang="0">
                  <a:pos x="56985" y="28403"/>
                </a:cxn>
                <a:cxn ang="0">
                  <a:pos x="28493" y="0"/>
                </a:cxn>
                <a:cxn ang="0">
                  <a:pos x="28493" y="38235"/>
                </a:cxn>
                <a:cxn ang="0">
                  <a:pos x="18630" y="28403"/>
                </a:cxn>
                <a:cxn ang="0">
                  <a:pos x="28493" y="19664"/>
                </a:cxn>
                <a:cxn ang="0">
                  <a:pos x="38355" y="28403"/>
                </a:cxn>
                <a:cxn ang="0">
                  <a:pos x="28493" y="38235"/>
                </a:cxn>
              </a:cxnLst>
              <a:rect l="txL" t="txT" r="txR" b="txB"/>
              <a:pathLst>
                <a:path w="52" h="53">
                  <a:moveTo>
                    <a:pt x="26" y="0"/>
                  </a:moveTo>
                  <a:cubicBezTo>
                    <a:pt x="11" y="0"/>
                    <a:pt x="0" y="12"/>
                    <a:pt x="0" y="26"/>
                  </a:cubicBezTo>
                  <a:cubicBezTo>
                    <a:pt x="0" y="41"/>
                    <a:pt x="11" y="53"/>
                    <a:pt x="26" y="53"/>
                  </a:cubicBezTo>
                  <a:cubicBezTo>
                    <a:pt x="40" y="53"/>
                    <a:pt x="52" y="41"/>
                    <a:pt x="52" y="26"/>
                  </a:cubicBezTo>
                  <a:cubicBezTo>
                    <a:pt x="52" y="12"/>
                    <a:pt x="40" y="0"/>
                    <a:pt x="26" y="0"/>
                  </a:cubicBezTo>
                  <a:close/>
                  <a:moveTo>
                    <a:pt x="26" y="35"/>
                  </a:moveTo>
                  <a:cubicBezTo>
                    <a:pt x="21" y="35"/>
                    <a:pt x="17" y="31"/>
                    <a:pt x="17" y="26"/>
                  </a:cubicBezTo>
                  <a:cubicBezTo>
                    <a:pt x="17" y="21"/>
                    <a:pt x="21" y="18"/>
                    <a:pt x="26" y="18"/>
                  </a:cubicBezTo>
                  <a:cubicBezTo>
                    <a:pt x="31" y="18"/>
                    <a:pt x="35" y="21"/>
                    <a:pt x="35" y="26"/>
                  </a:cubicBezTo>
                  <a:cubicBezTo>
                    <a:pt x="35" y="31"/>
                    <a:pt x="31" y="35"/>
                    <a:pt x="26" y="35"/>
                  </a:cubicBezTo>
                  <a:close/>
                </a:path>
              </a:pathLst>
            </a:custGeom>
            <a:solidFill>
              <a:srgbClr val="FFFFFF">
                <a:alpha val="100000"/>
              </a:srgbClr>
            </a:solidFill>
            <a:ln w="9525">
              <a:noFill/>
            </a:ln>
          </p:spPr>
          <p:txBody>
            <a:bodyPr/>
            <a:lstStyle/>
            <a:p>
              <a:endParaRPr lang="fr-FR" altLang="en-US"/>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fltVal val="0"/>
                                          </p:val>
                                        </p:tav>
                                        <p:tav tm="100000">
                                          <p:val>
                                            <p:strVal val="#ppt_h"/>
                                          </p:val>
                                        </p:tav>
                                      </p:tavLst>
                                    </p:anim>
                                    <p:animEffect transition="in" filter="fade">
                                      <p:cBhvr>
                                        <p:cTn id="25" dur="500"/>
                                        <p:tgtEl>
                                          <p:spTgt spid="20"/>
                                        </p:tgtEl>
                                      </p:cBhvr>
                                    </p:animEffect>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500"/>
                                        <p:tgtEl>
                                          <p:spTgt spid="3"/>
                                        </p:tgtEl>
                                      </p:cBhvr>
                                    </p:animEffect>
                                    <p:anim calcmode="lin" valueType="num">
                                      <p:cBhvr>
                                        <p:cTn id="30" dur="500" fill="hold"/>
                                        <p:tgtEl>
                                          <p:spTgt spid="3"/>
                                        </p:tgtEl>
                                        <p:attrNameLst>
                                          <p:attrName>ppt_x</p:attrName>
                                        </p:attrNameLst>
                                      </p:cBhvr>
                                      <p:tavLst>
                                        <p:tav tm="0">
                                          <p:val>
                                            <p:strVal val="#ppt_x"/>
                                          </p:val>
                                        </p:tav>
                                        <p:tav tm="100000">
                                          <p:val>
                                            <p:strVal val="#ppt_x"/>
                                          </p:val>
                                        </p:tav>
                                      </p:tavLst>
                                    </p:anim>
                                    <p:anim calcmode="lin" valueType="num">
                                      <p:cBhvr>
                                        <p:cTn id="31" dur="500" fill="hold"/>
                                        <p:tgtEl>
                                          <p:spTgt spid="3"/>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anim calcmode="lin" valueType="num">
                                      <p:cBhvr>
                                        <p:cTn id="36" dur="500" fill="hold"/>
                                        <p:tgtEl>
                                          <p:spTgt spid="4"/>
                                        </p:tgtEl>
                                        <p:attrNameLst>
                                          <p:attrName>ppt_x</p:attrName>
                                        </p:attrNameLst>
                                      </p:cBhvr>
                                      <p:tavLst>
                                        <p:tav tm="0">
                                          <p:val>
                                            <p:strVal val="#ppt_x"/>
                                          </p:val>
                                        </p:tav>
                                        <p:tav tm="100000">
                                          <p:val>
                                            <p:strVal val="#ppt_x"/>
                                          </p:val>
                                        </p:tav>
                                      </p:tavLst>
                                    </p:anim>
                                    <p:anim calcmode="lin" valueType="num">
                                      <p:cBhvr>
                                        <p:cTn id="37" dur="500" fill="hold"/>
                                        <p:tgtEl>
                                          <p:spTgt spid="4"/>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anim calcmode="lin" valueType="num">
                                      <p:cBhvr>
                                        <p:cTn id="42" dur="500" fill="hold"/>
                                        <p:tgtEl>
                                          <p:spTgt spid="5"/>
                                        </p:tgtEl>
                                        <p:attrNameLst>
                                          <p:attrName>ppt_x</p:attrName>
                                        </p:attrNameLst>
                                      </p:cBhvr>
                                      <p:tavLst>
                                        <p:tav tm="0">
                                          <p:val>
                                            <p:strVal val="#ppt_x"/>
                                          </p:val>
                                        </p:tav>
                                        <p:tav tm="100000">
                                          <p:val>
                                            <p:strVal val="#ppt_x"/>
                                          </p:val>
                                        </p:tav>
                                      </p:tavLst>
                                    </p:anim>
                                    <p:anim calcmode="lin" valueType="num">
                                      <p:cBhvr>
                                        <p:cTn id="43" dur="500" fill="hold"/>
                                        <p:tgtEl>
                                          <p:spTgt spid="5"/>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42" presetClass="entr" presetSubtype="0"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p:cTn id="48" dur="500" fill="hold"/>
                                        <p:tgtEl>
                                          <p:spTgt spid="6"/>
                                        </p:tgtEl>
                                        <p:attrNameLst>
                                          <p:attrName>ppt_x</p:attrName>
                                        </p:attrNameLst>
                                      </p:cBhvr>
                                      <p:tavLst>
                                        <p:tav tm="0">
                                          <p:val>
                                            <p:strVal val="#ppt_x"/>
                                          </p:val>
                                        </p:tav>
                                        <p:tav tm="100000">
                                          <p:val>
                                            <p:strVal val="#ppt_x"/>
                                          </p:val>
                                        </p:tav>
                                      </p:tavLst>
                                    </p:anim>
                                    <p:anim calcmode="lin" valueType="num">
                                      <p:cBhvr>
                                        <p:cTn id="49" dur="500" fill="hold"/>
                                        <p:tgtEl>
                                          <p:spTgt spid="6"/>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22" presetClass="entr" presetSubtype="4" fill="hold"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childTnLst>
                          </p:cTn>
                        </p:par>
                        <p:par>
                          <p:cTn id="54" fill="hold">
                            <p:stCondLst>
                              <p:cond delay="4500"/>
                            </p:stCondLst>
                            <p:childTnLst>
                              <p:par>
                                <p:cTn id="55" presetID="22" presetClass="entr" presetSubtype="8" fill="hold"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par>
                          <p:cTn id="58" fill="hold">
                            <p:stCondLst>
                              <p:cond delay="5000"/>
                            </p:stCondLst>
                            <p:childTnLst>
                              <p:par>
                                <p:cTn id="59" presetID="22" presetClass="entr" presetSubtype="4"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down)">
                                      <p:cBhvr>
                                        <p:cTn id="61" dur="500"/>
                                        <p:tgtEl>
                                          <p:spTgt spid="19"/>
                                        </p:tgtEl>
                                      </p:cBhvr>
                                    </p:animEffect>
                                  </p:childTnLst>
                                </p:cTn>
                              </p:par>
                            </p:childTnLst>
                          </p:cTn>
                        </p:par>
                        <p:par>
                          <p:cTn id="62" fill="hold">
                            <p:stCondLst>
                              <p:cond delay="5500"/>
                            </p:stCondLst>
                            <p:childTnLst>
                              <p:par>
                                <p:cTn id="63" presetID="16" presetClass="entr" presetSubtype="37" fill="hold"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arn(outVertical)">
                                      <p:cBhvr>
                                        <p:cTn id="65" dur="500"/>
                                        <p:tgtEl>
                                          <p:spTgt spid="18"/>
                                        </p:tgtEl>
                                      </p:cBhvr>
                                    </p:animEffect>
                                  </p:childTnLst>
                                </p:cTn>
                              </p:par>
                            </p:childTnLst>
                          </p:cTn>
                        </p:par>
                        <p:par>
                          <p:cTn id="66" fill="hold">
                            <p:stCondLst>
                              <p:cond delay="6000"/>
                            </p:stCondLst>
                            <p:childTnLst>
                              <p:par>
                                <p:cTn id="67" presetID="42" presetClass="entr" presetSubtype="0"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1000"/>
                                        <p:tgtEl>
                                          <p:spTgt spid="17"/>
                                        </p:tgtEl>
                                      </p:cBhvr>
                                    </p:animEffect>
                                    <p:anim calcmode="lin" valueType="num">
                                      <p:cBhvr>
                                        <p:cTn id="70" dur="1000" fill="hold"/>
                                        <p:tgtEl>
                                          <p:spTgt spid="17"/>
                                        </p:tgtEl>
                                        <p:attrNameLst>
                                          <p:attrName>ppt_x</p:attrName>
                                        </p:attrNameLst>
                                      </p:cBhvr>
                                      <p:tavLst>
                                        <p:tav tm="0">
                                          <p:val>
                                            <p:strVal val="#ppt_x"/>
                                          </p:val>
                                        </p:tav>
                                        <p:tav tm="100000">
                                          <p:val>
                                            <p:strVal val="#ppt_x"/>
                                          </p:val>
                                        </p:tav>
                                      </p:tavLst>
                                    </p:anim>
                                    <p:anim calcmode="lin" valueType="num">
                                      <p:cBhvr>
                                        <p:cTn id="7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animBg="1"/>
      <p:bldP spid="6" grpId="0" animBg="1"/>
      <p:bldP spid="7" grpId="0" animBg="1"/>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4757896" y="114300"/>
            <a:ext cx="243014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Résultats</a:t>
            </a:r>
            <a:endParaRPr lang="fr-FR" altLang="x-none" dirty="0">
              <a:solidFill>
                <a:srgbClr val="000000"/>
              </a:solidFill>
              <a:cs typeface="Calibri" panose="020F0502020204030204" pitchFamily="34" charset="0"/>
            </a:endParaRPr>
          </a:p>
        </p:txBody>
      </p:sp>
      <p:sp>
        <p:nvSpPr>
          <p:cNvPr id="54276" name="ZoneTexte 6"/>
          <p:cNvSpPr txBox="1"/>
          <p:nvPr/>
        </p:nvSpPr>
        <p:spPr>
          <a:xfrm>
            <a:off x="609600" y="1371600"/>
            <a:ext cx="11096625" cy="646113"/>
          </a:xfrm>
          <a:prstGeom prst="rect">
            <a:avLst/>
          </a:prstGeom>
          <a:noFill/>
          <a:ln w="9525">
            <a:noFill/>
          </a:ln>
        </p:spPr>
        <p:txBody>
          <a:bodyPr>
            <a:spAutoFit/>
          </a:bodyPr>
          <a:lstStyle/>
          <a:p>
            <a:pPr eaLnBrk="1" hangingPunct="1"/>
            <a:r>
              <a:rPr lang="fr-FR" altLang="x-none" dirty="0">
                <a:solidFill>
                  <a:srgbClr val="000000"/>
                </a:solidFill>
                <a:latin typeface="Calibri" panose="020F0502020204030204" pitchFamily="34" charset="0"/>
                <a:cs typeface="Calibri" panose="020F0502020204030204" pitchFamily="34" charset="0"/>
              </a:rPr>
              <a:t>Le tableau suivant illustre les résultats de différents modèles</a:t>
            </a:r>
            <a:r>
              <a:rPr lang="fr-FR" altLang="x-none" dirty="0">
                <a:solidFill>
                  <a:srgbClr val="F5148F"/>
                </a:solidFill>
                <a:latin typeface="Calibri" panose="020F0502020204030204" pitchFamily="34" charset="0"/>
                <a:cs typeface="Calibri" panose="020F0502020204030204" pitchFamily="34" charset="0"/>
              </a:rPr>
              <a:t> GPT-3, GLam, PaLM 8B, PaLM 62B</a:t>
            </a:r>
            <a:r>
              <a:rPr lang="fr-FR" altLang="x-none" dirty="0">
                <a:solidFill>
                  <a:srgbClr val="000000"/>
                </a:solidFill>
                <a:latin typeface="Calibri" panose="020F0502020204030204" pitchFamily="34" charset="0"/>
                <a:cs typeface="Calibri" panose="020F0502020204030204" pitchFamily="34" charset="0"/>
              </a:rPr>
              <a:t> et</a:t>
            </a:r>
            <a:r>
              <a:rPr lang="fr-FR" altLang="x-none" dirty="0">
                <a:solidFill>
                  <a:srgbClr val="F5148F"/>
                </a:solidFill>
                <a:latin typeface="Calibri" panose="020F0502020204030204" pitchFamily="34" charset="0"/>
                <a:cs typeface="Calibri" panose="020F0502020204030204" pitchFamily="34" charset="0"/>
              </a:rPr>
              <a:t> PaLM 540B</a:t>
            </a:r>
            <a:r>
              <a:rPr lang="fr-FR" altLang="x-none" dirty="0">
                <a:solidFill>
                  <a:srgbClr val="000000"/>
                </a:solidFill>
                <a:latin typeface="Calibri" panose="020F0502020204030204" pitchFamily="34" charset="0"/>
                <a:cs typeface="Calibri" panose="020F0502020204030204" pitchFamily="34" charset="0"/>
              </a:rPr>
              <a:t> sur la </a:t>
            </a:r>
            <a:r>
              <a:rPr lang="fr-FR" altLang="x-none" dirty="0">
                <a:solidFill>
                  <a:srgbClr val="0070C0"/>
                </a:solidFill>
                <a:latin typeface="Calibri" panose="020F0502020204030204" pitchFamily="34" charset="0"/>
                <a:cs typeface="Calibri" panose="020F0502020204030204" pitchFamily="34" charset="0"/>
              </a:rPr>
              <a:t>génération</a:t>
            </a:r>
            <a:r>
              <a:rPr lang="fr-FR" altLang="x-none" dirty="0">
                <a:solidFill>
                  <a:srgbClr val="000000"/>
                </a:solidFill>
                <a:latin typeface="Calibri" panose="020F0502020204030204" pitchFamily="34" charset="0"/>
                <a:cs typeface="Calibri" panose="020F0502020204030204" pitchFamily="34" charset="0"/>
              </a:rPr>
              <a:t> et</a:t>
            </a:r>
            <a:r>
              <a:rPr lang="fr-FR" altLang="x-none" dirty="0">
                <a:solidFill>
                  <a:srgbClr val="0070C0"/>
                </a:solidFill>
                <a:latin typeface="Calibri" panose="020F0502020204030204" pitchFamily="34" charset="0"/>
                <a:cs typeface="Calibri" panose="020F0502020204030204" pitchFamily="34" charset="0"/>
              </a:rPr>
              <a:t> compréhension</a:t>
            </a:r>
            <a:r>
              <a:rPr lang="fr-FR" altLang="x-none" dirty="0">
                <a:solidFill>
                  <a:srgbClr val="000000"/>
                </a:solidFill>
                <a:latin typeface="Calibri" panose="020F0502020204030204" pitchFamily="34" charset="0"/>
                <a:cs typeface="Calibri" panose="020F0502020204030204" pitchFamily="34" charset="0"/>
              </a:rPr>
              <a:t> du langage naturel.</a:t>
            </a:r>
            <a:endParaRPr lang="fr-FR" altLang="x-none" dirty="0">
              <a:solidFill>
                <a:srgbClr val="000000"/>
              </a:solidFill>
              <a:latin typeface="Calibri" panose="020F0502020204030204" pitchFamily="34" charset="0"/>
            </a:endParaRPr>
          </a:p>
        </p:txBody>
      </p:sp>
      <p:pic>
        <p:nvPicPr>
          <p:cNvPr id="3" name="Image 2" descr="Capture d'écran 2025-04-17 164613"/>
          <p:cNvPicPr>
            <a:picLocks noChangeAspect="1"/>
          </p:cNvPicPr>
          <p:nvPr/>
        </p:nvPicPr>
        <p:blipFill>
          <a:blip r:embed="rId2"/>
          <a:stretch>
            <a:fillRect/>
          </a:stretch>
        </p:blipFill>
        <p:spPr>
          <a:xfrm>
            <a:off x="1447800" y="2362200"/>
            <a:ext cx="8787765" cy="3157855"/>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pour une image 3" descr="Capture d'écran 2025-05-01 180752"/>
          <p:cNvPicPr>
            <a:picLocks noGrp="1" noChangeAspect="1"/>
          </p:cNvPicPr>
          <p:nvPr>
            <p:ph type="pic" idx="9"/>
          </p:nvPr>
        </p:nvPicPr>
        <p:blipFill>
          <a:blip r:embed="rId2"/>
          <a:srcRect r="7479"/>
          <a:stretch>
            <a:fillRect/>
          </a:stretch>
        </p:blipFill>
        <p:spPr>
          <a:xfrm>
            <a:off x="5486400" y="1981200"/>
            <a:ext cx="6621780" cy="3691890"/>
          </a:xfrm>
          <a:prstGeom prst="rect">
            <a:avLst/>
          </a:prstGeom>
        </p:spPr>
      </p:pic>
      <p:sp>
        <p:nvSpPr>
          <p:cNvPr id="5" name="TextBox 3"/>
          <p:cNvSpPr txBox="1"/>
          <p:nvPr/>
        </p:nvSpPr>
        <p:spPr>
          <a:xfrm>
            <a:off x="-76200" y="228600"/>
            <a:ext cx="12184380" cy="1198880"/>
          </a:xfrm>
          <a:prstGeom prst="rect">
            <a:avLst/>
          </a:prstGeom>
          <a:noFill/>
          <a:ln w="9525">
            <a:noFill/>
          </a:ln>
        </p:spPr>
        <p:txBody>
          <a:bodyPr wrap="square" anchor="t" anchorCtr="1">
            <a:spAutoFit/>
          </a:bodyPr>
          <a:lstStyle/>
          <a:p>
            <a:pPr algn="ctr" eaLnBrk="1" hangingPunct="1"/>
            <a:r>
              <a:rPr lang="fr-FR" altLang="id-ID" sz="3600" dirty="0">
                <a:solidFill>
                  <a:srgbClr val="7F7F7F"/>
                </a:solidFill>
                <a:cs typeface="Calibri" panose="020F0502020204030204" pitchFamily="34" charset="0"/>
              </a:rPr>
              <a:t>Comparaison des modèles encoder-only et decoder-only concernant la compréhension du langage naturel</a:t>
            </a:r>
          </a:p>
        </p:txBody>
      </p:sp>
      <p:sp>
        <p:nvSpPr>
          <p:cNvPr id="6" name="Zone de texte 5"/>
          <p:cNvSpPr txBox="1"/>
          <p:nvPr/>
        </p:nvSpPr>
        <p:spPr>
          <a:xfrm>
            <a:off x="533400" y="1981200"/>
            <a:ext cx="5080000" cy="3796665"/>
          </a:xfrm>
          <a:prstGeom prst="rect">
            <a:avLst/>
          </a:prstGeom>
        </p:spPr>
        <p:txBody>
          <a:bodyPr>
            <a:noAutofit/>
          </a:bodyPr>
          <a:lstStyle/>
          <a:p>
            <a:r>
              <a:rPr sz="1800"/>
              <a:t>Les modèles encoder-only (</a:t>
            </a:r>
            <a:r>
              <a:rPr sz="1800">
                <a:solidFill>
                  <a:srgbClr val="FF0000"/>
                </a:solidFill>
              </a:rPr>
              <a:t>❌</a:t>
            </a:r>
            <a:r>
              <a:rPr sz="1800"/>
              <a:t>) sont systématiquement meilleurs selon cette métrique, obtenant des scores plus bas.</a:t>
            </a:r>
          </a:p>
          <a:p>
            <a:endParaRPr sz="1800"/>
          </a:p>
          <a:p>
            <a:r>
              <a:rPr sz="1800"/>
              <a:t>Le meilleur score </a:t>
            </a:r>
            <a:r>
              <a:rPr sz="1800">
                <a:solidFill>
                  <a:schemeClr val="accent1"/>
                </a:solidFill>
              </a:rPr>
              <a:t>(1.09)</a:t>
            </a:r>
            <a:r>
              <a:rPr sz="1800"/>
              <a:t> est obtenu par microsoft/deberta-v3-large, un modèle </a:t>
            </a:r>
            <a:r>
              <a:rPr sz="1800">
                <a:solidFill>
                  <a:srgbClr val="FF0000"/>
                </a:solidFill>
              </a:rPr>
              <a:t>encoder-only</a:t>
            </a:r>
            <a:r>
              <a:rPr sz="1800"/>
              <a:t>.</a:t>
            </a:r>
          </a:p>
          <a:p>
            <a:endParaRPr sz="1800"/>
          </a:p>
          <a:p>
            <a:r>
              <a:rPr lang="fr-FR" sz="1800"/>
              <a:t>L’interprétation de ces résultats est que </a:t>
            </a:r>
            <a:r>
              <a:rPr lang="fr-FR" sz="1800">
                <a:solidFill>
                  <a:srgbClr val="FC01FF"/>
                </a:solidFill>
              </a:rPr>
              <a:t>l</a:t>
            </a:r>
            <a:r>
              <a:rPr lang="en-US" altLang="fr-FR" sz="1800">
                <a:solidFill>
                  <a:srgbClr val="FC01FF"/>
                </a:solidFill>
              </a:rPr>
              <a:t>es mod</a:t>
            </a:r>
            <a:r>
              <a:rPr lang="" altLang="en-US" sz="1800">
                <a:solidFill>
                  <a:srgbClr val="FC01FF"/>
                </a:solidFill>
              </a:rPr>
              <a:t>è</a:t>
            </a:r>
            <a:r>
              <a:rPr lang="en-US" altLang="fr-FR" sz="1800">
                <a:solidFill>
                  <a:srgbClr val="FC01FF"/>
                </a:solidFill>
              </a:rPr>
              <a:t>les encoder-only sont g</a:t>
            </a:r>
            <a:r>
              <a:rPr lang="en-US" altLang="en-US" sz="1800">
                <a:solidFill>
                  <a:srgbClr val="FC01FF"/>
                </a:solidFill>
              </a:rPr>
              <a:t>é</a:t>
            </a:r>
            <a:r>
              <a:rPr lang="en-US" altLang="fr-FR" sz="1800">
                <a:solidFill>
                  <a:srgbClr val="FC01FF"/>
                </a:solidFill>
              </a:rPr>
              <a:t>n</a:t>
            </a:r>
            <a:r>
              <a:rPr lang="en-US" altLang="en-US" sz="1800">
                <a:solidFill>
                  <a:srgbClr val="FC01FF"/>
                </a:solidFill>
              </a:rPr>
              <a:t>é</a:t>
            </a:r>
            <a:r>
              <a:rPr lang="en-US" altLang="fr-FR" sz="1800">
                <a:solidFill>
                  <a:srgbClr val="FC01FF"/>
                </a:solidFill>
              </a:rPr>
              <a:t>ralement mieux adapt</a:t>
            </a:r>
            <a:r>
              <a:rPr lang="en-US" altLang="en-US" sz="1800">
                <a:solidFill>
                  <a:srgbClr val="FC01FF"/>
                </a:solidFill>
              </a:rPr>
              <a:t>é</a:t>
            </a:r>
            <a:r>
              <a:rPr lang="en-US" altLang="fr-FR" sz="1800">
                <a:solidFill>
                  <a:srgbClr val="FC01FF"/>
                </a:solidFill>
              </a:rPr>
              <a:t>s aux t</a:t>
            </a:r>
            <a:r>
              <a:rPr lang="en-US" altLang="en-US" sz="1800">
                <a:solidFill>
                  <a:srgbClr val="FC01FF"/>
                </a:solidFill>
              </a:rPr>
              <a:t>â</a:t>
            </a:r>
            <a:r>
              <a:rPr lang="en-US" altLang="fr-FR" sz="1800">
                <a:solidFill>
                  <a:srgbClr val="FC01FF"/>
                </a:solidFill>
              </a:rPr>
              <a:t>ches de compr</a:t>
            </a:r>
            <a:r>
              <a:rPr lang="en-US" altLang="en-US" sz="1800">
                <a:solidFill>
                  <a:srgbClr val="FC01FF"/>
                </a:solidFill>
              </a:rPr>
              <a:t>é</a:t>
            </a:r>
            <a:r>
              <a:rPr lang="en-US" altLang="fr-FR" sz="1800">
                <a:solidFill>
                  <a:srgbClr val="FC01FF"/>
                </a:solidFill>
              </a:rPr>
              <a:t>hension, tandis que les mod</a:t>
            </a:r>
            <a:r>
              <a:rPr lang="" altLang="en-US" sz="1800">
                <a:solidFill>
                  <a:srgbClr val="FC01FF"/>
                </a:solidFill>
              </a:rPr>
              <a:t>è</a:t>
            </a:r>
            <a:r>
              <a:rPr lang="en-US" altLang="fr-FR" sz="1800">
                <a:solidFill>
                  <a:srgbClr val="FC01FF"/>
                </a:solidFill>
              </a:rPr>
              <a:t>les decoder-only excellent en g</a:t>
            </a:r>
            <a:r>
              <a:rPr lang="en-US" altLang="en-US" sz="1800">
                <a:solidFill>
                  <a:srgbClr val="FC01FF"/>
                </a:solidFill>
              </a:rPr>
              <a:t>é</a:t>
            </a:r>
            <a:r>
              <a:rPr lang="en-US" altLang="fr-FR" sz="1800">
                <a:solidFill>
                  <a:srgbClr val="FC01FF"/>
                </a:solidFill>
              </a:rPr>
              <a:t>n</a:t>
            </a:r>
            <a:r>
              <a:rPr lang="en-US" altLang="en-US" sz="1800">
                <a:solidFill>
                  <a:srgbClr val="FC01FF"/>
                </a:solidFill>
              </a:rPr>
              <a:t>é</a:t>
            </a:r>
            <a:r>
              <a:rPr lang="en-US" altLang="fr-FR" sz="1800">
                <a:solidFill>
                  <a:srgbClr val="FC01FF"/>
                </a:solidFill>
              </a:rPr>
              <a:t>ration.</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6"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1673860" y="-4762"/>
            <a:ext cx="884428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Compréhension du langage naturel</a:t>
            </a:r>
            <a:endParaRPr lang="fr-FR" altLang="x-none" dirty="0">
              <a:solidFill>
                <a:srgbClr val="7F7F7F"/>
              </a:solidFill>
              <a:cs typeface="Calibri" panose="020F0502020204030204" pitchFamily="34" charset="0"/>
            </a:endParaRPr>
          </a:p>
        </p:txBody>
      </p:sp>
      <p:sp>
        <p:nvSpPr>
          <p:cNvPr id="55299" name="Freeform 30"/>
          <p:cNvSpPr/>
          <p:nvPr/>
        </p:nvSpPr>
        <p:spPr>
          <a:xfrm>
            <a:off x="5976938" y="6359525"/>
            <a:ext cx="0" cy="812800"/>
          </a:xfrm>
          <a:custGeom>
            <a:avLst/>
            <a:gdLst>
              <a:gd name="txL" fmla="*/ 0 w 0"/>
              <a:gd name="txT" fmla="*/ 0 h 813565"/>
              <a:gd name="txR" fmla="*/ 0 w 0"/>
              <a:gd name="txB" fmla="*/ 813565 h 813565"/>
            </a:gdLst>
            <a:ahLst/>
            <a:cxnLst>
              <a:cxn ang="17694720">
                <a:pos x="1" y="0"/>
              </a:cxn>
              <a:cxn ang="0">
                <a:pos x="1" y="406785"/>
              </a:cxn>
              <a:cxn ang="5898240">
                <a:pos x="1" y="813569"/>
              </a:cxn>
              <a:cxn ang="11796480">
                <a:pos x="0" y="406785"/>
              </a:cxn>
              <a:cxn ang="0">
                <a:pos x="0" y="0"/>
              </a:cxn>
              <a:cxn ang="0">
                <a:pos x="0" y="813569"/>
              </a:cxn>
              <a:cxn ang="0">
                <a:pos x="0" y="314300"/>
              </a:cxn>
              <a:cxn ang="0">
                <a:pos x="0" y="0"/>
              </a:cxn>
            </a:cxnLst>
            <a:rect l="txL" t="txT" r="txR" b="txB"/>
            <a:pathLst>
              <a:path h="813565">
                <a:moveTo>
                  <a:pt x="0" y="0"/>
                </a:moveTo>
                <a:lnTo>
                  <a:pt x="0" y="813565"/>
                </a:lnTo>
                <a:lnTo>
                  <a:pt x="0" y="314298"/>
                </a:lnTo>
                <a:lnTo>
                  <a:pt x="0" y="0"/>
                </a:lnTo>
                <a:close/>
              </a:path>
            </a:pathLst>
          </a:custGeom>
          <a:solidFill>
            <a:srgbClr val="329990">
              <a:alpha val="100000"/>
            </a:srgbClr>
          </a:solidFill>
          <a:ln w="9525">
            <a:noFill/>
          </a:ln>
        </p:spPr>
        <p:txBody>
          <a:bodyPr/>
          <a:lstStyle/>
          <a:p>
            <a:endParaRPr lang="fr-FR" altLang="en-US"/>
          </a:p>
        </p:txBody>
      </p:sp>
      <p:sp>
        <p:nvSpPr>
          <p:cNvPr id="55300" name="Freeform 31"/>
          <p:cNvSpPr/>
          <p:nvPr/>
        </p:nvSpPr>
        <p:spPr>
          <a:xfrm>
            <a:off x="5976938" y="6359525"/>
            <a:ext cx="0" cy="812800"/>
          </a:xfrm>
          <a:custGeom>
            <a:avLst/>
            <a:gdLst>
              <a:gd name="txL" fmla="*/ 0 w 0"/>
              <a:gd name="txT" fmla="*/ 0 h 813565"/>
              <a:gd name="txR" fmla="*/ 0 w 0"/>
              <a:gd name="txB" fmla="*/ 813565 h 813565"/>
            </a:gdLst>
            <a:ahLst/>
            <a:cxnLst>
              <a:cxn ang="17694720">
                <a:pos x="1" y="0"/>
              </a:cxn>
              <a:cxn ang="0">
                <a:pos x="1" y="406785"/>
              </a:cxn>
              <a:cxn ang="5898240">
                <a:pos x="1" y="813569"/>
              </a:cxn>
              <a:cxn ang="11796480">
                <a:pos x="0" y="406785"/>
              </a:cxn>
              <a:cxn ang="0">
                <a:pos x="0" y="0"/>
              </a:cxn>
              <a:cxn ang="0">
                <a:pos x="0" y="813569"/>
              </a:cxn>
              <a:cxn ang="0">
                <a:pos x="0" y="314300"/>
              </a:cxn>
              <a:cxn ang="0">
                <a:pos x="0" y="0"/>
              </a:cxn>
            </a:cxnLst>
            <a:rect l="txL" t="txT" r="txR" b="txB"/>
            <a:pathLst>
              <a:path h="813565">
                <a:moveTo>
                  <a:pt x="0" y="0"/>
                </a:moveTo>
                <a:lnTo>
                  <a:pt x="0" y="813565"/>
                </a:lnTo>
                <a:lnTo>
                  <a:pt x="0" y="314298"/>
                </a:lnTo>
                <a:lnTo>
                  <a:pt x="0" y="0"/>
                </a:lnTo>
              </a:path>
            </a:pathLst>
          </a:custGeom>
          <a:noFill/>
          <a:ln w="9525">
            <a:noFill/>
          </a:ln>
        </p:spPr>
        <p:txBody>
          <a:bodyPr/>
          <a:lstStyle/>
          <a:p>
            <a:endParaRPr lang="fr-FR" altLang="en-US"/>
          </a:p>
        </p:txBody>
      </p:sp>
      <p:sp>
        <p:nvSpPr>
          <p:cNvPr id="55301" name="Freeform 78"/>
          <p:cNvSpPr/>
          <p:nvPr/>
        </p:nvSpPr>
        <p:spPr>
          <a:xfrm>
            <a:off x="1960563" y="7177088"/>
            <a:ext cx="1587" cy="0"/>
          </a:xfrm>
          <a:custGeom>
            <a:avLst/>
            <a:gdLst>
              <a:gd name="txL" fmla="*/ 0 w 1504"/>
              <a:gd name="txT" fmla="*/ 0 h 0"/>
              <a:gd name="txR" fmla="*/ 1504 w 1504"/>
              <a:gd name="txB" fmla="*/ 0 h 0"/>
            </a:gdLst>
            <a:ahLst/>
            <a:cxnLst>
              <a:cxn ang="17694720">
                <a:pos x="750" y="0"/>
              </a:cxn>
              <a:cxn ang="0">
                <a:pos x="1499" y="1"/>
              </a:cxn>
              <a:cxn ang="5898240">
                <a:pos x="750" y="1"/>
              </a:cxn>
              <a:cxn ang="11796480">
                <a:pos x="0" y="1"/>
              </a:cxn>
              <a:cxn ang="0">
                <a:pos x="1499" y="0"/>
              </a:cxn>
              <a:cxn ang="0">
                <a:pos x="0" y="0"/>
              </a:cxn>
              <a:cxn ang="0">
                <a:pos x="1499" y="0"/>
              </a:cxn>
              <a:cxn ang="0">
                <a:pos x="1499" y="0"/>
              </a:cxn>
            </a:cxnLst>
            <a:rect l="txL" t="txT" r="txR" b="txB"/>
            <a:pathLst>
              <a:path w="1504">
                <a:moveTo>
                  <a:pt x="1504" y="0"/>
                </a:moveTo>
                <a:lnTo>
                  <a:pt x="0" y="0"/>
                </a:lnTo>
                <a:lnTo>
                  <a:pt x="1504" y="0"/>
                </a:lnTo>
                <a:lnTo>
                  <a:pt x="1504" y="0"/>
                </a:lnTo>
                <a:close/>
              </a:path>
            </a:pathLst>
          </a:custGeom>
          <a:solidFill>
            <a:srgbClr val="C6E7E7">
              <a:alpha val="100000"/>
            </a:srgbClr>
          </a:solidFill>
          <a:ln w="9525">
            <a:noFill/>
          </a:ln>
        </p:spPr>
        <p:txBody>
          <a:bodyPr/>
          <a:lstStyle/>
          <a:p>
            <a:endParaRPr lang="fr-FR" altLang="en-US"/>
          </a:p>
        </p:txBody>
      </p:sp>
      <p:sp>
        <p:nvSpPr>
          <p:cNvPr id="55302" name="Freeform 79"/>
          <p:cNvSpPr/>
          <p:nvPr/>
        </p:nvSpPr>
        <p:spPr>
          <a:xfrm>
            <a:off x="1960563" y="7177088"/>
            <a:ext cx="1587" cy="0"/>
          </a:xfrm>
          <a:custGeom>
            <a:avLst/>
            <a:gdLst>
              <a:gd name="txL" fmla="*/ 0 w 1504"/>
              <a:gd name="txT" fmla="*/ 0 h 0"/>
              <a:gd name="txR" fmla="*/ 1504 w 1504"/>
              <a:gd name="txB" fmla="*/ 0 h 0"/>
            </a:gdLst>
            <a:ahLst/>
            <a:cxnLst>
              <a:cxn ang="17694720">
                <a:pos x="750" y="0"/>
              </a:cxn>
              <a:cxn ang="0">
                <a:pos x="1499" y="1"/>
              </a:cxn>
              <a:cxn ang="5898240">
                <a:pos x="750" y="1"/>
              </a:cxn>
              <a:cxn ang="11796480">
                <a:pos x="0" y="1"/>
              </a:cxn>
              <a:cxn ang="0">
                <a:pos x="1499" y="0"/>
              </a:cxn>
              <a:cxn ang="0">
                <a:pos x="0" y="0"/>
              </a:cxn>
              <a:cxn ang="0">
                <a:pos x="1499" y="0"/>
              </a:cxn>
              <a:cxn ang="0">
                <a:pos x="1499" y="0"/>
              </a:cxn>
            </a:cxnLst>
            <a:rect l="txL" t="txT" r="txR" b="txB"/>
            <a:pathLst>
              <a:path w="1504">
                <a:moveTo>
                  <a:pt x="1504" y="0"/>
                </a:moveTo>
                <a:lnTo>
                  <a:pt x="0" y="0"/>
                </a:lnTo>
                <a:lnTo>
                  <a:pt x="1504" y="0"/>
                </a:lnTo>
                <a:lnTo>
                  <a:pt x="1504" y="0"/>
                </a:lnTo>
              </a:path>
            </a:pathLst>
          </a:custGeom>
          <a:noFill/>
          <a:ln w="9525">
            <a:noFill/>
          </a:ln>
        </p:spPr>
        <p:txBody>
          <a:bodyPr/>
          <a:lstStyle/>
          <a:p>
            <a:endParaRPr lang="fr-FR" altLang="en-US"/>
          </a:p>
        </p:txBody>
      </p:sp>
      <p:sp>
        <p:nvSpPr>
          <p:cNvPr id="7" name="TextBox 112"/>
          <p:cNvSpPr txBox="1"/>
          <p:nvPr/>
        </p:nvSpPr>
        <p:spPr>
          <a:xfrm>
            <a:off x="1563688" y="6342063"/>
            <a:ext cx="811212" cy="523875"/>
          </a:xfrm>
          <a:prstGeom prst="rect">
            <a:avLst/>
          </a:prstGeom>
          <a:noFill/>
          <a:ln w="9525">
            <a:noFill/>
          </a:ln>
        </p:spPr>
        <p:txBody>
          <a:bodyPr wrap="none" anchor="t" anchorCtr="1">
            <a:spAutoFit/>
          </a:bodyPr>
          <a:lstStyle/>
          <a:p>
            <a:pPr algn="ctr" eaLnBrk="1" hangingPunct="1"/>
            <a:r>
              <a:rPr lang="id-ID" altLang="x-none" sz="2800" b="1" dirty="0">
                <a:solidFill>
                  <a:srgbClr val="FFFFFF"/>
                </a:solidFill>
                <a:latin typeface="Calibri" panose="020F0502020204030204" pitchFamily="34" charset="0"/>
                <a:ea typeface="Kozuka Gothic Pr6N B"/>
              </a:rPr>
              <a:t>70%</a:t>
            </a:r>
          </a:p>
        </p:txBody>
      </p:sp>
      <p:sp>
        <p:nvSpPr>
          <p:cNvPr id="8" name="TextBox 113"/>
          <p:cNvSpPr txBox="1"/>
          <p:nvPr/>
        </p:nvSpPr>
        <p:spPr>
          <a:xfrm>
            <a:off x="2916238" y="6338888"/>
            <a:ext cx="812800" cy="522287"/>
          </a:xfrm>
          <a:prstGeom prst="rect">
            <a:avLst/>
          </a:prstGeom>
          <a:noFill/>
          <a:ln w="9525">
            <a:noFill/>
          </a:ln>
        </p:spPr>
        <p:txBody>
          <a:bodyPr wrap="none" anchor="t" anchorCtr="1">
            <a:spAutoFit/>
          </a:bodyPr>
          <a:lstStyle/>
          <a:p>
            <a:pPr algn="ctr" eaLnBrk="1" hangingPunct="1"/>
            <a:r>
              <a:rPr lang="id-ID" altLang="x-none" sz="2800" b="1" dirty="0">
                <a:solidFill>
                  <a:srgbClr val="FFFFFF"/>
                </a:solidFill>
                <a:latin typeface="Calibri" panose="020F0502020204030204" pitchFamily="34" charset="0"/>
                <a:ea typeface="Kozuka Gothic Pr6N B"/>
              </a:rPr>
              <a:t>40%</a:t>
            </a:r>
          </a:p>
        </p:txBody>
      </p:sp>
      <p:sp>
        <p:nvSpPr>
          <p:cNvPr id="9" name="TextBox 114"/>
          <p:cNvSpPr txBox="1"/>
          <p:nvPr/>
        </p:nvSpPr>
        <p:spPr>
          <a:xfrm>
            <a:off x="5570538" y="6345238"/>
            <a:ext cx="811212" cy="523875"/>
          </a:xfrm>
          <a:prstGeom prst="rect">
            <a:avLst/>
          </a:prstGeom>
          <a:noFill/>
          <a:ln w="9525">
            <a:noFill/>
          </a:ln>
        </p:spPr>
        <p:txBody>
          <a:bodyPr wrap="none" anchor="t" anchorCtr="1">
            <a:spAutoFit/>
          </a:bodyPr>
          <a:lstStyle/>
          <a:p>
            <a:pPr algn="ctr" eaLnBrk="1" hangingPunct="1"/>
            <a:r>
              <a:rPr lang="id-ID" altLang="x-none" sz="2800" b="1" dirty="0">
                <a:solidFill>
                  <a:srgbClr val="FFFFFF"/>
                </a:solidFill>
                <a:latin typeface="Calibri" panose="020F0502020204030204" pitchFamily="34" charset="0"/>
                <a:ea typeface="Kozuka Gothic Pr6N B"/>
              </a:rPr>
              <a:t>30%</a:t>
            </a:r>
          </a:p>
        </p:txBody>
      </p:sp>
      <p:sp>
        <p:nvSpPr>
          <p:cNvPr id="10" name="TextBox 115"/>
          <p:cNvSpPr txBox="1"/>
          <p:nvPr/>
        </p:nvSpPr>
        <p:spPr>
          <a:xfrm>
            <a:off x="4254500" y="6338888"/>
            <a:ext cx="811213" cy="522287"/>
          </a:xfrm>
          <a:prstGeom prst="rect">
            <a:avLst/>
          </a:prstGeom>
          <a:noFill/>
          <a:ln w="9525">
            <a:noFill/>
          </a:ln>
        </p:spPr>
        <p:txBody>
          <a:bodyPr wrap="none" anchor="t" anchorCtr="1">
            <a:spAutoFit/>
          </a:bodyPr>
          <a:lstStyle/>
          <a:p>
            <a:pPr algn="ctr" eaLnBrk="1" hangingPunct="1"/>
            <a:r>
              <a:rPr lang="id-ID" altLang="x-none" sz="2800" b="1" dirty="0">
                <a:solidFill>
                  <a:srgbClr val="FFFFFF"/>
                </a:solidFill>
                <a:latin typeface="Calibri" panose="020F0502020204030204" pitchFamily="34" charset="0"/>
                <a:ea typeface="Kozuka Gothic Pr6N B"/>
              </a:rPr>
              <a:t>70%</a:t>
            </a:r>
          </a:p>
        </p:txBody>
      </p:sp>
      <p:pic>
        <p:nvPicPr>
          <p:cNvPr id="55307" name="Image 1" descr="Une image contenant texte, capture d’écran, Police, nombre&#10;&#10;Le contenu généré par l’IA peut être incorrect."/>
          <p:cNvPicPr>
            <a:picLocks noChangeAspect="1"/>
          </p:cNvPicPr>
          <p:nvPr/>
        </p:nvPicPr>
        <p:blipFill>
          <a:blip r:embed="rId2"/>
          <a:stretch>
            <a:fillRect/>
          </a:stretch>
        </p:blipFill>
        <p:spPr>
          <a:xfrm>
            <a:off x="2016125" y="2097088"/>
            <a:ext cx="8159750" cy="4670425"/>
          </a:xfrm>
          <a:prstGeom prst="rect">
            <a:avLst/>
          </a:prstGeom>
          <a:noFill/>
          <a:ln w="9525">
            <a:noFill/>
          </a:ln>
        </p:spPr>
      </p:pic>
      <p:sp>
        <p:nvSpPr>
          <p:cNvPr id="12" name="ZoneTexte 4"/>
          <p:cNvSpPr txBox="1"/>
          <p:nvPr/>
        </p:nvSpPr>
        <p:spPr>
          <a:xfrm>
            <a:off x="609603" y="965204"/>
            <a:ext cx="10769602" cy="1015660"/>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 PaLM peut même générer </a:t>
            </a:r>
            <a:r>
              <a:rPr kumimoji="0" lang="en-US" sz="2000" kern="1200" cap="none" spc="0" normalizeH="0" baseline="0" noProof="0">
                <a:solidFill>
                  <a:srgbClr val="FF0000"/>
                </a:solidFill>
                <a:highlight>
                  <a:srgbClr val="FFFFFF"/>
                </a:highlight>
                <a:latin typeface="Calibri" panose="020F0502020204030204"/>
                <a:ea typeface="Calibri" panose="020F0502020204030204"/>
                <a:cs typeface="Calibri" panose="020F0502020204030204"/>
              </a:rPr>
              <a:t>des explications explicites</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 pour des scénarios qui nécessitent une combinaison complexe </a:t>
            </a:r>
            <a:r>
              <a:rPr kumimoji="0" lang="en-US" sz="2000" kern="1200" cap="none" spc="0" normalizeH="0" baseline="0" noProof="0">
                <a:solidFill>
                  <a:srgbClr val="0070C0"/>
                </a:solidFill>
                <a:highlight>
                  <a:srgbClr val="FFFFFF"/>
                </a:highlight>
                <a:latin typeface="Calibri" panose="020F0502020204030204"/>
                <a:ea typeface="Calibri" panose="020F0502020204030204"/>
                <a:cs typeface="Calibri" panose="020F0502020204030204"/>
              </a:rPr>
              <a:t>d’inférence logique</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 en plusieurs étapes, de</a:t>
            </a:r>
            <a:r>
              <a:rPr kumimoji="0" lang="en-US" sz="2000" kern="1200" cap="none" spc="0" normalizeH="0" baseline="0" noProof="0">
                <a:solidFill>
                  <a:srgbClr val="0070C0"/>
                </a:solidFill>
                <a:highlight>
                  <a:srgbClr val="FFFFFF"/>
                </a:highlight>
                <a:latin typeface="Calibri" panose="020F0502020204030204"/>
                <a:ea typeface="Calibri" panose="020F0502020204030204"/>
                <a:cs typeface="Calibri" panose="020F0502020204030204"/>
              </a:rPr>
              <a:t> connaissance du monde </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et de </a:t>
            </a:r>
            <a:r>
              <a:rPr kumimoji="0" lang="en-US" sz="2000" kern="1200" cap="none" spc="0" normalizeH="0" baseline="0" noProof="0">
                <a:solidFill>
                  <a:srgbClr val="0070C0"/>
                </a:solidFill>
                <a:highlight>
                  <a:srgbClr val="FFFFFF"/>
                </a:highlight>
                <a:latin typeface="Calibri" panose="020F0502020204030204"/>
                <a:ea typeface="Calibri" panose="020F0502020204030204"/>
                <a:cs typeface="Calibri" panose="020F0502020204030204"/>
              </a:rPr>
              <a:t>compréhension approfondie du langage</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a:t>
            </a:r>
            <a:endParaRPr kumimoji="0" lang="en-US" sz="2000" kern="1200" cap="none" spc="0" normalizeH="0" baseline="0" noProof="0">
              <a:solidFill>
                <a:srgbClr val="000000"/>
              </a:solidFill>
              <a:latin typeface="Calibri" panose="020F0502020204030204"/>
              <a:ea typeface="Calibri" panose="020F0502020204030204"/>
              <a:cs typeface="Calibri" panose="020F0502020204030204"/>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2239" y="1588"/>
            <a:ext cx="396303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Causes &amp; Effets</a:t>
            </a:r>
            <a:endParaRPr lang="fr-FR" altLang="x-none" dirty="0">
              <a:solidFill>
                <a:srgbClr val="7F7F7F"/>
              </a:solidFill>
              <a:cs typeface="Calibri" panose="020F0502020204030204" pitchFamily="34" charset="0"/>
            </a:endParaRPr>
          </a:p>
        </p:txBody>
      </p:sp>
      <p:sp>
        <p:nvSpPr>
          <p:cNvPr id="3" name="ZoneTexte 5"/>
          <p:cNvSpPr txBox="1"/>
          <p:nvPr/>
        </p:nvSpPr>
        <p:spPr>
          <a:xfrm>
            <a:off x="431797" y="1066803"/>
            <a:ext cx="11214101" cy="707882"/>
          </a:xfrm>
          <a:prstGeom prst="rect">
            <a:avLst/>
          </a:prstGeom>
          <a:noFill/>
          <a:ln cap="flat">
            <a:noFill/>
          </a:ln>
        </p:spPr>
        <p:txBody>
          <a:bodyPr vert="horz" wrap="square" lIns="91440" tIns="45720" rIns="91440" bIns="45720" anchor="t" anchorCtr="0" compatLnSpc="1">
            <a:spAutoFit/>
          </a:bodyPr>
          <a:lstStyle/>
          <a:p>
            <a:pPr marR="0" defTabSz="914400" eaLnBrk="1" fontAlgn="auto" hangingPunct="1">
              <a:spcBef>
                <a:spcPts val="0"/>
              </a:spcBef>
              <a:spcAft>
                <a:spcPts val="0"/>
              </a:spcAft>
              <a:buClrTx/>
              <a:buSzTx/>
              <a:buFontTx/>
              <a:buNone/>
              <a:defRPr sz="1800" b="0" i="0" u="none" strike="noStrike" kern="0" cap="none" spc="0" baseline="0">
                <a:solidFill>
                  <a:srgbClr val="000000"/>
                </a:solidFill>
                <a:uFillTx/>
              </a:defRPr>
            </a:pP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PaLM démontre des capacités impressionnantes de </a:t>
            </a:r>
            <a:r>
              <a:rPr kumimoji="0" lang="en-US" sz="2000" kern="1200" cap="none" spc="0" normalizeH="0" baseline="0" noProof="0">
                <a:solidFill>
                  <a:srgbClr val="0070C0"/>
                </a:solidFill>
                <a:highlight>
                  <a:srgbClr val="FFFFFF"/>
                </a:highlight>
                <a:latin typeface="Calibri" panose="020F0502020204030204"/>
                <a:ea typeface="Calibri" panose="020F0502020204030204"/>
                <a:cs typeface="Calibri" panose="020F0502020204030204"/>
              </a:rPr>
              <a:t>compréhension</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 et de</a:t>
            </a:r>
            <a:r>
              <a:rPr kumimoji="0" lang="en-US" sz="2000" kern="1200" cap="none" spc="0" normalizeH="0" baseline="0" noProof="0">
                <a:solidFill>
                  <a:srgbClr val="0070C0"/>
                </a:solidFill>
                <a:highlight>
                  <a:srgbClr val="FFFFFF"/>
                </a:highlight>
                <a:latin typeface="Calibri" panose="020F0502020204030204"/>
                <a:ea typeface="Calibri" panose="020F0502020204030204"/>
                <a:cs typeface="Calibri" panose="020F0502020204030204"/>
              </a:rPr>
              <a:t> génération du langage naturel </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sur plusieurs tâches et peut aussi </a:t>
            </a:r>
            <a:r>
              <a:rPr kumimoji="0" lang="en-US" sz="2000" kern="1200" cap="none" spc="0" normalizeH="0" baseline="0" noProof="0">
                <a:solidFill>
                  <a:srgbClr val="FF0000"/>
                </a:solidFill>
                <a:highlight>
                  <a:srgbClr val="FFFFFF"/>
                </a:highlight>
                <a:latin typeface="Calibri" panose="020F0502020204030204"/>
                <a:ea typeface="Calibri" panose="020F0502020204030204"/>
                <a:cs typeface="Calibri" panose="020F0502020204030204"/>
              </a:rPr>
              <a:t>distinger la cause et l’effet</a:t>
            </a:r>
            <a:r>
              <a:rPr kumimoji="0" lang="en-US" sz="2000" kern="1200" cap="none" spc="0" normalizeH="0" baseline="0" noProof="0">
                <a:solidFill>
                  <a:srgbClr val="202124"/>
                </a:solidFill>
                <a:highlight>
                  <a:srgbClr val="FFFFFF"/>
                </a:highlight>
                <a:latin typeface="Calibri" panose="020F0502020204030204"/>
                <a:ea typeface="Calibri" panose="020F0502020204030204"/>
                <a:cs typeface="Calibri" panose="020F0502020204030204"/>
              </a:rPr>
              <a:t> dans un contexte appropirié.</a:t>
            </a:r>
            <a:endParaRPr kumimoji="0" lang="en-US" sz="2000" kern="1200" cap="none" spc="0" normalizeH="0" baseline="0" noProof="0">
              <a:solidFill>
                <a:srgbClr val="000000"/>
              </a:solidFill>
              <a:latin typeface="Calibri" panose="020F0502020204030204"/>
              <a:ea typeface="Calibri" panose="020F0502020204030204"/>
              <a:cs typeface="Calibri" panose="020F0502020204030204"/>
            </a:endParaRPr>
          </a:p>
        </p:txBody>
      </p:sp>
      <p:pic>
        <p:nvPicPr>
          <p:cNvPr id="56324" name="Image 8" descr="Une image contenant texte, capture d’écran, Police&#10;&#10;Le contenu généré par l’IA peut être incorrect."/>
          <p:cNvPicPr>
            <a:picLocks noChangeAspect="1"/>
          </p:cNvPicPr>
          <p:nvPr/>
        </p:nvPicPr>
        <p:blipFill>
          <a:blip r:embed="rId2"/>
          <a:stretch>
            <a:fillRect/>
          </a:stretch>
        </p:blipFill>
        <p:spPr>
          <a:xfrm>
            <a:off x="1062038" y="2127250"/>
            <a:ext cx="9750425" cy="398780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4217035" y="-4762"/>
            <a:ext cx="375793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Raisonnement</a:t>
            </a:r>
            <a:endParaRPr lang="fr-FR" altLang="x-none" dirty="0">
              <a:solidFill>
                <a:srgbClr val="000000"/>
              </a:solidFill>
              <a:cs typeface="Calibri" panose="020F0502020204030204" pitchFamily="34" charset="0"/>
            </a:endParaRPr>
          </a:p>
        </p:txBody>
      </p:sp>
      <p:pic>
        <p:nvPicPr>
          <p:cNvPr id="57347" name="Image 3" descr="Une image contenant texte, capture d’écran, Police, nombre&#10;&#10;Le contenu généré par l’IA peut être incorrect."/>
          <p:cNvPicPr>
            <a:picLocks noChangeAspect="1"/>
          </p:cNvPicPr>
          <p:nvPr/>
        </p:nvPicPr>
        <p:blipFill>
          <a:blip r:embed="rId2"/>
          <a:stretch>
            <a:fillRect/>
          </a:stretch>
        </p:blipFill>
        <p:spPr>
          <a:xfrm>
            <a:off x="533400" y="1236663"/>
            <a:ext cx="11353800" cy="4727575"/>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3556001" y="-4762"/>
            <a:ext cx="508000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Géneration du code</a:t>
            </a:r>
            <a:endParaRPr lang="fr-FR" altLang="x-none" dirty="0">
              <a:solidFill>
                <a:srgbClr val="7F7F7F"/>
              </a:solidFill>
              <a:cs typeface="Calibri" panose="020F0502020204030204" pitchFamily="34" charset="0"/>
            </a:endParaRPr>
          </a:p>
        </p:txBody>
      </p:sp>
      <p:pic>
        <p:nvPicPr>
          <p:cNvPr id="58371" name="Image 9" descr="Une image contenant texte, Appareils électroniques, capture d’écran, Police&#10;&#10;Le contenu généré par l’IA peut être incorrect."/>
          <p:cNvPicPr>
            <a:picLocks noChangeAspect="1"/>
          </p:cNvPicPr>
          <p:nvPr/>
        </p:nvPicPr>
        <p:blipFill>
          <a:blip r:embed="rId2"/>
          <a:stretch>
            <a:fillRect/>
          </a:stretch>
        </p:blipFill>
        <p:spPr>
          <a:xfrm>
            <a:off x="2268538" y="979488"/>
            <a:ext cx="7947025" cy="5724525"/>
          </a:xfrm>
          <a:prstGeom prst="rect">
            <a:avLst/>
          </a:prstGeom>
          <a:noFill/>
          <a:ln w="9525">
            <a:noFill/>
          </a:ln>
        </p:spPr>
      </p:pic>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3061971" y="-4762"/>
            <a:ext cx="489013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Correction de code</a:t>
            </a:r>
            <a:endParaRPr lang="fr-FR" altLang="x-none" dirty="0">
              <a:solidFill>
                <a:srgbClr val="000000"/>
              </a:solidFill>
              <a:cs typeface="Calibri" panose="020F0502020204030204" pitchFamily="34" charset="0"/>
            </a:endParaRPr>
          </a:p>
        </p:txBody>
      </p:sp>
      <p:pic>
        <p:nvPicPr>
          <p:cNvPr id="59395" name="Image 6" descr="Une image contenant texte, capture d’écran, nombre, Police&#10;&#10;Le contenu généré par l’IA peut être incorrect."/>
          <p:cNvPicPr>
            <a:picLocks noChangeAspect="1"/>
          </p:cNvPicPr>
          <p:nvPr/>
        </p:nvPicPr>
        <p:blipFill>
          <a:blip r:embed="rId2"/>
          <a:stretch>
            <a:fillRect/>
          </a:stretch>
        </p:blipFill>
        <p:spPr>
          <a:xfrm>
            <a:off x="501650" y="2087563"/>
            <a:ext cx="11163300" cy="3978275"/>
          </a:xfrm>
          <a:prstGeom prst="rect">
            <a:avLst/>
          </a:prstGeom>
          <a:noFill/>
          <a:ln w="9525">
            <a:noFill/>
          </a:ln>
        </p:spPr>
      </p:pic>
      <p:sp>
        <p:nvSpPr>
          <p:cNvPr id="59396" name="ZoneTexte 7"/>
          <p:cNvSpPr txBox="1"/>
          <p:nvPr/>
        </p:nvSpPr>
        <p:spPr>
          <a:xfrm>
            <a:off x="682625" y="984250"/>
            <a:ext cx="11112500" cy="646113"/>
          </a:xfrm>
          <a:prstGeom prst="rect">
            <a:avLst/>
          </a:prstGeom>
          <a:noFill/>
          <a:ln w="9525">
            <a:noFill/>
          </a:ln>
        </p:spPr>
        <p:txBody>
          <a:bodyPr>
            <a:spAutoFit/>
          </a:bodyPr>
          <a:lstStyle/>
          <a:p>
            <a:pPr eaLnBrk="1" hangingPunct="1"/>
            <a:r>
              <a:rPr lang="fr-FR" altLang="x-none" dirty="0">
                <a:solidFill>
                  <a:srgbClr val="0070C0"/>
                </a:solidFill>
                <a:latin typeface="Calibri" panose="020F0502020204030204" pitchFamily="34" charset="0"/>
                <a:cs typeface="Calibri" panose="020F0502020204030204" pitchFamily="34" charset="0"/>
              </a:rPr>
              <a:t>Palm-Coder</a:t>
            </a:r>
            <a:r>
              <a:rPr lang="fr-FR" altLang="x-none" dirty="0">
                <a:solidFill>
                  <a:srgbClr val="000000"/>
                </a:solidFill>
                <a:latin typeface="Calibri" panose="020F0502020204030204" pitchFamily="34" charset="0"/>
                <a:cs typeface="Calibri" panose="020F0502020204030204" pitchFamily="34" charset="0"/>
              </a:rPr>
              <a:t> est une version affiné de PaLM </a:t>
            </a:r>
            <a:r>
              <a:rPr lang="fr-FR" altLang="x-none" dirty="0">
                <a:solidFill>
                  <a:srgbClr val="202124"/>
                </a:solidFill>
                <a:latin typeface="Calibri" panose="020F0502020204030204" pitchFamily="34" charset="0"/>
                <a:cs typeface="Calibri" panose="020F0502020204030204" pitchFamily="34" charset="0"/>
              </a:rPr>
              <a:t>sur un ensemble de données de code uniquement Python. Il fait preuve de performances impressionnantes, atteignant </a:t>
            </a:r>
            <a:r>
              <a:rPr lang="fr-FR" altLang="x-none" dirty="0">
                <a:solidFill>
                  <a:srgbClr val="F5148F"/>
                </a:solidFill>
                <a:latin typeface="Calibri" panose="020F0502020204030204" pitchFamily="34" charset="0"/>
                <a:cs typeface="Calibri" panose="020F0502020204030204" pitchFamily="34" charset="0"/>
              </a:rPr>
              <a:t>un taux de compilation de 82,1 % .</a:t>
            </a:r>
            <a:endParaRPr lang="fr-FR" altLang="x-none" dirty="0">
              <a:solidFill>
                <a:srgbClr val="F5148F"/>
              </a:solidFill>
              <a:latin typeface="Calibri" panose="020F0502020204030204" pitchFamily="34" charset="0"/>
            </a:endParaRPr>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2671763" y="5465763"/>
            <a:ext cx="7524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8310563" y="4887913"/>
            <a:ext cx="16668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4703763" y="5456238"/>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6735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532438"/>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639763" y="5465763"/>
            <a:ext cx="752475"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0" y="6737350"/>
            <a:ext cx="12192000" cy="133350"/>
            <a:chOff x="0" y="6736614"/>
            <a:chExt cx="12191996" cy="134343"/>
          </a:xfrm>
        </p:grpSpPr>
        <p:sp>
          <p:nvSpPr>
            <p:cNvPr id="60431"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0432"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0433"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0434"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0435"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0436"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cxnSp>
        <p:nvCxnSpPr>
          <p:cNvPr id="15" name="Straight Connector 34"/>
          <p:cNvCxnSpPr/>
          <p:nvPr/>
        </p:nvCxnSpPr>
        <p:spPr>
          <a:xfrm flipH="1">
            <a:off x="6096000" y="4724400"/>
            <a:ext cx="3048000" cy="0"/>
          </a:xfrm>
          <a:prstGeom prst="straightConnector1">
            <a:avLst/>
          </a:prstGeom>
          <a:ln w="15873" cap="flat" cmpd="sng">
            <a:solidFill>
              <a:srgbClr val="D0DFB3"/>
            </a:solidFill>
            <a:prstDash val="solid"/>
            <a:miter/>
            <a:headEnd type="none" w="med" len="med"/>
            <a:tailEnd type="none" w="med" len="med"/>
          </a:ln>
        </p:spPr>
      </p:cxnSp>
      <p:cxnSp>
        <p:nvCxnSpPr>
          <p:cNvPr id="16" name="Straight Connector 35"/>
          <p:cNvCxnSpPr>
            <a:endCxn id="3" idx="3"/>
          </p:cNvCxnSpPr>
          <p:nvPr/>
        </p:nvCxnSpPr>
        <p:spPr>
          <a:xfrm>
            <a:off x="9144000" y="4724400"/>
            <a:ext cx="0" cy="346075"/>
          </a:xfrm>
          <a:prstGeom prst="straightConnector1">
            <a:avLst/>
          </a:prstGeom>
          <a:ln w="15873" cap="flat" cmpd="sng">
            <a:solidFill>
              <a:srgbClr val="D0DFB3"/>
            </a:solidFill>
            <a:prstDash val="solid"/>
            <a:miter/>
            <a:headEnd type="none" w="med" len="med"/>
            <a:tailEnd type="none" w="med" len="med"/>
          </a:ln>
        </p:spPr>
      </p:cxnSp>
      <p:sp>
        <p:nvSpPr>
          <p:cNvPr id="17" name="TextBox 39"/>
          <p:cNvSpPr txBox="1"/>
          <p:nvPr/>
        </p:nvSpPr>
        <p:spPr>
          <a:xfrm>
            <a:off x="3406775" y="2768600"/>
            <a:ext cx="5481638" cy="831850"/>
          </a:xfrm>
          <a:prstGeom prst="rect">
            <a:avLst/>
          </a:prstGeom>
          <a:noFill/>
          <a:ln w="9525">
            <a:noFill/>
          </a:ln>
        </p:spPr>
        <p:txBody>
          <a:bodyPr wrap="none" anchor="t" anchorCtr="1">
            <a:spAutoFit/>
          </a:bodyPr>
          <a:lstStyle/>
          <a:p>
            <a:pPr algn="ctr" eaLnBrk="1" hangingPunct="1"/>
            <a:r>
              <a:rPr lang="id-ID" altLang="x-none" sz="4800" b="1" dirty="0">
                <a:solidFill>
                  <a:srgbClr val="FFFFFF"/>
                </a:solidFill>
                <a:latin typeface="Calibri" panose="020F0502020204030204" pitchFamily="34" charset="0"/>
              </a:rPr>
              <a:t>Versions &amp; Évolution</a:t>
            </a:r>
            <a:endParaRPr lang="fr-FR" altLang="x-none" dirty="0">
              <a:solidFill>
                <a:srgbClr val="FFFFFF"/>
              </a:solidFill>
              <a:latin typeface="Calibri" panose="020F0502020204030204" pitchFamily="34" charset="0"/>
            </a:endParaRPr>
          </a:p>
        </p:txBody>
      </p:sp>
      <p:cxnSp>
        <p:nvCxnSpPr>
          <p:cNvPr id="18" name="Straight Connector 41"/>
          <p:cNvCxnSpPr/>
          <p:nvPr/>
        </p:nvCxnSpPr>
        <p:spPr>
          <a:xfrm>
            <a:off x="5724525" y="3802063"/>
            <a:ext cx="742950" cy="0"/>
          </a:xfrm>
          <a:prstGeom prst="straightConnector1">
            <a:avLst/>
          </a:prstGeom>
          <a:ln w="15873" cap="flat" cmpd="sng">
            <a:solidFill>
              <a:srgbClr val="88A945"/>
            </a:solidFill>
            <a:prstDash val="solid"/>
            <a:miter/>
            <a:headEnd type="none" w="med" len="med"/>
            <a:tailEnd type="none" w="med" len="med"/>
          </a:ln>
        </p:spPr>
      </p:cxnSp>
      <p:cxnSp>
        <p:nvCxnSpPr>
          <p:cNvPr id="19" name="Straight Connector 43"/>
          <p:cNvCxnSpPr/>
          <p:nvPr/>
        </p:nvCxnSpPr>
        <p:spPr>
          <a:xfrm>
            <a:off x="6096000" y="3952875"/>
            <a:ext cx="0" cy="771525"/>
          </a:xfrm>
          <a:prstGeom prst="straightConnector1">
            <a:avLst/>
          </a:prstGeom>
          <a:ln w="15873" cap="flat" cmpd="sng">
            <a:solidFill>
              <a:srgbClr val="D0DFB3"/>
            </a:solidFill>
            <a:prstDash val="solid"/>
            <a:miter/>
            <a:headEnd type="arrow" w="med" len="med"/>
            <a:tailEnd type="none" w="med" len="med"/>
          </a:ln>
        </p:spPr>
      </p:cxnSp>
      <p:sp>
        <p:nvSpPr>
          <p:cNvPr id="20" name="Freeform 5"/>
          <p:cNvSpPr/>
          <p:nvPr/>
        </p:nvSpPr>
        <p:spPr>
          <a:xfrm>
            <a:off x="8840470" y="5714683"/>
            <a:ext cx="614363" cy="608012"/>
          </a:xfrm>
          <a:custGeom>
            <a:avLst/>
            <a:gdLst>
              <a:gd name="txL" fmla="*/ 0 w 1019"/>
              <a:gd name="txT" fmla="*/ 0 h 1008"/>
              <a:gd name="txR" fmla="*/ 1019 w 1019"/>
              <a:gd name="txB" fmla="*/ 1008 h 1008"/>
            </a:gdLst>
            <a:ahLst/>
            <a:cxnLst>
              <a:cxn ang="17694720">
                <a:pos x="307211" y="0"/>
              </a:cxn>
              <a:cxn ang="0">
                <a:pos x="614421" y="303777"/>
              </a:cxn>
              <a:cxn ang="5898240">
                <a:pos x="307211" y="607554"/>
              </a:cxn>
              <a:cxn ang="11796480">
                <a:pos x="0" y="303777"/>
              </a:cxn>
              <a:cxn ang="0">
                <a:pos x="593920" y="538240"/>
              </a:cxn>
              <a:cxn ang="0">
                <a:pos x="417855" y="467720"/>
              </a:cxn>
              <a:cxn ang="0">
                <a:pos x="490210" y="312818"/>
              </a:cxn>
              <a:cxn ang="0">
                <a:pos x="441973" y="64492"/>
              </a:cxn>
              <a:cxn ang="0">
                <a:pos x="306909" y="0"/>
              </a:cxn>
              <a:cxn ang="0">
                <a:pos x="171845" y="64492"/>
              </a:cxn>
              <a:cxn ang="0">
                <a:pos x="123608" y="312818"/>
              </a:cxn>
              <a:cxn ang="0">
                <a:pos x="195964" y="467720"/>
              </a:cxn>
              <a:cxn ang="0">
                <a:pos x="19898" y="538240"/>
              </a:cxn>
              <a:cxn ang="0">
                <a:pos x="4824" y="581034"/>
              </a:cxn>
              <a:cxn ang="0">
                <a:pos x="41002" y="607554"/>
              </a:cxn>
              <a:cxn ang="0">
                <a:pos x="572816" y="607554"/>
              </a:cxn>
              <a:cxn ang="0">
                <a:pos x="609597" y="581034"/>
              </a:cxn>
              <a:cxn ang="0">
                <a:pos x="593920" y="538240"/>
              </a:cxn>
              <a:cxn ang="0">
                <a:pos x="388309" y="444214"/>
              </a:cxn>
              <a:cxn ang="0">
                <a:pos x="381677" y="452049"/>
              </a:cxn>
              <a:cxn ang="0">
                <a:pos x="232141" y="452049"/>
              </a:cxn>
              <a:cxn ang="0">
                <a:pos x="226112" y="444214"/>
              </a:cxn>
              <a:cxn ang="0">
                <a:pos x="157977" y="204326"/>
              </a:cxn>
              <a:cxn ang="0">
                <a:pos x="306909" y="37972"/>
              </a:cxn>
              <a:cxn ang="0">
                <a:pos x="455841" y="204326"/>
              </a:cxn>
              <a:cxn ang="0">
                <a:pos x="388309" y="444214"/>
              </a:cxn>
              <a:cxn ang="0">
                <a:pos x="41002" y="569582"/>
              </a:cxn>
              <a:cxn ang="0">
                <a:pos x="204405" y="505090"/>
              </a:cxn>
              <a:cxn ang="0">
                <a:pos x="251436" y="494843"/>
              </a:cxn>
              <a:cxn ang="0">
                <a:pos x="306909" y="512925"/>
              </a:cxn>
              <a:cxn ang="0">
                <a:pos x="362382" y="494843"/>
              </a:cxn>
              <a:cxn ang="0">
                <a:pos x="410016" y="505090"/>
              </a:cxn>
              <a:cxn ang="0">
                <a:pos x="572816" y="569582"/>
              </a:cxn>
              <a:cxn ang="0">
                <a:pos x="41002" y="569582"/>
              </a:cxn>
            </a:cxnLst>
            <a:rect l="txL" t="txT" r="txR" b="txB"/>
            <a:pathLst>
              <a:path w="1019" h="1008">
                <a:moveTo>
                  <a:pt x="985" y="893"/>
                </a:moveTo>
                <a:cubicBezTo>
                  <a:pt x="979" y="889"/>
                  <a:pt x="864" y="813"/>
                  <a:pt x="693" y="776"/>
                </a:cubicBezTo>
                <a:cubicBezTo>
                  <a:pt x="756" y="697"/>
                  <a:pt x="796" y="590"/>
                  <a:pt x="813" y="519"/>
                </a:cubicBezTo>
                <a:cubicBezTo>
                  <a:pt x="837" y="420"/>
                  <a:pt x="828" y="227"/>
                  <a:pt x="733" y="107"/>
                </a:cubicBezTo>
                <a:cubicBezTo>
                  <a:pt x="678" y="37"/>
                  <a:pt x="600" y="0"/>
                  <a:pt x="509" y="0"/>
                </a:cubicBezTo>
                <a:cubicBezTo>
                  <a:pt x="418" y="0"/>
                  <a:pt x="341" y="37"/>
                  <a:pt x="285" y="107"/>
                </a:cubicBezTo>
                <a:cubicBezTo>
                  <a:pt x="191" y="227"/>
                  <a:pt x="181" y="420"/>
                  <a:pt x="205" y="519"/>
                </a:cubicBezTo>
                <a:cubicBezTo>
                  <a:pt x="222" y="590"/>
                  <a:pt x="263" y="697"/>
                  <a:pt x="325" y="776"/>
                </a:cubicBezTo>
                <a:cubicBezTo>
                  <a:pt x="154" y="813"/>
                  <a:pt x="39" y="889"/>
                  <a:pt x="33" y="893"/>
                </a:cubicBezTo>
                <a:cubicBezTo>
                  <a:pt x="10" y="908"/>
                  <a:pt x="0" y="937"/>
                  <a:pt x="8" y="964"/>
                </a:cubicBezTo>
                <a:cubicBezTo>
                  <a:pt x="16" y="990"/>
                  <a:pt x="40" y="1008"/>
                  <a:pt x="68" y="1008"/>
                </a:cubicBezTo>
                <a:cubicBezTo>
                  <a:pt x="950" y="1008"/>
                  <a:pt x="950" y="1008"/>
                  <a:pt x="950" y="1008"/>
                </a:cubicBezTo>
                <a:cubicBezTo>
                  <a:pt x="978" y="1008"/>
                  <a:pt x="1003" y="990"/>
                  <a:pt x="1011" y="964"/>
                </a:cubicBezTo>
                <a:cubicBezTo>
                  <a:pt x="1019" y="937"/>
                  <a:pt x="1008" y="908"/>
                  <a:pt x="985" y="893"/>
                </a:cubicBezTo>
                <a:close/>
                <a:moveTo>
                  <a:pt x="644" y="737"/>
                </a:moveTo>
                <a:cubicBezTo>
                  <a:pt x="633" y="750"/>
                  <a:pt x="633" y="750"/>
                  <a:pt x="633" y="750"/>
                </a:cubicBezTo>
                <a:cubicBezTo>
                  <a:pt x="558" y="837"/>
                  <a:pt x="460" y="837"/>
                  <a:pt x="385" y="750"/>
                </a:cubicBezTo>
                <a:cubicBezTo>
                  <a:pt x="375" y="737"/>
                  <a:pt x="375" y="737"/>
                  <a:pt x="375" y="737"/>
                </a:cubicBezTo>
                <a:cubicBezTo>
                  <a:pt x="287" y="626"/>
                  <a:pt x="243" y="479"/>
                  <a:pt x="262" y="339"/>
                </a:cubicBezTo>
                <a:cubicBezTo>
                  <a:pt x="279" y="204"/>
                  <a:pt x="357" y="63"/>
                  <a:pt x="509" y="63"/>
                </a:cubicBezTo>
                <a:cubicBezTo>
                  <a:pt x="662" y="63"/>
                  <a:pt x="739" y="204"/>
                  <a:pt x="756" y="339"/>
                </a:cubicBezTo>
                <a:cubicBezTo>
                  <a:pt x="775" y="479"/>
                  <a:pt x="731" y="626"/>
                  <a:pt x="644" y="737"/>
                </a:cubicBezTo>
                <a:close/>
                <a:moveTo>
                  <a:pt x="68" y="945"/>
                </a:moveTo>
                <a:cubicBezTo>
                  <a:pt x="72" y="942"/>
                  <a:pt x="179" y="872"/>
                  <a:pt x="339" y="838"/>
                </a:cubicBezTo>
                <a:cubicBezTo>
                  <a:pt x="417" y="821"/>
                  <a:pt x="417" y="821"/>
                  <a:pt x="417" y="821"/>
                </a:cubicBezTo>
                <a:cubicBezTo>
                  <a:pt x="445" y="839"/>
                  <a:pt x="475" y="851"/>
                  <a:pt x="509" y="851"/>
                </a:cubicBezTo>
                <a:cubicBezTo>
                  <a:pt x="543" y="851"/>
                  <a:pt x="574" y="839"/>
                  <a:pt x="601" y="821"/>
                </a:cubicBezTo>
                <a:cubicBezTo>
                  <a:pt x="680" y="838"/>
                  <a:pt x="680" y="838"/>
                  <a:pt x="680" y="838"/>
                </a:cubicBezTo>
                <a:cubicBezTo>
                  <a:pt x="838" y="872"/>
                  <a:pt x="944" y="941"/>
                  <a:pt x="950" y="945"/>
                </a:cubicBezTo>
                <a:lnTo>
                  <a:pt x="68" y="945"/>
                </a:lnTo>
                <a:close/>
              </a:path>
            </a:pathLst>
          </a:custGeom>
          <a:solidFill>
            <a:srgbClr val="FFFFFF">
              <a:alpha val="100000"/>
            </a:srgbClr>
          </a:solidFill>
          <a:ln w="9525">
            <a:noFill/>
          </a:ln>
        </p:spPr>
        <p:txBody>
          <a:bodyPr/>
          <a:lstStyle/>
          <a:p>
            <a:endParaRPr lang="fr-FR"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53" presetClass="entr" presetSubtype="16"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p:cTn id="29" dur="500" fill="hold"/>
                                        <p:tgtEl>
                                          <p:spTgt spid="20"/>
                                        </p:tgtEl>
                                        <p:attrNameLst>
                                          <p:attrName>ppt_w</p:attrName>
                                        </p:attrNameLst>
                                      </p:cBhvr>
                                      <p:tavLst>
                                        <p:tav tm="0">
                                          <p:val>
                                            <p:fltVal val="0"/>
                                          </p:val>
                                        </p:tav>
                                        <p:tav tm="100000">
                                          <p:val>
                                            <p:strVal val="#ppt_w"/>
                                          </p:val>
                                        </p:tav>
                                      </p:tavLst>
                                    </p:anim>
                                    <p:anim calcmode="lin" valueType="num">
                                      <p:cBhvr>
                                        <p:cTn id="30" dur="500" fill="hold"/>
                                        <p:tgtEl>
                                          <p:spTgt spid="20"/>
                                        </p:tgtEl>
                                        <p:attrNameLst>
                                          <p:attrName>ppt_h</p:attrName>
                                        </p:attrNameLst>
                                      </p:cBhvr>
                                      <p:tavLst>
                                        <p:tav tm="0">
                                          <p:val>
                                            <p:fltVal val="0"/>
                                          </p:val>
                                        </p:tav>
                                        <p:tav tm="100000">
                                          <p:val>
                                            <p:strVal val="#ppt_h"/>
                                          </p:val>
                                        </p:tav>
                                      </p:tavLst>
                                    </p:anim>
                                    <p:animEffect transition="in" filter="fade">
                                      <p:cBhvr>
                                        <p:cTn id="31" dur="500"/>
                                        <p:tgtEl>
                                          <p:spTgt spid="20"/>
                                        </p:tgtEl>
                                      </p:cBhvr>
                                    </p:animEffect>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anim calcmode="lin" valueType="num">
                                      <p:cBhvr>
                                        <p:cTn id="36" dur="500" fill="hold"/>
                                        <p:tgtEl>
                                          <p:spTgt spid="4"/>
                                        </p:tgtEl>
                                        <p:attrNameLst>
                                          <p:attrName>ppt_x</p:attrName>
                                        </p:attrNameLst>
                                      </p:cBhvr>
                                      <p:tavLst>
                                        <p:tav tm="0">
                                          <p:val>
                                            <p:strVal val="#ppt_x"/>
                                          </p:val>
                                        </p:tav>
                                        <p:tav tm="100000">
                                          <p:val>
                                            <p:strVal val="#ppt_x"/>
                                          </p:val>
                                        </p:tav>
                                      </p:tavLst>
                                    </p:anim>
                                    <p:anim calcmode="lin" valueType="num">
                                      <p:cBhvr>
                                        <p:cTn id="37" dur="500" fill="hold"/>
                                        <p:tgtEl>
                                          <p:spTgt spid="4"/>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anim calcmode="lin" valueType="num">
                                      <p:cBhvr>
                                        <p:cTn id="42" dur="500" fill="hold"/>
                                        <p:tgtEl>
                                          <p:spTgt spid="5"/>
                                        </p:tgtEl>
                                        <p:attrNameLst>
                                          <p:attrName>ppt_x</p:attrName>
                                        </p:attrNameLst>
                                      </p:cBhvr>
                                      <p:tavLst>
                                        <p:tav tm="0">
                                          <p:val>
                                            <p:strVal val="#ppt_x"/>
                                          </p:val>
                                        </p:tav>
                                        <p:tav tm="100000">
                                          <p:val>
                                            <p:strVal val="#ppt_x"/>
                                          </p:val>
                                        </p:tav>
                                      </p:tavLst>
                                    </p:anim>
                                    <p:anim calcmode="lin" valueType="num">
                                      <p:cBhvr>
                                        <p:cTn id="43" dur="500" fill="hold"/>
                                        <p:tgtEl>
                                          <p:spTgt spid="5"/>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42" presetClass="entr" presetSubtype="0"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anim calcmode="lin" valueType="num">
                                      <p:cBhvr>
                                        <p:cTn id="48" dur="500" fill="hold"/>
                                        <p:tgtEl>
                                          <p:spTgt spid="6"/>
                                        </p:tgtEl>
                                        <p:attrNameLst>
                                          <p:attrName>ppt_x</p:attrName>
                                        </p:attrNameLst>
                                      </p:cBhvr>
                                      <p:tavLst>
                                        <p:tav tm="0">
                                          <p:val>
                                            <p:strVal val="#ppt_x"/>
                                          </p:val>
                                        </p:tav>
                                        <p:tav tm="100000">
                                          <p:val>
                                            <p:strVal val="#ppt_x"/>
                                          </p:val>
                                        </p:tav>
                                      </p:tavLst>
                                    </p:anim>
                                    <p:anim calcmode="lin" valueType="num">
                                      <p:cBhvr>
                                        <p:cTn id="49" dur="500" fill="hold"/>
                                        <p:tgtEl>
                                          <p:spTgt spid="6"/>
                                        </p:tgtEl>
                                        <p:attrNameLst>
                                          <p:attrName>ppt_y</p:attrName>
                                        </p:attrNameLst>
                                      </p:cBhvr>
                                      <p:tavLst>
                                        <p:tav tm="0">
                                          <p:val>
                                            <p:strVal val="#ppt_y+.1"/>
                                          </p:val>
                                        </p:tav>
                                        <p:tav tm="100000">
                                          <p:val>
                                            <p:strVal val="#ppt_y"/>
                                          </p:val>
                                        </p:tav>
                                      </p:tavLst>
                                    </p:anim>
                                  </p:childTnLst>
                                </p:cTn>
                              </p:par>
                            </p:childTnLst>
                          </p:cTn>
                        </p:par>
                        <p:par>
                          <p:cTn id="50" fill="hold">
                            <p:stCondLst>
                              <p:cond delay="4000"/>
                            </p:stCondLst>
                            <p:childTnLst>
                              <p:par>
                                <p:cTn id="51" presetID="22" presetClass="entr" presetSubtype="4" fill="hold"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childTnLst>
                          </p:cTn>
                        </p:par>
                        <p:par>
                          <p:cTn id="54" fill="hold">
                            <p:stCondLst>
                              <p:cond delay="4500"/>
                            </p:stCondLst>
                            <p:childTnLst>
                              <p:par>
                                <p:cTn id="55" presetID="22" presetClass="entr" presetSubtype="8" fill="hold"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par>
                          <p:cTn id="58" fill="hold">
                            <p:stCondLst>
                              <p:cond delay="5000"/>
                            </p:stCondLst>
                            <p:childTnLst>
                              <p:par>
                                <p:cTn id="59" presetID="22" presetClass="entr" presetSubtype="4"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down)">
                                      <p:cBhvr>
                                        <p:cTn id="61" dur="500"/>
                                        <p:tgtEl>
                                          <p:spTgt spid="19"/>
                                        </p:tgtEl>
                                      </p:cBhvr>
                                    </p:animEffect>
                                  </p:childTnLst>
                                </p:cTn>
                              </p:par>
                            </p:childTnLst>
                          </p:cTn>
                        </p:par>
                        <p:par>
                          <p:cTn id="62" fill="hold">
                            <p:stCondLst>
                              <p:cond delay="5500"/>
                            </p:stCondLst>
                            <p:childTnLst>
                              <p:par>
                                <p:cTn id="63" presetID="16" presetClass="entr" presetSubtype="37" fill="hold"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barn(outVertical)">
                                      <p:cBhvr>
                                        <p:cTn id="65" dur="500"/>
                                        <p:tgtEl>
                                          <p:spTgt spid="18"/>
                                        </p:tgtEl>
                                      </p:cBhvr>
                                    </p:animEffect>
                                  </p:childTnLst>
                                </p:cTn>
                              </p:par>
                            </p:childTnLst>
                          </p:cTn>
                        </p:par>
                        <p:par>
                          <p:cTn id="66" fill="hold">
                            <p:stCondLst>
                              <p:cond delay="6000"/>
                            </p:stCondLst>
                            <p:childTnLst>
                              <p:par>
                                <p:cTn id="67" presetID="42" presetClass="entr" presetSubtype="0"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fade">
                                      <p:cBhvr>
                                        <p:cTn id="69" dur="1000"/>
                                        <p:tgtEl>
                                          <p:spTgt spid="17"/>
                                        </p:tgtEl>
                                      </p:cBhvr>
                                    </p:animEffect>
                                    <p:anim calcmode="lin" valueType="num">
                                      <p:cBhvr>
                                        <p:cTn id="70" dur="1000" fill="hold"/>
                                        <p:tgtEl>
                                          <p:spTgt spid="17"/>
                                        </p:tgtEl>
                                        <p:attrNameLst>
                                          <p:attrName>ppt_x</p:attrName>
                                        </p:attrNameLst>
                                      </p:cBhvr>
                                      <p:tavLst>
                                        <p:tav tm="0">
                                          <p:val>
                                            <p:strVal val="#ppt_x"/>
                                          </p:val>
                                        </p:tav>
                                        <p:tav tm="100000">
                                          <p:val>
                                            <p:strVal val="#ppt_x"/>
                                          </p:val>
                                        </p:tav>
                                      </p:tavLst>
                                    </p:anim>
                                    <p:anim calcmode="lin" valueType="num">
                                      <p:cBhvr>
                                        <p:cTn id="7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4" grpId="0" bldLvl="0" animBg="1"/>
      <p:bldP spid="5" grpId="0" bldLvl="0" animBg="1"/>
      <p:bldP spid="6" grpId="0" bldLvl="0" animBg="1"/>
      <p:bldP spid="7" grpId="0" animBg="1"/>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56"/>
          <p:cNvSpPr/>
          <p:nvPr/>
        </p:nvSpPr>
        <p:spPr>
          <a:xfrm>
            <a:off x="0" y="0"/>
            <a:ext cx="12188825" cy="6858000"/>
          </a:xfrm>
          <a:prstGeom prst="rect">
            <a:avLst/>
          </a:prstGeom>
          <a:noFill/>
          <a:ln w="9525">
            <a:noFill/>
          </a:ln>
          <a:extLst>
            <a:ext uri="{909E8E84-426E-40DD-AFC4-6F175D3DCCD1}">
              <a14:hiddenFill xmlns:a14="http://schemas.microsoft.com/office/drawing/2010/main">
                <a:solidFill>
                  <a:srgbClr val="77933C"/>
                </a:solidFill>
              </a14:hiddenFill>
            </a:ext>
          </a:extLst>
        </p:spPr>
        <p:txBody>
          <a:bodyPr anchor="ctr" anchorCtr="1"/>
          <a:lstStyle/>
          <a:p>
            <a:pPr algn="ctr" eaLnBrk="1" hangingPunct="1"/>
            <a:endParaRPr dirty="0">
              <a:solidFill>
                <a:srgbClr val="FFFFFF"/>
              </a:solidFill>
              <a:latin typeface="Calibri" panose="020F0502020204030204" pitchFamily="34" charset="0"/>
            </a:endParaRPr>
          </a:p>
        </p:txBody>
      </p:sp>
      <p:sp>
        <p:nvSpPr>
          <p:cNvPr id="3" name="TextBox 51"/>
          <p:cNvSpPr txBox="1"/>
          <p:nvPr/>
        </p:nvSpPr>
        <p:spPr>
          <a:xfrm>
            <a:off x="639763" y="1133475"/>
            <a:ext cx="4368800" cy="1160463"/>
          </a:xfrm>
          <a:prstGeom prst="rect">
            <a:avLst/>
          </a:prstGeom>
          <a:noFill/>
          <a:ln w="9525">
            <a:noFill/>
          </a:ln>
        </p:spPr>
        <p:txBody>
          <a:bodyPr anchor="b" anchorCtr="0"/>
          <a:lstStyle/>
          <a:p>
            <a:pPr eaLnBrk="1" hangingPunct="1">
              <a:lnSpc>
                <a:spcPct val="90000"/>
              </a:lnSpc>
              <a:spcAft>
                <a:spcPts val="600"/>
              </a:spcAft>
            </a:pPr>
            <a:r>
              <a:rPr sz="5400" dirty="0">
                <a:solidFill>
                  <a:srgbClr val="000000"/>
                </a:solidFill>
                <a:cs typeface="Calibri" panose="020F0502020204030204" pitchFamily="34" charset="0"/>
              </a:rPr>
              <a:t>PaLM2</a:t>
            </a:r>
          </a:p>
        </p:txBody>
      </p:sp>
      <p:sp>
        <p:nvSpPr>
          <p:cNvPr id="61444" name="sketchy line"/>
          <p:cNvSpPr/>
          <p:nvPr/>
        </p:nvSpPr>
        <p:spPr>
          <a:xfrm>
            <a:off x="639763" y="2587625"/>
            <a:ext cx="3475037" cy="17463"/>
          </a:xfrm>
          <a:prstGeom prst="rect">
            <a:avLst/>
          </a:prstGeom>
          <a:solidFill>
            <a:srgbClr val="88A945"/>
          </a:solidFill>
          <a:ln w="44448" cap="rnd" cmpd="sng">
            <a:solidFill>
              <a:srgbClr val="88A945"/>
            </a:solidFill>
            <a:prstDash val="solid"/>
            <a:round/>
            <a:headEnd type="none" w="med" len="med"/>
            <a:tailEnd type="none" w="med" len="med"/>
          </a:ln>
        </p:spPr>
        <p:txBody>
          <a:bodyPr anchor="ctr" anchorCtr="1"/>
          <a:lstStyle/>
          <a:p>
            <a:pPr algn="ctr" eaLnBrk="1" hangingPunct="1"/>
            <a:endParaRPr dirty="0">
              <a:solidFill>
                <a:srgbClr val="FFFFFF"/>
              </a:solidFill>
              <a:latin typeface="Calibri" panose="020F0502020204030204" pitchFamily="34" charset="0"/>
            </a:endParaRPr>
          </a:p>
        </p:txBody>
      </p:sp>
      <p:sp>
        <p:nvSpPr>
          <p:cNvPr id="61445" name="ZoneTexte 5"/>
          <p:cNvSpPr txBox="1"/>
          <p:nvPr/>
        </p:nvSpPr>
        <p:spPr>
          <a:xfrm>
            <a:off x="639763" y="2873375"/>
            <a:ext cx="4243387" cy="3319463"/>
          </a:xfrm>
          <a:prstGeom prst="rect">
            <a:avLst/>
          </a:prstGeom>
          <a:noFill/>
          <a:ln w="9525">
            <a:noFill/>
          </a:ln>
        </p:spPr>
        <p:txBody>
          <a:bodyPr/>
          <a:lstStyle/>
          <a:p>
            <a:pPr indent="-228600" eaLnBrk="1" hangingPunct="1">
              <a:lnSpc>
                <a:spcPct val="90000"/>
              </a:lnSpc>
              <a:spcAft>
                <a:spcPts val="600"/>
              </a:spcAft>
              <a:buSzPct val="100000"/>
              <a:buFont typeface="Arial" panose="020B0604020202020204" pitchFamily="34" charset="0"/>
              <a:buChar char="•"/>
            </a:pPr>
            <a:r>
              <a:rPr sz="1400" dirty="0">
                <a:solidFill>
                  <a:srgbClr val="000000"/>
                </a:solidFill>
                <a:latin typeface="Calibri" panose="020F0502020204030204" pitchFamily="34" charset="0"/>
              </a:rPr>
              <a:t>PaLM2 est une version améliorée de PaLM,</a:t>
            </a:r>
            <a:r>
              <a:rPr sz="1400" dirty="0">
                <a:solidFill>
                  <a:srgbClr val="F5148F"/>
                </a:solidFill>
                <a:latin typeface="Calibri" panose="020F0502020204030204" pitchFamily="34" charset="0"/>
              </a:rPr>
              <a:t> plus petite, moins coûteuse et plus performante</a:t>
            </a:r>
            <a:r>
              <a:rPr sz="1400" dirty="0">
                <a:solidFill>
                  <a:srgbClr val="000000"/>
                </a:solidFill>
                <a:latin typeface="Calibri" panose="020F0502020204030204" pitchFamily="34" charset="0"/>
              </a:rPr>
              <a:t> qui utilise plus de </a:t>
            </a:r>
            <a:r>
              <a:rPr sz="1400" dirty="0">
                <a:solidFill>
                  <a:srgbClr val="00B0F0"/>
                </a:solidFill>
                <a:latin typeface="Calibri" panose="020F0502020204030204" pitchFamily="34" charset="0"/>
              </a:rPr>
              <a:t>puissance de calcul </a:t>
            </a:r>
            <a:r>
              <a:rPr sz="1400" dirty="0">
                <a:solidFill>
                  <a:srgbClr val="000000"/>
                </a:solidFill>
                <a:latin typeface="Calibri" panose="020F0502020204030204" pitchFamily="34" charset="0"/>
              </a:rPr>
              <a:t>pour son entraînement. </a:t>
            </a:r>
          </a:p>
          <a:p>
            <a:pPr indent="-228600" eaLnBrk="1" hangingPunct="1">
              <a:lnSpc>
                <a:spcPct val="90000"/>
              </a:lnSpc>
              <a:spcAft>
                <a:spcPts val="600"/>
              </a:spcAft>
              <a:buSzPct val="100000"/>
              <a:buFont typeface="Arial" panose="020B0604020202020204" pitchFamily="34" charset="0"/>
              <a:buChar char="•"/>
            </a:pPr>
            <a:endParaRPr sz="1400" dirty="0">
              <a:solidFill>
                <a:srgbClr val="000000"/>
              </a:solidFill>
              <a:latin typeface="Calibri" panose="020F0502020204030204" pitchFamily="34" charset="0"/>
            </a:endParaRPr>
          </a:p>
          <a:p>
            <a:pPr indent="-228600" eaLnBrk="1" hangingPunct="1">
              <a:lnSpc>
                <a:spcPct val="90000"/>
              </a:lnSpc>
              <a:spcAft>
                <a:spcPts val="600"/>
              </a:spcAft>
              <a:buSzPct val="100000"/>
              <a:buFont typeface="Arial" panose="020B0604020202020204" pitchFamily="34" charset="0"/>
              <a:buChar char="•"/>
            </a:pPr>
            <a:r>
              <a:rPr sz="1400" dirty="0">
                <a:solidFill>
                  <a:srgbClr val="000000"/>
                </a:solidFill>
                <a:latin typeface="Calibri" panose="020F0502020204030204" pitchFamily="34" charset="0"/>
              </a:rPr>
              <a:t>Les résultats d’évaluation montrent que les modèles PaLM 2 surpassent significativement PaLM sur de nombreuses tâches, incluant </a:t>
            </a:r>
            <a:r>
              <a:rPr sz="1400" dirty="0">
                <a:solidFill>
                  <a:srgbClr val="88A945"/>
                </a:solidFill>
                <a:latin typeface="Calibri" panose="020F0502020204030204" pitchFamily="34" charset="0"/>
              </a:rPr>
              <a:t>la génération de texte, la traduction et le raisonnement.</a:t>
            </a:r>
            <a:endParaRPr sz="1400" dirty="0">
              <a:solidFill>
                <a:srgbClr val="88A945"/>
              </a:solidFill>
              <a:latin typeface="Calibri" panose="020F0502020204030204" pitchFamily="34" charset="0"/>
              <a:cs typeface="Calibri" panose="020F0502020204030204" pitchFamily="34" charset="0"/>
            </a:endParaRPr>
          </a:p>
          <a:p>
            <a:pPr indent="-228600" eaLnBrk="1" hangingPunct="1">
              <a:lnSpc>
                <a:spcPct val="90000"/>
              </a:lnSpc>
              <a:spcAft>
                <a:spcPts val="600"/>
              </a:spcAft>
              <a:buSzPct val="100000"/>
              <a:buFont typeface="Arial" panose="020B0604020202020204" pitchFamily="34" charset="0"/>
              <a:buChar char="•"/>
            </a:pPr>
            <a:endParaRPr sz="1400" dirty="0">
              <a:solidFill>
                <a:srgbClr val="000000"/>
              </a:solidFill>
              <a:latin typeface="Calibri" panose="020F0502020204030204" pitchFamily="34" charset="0"/>
            </a:endParaRPr>
          </a:p>
          <a:p>
            <a:pPr indent="-228600" eaLnBrk="1" hangingPunct="1">
              <a:lnSpc>
                <a:spcPct val="90000"/>
              </a:lnSpc>
              <a:spcAft>
                <a:spcPts val="600"/>
              </a:spcAft>
              <a:buSzPct val="100000"/>
              <a:buFont typeface="Arial" panose="020B0604020202020204" pitchFamily="34" charset="0"/>
              <a:buChar char="•"/>
            </a:pPr>
            <a:r>
              <a:rPr sz="1400" dirty="0">
                <a:solidFill>
                  <a:srgbClr val="000000"/>
                </a:solidFill>
                <a:latin typeface="Calibri" panose="020F0502020204030204" pitchFamily="34" charset="0"/>
              </a:rPr>
              <a:t>Les résultats suggèrent que </a:t>
            </a:r>
            <a:r>
              <a:rPr sz="1400" b="1" dirty="0">
                <a:solidFill>
                  <a:srgbClr val="FF0000"/>
                </a:solidFill>
                <a:latin typeface="Calibri" panose="020F0502020204030204" pitchFamily="34" charset="0"/>
              </a:rPr>
              <a:t>l’agrandissement du modèle n’est pas la seule manière d’améliorer les performances</a:t>
            </a:r>
            <a:r>
              <a:rPr sz="1400" dirty="0">
                <a:solidFill>
                  <a:srgbClr val="FF0000"/>
                </a:solidFill>
                <a:latin typeface="Calibri" panose="020F0502020204030204" pitchFamily="34" charset="0"/>
              </a:rPr>
              <a:t>. </a:t>
            </a:r>
            <a:r>
              <a:rPr sz="1400" dirty="0">
                <a:solidFill>
                  <a:srgbClr val="000000"/>
                </a:solidFill>
                <a:latin typeface="Calibri" panose="020F0502020204030204" pitchFamily="34" charset="0"/>
              </a:rPr>
              <a:t>Une sélection minutieuse des données et une architecture efficace peuvent aussi apporter de grands gains.</a:t>
            </a:r>
            <a:endParaRPr sz="1400" dirty="0">
              <a:solidFill>
                <a:srgbClr val="000000"/>
              </a:solidFill>
              <a:latin typeface="Calibri" panose="020F0502020204030204" pitchFamily="34" charset="0"/>
              <a:ea typeface="Calibri" panose="020F0502020204030204" pitchFamily="34" charset="0"/>
            </a:endParaRPr>
          </a:p>
        </p:txBody>
      </p:sp>
      <p:pic>
        <p:nvPicPr>
          <p:cNvPr id="61446" name="Image 6" descr="Une image contenant texte, capture d’écran, diagramme, ligne&#10;&#10;Le contenu généré par l’IA peut être incorrect."/>
          <p:cNvPicPr>
            <a:picLocks noChangeAspect="1"/>
          </p:cNvPicPr>
          <p:nvPr/>
        </p:nvPicPr>
        <p:blipFill>
          <a:blip r:embed="rId2"/>
          <a:srcRect l="2225" r="14774"/>
          <a:stretch>
            <a:fillRect/>
          </a:stretch>
        </p:blipFill>
        <p:spPr>
          <a:xfrm>
            <a:off x="5153025" y="0"/>
            <a:ext cx="6878638" cy="685800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63"/>
          <p:cNvSpPr/>
          <p:nvPr/>
        </p:nvSpPr>
        <p:spPr>
          <a:xfrm>
            <a:off x="0" y="0"/>
            <a:ext cx="12192000" cy="6858000"/>
          </a:xfrm>
          <a:prstGeom prst="rect">
            <a:avLst/>
          </a:prstGeom>
          <a:noFill/>
          <a:ln w="9525">
            <a:noFill/>
          </a:ln>
          <a:extLst>
            <a:ext uri="{909E8E84-426E-40DD-AFC4-6F175D3DCCD1}">
              <a14:hiddenFill xmlns:a14="http://schemas.microsoft.com/office/drawing/2010/main">
                <a:solidFill>
                  <a:srgbClr val="77933C"/>
                </a:solidFill>
              </a14:hiddenFill>
            </a:ext>
          </a:extLst>
        </p:spPr>
        <p:txBody>
          <a:bodyPr anchor="ctr" anchorCtr="1"/>
          <a:lstStyle/>
          <a:p>
            <a:pPr algn="ctr" eaLnBrk="1" hangingPunct="1"/>
            <a:endParaRPr dirty="0">
              <a:solidFill>
                <a:srgbClr val="FFFFFF"/>
              </a:solidFill>
              <a:latin typeface="Calibri" panose="020F0502020204030204" pitchFamily="34" charset="0"/>
            </a:endParaRPr>
          </a:p>
        </p:txBody>
      </p:sp>
      <p:sp>
        <p:nvSpPr>
          <p:cNvPr id="3" name="TextBox 51"/>
          <p:cNvSpPr txBox="1"/>
          <p:nvPr/>
        </p:nvSpPr>
        <p:spPr>
          <a:xfrm>
            <a:off x="638175" y="417513"/>
            <a:ext cx="10910888" cy="1249362"/>
          </a:xfrm>
          <a:prstGeom prst="rect">
            <a:avLst/>
          </a:prstGeom>
          <a:noFill/>
          <a:ln w="9525">
            <a:noFill/>
          </a:ln>
        </p:spPr>
        <p:txBody>
          <a:bodyPr anchor="ctr" anchorCtr="1"/>
          <a:lstStyle/>
          <a:p>
            <a:pPr algn="ctr" eaLnBrk="1" hangingPunct="1">
              <a:lnSpc>
                <a:spcPct val="90000"/>
              </a:lnSpc>
              <a:spcAft>
                <a:spcPts val="600"/>
              </a:spcAft>
            </a:pPr>
            <a:r>
              <a:rPr sz="6600" dirty="0">
                <a:solidFill>
                  <a:srgbClr val="000000"/>
                </a:solidFill>
                <a:cs typeface="Calibri" panose="020F0502020204030204" pitchFamily="34" charset="0"/>
              </a:rPr>
              <a:t>Architecture PaLM2</a:t>
            </a:r>
          </a:p>
        </p:txBody>
      </p:sp>
      <p:sp>
        <p:nvSpPr>
          <p:cNvPr id="62468" name="sketch line"/>
          <p:cNvSpPr/>
          <p:nvPr/>
        </p:nvSpPr>
        <p:spPr>
          <a:xfrm>
            <a:off x="3808413" y="1733550"/>
            <a:ext cx="4572000" cy="17463"/>
          </a:xfrm>
          <a:prstGeom prst="rect">
            <a:avLst/>
          </a:prstGeom>
          <a:solidFill>
            <a:srgbClr val="88A945"/>
          </a:solidFill>
          <a:ln w="41276" cap="rnd" cmpd="sng">
            <a:solidFill>
              <a:srgbClr val="88A945"/>
            </a:solidFill>
            <a:prstDash val="solid"/>
            <a:round/>
            <a:headEnd type="none" w="med" len="med"/>
            <a:tailEnd type="none" w="med" len="med"/>
          </a:ln>
        </p:spPr>
        <p:txBody>
          <a:bodyPr anchor="ctr" anchorCtr="1"/>
          <a:lstStyle/>
          <a:p>
            <a:pPr algn="ctr" eaLnBrk="1" hangingPunct="1"/>
            <a:endParaRPr dirty="0">
              <a:solidFill>
                <a:srgbClr val="FFFFFF"/>
              </a:solidFill>
              <a:latin typeface="Calibri" panose="020F0502020204030204" pitchFamily="34" charset="0"/>
            </a:endParaRPr>
          </a:p>
        </p:txBody>
      </p:sp>
      <p:graphicFrame>
        <p:nvGraphicFramePr>
          <p:cNvPr id="5" name="Tableau 2"/>
          <p:cNvGraphicFramePr>
            <a:graphicFrameLocks noGrp="1"/>
          </p:cNvGraphicFramePr>
          <p:nvPr/>
        </p:nvGraphicFramePr>
        <p:xfrm>
          <a:off x="320675" y="1963738"/>
          <a:ext cx="11548862" cy="3359694"/>
        </p:xfrm>
        <a:graphic>
          <a:graphicData uri="http://schemas.openxmlformats.org/drawingml/2006/table">
            <a:tbl>
              <a:tblPr bandRow="1">
                <a:effectLst/>
                <a:tableStyleId>{5C22544A-7EE6-4342-B048-85BDC9FD1C3A}</a:tableStyleId>
              </a:tblPr>
              <a:tblGrid>
                <a:gridCol w="3532967">
                  <a:extLst>
                    <a:ext uri="{9D8B030D-6E8A-4147-A177-3AD203B41FA5}">
                      <a16:colId xmlns:a16="http://schemas.microsoft.com/office/drawing/2014/main" val="20000"/>
                    </a:ext>
                  </a:extLst>
                </a:gridCol>
                <a:gridCol w="4174391">
                  <a:extLst>
                    <a:ext uri="{9D8B030D-6E8A-4147-A177-3AD203B41FA5}">
                      <a16:colId xmlns:a16="http://schemas.microsoft.com/office/drawing/2014/main" val="20001"/>
                    </a:ext>
                  </a:extLst>
                </a:gridCol>
                <a:gridCol w="3841504">
                  <a:extLst>
                    <a:ext uri="{9D8B030D-6E8A-4147-A177-3AD203B41FA5}">
                      <a16:colId xmlns:a16="http://schemas.microsoft.com/office/drawing/2014/main" val="20002"/>
                    </a:ext>
                  </a:extLst>
                </a:gridCol>
              </a:tblGrid>
              <a:tr h="551538">
                <a:tc>
                  <a:txBody>
                    <a:bodyPr/>
                    <a:lstStyle/>
                    <a:p>
                      <a:pPr lvl="0"/>
                      <a:r>
                        <a:rPr lang="fr-FR" sz="2500"/>
                        <a:t>Éléments</a:t>
                      </a:r>
                    </a:p>
                  </a:txBody>
                  <a:tcPr marL="126909" marR="126909" marT="63450" marB="63450" anchor="ctr"/>
                </a:tc>
                <a:tc>
                  <a:txBody>
                    <a:bodyPr/>
                    <a:lstStyle/>
                    <a:p>
                      <a:pPr lvl="0"/>
                      <a:r>
                        <a:rPr lang="fr-FR" sz="2500"/>
                        <a:t>PaLM</a:t>
                      </a:r>
                    </a:p>
                  </a:txBody>
                  <a:tcPr marL="126909" marR="126909" marT="63450" marB="63450" anchor="ctr"/>
                </a:tc>
                <a:tc>
                  <a:txBody>
                    <a:bodyPr/>
                    <a:lstStyle/>
                    <a:p>
                      <a:pPr lvl="0"/>
                      <a:r>
                        <a:rPr lang="fr-FR" sz="2500"/>
                        <a:t>PaLM 2 (modifications)</a:t>
                      </a:r>
                    </a:p>
                  </a:txBody>
                  <a:tcPr marL="126909" marR="126909" marT="63450" marB="63450" anchor="ctr"/>
                </a:tc>
                <a:extLst>
                  <a:ext uri="{0D108BD9-81ED-4DB2-BD59-A6C34878D82A}">
                    <a16:rowId xmlns:a16="http://schemas.microsoft.com/office/drawing/2014/main" val="10000"/>
                  </a:ext>
                </a:extLst>
              </a:tr>
              <a:tr h="936052">
                <a:tc>
                  <a:txBody>
                    <a:bodyPr/>
                    <a:lstStyle/>
                    <a:p>
                      <a:pPr lvl="0"/>
                      <a:r>
                        <a:rPr lang="fr-FR" sz="2500"/>
                        <a:t>Objectif d'entraînement</a:t>
                      </a:r>
                    </a:p>
                  </a:txBody>
                  <a:tcPr marL="126909" marR="126909" marT="63450" marB="63450" anchor="ctr"/>
                </a:tc>
                <a:tc>
                  <a:txBody>
                    <a:bodyPr/>
                    <a:lstStyle/>
                    <a:p>
                      <a:pPr lvl="0"/>
                      <a:r>
                        <a:rPr lang="fr-FR" sz="2500"/>
                        <a:t>Langage casual uniquement</a:t>
                      </a:r>
                    </a:p>
                  </a:txBody>
                  <a:tcPr marL="126909" marR="126909" marT="63450" marB="63450" anchor="ctr"/>
                </a:tc>
                <a:tc>
                  <a:txBody>
                    <a:bodyPr/>
                    <a:lstStyle/>
                    <a:p>
                      <a:pPr lvl="0"/>
                      <a:r>
                        <a:rPr lang="fr-FR" sz="2500" b="1"/>
                        <a:t>Mélange d’objectifs UL2</a:t>
                      </a:r>
                      <a:endParaRPr lang="fr-FR" sz="2500"/>
                    </a:p>
                  </a:txBody>
                  <a:tcPr marL="126909" marR="126909" marT="63450" marB="63450" anchor="ctr"/>
                </a:tc>
                <a:extLst>
                  <a:ext uri="{0D108BD9-81ED-4DB2-BD59-A6C34878D82A}">
                    <a16:rowId xmlns:a16="http://schemas.microsoft.com/office/drawing/2014/main" val="10001"/>
                  </a:ext>
                </a:extLst>
              </a:tr>
              <a:tr h="936052">
                <a:tc>
                  <a:txBody>
                    <a:bodyPr/>
                    <a:lstStyle/>
                    <a:p>
                      <a:pPr lvl="0"/>
                      <a:r>
                        <a:rPr lang="fr-FR" sz="2500"/>
                        <a:t>Données</a:t>
                      </a:r>
                    </a:p>
                  </a:txBody>
                  <a:tcPr marL="126909" marR="126909" marT="63450" marB="63450" anchor="ctr"/>
                </a:tc>
                <a:tc>
                  <a:txBody>
                    <a:bodyPr/>
                    <a:lstStyle/>
                    <a:p>
                      <a:pPr lvl="0"/>
                      <a:r>
                        <a:rPr lang="fr-FR" sz="2500"/>
                        <a:t>Majoritairement en anglais</a:t>
                      </a:r>
                    </a:p>
                  </a:txBody>
                  <a:tcPr marL="126909" marR="126909" marT="63450" marB="63450" anchor="ctr"/>
                </a:tc>
                <a:tc>
                  <a:txBody>
                    <a:bodyPr/>
                    <a:lstStyle/>
                    <a:p>
                      <a:pPr lvl="0"/>
                      <a:r>
                        <a:rPr lang="fr-FR" sz="2500" b="1"/>
                        <a:t>Multilingue</a:t>
                      </a:r>
                      <a:r>
                        <a:rPr lang="fr-FR" sz="2500"/>
                        <a:t> et plus diversifiées</a:t>
                      </a:r>
                    </a:p>
                  </a:txBody>
                  <a:tcPr marL="126909" marR="126909" marT="63450" marB="63450" anchor="ctr"/>
                </a:tc>
                <a:extLst>
                  <a:ext uri="{0D108BD9-81ED-4DB2-BD59-A6C34878D82A}">
                    <a16:rowId xmlns:a16="http://schemas.microsoft.com/office/drawing/2014/main" val="10002"/>
                  </a:ext>
                </a:extLst>
              </a:tr>
              <a:tr h="936052">
                <a:tc>
                  <a:txBody>
                    <a:bodyPr/>
                    <a:lstStyle/>
                    <a:p>
                      <a:pPr lvl="0"/>
                      <a:r>
                        <a:rPr lang="fr-FR" sz="2500"/>
                        <a:t>Taille</a:t>
                      </a:r>
                    </a:p>
                  </a:txBody>
                  <a:tcPr marL="126909" marR="126909" marT="63450" marB="63450" anchor="ctr"/>
                </a:tc>
                <a:tc>
                  <a:txBody>
                    <a:bodyPr/>
                    <a:lstStyle/>
                    <a:p>
                      <a:pPr lvl="0"/>
                      <a:r>
                        <a:rPr lang="fr-FR" sz="2500"/>
                        <a:t>Très grand (jusqu’à 540B)</a:t>
                      </a:r>
                    </a:p>
                  </a:txBody>
                  <a:tcPr marL="126909" marR="126909" marT="63450" marB="63450" anchor="ctr"/>
                </a:tc>
                <a:tc>
                  <a:txBody>
                    <a:bodyPr/>
                    <a:lstStyle/>
                    <a:p>
                      <a:pPr lvl="0"/>
                      <a:r>
                        <a:rPr lang="fr-FR" sz="2500" b="1"/>
                        <a:t>Plus petit mais mieux optimisé</a:t>
                      </a:r>
                      <a:endParaRPr lang="fr-FR" sz="2500"/>
                    </a:p>
                  </a:txBody>
                  <a:tcPr marL="126909" marR="126909" marT="63450" marB="63450" anchor="ctr"/>
                </a:tc>
                <a:extLst>
                  <a:ext uri="{0D108BD9-81ED-4DB2-BD59-A6C34878D82A}">
                    <a16:rowId xmlns:a16="http://schemas.microsoft.com/office/drawing/2014/main" val="10003"/>
                  </a:ext>
                </a:extLst>
              </a:tr>
            </a:tbl>
          </a:graphicData>
        </a:graphic>
      </p:graphicFrame>
      <p:sp>
        <p:nvSpPr>
          <p:cNvPr id="6" name="Rectangle 8"/>
          <p:cNvSpPr/>
          <p:nvPr/>
        </p:nvSpPr>
        <p:spPr>
          <a:xfrm>
            <a:off x="7554913" y="6037263"/>
            <a:ext cx="4314825" cy="819150"/>
          </a:xfrm>
          <a:prstGeom prst="rect">
            <a:avLst/>
          </a:prstGeom>
          <a:solidFill>
            <a:srgbClr val="77933C"/>
          </a:solidFill>
          <a:ln w="9525">
            <a:noFill/>
          </a:ln>
          <a:effectLst>
            <a:outerShdw dist="38096" dir="2699999" algn="tl" rotWithShape="0">
              <a:srgbClr val="FFFFFF">
                <a:alpha val="37999"/>
              </a:srgbClr>
            </a:outerShdw>
          </a:effectLst>
        </p:spPr>
        <p:txBody>
          <a:bodyPr anchor="t" anchorCtr="1"/>
          <a:lstStyle/>
          <a:p>
            <a:pPr algn="ctr" eaLnBrk="1" hangingPunct="1"/>
            <a:r>
              <a:rPr lang="id-ID" altLang="x-none" b="1" dirty="0">
                <a:solidFill>
                  <a:srgbClr val="000000"/>
                </a:solidFill>
                <a:latin typeface="Calibri" panose="020F0502020204030204" pitchFamily="34" charset="0"/>
                <a:cs typeface="Calibri" panose="020F0502020204030204" pitchFamily="34" charset="0"/>
              </a:rPr>
              <a:t>SMLM</a:t>
            </a:r>
            <a:r>
              <a:rPr lang="id-ID" altLang="x-none" dirty="0">
                <a:solidFill>
                  <a:srgbClr val="000000"/>
                </a:solidFill>
                <a:latin typeface="Calibri" panose="020F0502020204030204" pitchFamily="34" charset="0"/>
                <a:cs typeface="Calibri" panose="020F0502020204030204" pitchFamily="34" charset="0"/>
              </a:rPr>
              <a:t> (Span Corruption)</a:t>
            </a:r>
            <a:endParaRPr lang="fr-FR" altLang="x-none" dirty="0">
              <a:solidFill>
                <a:srgbClr val="000000"/>
              </a:solidFill>
              <a:latin typeface="Calibri" panose="020F0502020204030204" pitchFamily="34" charset="0"/>
              <a:cs typeface="Calibri" panose="020F0502020204030204" pitchFamily="34" charset="0"/>
            </a:endParaRPr>
          </a:p>
          <a:p>
            <a:pPr algn="ctr" eaLnBrk="1" hangingPunct="1"/>
            <a:r>
              <a:rPr lang="id-ID" altLang="x-none" dirty="0">
                <a:solidFill>
                  <a:srgbClr val="000000"/>
                </a:solidFill>
                <a:latin typeface="Calibri" panose="020F0502020204030204" pitchFamily="34" charset="0"/>
                <a:cs typeface="Calibri" panose="020F0502020204030204" pitchFamily="34" charset="0"/>
              </a:rPr>
              <a:t>Pour prédir un ensemble de mot dans une phrase</a:t>
            </a:r>
            <a:endParaRPr lang="id-ID" altLang="x-none" dirty="0">
              <a:solidFill>
                <a:srgbClr val="000000"/>
              </a:solidFill>
              <a:latin typeface="Calibri" panose="020F0502020204030204" pitchFamily="34" charset="0"/>
              <a:ea typeface="Calibri" panose="020F0502020204030204" pitchFamily="34" charset="0"/>
            </a:endParaRPr>
          </a:p>
        </p:txBody>
      </p:sp>
      <p:sp>
        <p:nvSpPr>
          <p:cNvPr id="7" name="Freeform 7"/>
          <p:cNvSpPr/>
          <p:nvPr/>
        </p:nvSpPr>
        <p:spPr>
          <a:xfrm>
            <a:off x="3762375" y="5810250"/>
            <a:ext cx="3784600" cy="685800"/>
          </a:xfrm>
          <a:custGeom>
            <a:avLst/>
            <a:gdLst>
              <a:gd name="txL" fmla="*/ 0 w 1426"/>
              <a:gd name="txT" fmla="*/ 0 h 533"/>
              <a:gd name="txR" fmla="*/ 1426 w 1426"/>
              <a:gd name="txB" fmla="*/ 533 h 533"/>
            </a:gdLst>
            <a:ahLst/>
            <a:cxnLst>
              <a:cxn ang="17694720">
                <a:pos x="1892067" y="0"/>
              </a:cxn>
              <a:cxn ang="0">
                <a:pos x="3784134" y="342726"/>
              </a:cxn>
              <a:cxn ang="5898240">
                <a:pos x="1892067" y="685452"/>
              </a:cxn>
              <a:cxn ang="11796480">
                <a:pos x="0" y="342726"/>
              </a:cxn>
              <a:cxn ang="0">
                <a:pos x="3784134" y="672592"/>
              </a:cxn>
              <a:cxn ang="0">
                <a:pos x="3784134" y="9002"/>
              </a:cxn>
              <a:cxn ang="0">
                <a:pos x="3784134" y="0"/>
              </a:cxn>
              <a:cxn ang="0">
                <a:pos x="0" y="0"/>
              </a:cxn>
              <a:cxn ang="0">
                <a:pos x="0" y="9002"/>
              </a:cxn>
              <a:cxn ang="0">
                <a:pos x="0" y="672592"/>
              </a:cxn>
              <a:cxn ang="0">
                <a:pos x="0" y="685452"/>
              </a:cxn>
              <a:cxn ang="0">
                <a:pos x="3784134" y="685452"/>
              </a:cxn>
              <a:cxn ang="0">
                <a:pos x="3784134" y="672592"/>
              </a:cxn>
            </a:cxnLst>
            <a:rect l="txL" t="txT" r="txR" b="txB"/>
            <a:pathLst>
              <a:path w="1426" h="533">
                <a:moveTo>
                  <a:pt x="1426" y="523"/>
                </a:moveTo>
                <a:lnTo>
                  <a:pt x="1426" y="7"/>
                </a:lnTo>
                <a:lnTo>
                  <a:pt x="1426" y="0"/>
                </a:lnTo>
                <a:lnTo>
                  <a:pt x="0" y="0"/>
                </a:lnTo>
                <a:lnTo>
                  <a:pt x="0" y="7"/>
                </a:lnTo>
                <a:lnTo>
                  <a:pt x="0" y="523"/>
                </a:lnTo>
                <a:lnTo>
                  <a:pt x="0" y="533"/>
                </a:lnTo>
                <a:lnTo>
                  <a:pt x="1426" y="533"/>
                </a:lnTo>
                <a:lnTo>
                  <a:pt x="1426" y="523"/>
                </a:lnTo>
                <a:close/>
              </a:path>
            </a:pathLst>
          </a:custGeom>
          <a:solidFill>
            <a:srgbClr val="88A945"/>
          </a:solidFill>
          <a:ln w="9525">
            <a:noFill/>
          </a:ln>
          <a:effectLst>
            <a:outerShdw dist="38096" dir="2699999" algn="tl" rotWithShape="0">
              <a:srgbClr val="FFFFFF">
                <a:alpha val="37999"/>
              </a:srgbClr>
            </a:outerShdw>
          </a:effectLst>
        </p:spPr>
        <p:txBody>
          <a:bodyPr anchor="t" anchorCtr="1"/>
          <a:lstStyle/>
          <a:p>
            <a:pPr algn="ctr" eaLnBrk="1" hangingPunct="1"/>
            <a:r>
              <a:rPr lang="id-ID" altLang="x-none" b="1" dirty="0">
                <a:solidFill>
                  <a:srgbClr val="000000"/>
                </a:solidFill>
                <a:latin typeface="Calibri" panose="020F0502020204030204" pitchFamily="34" charset="0"/>
                <a:cs typeface="Calibri" panose="020F0502020204030204" pitchFamily="34" charset="0"/>
              </a:rPr>
              <a:t>Masked LM</a:t>
            </a:r>
            <a:endParaRPr lang="fr-FR" altLang="x-none" b="1" dirty="0">
              <a:solidFill>
                <a:srgbClr val="000000"/>
              </a:solidFill>
              <a:latin typeface="Calibri" panose="020F0502020204030204" pitchFamily="34" charset="0"/>
              <a:cs typeface="Calibri" panose="020F0502020204030204" pitchFamily="34" charset="0"/>
            </a:endParaRPr>
          </a:p>
          <a:p>
            <a:pPr algn="ctr" eaLnBrk="1" hangingPunct="1"/>
            <a:r>
              <a:rPr lang="id-ID" altLang="x-none" dirty="0">
                <a:solidFill>
                  <a:srgbClr val="000000"/>
                </a:solidFill>
                <a:latin typeface="Calibri" panose="020F0502020204030204" pitchFamily="34" charset="0"/>
                <a:cs typeface="Calibri" panose="020F0502020204030204" pitchFamily="34" charset="0"/>
              </a:rPr>
              <a:t>pour prédir un mot caché</a:t>
            </a:r>
            <a:endParaRPr lang="id-ID" altLang="x-none" dirty="0">
              <a:solidFill>
                <a:srgbClr val="000000"/>
              </a:solidFill>
              <a:latin typeface="Calibri" panose="020F0502020204030204" pitchFamily="34" charset="0"/>
              <a:ea typeface="Calibri" panose="020F0502020204030204" pitchFamily="34" charset="0"/>
            </a:endParaRPr>
          </a:p>
        </p:txBody>
      </p:sp>
      <p:sp>
        <p:nvSpPr>
          <p:cNvPr id="8" name="Freeform 6"/>
          <p:cNvSpPr/>
          <p:nvPr/>
        </p:nvSpPr>
        <p:spPr>
          <a:xfrm>
            <a:off x="560388" y="5465763"/>
            <a:ext cx="3200400" cy="688975"/>
          </a:xfrm>
          <a:custGeom>
            <a:avLst/>
            <a:gdLst>
              <a:gd name="txL" fmla="*/ 0 w 1426"/>
              <a:gd name="txT" fmla="*/ 0 h 535"/>
              <a:gd name="txR" fmla="*/ 1426 w 1426"/>
              <a:gd name="txB" fmla="*/ 535 h 535"/>
            </a:gdLst>
            <a:ahLst/>
            <a:cxnLst>
              <a:cxn ang="17694720">
                <a:pos x="1600717" y="0"/>
              </a:cxn>
              <a:cxn ang="0">
                <a:pos x="3201433" y="344011"/>
              </a:cxn>
              <a:cxn ang="5898240">
                <a:pos x="1600717" y="688021"/>
              </a:cxn>
              <a:cxn ang="11796480">
                <a:pos x="0" y="344011"/>
              </a:cxn>
              <a:cxn ang="0">
                <a:pos x="3201433" y="0"/>
              </a:cxn>
              <a:cxn ang="0">
                <a:pos x="0" y="0"/>
              </a:cxn>
              <a:cxn ang="0">
                <a:pos x="0" y="648154"/>
              </a:cxn>
              <a:cxn ang="0">
                <a:pos x="0" y="688021"/>
              </a:cxn>
              <a:cxn ang="0">
                <a:pos x="3201433" y="688021"/>
              </a:cxn>
              <a:cxn ang="0">
                <a:pos x="3201433" y="648154"/>
              </a:cxn>
              <a:cxn ang="0">
                <a:pos x="3201433" y="0"/>
              </a:cxn>
            </a:cxnLst>
            <a:rect l="txL" t="txT" r="txR" b="txB"/>
            <a:pathLst>
              <a:path w="1426" h="535">
                <a:moveTo>
                  <a:pt x="1426" y="0"/>
                </a:moveTo>
                <a:lnTo>
                  <a:pt x="0" y="0"/>
                </a:lnTo>
                <a:lnTo>
                  <a:pt x="0" y="504"/>
                </a:lnTo>
                <a:lnTo>
                  <a:pt x="0" y="535"/>
                </a:lnTo>
                <a:lnTo>
                  <a:pt x="1426" y="535"/>
                </a:lnTo>
                <a:lnTo>
                  <a:pt x="1426" y="504"/>
                </a:lnTo>
                <a:lnTo>
                  <a:pt x="1426" y="0"/>
                </a:lnTo>
                <a:close/>
              </a:path>
            </a:pathLst>
          </a:custGeom>
          <a:solidFill>
            <a:srgbClr val="9BBB59"/>
          </a:solidFill>
          <a:ln w="9525">
            <a:noFill/>
          </a:ln>
          <a:effectLst>
            <a:outerShdw dist="38096" dir="2699999" algn="tl" rotWithShape="0">
              <a:srgbClr val="FFFFFF">
                <a:alpha val="37999"/>
              </a:srgbClr>
            </a:outerShdw>
          </a:effectLst>
        </p:spPr>
        <p:txBody>
          <a:bodyPr anchor="t" anchorCtr="1"/>
          <a:lstStyle/>
          <a:p>
            <a:pPr algn="ctr" eaLnBrk="1" hangingPunct="1"/>
            <a:r>
              <a:rPr lang="id-ID" altLang="x-none" b="1" dirty="0">
                <a:solidFill>
                  <a:srgbClr val="000000"/>
                </a:solidFill>
                <a:latin typeface="Calibri" panose="020F0502020204030204" pitchFamily="34" charset="0"/>
                <a:cs typeface="Calibri" panose="020F0502020204030204" pitchFamily="34" charset="0"/>
              </a:rPr>
              <a:t>Casual LM</a:t>
            </a:r>
          </a:p>
          <a:p>
            <a:pPr algn="ctr" eaLnBrk="1" hangingPunct="1"/>
            <a:r>
              <a:rPr lang="id-ID" altLang="x-none" dirty="0">
                <a:solidFill>
                  <a:srgbClr val="000000"/>
                </a:solidFill>
                <a:latin typeface="Calibri" panose="020F0502020204030204" pitchFamily="34" charset="0"/>
                <a:cs typeface="Calibri" panose="020F0502020204030204" pitchFamily="34" charset="0"/>
              </a:rPr>
              <a:t>Pour prédir le mot suivant</a:t>
            </a:r>
            <a:endParaRPr lang="id-ID" altLang="x-none" dirty="0">
              <a:solidFill>
                <a:srgbClr val="000000"/>
              </a:solidFill>
              <a:latin typeface="Calibri" panose="020F0502020204030204" pitchFamily="34" charset="0"/>
              <a:ea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5192554" y="75883"/>
            <a:ext cx="180213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SecLM</a:t>
            </a:r>
            <a:endParaRPr lang="fr-FR" altLang="x-none" dirty="0">
              <a:solidFill>
                <a:srgbClr val="000000"/>
              </a:solidFill>
              <a:cs typeface="Calibri" panose="020F0502020204030204" pitchFamily="34" charset="0"/>
            </a:endParaRPr>
          </a:p>
        </p:txBody>
      </p:sp>
      <p:sp>
        <p:nvSpPr>
          <p:cNvPr id="4" name="TextBox 34"/>
          <p:cNvSpPr txBox="1"/>
          <p:nvPr/>
        </p:nvSpPr>
        <p:spPr>
          <a:xfrm>
            <a:off x="609600" y="1142683"/>
            <a:ext cx="10585450" cy="5077460"/>
          </a:xfrm>
          <a:prstGeom prst="rect">
            <a:avLst/>
          </a:prstGeom>
          <a:noFill/>
          <a:ln w="9525">
            <a:noFill/>
          </a:ln>
        </p:spPr>
        <p:txBody>
          <a:bodyPr>
            <a:spAutoFit/>
          </a:bodyPr>
          <a:lstStyle/>
          <a:p>
            <a:pPr algn="just" defTabSz="913130" eaLnBrk="1" hangingPunct="1"/>
            <a:r>
              <a:rPr lang="en-US" altLang="fr-FR" dirty="0">
                <a:solidFill>
                  <a:srgbClr val="000000"/>
                </a:solidFill>
                <a:latin typeface="Calibri" panose="020F0502020204030204" pitchFamily="34" charset="0"/>
                <a:ea typeface="Calibri" panose="020F0502020204030204" pitchFamily="34" charset="0"/>
              </a:rPr>
              <a:t>SecLM est une version de PaLM sp</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cifique pour le domaine de</a:t>
            </a:r>
            <a:r>
              <a:rPr lang="en-US" altLang="fr-FR" dirty="0">
                <a:solidFill>
                  <a:srgbClr val="FF0000"/>
                </a:solidFill>
                <a:latin typeface="Calibri" panose="020F0502020204030204" pitchFamily="34" charset="0"/>
                <a:ea typeface="Calibri" panose="020F0502020204030204" pitchFamily="34" charset="0"/>
              </a:rPr>
              <a:t> cybers</a:t>
            </a:r>
            <a:r>
              <a:rPr lang="en-US" altLang="en-US" dirty="0">
                <a:solidFill>
                  <a:srgbClr val="FF0000"/>
                </a:solidFill>
                <a:latin typeface="Calibri" panose="020F0502020204030204" pitchFamily="34" charset="0"/>
                <a:ea typeface="Calibri" panose="020F0502020204030204" pitchFamily="34" charset="0"/>
              </a:rPr>
              <a:t>é</a:t>
            </a:r>
            <a:r>
              <a:rPr lang="en-US" altLang="fr-FR" dirty="0">
                <a:solidFill>
                  <a:srgbClr val="FF0000"/>
                </a:solidFill>
                <a:latin typeface="Calibri" panose="020F0502020204030204" pitchFamily="34" charset="0"/>
                <a:ea typeface="Calibri" panose="020F0502020204030204" pitchFamily="34" charset="0"/>
              </a:rPr>
              <a:t>curit</a:t>
            </a:r>
            <a:r>
              <a:rPr lang="en-US" altLang="en-US" dirty="0">
                <a:solidFill>
                  <a:srgbClr val="FF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 qui r</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sout les trois pricipaux challenges de ce domaine :​</a:t>
            </a:r>
          </a:p>
          <a:p>
            <a:pPr algn="just" defTabSz="913130" eaLnBrk="1" hangingPunct="1"/>
            <a:endParaRPr lang="en-US" altLang="fr-FR" dirty="0">
              <a:solidFill>
                <a:srgbClr val="000000"/>
              </a:solidFill>
              <a:latin typeface="Calibri" panose="020F0502020204030204" pitchFamily="34" charset="0"/>
              <a:ea typeface="Calibri" panose="020F0502020204030204" pitchFamily="34" charset="0"/>
            </a:endParaRPr>
          </a:p>
          <a:p>
            <a:pPr algn="just" defTabSz="913130" eaLnBrk="1" hangingPunct="1"/>
            <a:r>
              <a:rPr lang="zh-CN" altLang="en-US" dirty="0">
                <a:solidFill>
                  <a:srgbClr val="000000"/>
                </a:solidFill>
                <a:latin typeface="Calibri" panose="020F0502020204030204" pitchFamily="34" charset="0"/>
                <a:ea typeface="Calibri" panose="020F0502020204030204" pitchFamily="34" charset="0"/>
              </a:rPr>
              <a:t>🔐</a:t>
            </a:r>
            <a:r>
              <a:rPr lang="en-US" altLang="fr-FR" dirty="0">
                <a:solidFill>
                  <a:srgbClr val="000000"/>
                </a:solidFill>
                <a:latin typeface="Calibri" panose="020F0502020204030204" pitchFamily="34" charset="0"/>
                <a:ea typeface="Calibri" panose="020F0502020204030204" pitchFamily="34" charset="0"/>
              </a:rPr>
              <a:t> </a:t>
            </a:r>
            <a:r>
              <a:rPr lang="fr-FR" altLang="en-US" dirty="0">
                <a:solidFill>
                  <a:srgbClr val="000000"/>
                </a:solidFill>
                <a:latin typeface="Calibri" panose="020F0502020204030204" pitchFamily="34" charset="0"/>
                <a:ea typeface="Calibri" panose="020F0502020204030204" pitchFamily="34" charset="0"/>
              </a:rPr>
              <a:t> </a:t>
            </a:r>
            <a:r>
              <a:rPr lang="en-US" altLang="fr-FR" b="1" dirty="0">
                <a:solidFill>
                  <a:srgbClr val="000000"/>
                </a:solidFill>
                <a:latin typeface="Calibri" panose="020F0502020204030204" pitchFamily="34" charset="0"/>
                <a:ea typeface="Calibri" panose="020F0502020204030204" pitchFamily="34" charset="0"/>
              </a:rPr>
              <a:t>Menaces nouvelles et en constante </a:t>
            </a:r>
            <a:r>
              <a:rPr lang="en-US" altLang="en-US" b="1" dirty="0">
                <a:solidFill>
                  <a:srgbClr val="000000"/>
                </a:solidFill>
                <a:latin typeface="Calibri" panose="020F0502020204030204" pitchFamily="34" charset="0"/>
                <a:ea typeface="Calibri" panose="020F0502020204030204" pitchFamily="34" charset="0"/>
              </a:rPr>
              <a:t>é</a:t>
            </a:r>
            <a:r>
              <a:rPr lang="en-US" altLang="fr-FR" b="1" dirty="0">
                <a:solidFill>
                  <a:srgbClr val="000000"/>
                </a:solidFill>
                <a:latin typeface="Calibri" panose="020F0502020204030204" pitchFamily="34" charset="0"/>
                <a:ea typeface="Calibri" panose="020F0502020204030204" pitchFamily="34" charset="0"/>
              </a:rPr>
              <a:t>volution </a:t>
            </a:r>
            <a:r>
              <a:rPr lang="en-US" altLang="fr-FR" dirty="0">
                <a:solidFill>
                  <a:srgbClr val="000000"/>
                </a:solidFill>
                <a:latin typeface="Calibri" panose="020F0502020204030204" pitchFamily="34" charset="0"/>
                <a:ea typeface="Calibri" panose="020F0502020204030204" pitchFamily="34" charset="0"/>
              </a:rPr>
              <a:t>: Le paysage des menaces change constamment, avec l’apparition continue</a:t>
            </a:r>
            <a:r>
              <a:rPr lang="en-US" altLang="fr-FR" dirty="0">
                <a:solidFill>
                  <a:srgbClr val="0070C0"/>
                </a:solidFill>
                <a:latin typeface="Calibri" panose="020F0502020204030204" pitchFamily="34" charset="0"/>
                <a:ea typeface="Calibri" panose="020F0502020204030204" pitchFamily="34" charset="0"/>
              </a:rPr>
              <a:t> d’attaques nouvelles et de plus en plus sophistiqu</a:t>
            </a:r>
            <a:r>
              <a:rPr lang="en-US" altLang="en-US" dirty="0">
                <a:solidFill>
                  <a:srgbClr val="0070C0"/>
                </a:solidFill>
                <a:latin typeface="Calibri" panose="020F0502020204030204" pitchFamily="34" charset="0"/>
                <a:ea typeface="Calibri" panose="020F0502020204030204" pitchFamily="34" charset="0"/>
              </a:rPr>
              <a:t>é</a:t>
            </a:r>
            <a:r>
              <a:rPr lang="en-US" altLang="fr-FR" dirty="0">
                <a:solidFill>
                  <a:srgbClr val="0070C0"/>
                </a:solidFill>
                <a:latin typeface="Calibri" panose="020F0502020204030204" pitchFamily="34" charset="0"/>
                <a:ea typeface="Calibri" panose="020F0502020204030204" pitchFamily="34" charset="0"/>
              </a:rPr>
              <a:t>es</a:t>
            </a:r>
            <a:r>
              <a:rPr lang="en-US" altLang="fr-FR" dirty="0">
                <a:solidFill>
                  <a:srgbClr val="000000"/>
                </a:solidFill>
                <a:latin typeface="Calibri" panose="020F0502020204030204" pitchFamily="34" charset="0"/>
                <a:ea typeface="Calibri" panose="020F0502020204030204" pitchFamily="34" charset="0"/>
              </a:rPr>
              <a:t>. Cela rend difficile pour les d</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fenseurs de </a:t>
            </a:r>
            <a:r>
              <a:rPr lang="en-US" altLang="fr-FR" dirty="0">
                <a:solidFill>
                  <a:srgbClr val="0070C0"/>
                </a:solidFill>
                <a:latin typeface="Calibri" panose="020F0502020204030204" pitchFamily="34" charset="0"/>
                <a:ea typeface="Calibri" panose="020F0502020204030204" pitchFamily="34" charset="0"/>
              </a:rPr>
              <a:t>se tenir à jour </a:t>
            </a:r>
            <a:r>
              <a:rPr lang="en-US" altLang="fr-FR" dirty="0">
                <a:solidFill>
                  <a:srgbClr val="000000"/>
                </a:solidFill>
                <a:latin typeface="Calibri" panose="020F0502020204030204" pitchFamily="34" charset="0"/>
                <a:ea typeface="Calibri" panose="020F0502020204030204" pitchFamily="34" charset="0"/>
              </a:rPr>
              <a:t>avec les derni</a:t>
            </a:r>
            <a:r>
              <a:rPr lang="en-US" altLang="en-US" dirty="0">
                <a:solidFill>
                  <a:srgbClr val="000000"/>
                </a:solidFill>
                <a:latin typeface="Calibri" panose="020F0502020204030204" pitchFamily="34" charset="0"/>
                <a:ea typeface="Calibri" panose="020F0502020204030204" pitchFamily="34" charset="0"/>
              </a:rPr>
              <a:t>è</a:t>
            </a:r>
            <a:r>
              <a:rPr lang="en-US" altLang="fr-FR" dirty="0">
                <a:solidFill>
                  <a:srgbClr val="000000"/>
                </a:solidFill>
                <a:latin typeface="Calibri" panose="020F0502020204030204" pitchFamily="34" charset="0"/>
                <a:ea typeface="Calibri" panose="020F0502020204030204" pitchFamily="34" charset="0"/>
              </a:rPr>
              <a:t>res informations.​</a:t>
            </a:r>
          </a:p>
          <a:p>
            <a:pPr algn="just" defTabSz="913130" eaLnBrk="1" hangingPunct="1"/>
            <a:endParaRPr lang="en-US" altLang="fr-FR" dirty="0">
              <a:solidFill>
                <a:srgbClr val="000000"/>
              </a:solidFill>
              <a:latin typeface="Calibri" panose="020F0502020204030204" pitchFamily="34" charset="0"/>
              <a:ea typeface="Calibri" panose="020F0502020204030204" pitchFamily="34" charset="0"/>
            </a:endParaRPr>
          </a:p>
          <a:p>
            <a:pPr algn="just" defTabSz="913130" eaLnBrk="1" hangingPunct="1"/>
            <a:r>
              <a:rPr lang="zh-CN" altLang="en-US" dirty="0">
                <a:solidFill>
                  <a:srgbClr val="000000"/>
                </a:solidFill>
                <a:latin typeface="Calibri" panose="020F0502020204030204" pitchFamily="34" charset="0"/>
                <a:ea typeface="Calibri" panose="020F0502020204030204" pitchFamily="34" charset="0"/>
              </a:rPr>
              <a:t>⚙</a:t>
            </a:r>
            <a:r>
              <a:rPr lang="en-US" altLang="fr-FR" b="1" dirty="0">
                <a:solidFill>
                  <a:srgbClr val="000000"/>
                </a:solidFill>
                <a:latin typeface="Calibri" panose="020F0502020204030204" pitchFamily="34" charset="0"/>
                <a:ea typeface="Calibri" panose="020F0502020204030204" pitchFamily="34" charset="0"/>
              </a:rPr>
              <a:t>Charge op</a:t>
            </a:r>
            <a:r>
              <a:rPr lang="en-US" altLang="en-US" b="1" dirty="0">
                <a:solidFill>
                  <a:srgbClr val="000000"/>
                </a:solidFill>
                <a:latin typeface="Calibri" panose="020F0502020204030204" pitchFamily="34" charset="0"/>
                <a:ea typeface="Calibri" panose="020F0502020204030204" pitchFamily="34" charset="0"/>
              </a:rPr>
              <a:t>é</a:t>
            </a:r>
            <a:r>
              <a:rPr lang="en-US" altLang="fr-FR" b="1" dirty="0">
                <a:solidFill>
                  <a:srgbClr val="000000"/>
                </a:solidFill>
                <a:latin typeface="Calibri" panose="020F0502020204030204" pitchFamily="34" charset="0"/>
                <a:ea typeface="Calibri" panose="020F0502020204030204" pitchFamily="34" charset="0"/>
              </a:rPr>
              <a:t>rationnelle </a:t>
            </a:r>
            <a:r>
              <a:rPr lang="en-US" altLang="fr-FR" dirty="0">
                <a:solidFill>
                  <a:srgbClr val="000000"/>
                </a:solidFill>
                <a:latin typeface="Calibri" panose="020F0502020204030204" pitchFamily="34" charset="0"/>
                <a:ea typeface="Calibri" panose="020F0502020204030204" pitchFamily="34" charset="0"/>
              </a:rPr>
              <a:t>: Les personnes travaillant dans la cybers</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curit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 op</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rationnelle ou dans des rôles DevOps passent souvent beaucoup de temps sur </a:t>
            </a:r>
            <a:r>
              <a:rPr lang="en-US" altLang="fr-FR" dirty="0">
                <a:solidFill>
                  <a:srgbClr val="FC01FF"/>
                </a:solidFill>
                <a:latin typeface="Calibri" panose="020F0502020204030204" pitchFamily="34" charset="0"/>
                <a:ea typeface="Calibri" panose="020F0502020204030204" pitchFamily="34" charset="0"/>
              </a:rPr>
              <a:t>des t</a:t>
            </a:r>
            <a:r>
              <a:rPr lang="en-US" altLang="en-US" dirty="0">
                <a:solidFill>
                  <a:srgbClr val="FC01FF"/>
                </a:solidFill>
                <a:latin typeface="Calibri" panose="020F0502020204030204" pitchFamily="34" charset="0"/>
                <a:ea typeface="Calibri" panose="020F0502020204030204" pitchFamily="34" charset="0"/>
              </a:rPr>
              <a:t>â</a:t>
            </a:r>
            <a:r>
              <a:rPr lang="en-US" altLang="fr-FR" dirty="0">
                <a:solidFill>
                  <a:srgbClr val="FC01FF"/>
                </a:solidFill>
                <a:latin typeface="Calibri" panose="020F0502020204030204" pitchFamily="34" charset="0"/>
                <a:ea typeface="Calibri" panose="020F0502020204030204" pitchFamily="34" charset="0"/>
              </a:rPr>
              <a:t>ches manuelles r</a:t>
            </a:r>
            <a:r>
              <a:rPr lang="en-US" altLang="en-US" dirty="0">
                <a:solidFill>
                  <a:srgbClr val="FC01FF"/>
                </a:solidFill>
                <a:latin typeface="Calibri" panose="020F0502020204030204" pitchFamily="34" charset="0"/>
                <a:ea typeface="Calibri" panose="020F0502020204030204" pitchFamily="34" charset="0"/>
              </a:rPr>
              <a:t>é</a:t>
            </a:r>
            <a:r>
              <a:rPr lang="en-US" altLang="fr-FR" dirty="0">
                <a:solidFill>
                  <a:srgbClr val="FC01FF"/>
                </a:solidFill>
                <a:latin typeface="Calibri" panose="020F0502020204030204" pitchFamily="34" charset="0"/>
                <a:ea typeface="Calibri" panose="020F0502020204030204" pitchFamily="34" charset="0"/>
              </a:rPr>
              <a:t>p</a:t>
            </a:r>
            <a:r>
              <a:rPr lang="en-US" altLang="en-US" dirty="0">
                <a:solidFill>
                  <a:srgbClr val="FC01FF"/>
                </a:solidFill>
                <a:latin typeface="Calibri" panose="020F0502020204030204" pitchFamily="34" charset="0"/>
                <a:ea typeface="Calibri" panose="020F0502020204030204" pitchFamily="34" charset="0"/>
              </a:rPr>
              <a:t>é</a:t>
            </a:r>
            <a:r>
              <a:rPr lang="en-US" altLang="fr-FR" dirty="0">
                <a:solidFill>
                  <a:srgbClr val="FC01FF"/>
                </a:solidFill>
                <a:latin typeface="Calibri" panose="020F0502020204030204" pitchFamily="34" charset="0"/>
                <a:ea typeface="Calibri" panose="020F0502020204030204" pitchFamily="34" charset="0"/>
              </a:rPr>
              <a:t>titives</a:t>
            </a:r>
            <a:r>
              <a:rPr lang="en-US" altLang="fr-FR" dirty="0">
                <a:solidFill>
                  <a:srgbClr val="000000"/>
                </a:solidFill>
                <a:latin typeface="Calibri" panose="020F0502020204030204" pitchFamily="34" charset="0"/>
                <a:ea typeface="Calibri" panose="020F0502020204030204" pitchFamily="34" charset="0"/>
              </a:rPr>
              <a:t> qui pourraient </a:t>
            </a:r>
            <a:r>
              <a:rPr lang="en-US" altLang="en-US" dirty="0">
                <a:solidFill>
                  <a:srgbClr val="000000"/>
                </a:solidFill>
                <a:latin typeface="Calibri" panose="020F0502020204030204" pitchFamily="34" charset="0"/>
                <a:ea typeface="Calibri" panose="020F0502020204030204" pitchFamily="34" charset="0"/>
              </a:rPr>
              <a:t>ê</a:t>
            </a:r>
            <a:r>
              <a:rPr lang="en-US" altLang="fr-FR" dirty="0">
                <a:solidFill>
                  <a:srgbClr val="000000"/>
                </a:solidFill>
                <a:latin typeface="Calibri" panose="020F0502020204030204" pitchFamily="34" charset="0"/>
                <a:ea typeface="Calibri" panose="020F0502020204030204" pitchFamily="34" charset="0"/>
              </a:rPr>
              <a:t>tre automatis</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es ou assist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es. Cela entra</a:t>
            </a:r>
            <a:r>
              <a:rPr lang="en-US" altLang="en-US" dirty="0">
                <a:solidFill>
                  <a:srgbClr val="000000"/>
                </a:solidFill>
                <a:latin typeface="Calibri" panose="020F0502020204030204" pitchFamily="34" charset="0"/>
                <a:ea typeface="Calibri" panose="020F0502020204030204" pitchFamily="34" charset="0"/>
              </a:rPr>
              <a:t>î</a:t>
            </a:r>
            <a:r>
              <a:rPr lang="en-US" altLang="fr-FR" dirty="0">
                <a:solidFill>
                  <a:srgbClr val="000000"/>
                </a:solidFill>
                <a:latin typeface="Calibri" panose="020F0502020204030204" pitchFamily="34" charset="0"/>
                <a:ea typeface="Calibri" panose="020F0502020204030204" pitchFamily="34" charset="0"/>
              </a:rPr>
              <a:t>ne </a:t>
            </a:r>
            <a:r>
              <a:rPr lang="en-US" altLang="fr-FR" dirty="0">
                <a:solidFill>
                  <a:srgbClr val="FC01FF"/>
                </a:solidFill>
                <a:latin typeface="Calibri" panose="020F0502020204030204" pitchFamily="34" charset="0"/>
                <a:ea typeface="Calibri" panose="020F0502020204030204" pitchFamily="34" charset="0"/>
              </a:rPr>
              <a:t>une surcharge de travail</a:t>
            </a:r>
            <a:r>
              <a:rPr lang="en-US" altLang="fr-FR" dirty="0">
                <a:solidFill>
                  <a:srgbClr val="000000"/>
                </a:solidFill>
                <a:latin typeface="Calibri" panose="020F0502020204030204" pitchFamily="34" charset="0"/>
                <a:ea typeface="Calibri" panose="020F0502020204030204" pitchFamily="34" charset="0"/>
              </a:rPr>
              <a:t> et enl</a:t>
            </a:r>
            <a:r>
              <a:rPr lang="en-US" altLang="en-US" dirty="0">
                <a:solidFill>
                  <a:srgbClr val="000000"/>
                </a:solidFill>
                <a:latin typeface="Calibri" panose="020F0502020204030204" pitchFamily="34" charset="0"/>
                <a:ea typeface="Calibri" panose="020F0502020204030204" pitchFamily="34" charset="0"/>
              </a:rPr>
              <a:t>è</a:t>
            </a:r>
            <a:r>
              <a:rPr lang="en-US" altLang="fr-FR" dirty="0">
                <a:solidFill>
                  <a:srgbClr val="000000"/>
                </a:solidFill>
                <a:latin typeface="Calibri" panose="020F0502020204030204" pitchFamily="34" charset="0"/>
                <a:ea typeface="Calibri" panose="020F0502020204030204" pitchFamily="34" charset="0"/>
              </a:rPr>
              <a:t>ve du temps aux activit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s plus strat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giques. ​</a:t>
            </a:r>
          </a:p>
          <a:p>
            <a:pPr algn="just" defTabSz="913130" eaLnBrk="1" hangingPunct="1"/>
            <a:r>
              <a:rPr lang="en-US" altLang="fr-FR" dirty="0">
                <a:solidFill>
                  <a:srgbClr val="000000"/>
                </a:solidFill>
                <a:latin typeface="Calibri" panose="020F0502020204030204" pitchFamily="34" charset="0"/>
                <a:ea typeface="Calibri" panose="020F0502020204030204" pitchFamily="34" charset="0"/>
              </a:rPr>
              <a:t>​</a:t>
            </a:r>
          </a:p>
          <a:p>
            <a:pPr algn="just" defTabSz="913130" eaLnBrk="1" hangingPunct="1"/>
            <a:r>
              <a:rPr lang="zh-CN" altLang="en-US" dirty="0">
                <a:solidFill>
                  <a:srgbClr val="000000"/>
                </a:solidFill>
                <a:latin typeface="Calibri" panose="020F0502020204030204" pitchFamily="34" charset="0"/>
                <a:ea typeface="Calibri" panose="020F0502020204030204" pitchFamily="34" charset="0"/>
              </a:rPr>
              <a:t>👥</a:t>
            </a:r>
            <a:r>
              <a:rPr lang="en-US" altLang="fr-FR" dirty="0">
                <a:solidFill>
                  <a:srgbClr val="000000"/>
                </a:solidFill>
                <a:latin typeface="Calibri" panose="020F0502020204030204" pitchFamily="34" charset="0"/>
                <a:ea typeface="Calibri" panose="020F0502020204030204" pitchFamily="34" charset="0"/>
              </a:rPr>
              <a:t> </a:t>
            </a:r>
            <a:r>
              <a:rPr lang="fr-FR" altLang="en-US" dirty="0">
                <a:solidFill>
                  <a:srgbClr val="000000"/>
                </a:solidFill>
                <a:latin typeface="Calibri" panose="020F0502020204030204" pitchFamily="34" charset="0"/>
                <a:ea typeface="Calibri" panose="020F0502020204030204" pitchFamily="34" charset="0"/>
              </a:rPr>
              <a:t> </a:t>
            </a:r>
            <a:r>
              <a:rPr lang="en-US" altLang="fr-FR" b="1" dirty="0">
                <a:solidFill>
                  <a:srgbClr val="000000"/>
                </a:solidFill>
                <a:latin typeface="Calibri" panose="020F0502020204030204" pitchFamily="34" charset="0"/>
                <a:ea typeface="Calibri" panose="020F0502020204030204" pitchFamily="34" charset="0"/>
              </a:rPr>
              <a:t>P</a:t>
            </a:r>
            <a:r>
              <a:rPr lang="en-US" altLang="en-US" b="1" dirty="0">
                <a:solidFill>
                  <a:srgbClr val="000000"/>
                </a:solidFill>
                <a:latin typeface="Calibri" panose="020F0502020204030204" pitchFamily="34" charset="0"/>
                <a:ea typeface="Calibri" panose="020F0502020204030204" pitchFamily="34" charset="0"/>
              </a:rPr>
              <a:t>é</a:t>
            </a:r>
            <a:r>
              <a:rPr lang="en-US" altLang="fr-FR" b="1" dirty="0">
                <a:solidFill>
                  <a:srgbClr val="000000"/>
                </a:solidFill>
                <a:latin typeface="Calibri" panose="020F0502020204030204" pitchFamily="34" charset="0"/>
                <a:ea typeface="Calibri" panose="020F0502020204030204" pitchFamily="34" charset="0"/>
              </a:rPr>
              <a:t>nurie de talents :</a:t>
            </a:r>
            <a:r>
              <a:rPr lang="en-US" altLang="fr-FR" dirty="0">
                <a:solidFill>
                  <a:srgbClr val="000000"/>
                </a:solidFill>
                <a:latin typeface="Calibri" panose="020F0502020204030204" pitchFamily="34" charset="0"/>
                <a:ea typeface="Calibri" panose="020F0502020204030204" pitchFamily="34" charset="0"/>
              </a:rPr>
              <a:t> Il existe une p</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nurie de professionnels qualifi</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s en cybers</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curit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 ce qui complique la t</a:t>
            </a:r>
            <a:r>
              <a:rPr lang="en-US" altLang="en-US" dirty="0">
                <a:solidFill>
                  <a:srgbClr val="000000"/>
                </a:solidFill>
                <a:latin typeface="Calibri" panose="020F0502020204030204" pitchFamily="34" charset="0"/>
                <a:ea typeface="Calibri" panose="020F0502020204030204" pitchFamily="34" charset="0"/>
              </a:rPr>
              <a:t>â</a:t>
            </a:r>
            <a:r>
              <a:rPr lang="en-US" altLang="fr-FR" dirty="0">
                <a:solidFill>
                  <a:srgbClr val="000000"/>
                </a:solidFill>
                <a:latin typeface="Calibri" panose="020F0502020204030204" pitchFamily="34" charset="0"/>
                <a:ea typeface="Calibri" panose="020F0502020204030204" pitchFamily="34" charset="0"/>
              </a:rPr>
              <a:t>che des organisations qui cherchent</a:t>
            </a:r>
            <a:r>
              <a:rPr lang="en-US" altLang="fr-FR" dirty="0">
                <a:solidFill>
                  <a:srgbClr val="0070C0"/>
                </a:solidFill>
                <a:latin typeface="Calibri" panose="020F0502020204030204" pitchFamily="34" charset="0"/>
                <a:ea typeface="Calibri" panose="020F0502020204030204" pitchFamily="34" charset="0"/>
              </a:rPr>
              <a:t> à prot</a:t>
            </a:r>
            <a:r>
              <a:rPr lang="en-US" altLang="en-US" dirty="0">
                <a:solidFill>
                  <a:srgbClr val="0070C0"/>
                </a:solidFill>
                <a:latin typeface="Calibri" panose="020F0502020204030204" pitchFamily="34" charset="0"/>
                <a:ea typeface="Calibri" panose="020F0502020204030204" pitchFamily="34" charset="0"/>
              </a:rPr>
              <a:t>é</a:t>
            </a:r>
            <a:r>
              <a:rPr lang="en-US" altLang="fr-FR" dirty="0">
                <a:solidFill>
                  <a:srgbClr val="0070C0"/>
                </a:solidFill>
                <a:latin typeface="Calibri" panose="020F0502020204030204" pitchFamily="34" charset="0"/>
                <a:ea typeface="Calibri" panose="020F0502020204030204" pitchFamily="34" charset="0"/>
              </a:rPr>
              <a:t>ger leurs donn</a:t>
            </a:r>
            <a:r>
              <a:rPr lang="en-US" altLang="en-US" dirty="0">
                <a:solidFill>
                  <a:srgbClr val="0070C0"/>
                </a:solidFill>
                <a:latin typeface="Calibri" panose="020F0502020204030204" pitchFamily="34" charset="0"/>
                <a:ea typeface="Calibri" panose="020F0502020204030204" pitchFamily="34" charset="0"/>
              </a:rPr>
              <a:t>é</a:t>
            </a:r>
            <a:r>
              <a:rPr lang="en-US" altLang="fr-FR" dirty="0">
                <a:solidFill>
                  <a:srgbClr val="0070C0"/>
                </a:solidFill>
                <a:latin typeface="Calibri" panose="020F0502020204030204" pitchFamily="34" charset="0"/>
                <a:ea typeface="Calibri" panose="020F0502020204030204" pitchFamily="34" charset="0"/>
              </a:rPr>
              <a:t>es et leurs syst</a:t>
            </a:r>
            <a:r>
              <a:rPr lang="en-US" altLang="en-US" dirty="0">
                <a:solidFill>
                  <a:srgbClr val="0070C0"/>
                </a:solidFill>
                <a:latin typeface="Calibri" panose="020F0502020204030204" pitchFamily="34" charset="0"/>
                <a:ea typeface="Calibri" panose="020F0502020204030204" pitchFamily="34" charset="0"/>
              </a:rPr>
              <a:t>è</a:t>
            </a:r>
            <a:r>
              <a:rPr lang="en-US" altLang="fr-FR" dirty="0">
                <a:solidFill>
                  <a:srgbClr val="0070C0"/>
                </a:solidFill>
                <a:latin typeface="Calibri" panose="020F0502020204030204" pitchFamily="34" charset="0"/>
                <a:ea typeface="Calibri" panose="020F0502020204030204" pitchFamily="34" charset="0"/>
              </a:rPr>
              <a:t>mes</a:t>
            </a:r>
            <a:r>
              <a:rPr lang="en-US" altLang="fr-FR" dirty="0">
                <a:solidFill>
                  <a:srgbClr val="000000"/>
                </a:solidFill>
                <a:latin typeface="Calibri" panose="020F0502020204030204" pitchFamily="34" charset="0"/>
                <a:ea typeface="Calibri" panose="020F0502020204030204" pitchFamily="34" charset="0"/>
              </a:rPr>
              <a:t>. Souvent, les personnes qui entrent dans des rôles li</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s à la s</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curit</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 ont </a:t>
            </a:r>
            <a:r>
              <a:rPr lang="en-US" altLang="fr-FR" dirty="0">
                <a:solidFill>
                  <a:srgbClr val="0070C0"/>
                </a:solidFill>
                <a:latin typeface="Calibri" panose="020F0502020204030204" pitchFamily="34" charset="0"/>
                <a:ea typeface="Calibri" panose="020F0502020204030204" pitchFamily="34" charset="0"/>
              </a:rPr>
              <a:t>peu de formation </a:t>
            </a:r>
            <a:r>
              <a:rPr lang="en-US" altLang="fr-FR" dirty="0">
                <a:solidFill>
                  <a:schemeClr val="tx1"/>
                </a:solidFill>
                <a:latin typeface="Calibri" panose="020F0502020204030204" pitchFamily="34" charset="0"/>
                <a:ea typeface="Calibri" panose="020F0502020204030204" pitchFamily="34" charset="0"/>
              </a:rPr>
              <a:t>et</a:t>
            </a:r>
            <a:r>
              <a:rPr lang="en-US" altLang="fr-FR" dirty="0">
                <a:solidFill>
                  <a:srgbClr val="0070C0"/>
                </a:solidFill>
                <a:latin typeface="Calibri" panose="020F0502020204030204" pitchFamily="34" charset="0"/>
                <a:ea typeface="Calibri" panose="020F0502020204030204" pitchFamily="34" charset="0"/>
              </a:rPr>
              <a:t> peu de temps libre</a:t>
            </a:r>
            <a:r>
              <a:rPr lang="en-US" altLang="fr-FR" dirty="0">
                <a:solidFill>
                  <a:srgbClr val="000000"/>
                </a:solidFill>
                <a:latin typeface="Calibri" panose="020F0502020204030204" pitchFamily="34" charset="0"/>
                <a:ea typeface="Calibri" panose="020F0502020204030204" pitchFamily="34" charset="0"/>
              </a:rPr>
              <a:t> pour d</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velopper leurs comp</a:t>
            </a:r>
            <a:r>
              <a:rPr lang="en-US" altLang="en-US" dirty="0">
                <a:solidFill>
                  <a:srgbClr val="000000"/>
                </a:solidFill>
                <a:latin typeface="Calibri" panose="020F0502020204030204" pitchFamily="34" charset="0"/>
                <a:ea typeface="Calibri" panose="020F0502020204030204" pitchFamily="34" charset="0"/>
              </a:rPr>
              <a:t>é</a:t>
            </a:r>
            <a:r>
              <a:rPr lang="en-US" altLang="fr-FR" dirty="0">
                <a:solidFill>
                  <a:srgbClr val="000000"/>
                </a:solidFill>
                <a:latin typeface="Calibri" panose="020F0502020204030204" pitchFamily="34" charset="0"/>
                <a:ea typeface="Calibri" panose="020F0502020204030204" pitchFamily="34" charset="0"/>
              </a:rPr>
              <a:t>tences une fois en poste.​</a:t>
            </a:r>
          </a:p>
          <a:p>
            <a:pPr algn="just" defTabSz="913130" eaLnBrk="1" hangingPunct="1"/>
            <a:endParaRPr lang="en-US" altLang="fr-FR" dirty="0">
              <a:solidFill>
                <a:srgbClr val="000000"/>
              </a:solidFill>
              <a:latin typeface="Calibri" panose="020F0502020204030204" pitchFamily="34" charset="0"/>
              <a:ea typeface="Calibri" panose="020F0502020204030204" pitchFamily="34" charset="0"/>
            </a:endParaRPr>
          </a:p>
          <a:p>
            <a:pPr algn="just" defTabSz="913130" eaLnBrk="1" hangingPunct="1"/>
            <a:r>
              <a:rPr lang="en-US" altLang="fr-FR" dirty="0">
                <a:solidFill>
                  <a:srgbClr val="000000"/>
                </a:solidFill>
                <a:latin typeface="Calibri" panose="020F0502020204030204" pitchFamily="34" charset="0"/>
                <a:ea typeface="Calibri" panose="020F0502020204030204" pitchFamily="34" charset="0"/>
              </a:rPr>
              <a:t>​</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3121978" y="1588"/>
            <a:ext cx="594487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Entraînement deSecLM</a:t>
            </a:r>
            <a:endParaRPr lang="fr-FR" altLang="x-none" dirty="0">
              <a:solidFill>
                <a:srgbClr val="7F7F7F"/>
              </a:solidFill>
              <a:cs typeface="Calibri" panose="020F0502020204030204" pitchFamily="34" charset="0"/>
            </a:endParaRPr>
          </a:p>
        </p:txBody>
      </p:sp>
      <p:pic>
        <p:nvPicPr>
          <p:cNvPr id="64515" name="Image 7" descr="Une image contenant texte, capture d’écran, diagramme, Police&#10;&#10;Le contenu généré par l’IA peut être incorrect."/>
          <p:cNvPicPr>
            <a:picLocks noChangeAspect="1"/>
          </p:cNvPicPr>
          <p:nvPr/>
        </p:nvPicPr>
        <p:blipFill>
          <a:blip r:embed="rId2"/>
          <a:stretch>
            <a:fillRect/>
          </a:stretch>
        </p:blipFill>
        <p:spPr>
          <a:xfrm>
            <a:off x="1981200" y="976313"/>
            <a:ext cx="8229600" cy="5419725"/>
          </a:xfrm>
          <a:prstGeom prst="rect">
            <a:avLst/>
          </a:prstGeom>
          <a:noFill/>
          <a:ln w="9525">
            <a:noFill/>
          </a:ln>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4651375" y="1588"/>
            <a:ext cx="2886075"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Med-PaLM</a:t>
            </a:r>
            <a:endParaRPr lang="fr-FR" altLang="x-none" dirty="0">
              <a:solidFill>
                <a:srgbClr val="7F7F7F"/>
              </a:solidFill>
              <a:cs typeface="Calibri" panose="020F0502020204030204" pitchFamily="34" charset="0"/>
            </a:endParaRPr>
          </a:p>
        </p:txBody>
      </p:sp>
      <p:sp>
        <p:nvSpPr>
          <p:cNvPr id="66563" name="ZoneTexte 5"/>
          <p:cNvSpPr txBox="1"/>
          <p:nvPr/>
        </p:nvSpPr>
        <p:spPr>
          <a:xfrm>
            <a:off x="533400" y="1066800"/>
            <a:ext cx="10604500" cy="646113"/>
          </a:xfrm>
          <a:prstGeom prst="rect">
            <a:avLst/>
          </a:prstGeom>
          <a:noFill/>
          <a:ln w="9525">
            <a:noFill/>
          </a:ln>
        </p:spPr>
        <p:txBody>
          <a:bodyPr>
            <a:spAutoFit/>
          </a:bodyPr>
          <a:lstStyle/>
          <a:p>
            <a:pPr eaLnBrk="1" hangingPunct="1"/>
            <a:r>
              <a:rPr lang="fr-FR" altLang="x-none" dirty="0">
                <a:solidFill>
                  <a:srgbClr val="000000"/>
                </a:solidFill>
                <a:latin typeface="Calibri" panose="020F0502020204030204" pitchFamily="34" charset="0"/>
                <a:cs typeface="Calibri" panose="020F0502020204030204" pitchFamily="34" charset="0"/>
              </a:rPr>
              <a:t>Med-PaLM est un modèle fondamentale adaptés </a:t>
            </a:r>
            <a:r>
              <a:rPr lang="fr-FR" altLang="x-none" dirty="0">
                <a:solidFill>
                  <a:srgbClr val="000000"/>
                </a:solidFill>
                <a:latin typeface="Calibri" panose="020F0502020204030204" pitchFamily="34" charset="0"/>
                <a:ea typeface="Calibri" panose="020F0502020204030204" pitchFamily="34" charset="0"/>
              </a:rPr>
              <a:t>à</a:t>
            </a:r>
            <a:r>
              <a:rPr lang="fr-FR" altLang="x-none" dirty="0">
                <a:solidFill>
                  <a:srgbClr val="0070C0"/>
                </a:solidFill>
                <a:latin typeface="Calibri" panose="020F0502020204030204" pitchFamily="34" charset="0"/>
                <a:cs typeface="Calibri" panose="020F0502020204030204" pitchFamily="34" charset="0"/>
              </a:rPr>
              <a:t> </a:t>
            </a:r>
            <a:r>
              <a:rPr lang="fr-FR" altLang="x-none" dirty="0">
                <a:solidFill>
                  <a:srgbClr val="FF0000"/>
                </a:solidFill>
                <a:latin typeface="Calibri" panose="020F0502020204030204" pitchFamily="34" charset="0"/>
                <a:cs typeface="Calibri" panose="020F0502020204030204" pitchFamily="34" charset="0"/>
              </a:rPr>
              <a:t>l'industrie de la santé.</a:t>
            </a:r>
            <a:r>
              <a:rPr lang="fr-FR" altLang="x-none" dirty="0">
                <a:solidFill>
                  <a:srgbClr val="000000"/>
                </a:solidFill>
                <a:latin typeface="Calibri" panose="020F0502020204030204" pitchFamily="34" charset="0"/>
                <a:cs typeface="Calibri" panose="020F0502020204030204" pitchFamily="34" charset="0"/>
              </a:rPr>
              <a:t> Ce modèle est conçu pour répondre </a:t>
            </a:r>
            <a:r>
              <a:rPr lang="fr-FR" altLang="x-none" dirty="0">
                <a:solidFill>
                  <a:srgbClr val="000000"/>
                </a:solidFill>
                <a:latin typeface="Calibri" panose="020F0502020204030204" pitchFamily="34" charset="0"/>
                <a:ea typeface="Calibri" panose="020F0502020204030204" pitchFamily="34" charset="0"/>
              </a:rPr>
              <a:t>à</a:t>
            </a:r>
            <a:r>
              <a:rPr lang="fr-FR" altLang="x-none" dirty="0">
                <a:solidFill>
                  <a:srgbClr val="000000"/>
                </a:solidFill>
                <a:latin typeface="Calibri" panose="020F0502020204030204" pitchFamily="34" charset="0"/>
                <a:cs typeface="Calibri" panose="020F0502020204030204" pitchFamily="34" charset="0"/>
              </a:rPr>
              <a:t> </a:t>
            </a:r>
            <a:r>
              <a:rPr lang="fr-FR" altLang="x-none" dirty="0">
                <a:solidFill>
                  <a:srgbClr val="0070C0"/>
                </a:solidFill>
                <a:latin typeface="Calibri" panose="020F0502020204030204" pitchFamily="34" charset="0"/>
                <a:cs typeface="Calibri" panose="020F0502020204030204" pitchFamily="34" charset="0"/>
              </a:rPr>
              <a:t>des questions médicales complexes </a:t>
            </a:r>
            <a:r>
              <a:rPr lang="fr-FR" altLang="x-none" dirty="0">
                <a:solidFill>
                  <a:srgbClr val="000000"/>
                </a:solidFill>
                <a:latin typeface="Calibri" panose="020F0502020204030204" pitchFamily="34" charset="0"/>
                <a:cs typeface="Calibri" panose="020F0502020204030204" pitchFamily="34" charset="0"/>
              </a:rPr>
              <a:t>et fournir </a:t>
            </a:r>
            <a:r>
              <a:rPr lang="fr-FR" altLang="x-none" dirty="0">
                <a:solidFill>
                  <a:srgbClr val="0070C0"/>
                </a:solidFill>
                <a:latin typeface="Calibri" panose="020F0502020204030204" pitchFamily="34" charset="0"/>
                <a:cs typeface="Calibri" panose="020F0502020204030204" pitchFamily="34" charset="0"/>
              </a:rPr>
              <a:t>des interprétations pertinentes des données médicales</a:t>
            </a:r>
            <a:r>
              <a:rPr lang="fr-FR" altLang="x-none" dirty="0">
                <a:solidFill>
                  <a:srgbClr val="000000"/>
                </a:solidFill>
                <a:latin typeface="Calibri" panose="020F0502020204030204" pitchFamily="34" charset="0"/>
                <a:cs typeface="Calibri" panose="020F0502020204030204" pitchFamily="34" charset="0"/>
              </a:rPr>
              <a:t>.</a:t>
            </a:r>
            <a:endParaRPr lang="fr-FR" altLang="x-none" dirty="0">
              <a:solidFill>
                <a:srgbClr val="000000"/>
              </a:solidFill>
              <a:latin typeface="Calibri" panose="020F0502020204030204" pitchFamily="34" charset="0"/>
            </a:endParaRPr>
          </a:p>
        </p:txBody>
      </p:sp>
      <p:pic>
        <p:nvPicPr>
          <p:cNvPr id="66564" name="Image 6" descr="Une image contenant texte, capture d’écran, diagramme, Police&#10;&#10;Le contenu généré par l’IA peut être incorrect."/>
          <p:cNvPicPr>
            <a:picLocks noChangeAspect="1"/>
          </p:cNvPicPr>
          <p:nvPr/>
        </p:nvPicPr>
        <p:blipFill>
          <a:blip r:embed="rId2"/>
          <a:stretch>
            <a:fillRect/>
          </a:stretch>
        </p:blipFill>
        <p:spPr>
          <a:xfrm>
            <a:off x="1204913" y="2149475"/>
            <a:ext cx="9477375" cy="3752850"/>
          </a:xfrm>
          <a:prstGeom prst="rect">
            <a:avLst/>
          </a:prstGeom>
          <a:noFill/>
          <a:ln w="9525">
            <a:noFill/>
          </a:ln>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3058478" y="1588"/>
            <a:ext cx="6071870" cy="829945"/>
          </a:xfrm>
          <a:prstGeom prst="rect">
            <a:avLst/>
          </a:prstGeom>
          <a:noFill/>
          <a:ln w="9525">
            <a:noFill/>
          </a:ln>
        </p:spPr>
        <p:txBody>
          <a:bodyPr wrap="none" anchor="t" anchorCtr="1">
            <a:spAutoFit/>
          </a:bodyPr>
          <a:lstStyle/>
          <a:p>
            <a:pPr algn="ctr" eaLnBrk="1" hangingPunct="1"/>
            <a:r>
              <a:rPr lang="id-ID" altLang="x-none" sz="4800" dirty="0">
                <a:solidFill>
                  <a:srgbClr val="7F7F7F"/>
                </a:solidFill>
                <a:cs typeface="Calibri" panose="020F0502020204030204" pitchFamily="34" charset="0"/>
              </a:rPr>
              <a:t>Évalution de Med-PaLM</a:t>
            </a:r>
            <a:endParaRPr lang="fr-FR" altLang="x-none" dirty="0">
              <a:solidFill>
                <a:srgbClr val="7F7F7F"/>
              </a:solidFill>
              <a:cs typeface="Calibri" panose="020F0502020204030204" pitchFamily="34" charset="0"/>
            </a:endParaRPr>
          </a:p>
        </p:txBody>
      </p:sp>
      <p:pic>
        <p:nvPicPr>
          <p:cNvPr id="67587" name="Image 3" descr="Une image contenant texte, capture d’écran, diagramme, ligne&#10;&#10;Le contenu généré par l’IA peut être incorrect."/>
          <p:cNvPicPr>
            <a:picLocks noChangeAspect="1"/>
          </p:cNvPicPr>
          <p:nvPr/>
        </p:nvPicPr>
        <p:blipFill>
          <a:blip r:embed="rId2"/>
          <a:stretch>
            <a:fillRect/>
          </a:stretch>
        </p:blipFill>
        <p:spPr>
          <a:xfrm>
            <a:off x="1593850" y="1717675"/>
            <a:ext cx="9015413" cy="4762500"/>
          </a:xfrm>
          <a:prstGeom prst="rect">
            <a:avLst/>
          </a:prstGeom>
          <a:noFill/>
          <a:ln w="9525">
            <a:noFill/>
          </a:ln>
        </p:spPr>
      </p:pic>
      <p:sp>
        <p:nvSpPr>
          <p:cNvPr id="67588" name="ZoneTexte 4"/>
          <p:cNvSpPr txBox="1"/>
          <p:nvPr/>
        </p:nvSpPr>
        <p:spPr>
          <a:xfrm>
            <a:off x="1112838" y="1082675"/>
            <a:ext cx="9347200" cy="369888"/>
          </a:xfrm>
          <a:prstGeom prst="rect">
            <a:avLst/>
          </a:prstGeom>
          <a:noFill/>
          <a:ln w="9525">
            <a:noFill/>
          </a:ln>
        </p:spPr>
        <p:txBody>
          <a:bodyPr>
            <a:spAutoFit/>
          </a:bodyPr>
          <a:lstStyle/>
          <a:p>
            <a:pPr eaLnBrk="1" hangingPunct="1"/>
            <a:r>
              <a:rPr lang="fr-FR" altLang="x-none" dirty="0">
                <a:solidFill>
                  <a:srgbClr val="000000"/>
                </a:solidFill>
                <a:latin typeface="Calibri" panose="020F0502020204030204" pitchFamily="34" charset="0"/>
                <a:cs typeface="Calibri" panose="020F0502020204030204" pitchFamily="34" charset="0"/>
              </a:rPr>
              <a:t>La figure illustre le résultat de Med-PaLM2 pour</a:t>
            </a:r>
            <a:r>
              <a:rPr lang="fr-FR" altLang="x-none" dirty="0">
                <a:solidFill>
                  <a:srgbClr val="F5148F"/>
                </a:solidFill>
                <a:latin typeface="Calibri" panose="020F0502020204030204" pitchFamily="34" charset="0"/>
                <a:cs typeface="Calibri" panose="020F0502020204030204" pitchFamily="34" charset="0"/>
              </a:rPr>
              <a:t> l'examen médical MedQA </a:t>
            </a:r>
            <a:endParaRPr lang="fr-FR" altLang="x-none" dirty="0">
              <a:solidFill>
                <a:srgbClr val="F5148F"/>
              </a:solidFill>
              <a:latin typeface="Calibri" panose="020F050202020403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63"/>
          <p:cNvSpPr/>
          <p:nvPr/>
        </p:nvSpPr>
        <p:spPr>
          <a:xfrm>
            <a:off x="0" y="0"/>
            <a:ext cx="12188825" cy="6858000"/>
          </a:xfrm>
          <a:prstGeom prst="rect">
            <a:avLst/>
          </a:prstGeom>
          <a:noFill/>
          <a:ln w="9525">
            <a:noFill/>
          </a:ln>
          <a:extLst>
            <a:ext uri="{909E8E84-426E-40DD-AFC4-6F175D3DCCD1}">
              <a14:hiddenFill xmlns:a14="http://schemas.microsoft.com/office/drawing/2010/main">
                <a:solidFill>
                  <a:srgbClr val="77933C"/>
                </a:solidFill>
              </a14:hiddenFill>
            </a:ext>
          </a:extLst>
        </p:spPr>
        <p:txBody>
          <a:bodyPr anchor="ctr" anchorCtr="1"/>
          <a:lstStyle/>
          <a:p>
            <a:pPr algn="ctr" eaLnBrk="1" hangingPunct="1"/>
            <a:endParaRPr dirty="0">
              <a:solidFill>
                <a:srgbClr val="FFFFFF"/>
              </a:solidFill>
              <a:latin typeface="Calibri" panose="020F0502020204030204" pitchFamily="34" charset="0"/>
            </a:endParaRPr>
          </a:p>
        </p:txBody>
      </p:sp>
      <p:sp>
        <p:nvSpPr>
          <p:cNvPr id="3" name="TextBox 51"/>
          <p:cNvSpPr txBox="1"/>
          <p:nvPr/>
        </p:nvSpPr>
        <p:spPr>
          <a:xfrm>
            <a:off x="639763" y="325438"/>
            <a:ext cx="4368800" cy="1957387"/>
          </a:xfrm>
          <a:prstGeom prst="rect">
            <a:avLst/>
          </a:prstGeom>
          <a:noFill/>
          <a:ln w="9525">
            <a:noFill/>
          </a:ln>
        </p:spPr>
        <p:txBody>
          <a:bodyPr anchor="b" anchorCtr="0"/>
          <a:lstStyle/>
          <a:p>
            <a:pPr eaLnBrk="1" hangingPunct="1">
              <a:lnSpc>
                <a:spcPct val="90000"/>
              </a:lnSpc>
              <a:spcAft>
                <a:spcPts val="600"/>
              </a:spcAft>
            </a:pPr>
            <a:r>
              <a:rPr sz="5400" dirty="0">
                <a:solidFill>
                  <a:srgbClr val="000000"/>
                </a:solidFill>
                <a:cs typeface="Calibri" panose="020F0502020204030204" pitchFamily="34" charset="0"/>
              </a:rPr>
              <a:t>Gemini</a:t>
            </a:r>
          </a:p>
        </p:txBody>
      </p:sp>
      <p:sp>
        <p:nvSpPr>
          <p:cNvPr id="68612" name="sketchy line"/>
          <p:cNvSpPr/>
          <p:nvPr/>
        </p:nvSpPr>
        <p:spPr>
          <a:xfrm>
            <a:off x="639763" y="2587625"/>
            <a:ext cx="3475037" cy="17463"/>
          </a:xfrm>
          <a:prstGeom prst="rect">
            <a:avLst/>
          </a:prstGeom>
          <a:solidFill>
            <a:srgbClr val="88A945"/>
          </a:solidFill>
          <a:ln w="44448" cap="rnd" cmpd="sng">
            <a:solidFill>
              <a:srgbClr val="88A945"/>
            </a:solidFill>
            <a:prstDash val="solid"/>
            <a:round/>
            <a:headEnd type="none" w="med" len="med"/>
            <a:tailEnd type="none" w="med" len="med"/>
          </a:ln>
        </p:spPr>
        <p:txBody>
          <a:bodyPr anchor="ctr" anchorCtr="1"/>
          <a:lstStyle/>
          <a:p>
            <a:pPr algn="ctr" eaLnBrk="1" hangingPunct="1"/>
            <a:endParaRPr dirty="0">
              <a:solidFill>
                <a:srgbClr val="FFFFFF"/>
              </a:solidFill>
              <a:latin typeface="Calibri" panose="020F0502020204030204" pitchFamily="34" charset="0"/>
            </a:endParaRPr>
          </a:p>
        </p:txBody>
      </p:sp>
      <p:sp>
        <p:nvSpPr>
          <p:cNvPr id="68613" name="ZoneTexte 5"/>
          <p:cNvSpPr txBox="1"/>
          <p:nvPr/>
        </p:nvSpPr>
        <p:spPr>
          <a:xfrm>
            <a:off x="487363" y="2873375"/>
            <a:ext cx="4662487" cy="3662363"/>
          </a:xfrm>
          <a:prstGeom prst="rect">
            <a:avLst/>
          </a:prstGeom>
          <a:noFill/>
          <a:ln w="9525">
            <a:noFill/>
          </a:ln>
        </p:spPr>
        <p:txBody>
          <a:bodyPr/>
          <a:lstStyle/>
          <a:p>
            <a:pPr indent="-228600" eaLnBrk="1" hangingPunct="1">
              <a:spcBef>
                <a:spcPts val="1000"/>
              </a:spcBef>
              <a:buSzPct val="100000"/>
              <a:buFont typeface="Arial" panose="020B0604020202020204" pitchFamily="34" charset="0"/>
              <a:buChar char="•"/>
            </a:pPr>
            <a:r>
              <a:rPr dirty="0">
                <a:solidFill>
                  <a:srgbClr val="000000"/>
                </a:solidFill>
                <a:latin typeface="Calibri" panose="020F0502020204030204" pitchFamily="34" charset="0"/>
              </a:rPr>
              <a:t>Gemini est la</a:t>
            </a:r>
            <a:r>
              <a:rPr dirty="0">
                <a:solidFill>
                  <a:srgbClr val="0070C0"/>
                </a:solidFill>
                <a:latin typeface="Calibri" panose="020F0502020204030204" pitchFamily="34" charset="0"/>
              </a:rPr>
              <a:t> suite de PaLM 2</a:t>
            </a:r>
            <a:r>
              <a:rPr dirty="0">
                <a:solidFill>
                  <a:srgbClr val="000000"/>
                </a:solidFill>
                <a:latin typeface="Calibri" panose="020F0502020204030204" pitchFamily="34" charset="0"/>
              </a:rPr>
              <a:t>, développée par Google DeepMind. Contrairement à PaLM 2, principalement axé sur le langage.</a:t>
            </a:r>
            <a:endParaRPr dirty="0">
              <a:solidFill>
                <a:srgbClr val="000000"/>
              </a:solidFill>
              <a:latin typeface="Calibri" panose="020F0502020204030204" pitchFamily="34" charset="0"/>
              <a:cs typeface="Calibri" panose="020F0502020204030204" pitchFamily="34" charset="0"/>
            </a:endParaRPr>
          </a:p>
          <a:p>
            <a:pPr indent="-228600" eaLnBrk="1" hangingPunct="1">
              <a:spcBef>
                <a:spcPts val="1000"/>
              </a:spcBef>
              <a:buSzPct val="100000"/>
              <a:buFont typeface="Arial" panose="020B0604020202020204" pitchFamily="34" charset="0"/>
              <a:buChar char="•"/>
            </a:pPr>
            <a:r>
              <a:rPr dirty="0">
                <a:solidFill>
                  <a:srgbClr val="000000"/>
                </a:solidFill>
                <a:latin typeface="Calibri" panose="020F0502020204030204" pitchFamily="34" charset="0"/>
              </a:rPr>
              <a:t>C'est </a:t>
            </a:r>
            <a:r>
              <a:rPr dirty="0">
                <a:solidFill>
                  <a:srgbClr val="FF0000"/>
                </a:solidFill>
                <a:latin typeface="Calibri" panose="020F0502020204030204" pitchFamily="34" charset="0"/>
              </a:rPr>
              <a:t>un modèle multimodal,</a:t>
            </a:r>
            <a:r>
              <a:rPr dirty="0">
                <a:solidFill>
                  <a:srgbClr val="000000"/>
                </a:solidFill>
                <a:latin typeface="Calibri" panose="020F0502020204030204" pitchFamily="34" charset="0"/>
              </a:rPr>
              <a:t> capable de traiter du</a:t>
            </a:r>
            <a:r>
              <a:rPr dirty="0">
                <a:solidFill>
                  <a:srgbClr val="F5148F"/>
                </a:solidFill>
                <a:latin typeface="Calibri" panose="020F0502020204030204" pitchFamily="34" charset="0"/>
              </a:rPr>
              <a:t> texte, des images, de l’audio, de la vidéo et du code.</a:t>
            </a:r>
            <a:endParaRPr dirty="0">
              <a:solidFill>
                <a:srgbClr val="F5148F"/>
              </a:solidFill>
              <a:latin typeface="Calibri" panose="020F0502020204030204" pitchFamily="34" charset="0"/>
              <a:cs typeface="Calibri" panose="020F0502020204030204" pitchFamily="34" charset="0"/>
            </a:endParaRPr>
          </a:p>
          <a:p>
            <a:pPr indent="-228600" eaLnBrk="1" hangingPunct="1">
              <a:spcBef>
                <a:spcPts val="1000"/>
              </a:spcBef>
              <a:buSzPct val="100000"/>
              <a:buFont typeface="Arial" panose="020B0604020202020204" pitchFamily="34" charset="0"/>
              <a:buChar char="•"/>
            </a:pPr>
            <a:r>
              <a:rPr dirty="0">
                <a:solidFill>
                  <a:srgbClr val="000000"/>
                </a:solidFill>
                <a:latin typeface="Calibri" panose="020F0502020204030204" pitchFamily="34" charset="0"/>
              </a:rPr>
              <a:t> Il s’appuie sur les avancées de PaLM 2, comme l’objectif </a:t>
            </a:r>
            <a:r>
              <a:rPr dirty="0">
                <a:solidFill>
                  <a:srgbClr val="0070C0"/>
                </a:solidFill>
                <a:latin typeface="Calibri" panose="020F0502020204030204" pitchFamily="34" charset="0"/>
              </a:rPr>
              <a:t>d’entraînement UL2</a:t>
            </a:r>
            <a:r>
              <a:rPr dirty="0">
                <a:solidFill>
                  <a:srgbClr val="000000"/>
                </a:solidFill>
                <a:latin typeface="Calibri" panose="020F0502020204030204" pitchFamily="34" charset="0"/>
              </a:rPr>
              <a:t>, tout en intégrant </a:t>
            </a:r>
            <a:r>
              <a:rPr dirty="0">
                <a:solidFill>
                  <a:srgbClr val="0070C0"/>
                </a:solidFill>
                <a:latin typeface="Calibri" panose="020F0502020204030204" pitchFamily="34" charset="0"/>
              </a:rPr>
              <a:t>des optimisations</a:t>
            </a:r>
            <a:r>
              <a:rPr dirty="0">
                <a:solidFill>
                  <a:srgbClr val="000000"/>
                </a:solidFill>
                <a:latin typeface="Calibri" panose="020F0502020204030204" pitchFamily="34" charset="0"/>
              </a:rPr>
              <a:t> pour une meilleure efficacité, compréhension et adaptabilité. </a:t>
            </a:r>
            <a:endParaRPr dirty="0">
              <a:solidFill>
                <a:srgbClr val="000000"/>
              </a:solidFill>
              <a:latin typeface="Calibri" panose="020F0502020204030204" pitchFamily="34" charset="0"/>
              <a:cs typeface="Calibri" panose="020F0502020204030204" pitchFamily="34" charset="0"/>
            </a:endParaRPr>
          </a:p>
          <a:p>
            <a:pPr indent="-228600" eaLnBrk="1" hangingPunct="1">
              <a:spcBef>
                <a:spcPts val="1000"/>
              </a:spcBef>
              <a:buSzPct val="100000"/>
              <a:buFont typeface="Arial" panose="020B0604020202020204" pitchFamily="34" charset="0"/>
              <a:buChar char="•"/>
            </a:pPr>
            <a:endParaRPr dirty="0">
              <a:solidFill>
                <a:srgbClr val="000000"/>
              </a:solidFill>
              <a:latin typeface="Calibri" panose="020F0502020204030204" pitchFamily="34" charset="0"/>
              <a:ea typeface="Calibri" panose="020F0502020204030204" pitchFamily="34" charset="0"/>
            </a:endParaRPr>
          </a:p>
        </p:txBody>
      </p:sp>
      <p:pic>
        <p:nvPicPr>
          <p:cNvPr id="68614" name="Image 3" descr="Une image contenant texte, Graphique, capture d’écran, graphisme&#10;&#10;Le contenu généré par l’IA peut être incorrect."/>
          <p:cNvPicPr>
            <a:picLocks noChangeAspect="1"/>
          </p:cNvPicPr>
          <p:nvPr/>
        </p:nvPicPr>
        <p:blipFill>
          <a:blip r:embed="rId2"/>
          <a:srcRect l="21300" r="21777" b="-2"/>
          <a:stretch>
            <a:fillRect/>
          </a:stretch>
        </p:blipFill>
        <p:spPr>
          <a:xfrm>
            <a:off x="5311775" y="0"/>
            <a:ext cx="6878638" cy="685800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p:nvPr/>
        </p:nvSpPr>
        <p:spPr>
          <a:xfrm>
            <a:off x="5040948" y="152083"/>
            <a:ext cx="2106930" cy="829945"/>
          </a:xfrm>
          <a:prstGeom prst="rect">
            <a:avLst/>
          </a:prstGeom>
          <a:noFill/>
          <a:ln w="9525">
            <a:noFill/>
          </a:ln>
        </p:spPr>
        <p:txBody>
          <a:bodyPr wrap="none" anchor="t" anchorCtr="1">
            <a:spAutoFit/>
          </a:bodyPr>
          <a:lstStyle/>
          <a:p>
            <a:pPr algn="ctr" eaLnBrk="1" hangingPunct="1"/>
            <a:r>
              <a:rPr lang="fr-FR" altLang="id-ID" sz="4800" dirty="0">
                <a:solidFill>
                  <a:srgbClr val="7F7F7F"/>
                </a:solidFill>
                <a:cs typeface="Calibri" panose="020F0502020204030204" pitchFamily="34" charset="0"/>
              </a:rPr>
              <a:t>Sources</a:t>
            </a:r>
          </a:p>
        </p:txBody>
      </p:sp>
      <p:sp>
        <p:nvSpPr>
          <p:cNvPr id="3" name="Zone de texte 2"/>
          <p:cNvSpPr txBox="1"/>
          <p:nvPr/>
        </p:nvSpPr>
        <p:spPr>
          <a:xfrm>
            <a:off x="838200" y="1143000"/>
            <a:ext cx="10597515" cy="5169535"/>
          </a:xfrm>
          <a:prstGeom prst="rect">
            <a:avLst/>
          </a:prstGeom>
        </p:spPr>
        <p:txBody>
          <a:bodyPr wrap="square">
            <a:spAutoFit/>
          </a:bodyPr>
          <a:lstStyle/>
          <a:p>
            <a:pPr marL="342900" indent="-342900">
              <a:buFont typeface="Arial" panose="020B0604020202020204" pitchFamily="34" charset="0"/>
              <a:buChar char="•"/>
            </a:pPr>
            <a:r>
              <a:rPr sz="2200"/>
              <a:t>PaLM: Scaling Language Modeling with Pathways</a:t>
            </a:r>
            <a:r>
              <a:rPr lang="fr-FR" sz="2200"/>
              <a:t>. (</a:t>
            </a:r>
            <a:r>
              <a:rPr lang="en-US" altLang="fr-FR" sz="2200">
                <a:hlinkClick r:id="rId2" action="ppaction://hlinkfile"/>
              </a:rPr>
              <a:t>https://arxiv.org/pdf/2204.02311v5</a:t>
            </a:r>
            <a:r>
              <a:rPr lang="fr-FR" altLang="en-US" sz="2200"/>
              <a:t>)</a:t>
            </a:r>
          </a:p>
          <a:p>
            <a:pPr marL="342900" indent="-342900">
              <a:buFont typeface="Arial" panose="020B0604020202020204" pitchFamily="34" charset="0"/>
              <a:buChar char="•"/>
            </a:pPr>
            <a:endParaRPr lang="fr-FR" altLang="en-US" sz="2200"/>
          </a:p>
          <a:p>
            <a:pPr marL="342900" indent="-342900">
              <a:buFont typeface="Arial" panose="020B0604020202020204" pitchFamily="34" charset="0"/>
              <a:buChar char="•"/>
            </a:pPr>
            <a:r>
              <a:rPr lang="en-US" altLang="fr-FR" sz="2200"/>
              <a:t>Pathways Language Model (PaLM): Scaling to 540 Billion Parameters for Breakthrough Performance</a:t>
            </a:r>
            <a:r>
              <a:rPr lang="fr-FR" altLang="en-US" sz="2200"/>
              <a:t> (</a:t>
            </a:r>
            <a:r>
              <a:rPr lang="en-US" altLang="fr-FR" sz="2200">
                <a:hlinkClick r:id="rId3" action="ppaction://hlinkfile"/>
              </a:rPr>
              <a:t>https://research.google/blog/pathways-language-model-palm-scaling-to-540-billion-parameters-for-breakthrough-performance/</a:t>
            </a:r>
            <a:r>
              <a:rPr lang="fr-FR" altLang="en-US" sz="2200"/>
              <a:t>)</a:t>
            </a:r>
          </a:p>
          <a:p>
            <a:pPr>
              <a:buFont typeface="Arial" panose="020B0604020202020204" pitchFamily="34" charset="0"/>
            </a:pPr>
            <a:endParaRPr lang="fr-FR" altLang="en-US" sz="2200"/>
          </a:p>
          <a:p>
            <a:pPr marL="342900" indent="-342900">
              <a:buFont typeface="Arial" panose="020B0604020202020204" pitchFamily="34" charset="0"/>
              <a:buChar char="•"/>
            </a:pPr>
            <a:r>
              <a:rPr lang="en-US" altLang="fr-FR" sz="2200">
                <a:sym typeface="+mn-ea"/>
              </a:rPr>
              <a:t>Encoder vs Decoder: Comparative Analysis of Encoder and Decoder</a:t>
            </a:r>
            <a:r>
              <a:rPr lang="fr-FR" altLang="en-US" sz="2200">
                <a:sym typeface="+mn-ea"/>
              </a:rPr>
              <a:t> </a:t>
            </a:r>
            <a:r>
              <a:rPr lang="en-US" altLang="fr-FR" sz="2200">
                <a:sym typeface="+mn-ea"/>
              </a:rPr>
              <a:t>Language Models on Multilingual NLU Tasks</a:t>
            </a:r>
            <a:r>
              <a:rPr lang="fr-FR" altLang="en-US" sz="2200">
                <a:sym typeface="+mn-ea"/>
              </a:rPr>
              <a:t> (</a:t>
            </a:r>
            <a:r>
              <a:rPr lang="en-US" altLang="fr-FR" sz="2200">
                <a:sym typeface="+mn-ea"/>
                <a:hlinkClick r:id="rId4" action="ppaction://hlinkfile"/>
              </a:rPr>
              <a:t>https://arxiv.org/pdf/2406.13469</a:t>
            </a:r>
            <a:r>
              <a:rPr lang="fr-FR" altLang="en-US" sz="2200">
                <a:sym typeface="+mn-ea"/>
              </a:rPr>
              <a:t>)</a:t>
            </a:r>
            <a:endParaRPr lang="fr-FR" altLang="en-US" sz="2200"/>
          </a:p>
          <a:p>
            <a:pPr>
              <a:buFont typeface="Arial" panose="020B0604020202020204" pitchFamily="34" charset="0"/>
            </a:pPr>
            <a:endParaRPr lang="fr-FR" altLang="en-US" sz="2200"/>
          </a:p>
          <a:p>
            <a:pPr marL="342900" indent="-342900">
              <a:buFont typeface="Arial" panose="020B0604020202020204" pitchFamily="34" charset="0"/>
              <a:buChar char="•"/>
            </a:pPr>
            <a:r>
              <a:rPr lang="en-US" altLang="fr-FR" sz="2200"/>
              <a:t>GLU Variants Improve Transformer</a:t>
            </a:r>
            <a:r>
              <a:rPr lang="fr-FR" altLang="en-US" sz="2200"/>
              <a:t> (</a:t>
            </a:r>
            <a:r>
              <a:rPr lang="en-US" altLang="fr-FR" sz="2200">
                <a:hlinkClick r:id="rId5" action="ppaction://hlinkfile"/>
              </a:rPr>
              <a:t>https://arxiv.org/pdf/2002.05202</a:t>
            </a:r>
            <a:r>
              <a:rPr lang="fr-FR" altLang="en-US" sz="2200"/>
              <a:t>)</a:t>
            </a:r>
          </a:p>
          <a:p>
            <a:pPr marL="342900" indent="-342900">
              <a:buFont typeface="Arial" panose="020B0604020202020204" pitchFamily="34" charset="0"/>
              <a:buChar char="•"/>
            </a:pPr>
            <a:endParaRPr lang="fr-FR" altLang="en-US" sz="2200"/>
          </a:p>
          <a:p>
            <a:pPr marL="342900" indent="-342900">
              <a:buFont typeface="Arial" panose="020B0604020202020204" pitchFamily="34" charset="0"/>
              <a:buChar char="•"/>
            </a:pPr>
            <a:r>
              <a:rPr lang="en-US" altLang="fr-FR" sz="2200"/>
              <a:t>PaLM2Technical Report</a:t>
            </a:r>
            <a:r>
              <a:rPr lang="fr-FR" altLang="en-US" sz="2200"/>
              <a:t> (</a:t>
            </a:r>
            <a:r>
              <a:rPr lang="en-US" altLang="fr-FR" sz="2200">
                <a:hlinkClick r:id="rId6" action="ppaction://hlinkfile"/>
              </a:rPr>
              <a:t>https://arxiv.org/pdf/2305.10403v1</a:t>
            </a:r>
            <a:r>
              <a:rPr lang="fr-FR" altLang="en-US" sz="2200"/>
              <a:t>)</a:t>
            </a:r>
          </a:p>
          <a:p>
            <a:pPr marL="342900" indent="-342900">
              <a:buFont typeface="Arial" panose="020B0604020202020204" pitchFamily="34" charset="0"/>
              <a:buChar char="•"/>
            </a:pPr>
            <a:endParaRPr lang="fr-FR" altLang="en-US" sz="2200"/>
          </a:p>
          <a:p>
            <a:pPr marL="342900" indent="-342900">
              <a:buFont typeface="Arial" panose="020B0604020202020204" pitchFamily="34" charset="0"/>
              <a:buChar char="•"/>
            </a:pPr>
            <a:r>
              <a:rPr lang="en-US" altLang="fr-FR" sz="2200"/>
              <a:t>Solving</a:t>
            </a:r>
            <a:r>
              <a:rPr lang="fr-FR" altLang="en-US" sz="2200"/>
              <a:t> </a:t>
            </a:r>
            <a:r>
              <a:rPr lang="en-US" altLang="fr-FR" sz="2200"/>
              <a:t>Domain-Specific</a:t>
            </a:r>
            <a:r>
              <a:rPr lang="fr-FR" altLang="en-US" sz="2200"/>
              <a:t> </a:t>
            </a:r>
            <a:r>
              <a:rPr lang="en-US" altLang="fr-FR" sz="2200"/>
              <a:t>Problems Using</a:t>
            </a:r>
            <a:r>
              <a:rPr lang="fr-FR" altLang="en-US" sz="2200"/>
              <a:t> </a:t>
            </a:r>
            <a:r>
              <a:rPr lang="en-US" altLang="fr-FR" sz="2200"/>
              <a:t>LLMs</a:t>
            </a:r>
            <a:r>
              <a:rPr lang="fr-FR" altLang="en-US" sz="2200"/>
              <a:t> (</a:t>
            </a:r>
            <a:r>
              <a:rPr lang="en-US" altLang="fr-FR" sz="2200">
                <a:hlinkClick r:id="rId7" action="ppaction://hlinkfile"/>
              </a:rPr>
              <a:t>https://drive.google.com/file/d/17oA0s8yh8xNZ5ZKiM7cR3lPFlRO-P02a/view</a:t>
            </a:r>
            <a:r>
              <a:rPr lang="fr-FR" altLang="en-US" sz="2200"/>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24"/>
          <p:cNvSpPr/>
          <p:nvPr/>
        </p:nvSpPr>
        <p:spPr>
          <a:xfrm rot="-5399996">
            <a:off x="2617788" y="5518150"/>
            <a:ext cx="858837"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25"/>
          <p:cNvSpPr/>
          <p:nvPr/>
        </p:nvSpPr>
        <p:spPr>
          <a:xfrm rot="-5399996">
            <a:off x="4649788" y="5518150"/>
            <a:ext cx="858837"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26"/>
          <p:cNvSpPr/>
          <p:nvPr/>
        </p:nvSpPr>
        <p:spPr>
          <a:xfrm rot="-5399996">
            <a:off x="6681788" y="5518150"/>
            <a:ext cx="858837"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27"/>
          <p:cNvSpPr/>
          <p:nvPr/>
        </p:nvSpPr>
        <p:spPr>
          <a:xfrm rot="-5399996">
            <a:off x="8713788" y="5518150"/>
            <a:ext cx="858837"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28"/>
          <p:cNvSpPr/>
          <p:nvPr/>
        </p:nvSpPr>
        <p:spPr>
          <a:xfrm rot="-5399996">
            <a:off x="10288588" y="5060950"/>
            <a:ext cx="17732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29"/>
          <p:cNvSpPr/>
          <p:nvPr/>
        </p:nvSpPr>
        <p:spPr>
          <a:xfrm rot="-5399996">
            <a:off x="585788" y="5518150"/>
            <a:ext cx="858837"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30"/>
          <p:cNvGrpSpPr/>
          <p:nvPr/>
        </p:nvGrpSpPr>
        <p:grpSpPr>
          <a:xfrm>
            <a:off x="0" y="6737350"/>
            <a:ext cx="12192000" cy="133350"/>
            <a:chOff x="0" y="6736614"/>
            <a:chExt cx="12191996" cy="134343"/>
          </a:xfrm>
        </p:grpSpPr>
        <p:sp>
          <p:nvSpPr>
            <p:cNvPr id="335888" name="Rectangle 31"/>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5889" name="Rectangle 32"/>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5890" name="Rectangle 33"/>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5891" name="Rectangle 36"/>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5892" name="Rectangle 37"/>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5893" name="Rectangle 38"/>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cxnSp>
        <p:nvCxnSpPr>
          <p:cNvPr id="15" name="Straight Connector 42"/>
          <p:cNvCxnSpPr/>
          <p:nvPr/>
        </p:nvCxnSpPr>
        <p:spPr>
          <a:xfrm>
            <a:off x="6122988" y="4752975"/>
            <a:ext cx="5092700" cy="0"/>
          </a:xfrm>
          <a:prstGeom prst="straightConnector1">
            <a:avLst/>
          </a:prstGeom>
          <a:ln w="15873" cap="flat" cmpd="sng">
            <a:solidFill>
              <a:srgbClr val="D0DFB3"/>
            </a:solidFill>
            <a:prstDash val="solid"/>
            <a:miter/>
            <a:headEnd type="none" w="med" len="med"/>
            <a:tailEnd type="none" w="med" len="med"/>
          </a:ln>
        </p:spPr>
      </p:cxnSp>
      <p:cxnSp>
        <p:nvCxnSpPr>
          <p:cNvPr id="16" name="Straight Connector 44"/>
          <p:cNvCxnSpPr/>
          <p:nvPr/>
        </p:nvCxnSpPr>
        <p:spPr>
          <a:xfrm>
            <a:off x="11215688" y="4752975"/>
            <a:ext cx="0" cy="438150"/>
          </a:xfrm>
          <a:prstGeom prst="straightConnector1">
            <a:avLst/>
          </a:prstGeom>
          <a:ln w="15873" cap="flat" cmpd="sng">
            <a:solidFill>
              <a:srgbClr val="D0DFB3"/>
            </a:solidFill>
            <a:prstDash val="solid"/>
            <a:miter/>
            <a:headEnd type="none" w="med" len="med"/>
            <a:tailEnd type="none" w="med" len="med"/>
          </a:ln>
        </p:spPr>
      </p:cxnSp>
      <p:sp>
        <p:nvSpPr>
          <p:cNvPr id="17" name="TextBox 45"/>
          <p:cNvSpPr txBox="1"/>
          <p:nvPr/>
        </p:nvSpPr>
        <p:spPr>
          <a:xfrm>
            <a:off x="4114483" y="2819083"/>
            <a:ext cx="3963035" cy="829945"/>
          </a:xfrm>
          <a:prstGeom prst="rect">
            <a:avLst/>
          </a:prstGeom>
          <a:noFill/>
          <a:ln w="9525">
            <a:noFill/>
          </a:ln>
        </p:spPr>
        <p:txBody>
          <a:bodyPr wrap="none" anchor="t" anchorCtr="1">
            <a:spAutoFit/>
          </a:bodyPr>
          <a:lstStyle/>
          <a:p>
            <a:pPr algn="ctr" eaLnBrk="1" hangingPunct="1"/>
            <a:r>
              <a:rPr lang="fr-FR" altLang="id-ID" sz="4800" b="1" dirty="0">
                <a:solidFill>
                  <a:srgbClr val="FFFFFF"/>
                </a:solidFill>
                <a:latin typeface="Calibri" panose="020F0502020204030204" pitchFamily="34" charset="0"/>
              </a:rPr>
              <a:t>Partie Pratique</a:t>
            </a:r>
          </a:p>
        </p:txBody>
      </p:sp>
      <p:cxnSp>
        <p:nvCxnSpPr>
          <p:cNvPr id="19" name="Straight Connector 47"/>
          <p:cNvCxnSpPr/>
          <p:nvPr/>
        </p:nvCxnSpPr>
        <p:spPr>
          <a:xfrm>
            <a:off x="5724525" y="3802063"/>
            <a:ext cx="742950" cy="0"/>
          </a:xfrm>
          <a:prstGeom prst="straightConnector1">
            <a:avLst/>
          </a:prstGeom>
          <a:ln w="15873" cap="flat" cmpd="sng">
            <a:solidFill>
              <a:srgbClr val="88A945"/>
            </a:solidFill>
            <a:prstDash val="solid"/>
            <a:miter/>
            <a:headEnd type="none" w="med" len="med"/>
            <a:tailEnd type="none" w="med" len="med"/>
          </a:ln>
        </p:spPr>
      </p:cxnSp>
      <p:cxnSp>
        <p:nvCxnSpPr>
          <p:cNvPr id="20" name="Straight Connector 48"/>
          <p:cNvCxnSpPr/>
          <p:nvPr/>
        </p:nvCxnSpPr>
        <p:spPr>
          <a:xfrm>
            <a:off x="6096000" y="3952875"/>
            <a:ext cx="0" cy="809625"/>
          </a:xfrm>
          <a:prstGeom prst="straightConnector1">
            <a:avLst/>
          </a:prstGeom>
          <a:ln w="15873" cap="flat" cmpd="sng">
            <a:solidFill>
              <a:srgbClr val="D0DFB3"/>
            </a:solidFill>
            <a:prstDash val="solid"/>
            <a:miter/>
            <a:headEnd type="arrow" w="med" len="med"/>
            <a:tailEnd type="none" w="med" len="med"/>
          </a:ln>
        </p:spPr>
      </p:cxnSp>
      <p:sp>
        <p:nvSpPr>
          <p:cNvPr id="21" name="Freeform 11"/>
          <p:cNvSpPr/>
          <p:nvPr/>
        </p:nvSpPr>
        <p:spPr>
          <a:xfrm>
            <a:off x="10820400" y="5588000"/>
            <a:ext cx="711200" cy="709613"/>
          </a:xfrm>
          <a:custGeom>
            <a:avLst/>
            <a:gdLst>
              <a:gd name="txL" fmla="*/ 0 w 852"/>
              <a:gd name="txT" fmla="*/ 0 h 850"/>
              <a:gd name="txR" fmla="*/ 852 w 852"/>
              <a:gd name="txB" fmla="*/ 850 h 850"/>
            </a:gdLst>
            <a:ahLst/>
            <a:cxnLst>
              <a:cxn ang="17694720">
                <a:pos x="356214" y="0"/>
              </a:cxn>
              <a:cxn ang="0">
                <a:pos x="712427" y="355153"/>
              </a:cxn>
              <a:cxn ang="5898240">
                <a:pos x="356214" y="710305"/>
              </a:cxn>
              <a:cxn ang="11796480">
                <a:pos x="0" y="355153"/>
              </a:cxn>
              <a:cxn ang="0">
                <a:pos x="701557" y="3343"/>
              </a:cxn>
              <a:cxn ang="0">
                <a:pos x="689014" y="0"/>
              </a:cxn>
              <a:cxn ang="0">
                <a:pos x="677307" y="4178"/>
              </a:cxn>
              <a:cxn ang="0">
                <a:pos x="10870" y="447910"/>
              </a:cxn>
              <a:cxn ang="0">
                <a:pos x="836" y="468801"/>
              </a:cxn>
              <a:cxn ang="0">
                <a:pos x="15051" y="487186"/>
              </a:cxn>
              <a:cxn ang="0">
                <a:pos x="188141" y="556545"/>
              </a:cxn>
              <a:cxn ang="0">
                <a:pos x="270087" y="699442"/>
              </a:cxn>
              <a:cxn ang="0">
                <a:pos x="289319" y="710305"/>
              </a:cxn>
              <a:cxn ang="0">
                <a:pos x="289319" y="710305"/>
              </a:cxn>
              <a:cxn ang="0">
                <a:pos x="308551" y="699442"/>
              </a:cxn>
              <a:cxn ang="0">
                <a:pos x="354541" y="622561"/>
              </a:cxn>
              <a:cxn ang="0">
                <a:pos x="570276" y="708634"/>
              </a:cxn>
              <a:cxn ang="0">
                <a:pos x="577802" y="710305"/>
              </a:cxn>
              <a:cxn ang="0">
                <a:pos x="589508" y="707798"/>
              </a:cxn>
              <a:cxn ang="0">
                <a:pos x="600379" y="691921"/>
              </a:cxn>
              <a:cxn ang="0">
                <a:pos x="710755" y="25905"/>
              </a:cxn>
              <a:cxn ang="0">
                <a:pos x="701557" y="3343"/>
              </a:cxn>
              <a:cxn ang="0">
                <a:pos x="70239" y="461280"/>
              </a:cxn>
              <a:cxn ang="0">
                <a:pos x="585327" y="118663"/>
              </a:cxn>
              <a:cxn ang="0">
                <a:pos x="210718" y="518940"/>
              </a:cxn>
              <a:cxn ang="0">
                <a:pos x="204865" y="514762"/>
              </a:cxn>
              <a:cxn ang="0">
                <a:pos x="70239" y="461280"/>
              </a:cxn>
              <a:cxn ang="0">
                <a:pos x="227441" y="533982"/>
              </a:cxn>
              <a:cxn ang="0">
                <a:pos x="226605" y="533982"/>
              </a:cxn>
              <a:cxn ang="0">
                <a:pos x="647205" y="84401"/>
              </a:cxn>
              <a:cxn ang="0">
                <a:pos x="289319" y="642617"/>
              </a:cxn>
              <a:cxn ang="0">
                <a:pos x="227441" y="533982"/>
              </a:cxn>
              <a:cxn ang="0">
                <a:pos x="561078" y="657659"/>
              </a:cxn>
              <a:cxn ang="0">
                <a:pos x="371265" y="581614"/>
              </a:cxn>
              <a:cxn ang="0">
                <a:pos x="357050" y="579107"/>
              </a:cxn>
              <a:cxn ang="0">
                <a:pos x="649713" y="126184"/>
              </a:cxn>
              <a:cxn ang="0">
                <a:pos x="561078" y="657659"/>
              </a:cxn>
            </a:cxnLst>
            <a:rect l="txL" t="txT" r="txR" b="txB"/>
            <a:pathLst>
              <a:path w="852" h="850">
                <a:moveTo>
                  <a:pt x="839" y="4"/>
                </a:moveTo>
                <a:cubicBezTo>
                  <a:pt x="834" y="2"/>
                  <a:pt x="829" y="0"/>
                  <a:pt x="824" y="0"/>
                </a:cubicBezTo>
                <a:cubicBezTo>
                  <a:pt x="819" y="0"/>
                  <a:pt x="814" y="2"/>
                  <a:pt x="810" y="5"/>
                </a:cubicBezTo>
                <a:cubicBezTo>
                  <a:pt x="13" y="536"/>
                  <a:pt x="13" y="536"/>
                  <a:pt x="13" y="536"/>
                </a:cubicBezTo>
                <a:cubicBezTo>
                  <a:pt x="5" y="541"/>
                  <a:pt x="0" y="551"/>
                  <a:pt x="1" y="561"/>
                </a:cubicBezTo>
                <a:cubicBezTo>
                  <a:pt x="2" y="570"/>
                  <a:pt x="9" y="579"/>
                  <a:pt x="18" y="583"/>
                </a:cubicBezTo>
                <a:cubicBezTo>
                  <a:pt x="225" y="666"/>
                  <a:pt x="225" y="666"/>
                  <a:pt x="225" y="666"/>
                </a:cubicBezTo>
                <a:cubicBezTo>
                  <a:pt x="323" y="837"/>
                  <a:pt x="323" y="837"/>
                  <a:pt x="323" y="837"/>
                </a:cubicBezTo>
                <a:cubicBezTo>
                  <a:pt x="328" y="845"/>
                  <a:pt x="337" y="850"/>
                  <a:pt x="346" y="850"/>
                </a:cubicBezTo>
                <a:cubicBezTo>
                  <a:pt x="346" y="850"/>
                  <a:pt x="346" y="850"/>
                  <a:pt x="346" y="850"/>
                </a:cubicBezTo>
                <a:cubicBezTo>
                  <a:pt x="356" y="850"/>
                  <a:pt x="364" y="845"/>
                  <a:pt x="369" y="837"/>
                </a:cubicBezTo>
                <a:cubicBezTo>
                  <a:pt x="424" y="745"/>
                  <a:pt x="424" y="745"/>
                  <a:pt x="424" y="745"/>
                </a:cubicBezTo>
                <a:cubicBezTo>
                  <a:pt x="682" y="848"/>
                  <a:pt x="682" y="848"/>
                  <a:pt x="682" y="848"/>
                </a:cubicBezTo>
                <a:cubicBezTo>
                  <a:pt x="685" y="849"/>
                  <a:pt x="688" y="850"/>
                  <a:pt x="691" y="850"/>
                </a:cubicBezTo>
                <a:cubicBezTo>
                  <a:pt x="696" y="850"/>
                  <a:pt x="700" y="849"/>
                  <a:pt x="705" y="847"/>
                </a:cubicBezTo>
                <a:cubicBezTo>
                  <a:pt x="712" y="843"/>
                  <a:pt x="716" y="836"/>
                  <a:pt x="718" y="828"/>
                </a:cubicBezTo>
                <a:cubicBezTo>
                  <a:pt x="850" y="31"/>
                  <a:pt x="850" y="31"/>
                  <a:pt x="850" y="31"/>
                </a:cubicBezTo>
                <a:cubicBezTo>
                  <a:pt x="852" y="21"/>
                  <a:pt x="848" y="10"/>
                  <a:pt x="839" y="4"/>
                </a:cubicBezTo>
                <a:close/>
                <a:moveTo>
                  <a:pt x="84" y="552"/>
                </a:moveTo>
                <a:cubicBezTo>
                  <a:pt x="700" y="142"/>
                  <a:pt x="700" y="142"/>
                  <a:pt x="700" y="142"/>
                </a:cubicBezTo>
                <a:cubicBezTo>
                  <a:pt x="252" y="621"/>
                  <a:pt x="252" y="621"/>
                  <a:pt x="252" y="621"/>
                </a:cubicBezTo>
                <a:cubicBezTo>
                  <a:pt x="250" y="619"/>
                  <a:pt x="248" y="617"/>
                  <a:pt x="245" y="616"/>
                </a:cubicBezTo>
                <a:lnTo>
                  <a:pt x="84" y="552"/>
                </a:lnTo>
                <a:close/>
                <a:moveTo>
                  <a:pt x="272" y="639"/>
                </a:moveTo>
                <a:cubicBezTo>
                  <a:pt x="272" y="639"/>
                  <a:pt x="271" y="639"/>
                  <a:pt x="271" y="639"/>
                </a:cubicBezTo>
                <a:cubicBezTo>
                  <a:pt x="774" y="101"/>
                  <a:pt x="774" y="101"/>
                  <a:pt x="774" y="101"/>
                </a:cubicBezTo>
                <a:cubicBezTo>
                  <a:pt x="346" y="769"/>
                  <a:pt x="346" y="769"/>
                  <a:pt x="346" y="769"/>
                </a:cubicBezTo>
                <a:lnTo>
                  <a:pt x="272" y="639"/>
                </a:lnTo>
                <a:close/>
                <a:moveTo>
                  <a:pt x="671" y="787"/>
                </a:moveTo>
                <a:cubicBezTo>
                  <a:pt x="444" y="696"/>
                  <a:pt x="444" y="696"/>
                  <a:pt x="444" y="696"/>
                </a:cubicBezTo>
                <a:cubicBezTo>
                  <a:pt x="438" y="694"/>
                  <a:pt x="433" y="693"/>
                  <a:pt x="427" y="693"/>
                </a:cubicBezTo>
                <a:cubicBezTo>
                  <a:pt x="777" y="151"/>
                  <a:pt x="777" y="151"/>
                  <a:pt x="777" y="151"/>
                </a:cubicBezTo>
                <a:lnTo>
                  <a:pt x="671" y="787"/>
                </a:lnTo>
                <a:close/>
              </a:path>
            </a:pathLst>
          </a:custGeom>
          <a:solidFill>
            <a:srgbClr val="FFFFFF">
              <a:alpha val="100000"/>
            </a:srgbClr>
          </a:solidFill>
          <a:ln w="9525">
            <a:noFill/>
          </a:ln>
        </p:spPr>
        <p:txBody>
          <a:bodyPr/>
          <a:lstStyle/>
          <a:p>
            <a:endParaRPr lang="fr-FR"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37"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900" decel="100000" fill="hold"/>
                                        <p:tgtEl>
                                          <p:spTgt spid="7"/>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15" presetID="37" presetClass="entr" presetSubtype="0" fill="hold" grpId="0" nodeType="withEffect">
                                  <p:stCondLst>
                                    <p:cond delay="1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900" decel="100000" fill="hold"/>
                                        <p:tgtEl>
                                          <p:spTgt spid="2"/>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21" presetID="37" presetClass="entr" presetSubtype="0" fill="hold" grpId="0" nodeType="withEffect">
                                  <p:stCondLst>
                                    <p:cond delay="20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900" decel="100000" fill="hold"/>
                                        <p:tgtEl>
                                          <p:spTgt spid="3"/>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27" presetID="37" presetClass="entr" presetSubtype="0" fill="hold" grpId="0" nodeType="withEffect">
                                  <p:stCondLst>
                                    <p:cond delay="30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anim calcmode="lin" valueType="num">
                                      <p:cBhvr>
                                        <p:cTn id="30" dur="1000" fill="hold"/>
                                        <p:tgtEl>
                                          <p:spTgt spid="4"/>
                                        </p:tgtEl>
                                        <p:attrNameLst>
                                          <p:attrName>ppt_x</p:attrName>
                                        </p:attrNameLst>
                                      </p:cBhvr>
                                      <p:tavLst>
                                        <p:tav tm="0">
                                          <p:val>
                                            <p:strVal val="#ppt_x"/>
                                          </p:val>
                                        </p:tav>
                                        <p:tav tm="100000">
                                          <p:val>
                                            <p:strVal val="#ppt_x"/>
                                          </p:val>
                                        </p:tav>
                                      </p:tavLst>
                                    </p:anim>
                                    <p:anim calcmode="lin" valueType="num">
                                      <p:cBhvr>
                                        <p:cTn id="31" dur="900" decel="100000" fill="hold"/>
                                        <p:tgtEl>
                                          <p:spTgt spid="4"/>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33" presetID="37" presetClass="entr" presetSubtype="0" fill="hold" grpId="0" nodeType="withEffect">
                                  <p:stCondLst>
                                    <p:cond delay="40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900" decel="100000" fill="hold"/>
                                        <p:tgtEl>
                                          <p:spTgt spid="5"/>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50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900" decel="100000" fill="hold"/>
                                        <p:tgtEl>
                                          <p:spTgt spid="6"/>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par>
                          <p:cTn id="45" fill="hold">
                            <p:stCondLst>
                              <p:cond delay="1500"/>
                            </p:stCondLst>
                            <p:childTnLst>
                              <p:par>
                                <p:cTn id="46" presetID="53" presetClass="entr" presetSubtype="16" fill="hold" nodeType="after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500" fill="hold"/>
                                        <p:tgtEl>
                                          <p:spTgt spid="21"/>
                                        </p:tgtEl>
                                        <p:attrNameLst>
                                          <p:attrName>ppt_w</p:attrName>
                                        </p:attrNameLst>
                                      </p:cBhvr>
                                      <p:tavLst>
                                        <p:tav tm="0">
                                          <p:val>
                                            <p:fltVal val="0"/>
                                          </p:val>
                                        </p:tav>
                                        <p:tav tm="100000">
                                          <p:val>
                                            <p:strVal val="#ppt_w"/>
                                          </p:val>
                                        </p:tav>
                                      </p:tavLst>
                                    </p:anim>
                                    <p:anim calcmode="lin" valueType="num">
                                      <p:cBhvr>
                                        <p:cTn id="49" dur="500" fill="hold"/>
                                        <p:tgtEl>
                                          <p:spTgt spid="21"/>
                                        </p:tgtEl>
                                        <p:attrNameLst>
                                          <p:attrName>ppt_h</p:attrName>
                                        </p:attrNameLst>
                                      </p:cBhvr>
                                      <p:tavLst>
                                        <p:tav tm="0">
                                          <p:val>
                                            <p:fltVal val="0"/>
                                          </p:val>
                                        </p:tav>
                                        <p:tav tm="100000">
                                          <p:val>
                                            <p:strVal val="#ppt_h"/>
                                          </p:val>
                                        </p:tav>
                                      </p:tavLst>
                                    </p:anim>
                                    <p:animEffect transition="in" filter="fade">
                                      <p:cBhvr>
                                        <p:cTn id="50" dur="500"/>
                                        <p:tgtEl>
                                          <p:spTgt spid="21"/>
                                        </p:tgtEl>
                                      </p:cBhvr>
                                    </p:animEffect>
                                  </p:childTnLst>
                                </p:cTn>
                              </p:par>
                            </p:childTnLst>
                          </p:cTn>
                        </p:par>
                        <p:par>
                          <p:cTn id="51" fill="hold">
                            <p:stCondLst>
                              <p:cond delay="2000"/>
                            </p:stCondLst>
                            <p:childTnLst>
                              <p:par>
                                <p:cTn id="52" presetID="22" presetClass="entr" presetSubtype="4" fill="hold"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down)">
                                      <p:cBhvr>
                                        <p:cTn id="54" dur="500"/>
                                        <p:tgtEl>
                                          <p:spTgt spid="16"/>
                                        </p:tgtEl>
                                      </p:cBhvr>
                                    </p:animEffect>
                                  </p:childTnLst>
                                </p:cTn>
                              </p:par>
                            </p:childTnLst>
                          </p:cTn>
                        </p:par>
                        <p:par>
                          <p:cTn id="55" fill="hold">
                            <p:stCondLst>
                              <p:cond delay="2500"/>
                            </p:stCondLst>
                            <p:childTnLst>
                              <p:par>
                                <p:cTn id="56" presetID="22" presetClass="entr" presetSubtype="2"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right)">
                                      <p:cBhvr>
                                        <p:cTn id="58" dur="500"/>
                                        <p:tgtEl>
                                          <p:spTgt spid="15"/>
                                        </p:tgtEl>
                                      </p:cBhvr>
                                    </p:animEffect>
                                  </p:childTnLst>
                                </p:cTn>
                              </p:par>
                            </p:childTnLst>
                          </p:cTn>
                        </p:par>
                        <p:par>
                          <p:cTn id="59" fill="hold">
                            <p:stCondLst>
                              <p:cond delay="3000"/>
                            </p:stCondLst>
                            <p:childTnLst>
                              <p:par>
                                <p:cTn id="60" presetID="22" presetClass="entr" presetSubtype="4" fill="hold" nodeType="after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down)">
                                      <p:cBhvr>
                                        <p:cTn id="62" dur="500"/>
                                        <p:tgtEl>
                                          <p:spTgt spid="20"/>
                                        </p:tgtEl>
                                      </p:cBhvr>
                                    </p:animEffect>
                                  </p:childTnLst>
                                </p:cTn>
                              </p:par>
                            </p:childTnLst>
                          </p:cTn>
                        </p:par>
                        <p:par>
                          <p:cTn id="63" fill="hold">
                            <p:stCondLst>
                              <p:cond delay="3500"/>
                            </p:stCondLst>
                            <p:childTnLst>
                              <p:par>
                                <p:cTn id="64" presetID="16" presetClass="entr" presetSubtype="37"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barn(outVertical)">
                                      <p:cBhvr>
                                        <p:cTn id="66" dur="500"/>
                                        <p:tgtEl>
                                          <p:spTgt spid="19"/>
                                        </p:tgtEl>
                                      </p:cBhvr>
                                    </p:animEffect>
                                  </p:childTnLst>
                                </p:cTn>
                              </p:par>
                            </p:childTnLst>
                          </p:cTn>
                        </p:par>
                        <p:par>
                          <p:cTn id="67" fill="hold">
                            <p:stCondLst>
                              <p:cond delay="4000"/>
                            </p:stCondLst>
                            <p:childTnLst>
                              <p:par>
                                <p:cTn id="68" presetID="42" presetClass="entr" presetSubtype="0" fill="hold" grpId="0" nodeType="after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1000"/>
                                        <p:tgtEl>
                                          <p:spTgt spid="17"/>
                                        </p:tgtEl>
                                      </p:cBhvr>
                                    </p:animEffect>
                                    <p:anim calcmode="lin" valueType="num">
                                      <p:cBhvr>
                                        <p:cTn id="71" dur="1000" fill="hold"/>
                                        <p:tgtEl>
                                          <p:spTgt spid="17"/>
                                        </p:tgtEl>
                                        <p:attrNameLst>
                                          <p:attrName>ppt_x</p:attrName>
                                        </p:attrNameLst>
                                      </p:cBhvr>
                                      <p:tavLst>
                                        <p:tav tm="0">
                                          <p:val>
                                            <p:strVal val="#ppt_x"/>
                                          </p:val>
                                        </p:tav>
                                        <p:tav tm="100000">
                                          <p:val>
                                            <p:strVal val="#ppt_x"/>
                                          </p:val>
                                        </p:tav>
                                      </p:tavLst>
                                    </p:anim>
                                    <p:anim calcmode="lin" valueType="num">
                                      <p:cBhvr>
                                        <p:cTn id="7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17"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222A35"/>
        </a:solidFill>
        <a:effectLst/>
      </p:bgPr>
    </p:bg>
    <p:spTree>
      <p:nvGrpSpPr>
        <p:cNvPr id="1" name=""/>
        <p:cNvGrpSpPr/>
        <p:nvPr/>
      </p:nvGrpSpPr>
      <p:grpSpPr>
        <a:xfrm>
          <a:off x="0" y="0"/>
          <a:ext cx="0" cy="0"/>
          <a:chOff x="0" y="0"/>
          <a:chExt cx="0" cy="0"/>
        </a:xfrm>
      </p:grpSpPr>
      <p:sp>
        <p:nvSpPr>
          <p:cNvPr id="2" name="Rectangle 11"/>
          <p:cNvSpPr/>
          <p:nvPr/>
        </p:nvSpPr>
        <p:spPr>
          <a:xfrm rot="-5399996">
            <a:off x="2671763" y="5465763"/>
            <a:ext cx="752475"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2"/>
          <p:cNvSpPr/>
          <p:nvPr/>
        </p:nvSpPr>
        <p:spPr>
          <a:xfrm rot="-5399996">
            <a:off x="4703763" y="5465763"/>
            <a:ext cx="752475" cy="20320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3"/>
          <p:cNvSpPr/>
          <p:nvPr/>
        </p:nvSpPr>
        <p:spPr>
          <a:xfrm rot="-5399996">
            <a:off x="6735763" y="5465763"/>
            <a:ext cx="75247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4"/>
          <p:cNvSpPr/>
          <p:nvPr/>
        </p:nvSpPr>
        <p:spPr>
          <a:xfrm rot="-5399996">
            <a:off x="8767763" y="5465763"/>
            <a:ext cx="752475"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5"/>
          <p:cNvSpPr/>
          <p:nvPr/>
        </p:nvSpPr>
        <p:spPr>
          <a:xfrm rot="-5399996">
            <a:off x="10799763" y="5465763"/>
            <a:ext cx="752475"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6"/>
          <p:cNvSpPr/>
          <p:nvPr/>
        </p:nvSpPr>
        <p:spPr>
          <a:xfrm rot="-5399996">
            <a:off x="247650" y="5073650"/>
            <a:ext cx="1537970"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8" name="Group 17"/>
          <p:cNvGrpSpPr/>
          <p:nvPr/>
        </p:nvGrpSpPr>
        <p:grpSpPr>
          <a:xfrm>
            <a:off x="0" y="6737350"/>
            <a:ext cx="12192000" cy="133350"/>
            <a:chOff x="0" y="6736614"/>
            <a:chExt cx="12191996" cy="134343"/>
          </a:xfrm>
        </p:grpSpPr>
        <p:sp>
          <p:nvSpPr>
            <p:cNvPr id="32780" name="Rectangle 18"/>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1" name="Rectangle 19"/>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2" name="Rectangle 20"/>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3" name="Rectangle 21"/>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4" name="Rectangle 22"/>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2785" name="Rectangle 23"/>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5" name="TextBox 39"/>
          <p:cNvSpPr txBox="1"/>
          <p:nvPr/>
        </p:nvSpPr>
        <p:spPr>
          <a:xfrm>
            <a:off x="3197111" y="2738438"/>
            <a:ext cx="5856237" cy="1569660"/>
          </a:xfrm>
          <a:prstGeom prst="rect">
            <a:avLst/>
          </a:prstGeom>
          <a:noFill/>
          <a:ln w="9525">
            <a:noFill/>
          </a:ln>
        </p:spPr>
        <p:txBody>
          <a:bodyPr wrap="square" anchor="t" anchorCtr="1">
            <a:spAutoFit/>
          </a:bodyPr>
          <a:lstStyle/>
          <a:p>
            <a:pPr algn="ctr" eaLnBrk="1" hangingPunct="1"/>
            <a:r>
              <a:rPr lang="fr-FR" sz="4800" b="1" dirty="0">
                <a:solidFill>
                  <a:schemeClr val="bg1"/>
                </a:solidFill>
              </a:rPr>
              <a:t>Codex (</a:t>
            </a:r>
            <a:r>
              <a:rPr lang="fr-FR" sz="4800" b="1" dirty="0" err="1">
                <a:solidFill>
                  <a:schemeClr val="bg1"/>
                </a:solidFill>
              </a:rPr>
              <a:t>OpenAI</a:t>
            </a:r>
            <a:r>
              <a:rPr lang="fr-FR" sz="4800" b="1" dirty="0">
                <a:solidFill>
                  <a:schemeClr val="bg1"/>
                </a:solidFill>
              </a:rPr>
              <a:t>)</a:t>
            </a:r>
          </a:p>
          <a:p>
            <a:pPr algn="ctr" eaLnBrk="1" hangingPunct="1"/>
            <a:endParaRPr lang="id-ID" altLang="x-none" sz="4800" b="1" dirty="0">
              <a:solidFill>
                <a:schemeClr val="bg1"/>
              </a:solidFill>
              <a:latin typeface="Calibri" panose="020F0502020204030204" pitchFamily="34" charset="0"/>
            </a:endParaRPr>
          </a:p>
        </p:txBody>
      </p:sp>
      <p:sp>
        <p:nvSpPr>
          <p:cNvPr id="16" name="Rectangle 40"/>
          <p:cNvSpPr/>
          <p:nvPr/>
        </p:nvSpPr>
        <p:spPr>
          <a:xfrm>
            <a:off x="2127250" y="3151188"/>
            <a:ext cx="7937500" cy="400050"/>
          </a:xfrm>
          <a:prstGeom prst="rect">
            <a:avLst/>
          </a:prstGeom>
          <a:noFill/>
          <a:ln w="9525">
            <a:noFill/>
          </a:ln>
        </p:spPr>
        <p:txBody>
          <a:bodyPr anchor="t" anchorCtr="1">
            <a:spAutoFit/>
          </a:bodyPr>
          <a:lstStyle/>
          <a:p>
            <a:pPr algn="ctr" eaLnBrk="1" hangingPunct="1"/>
            <a:endParaRPr lang="id-ID" altLang="x-none" sz="2000" dirty="0">
              <a:solidFill>
                <a:srgbClr val="88A945"/>
              </a:solidFill>
              <a:latin typeface="Source Sans Pro Light"/>
              <a:ea typeface="Source Sans Pro Light"/>
            </a:endParaRPr>
          </a:p>
        </p:txBody>
      </p:sp>
      <p:cxnSp>
        <p:nvCxnSpPr>
          <p:cNvPr id="17" name="Straight Connector 41"/>
          <p:cNvCxnSpPr/>
          <p:nvPr/>
        </p:nvCxnSpPr>
        <p:spPr>
          <a:xfrm>
            <a:off x="5724525" y="3627438"/>
            <a:ext cx="742950" cy="0"/>
          </a:xfrm>
          <a:prstGeom prst="straightConnector1">
            <a:avLst/>
          </a:prstGeom>
          <a:ln w="15873" cap="flat" cmpd="sng">
            <a:solidFill>
              <a:srgbClr val="88A945"/>
            </a:solidFill>
            <a:prstDash val="solid"/>
            <a:miter/>
            <a:headEnd type="none" w="med" len="med"/>
            <a:tailEnd type="none" w="med" len="med"/>
          </a:ln>
        </p:spPr>
      </p:cxnSp>
      <p:cxnSp>
        <p:nvCxnSpPr>
          <p:cNvPr id="19" name="Straight Connector 34"/>
          <p:cNvCxnSpPr/>
          <p:nvPr/>
        </p:nvCxnSpPr>
        <p:spPr>
          <a:xfrm>
            <a:off x="990600" y="4495800"/>
            <a:ext cx="5105400" cy="0"/>
          </a:xfrm>
          <a:prstGeom prst="straightConnector1">
            <a:avLst/>
          </a:prstGeom>
          <a:ln w="15873" cap="flat" cmpd="sng">
            <a:solidFill>
              <a:srgbClr val="D0DFB3"/>
            </a:solidFill>
            <a:prstDash val="solid"/>
            <a:miter/>
            <a:headEnd type="none" w="med" len="med"/>
            <a:tailEnd type="none" w="med" len="med"/>
          </a:ln>
        </p:spPr>
      </p:cxnSp>
      <p:cxnSp>
        <p:nvCxnSpPr>
          <p:cNvPr id="24" name="Straight Connector 43"/>
          <p:cNvCxnSpPr/>
          <p:nvPr/>
        </p:nvCxnSpPr>
        <p:spPr>
          <a:xfrm flipH="1">
            <a:off x="6096000" y="3654425"/>
            <a:ext cx="9525" cy="841375"/>
          </a:xfrm>
          <a:prstGeom prst="straightConnector1">
            <a:avLst/>
          </a:prstGeom>
          <a:ln w="15873" cap="flat" cmpd="sng">
            <a:solidFill>
              <a:srgbClr val="D0DFB3"/>
            </a:solidFill>
            <a:prstDash val="solid"/>
            <a:miter/>
            <a:headEnd type="arrow" w="med" len="med"/>
            <a:tailEnd type="none" w="med" len="med"/>
          </a:ln>
        </p:spPr>
      </p:cxnSp>
      <p:cxnSp>
        <p:nvCxnSpPr>
          <p:cNvPr id="9" name="Straight Connector 34"/>
          <p:cNvCxnSpPr/>
          <p:nvPr/>
        </p:nvCxnSpPr>
        <p:spPr>
          <a:xfrm>
            <a:off x="990600" y="4495800"/>
            <a:ext cx="0" cy="838200"/>
          </a:xfrm>
          <a:prstGeom prst="straightConnector1">
            <a:avLst/>
          </a:prstGeom>
          <a:ln w="15873" cap="flat" cmpd="sng">
            <a:solidFill>
              <a:srgbClr val="D0DFB3"/>
            </a:solidFill>
            <a:prstDash val="solid"/>
            <a:miter/>
            <a:headEnd type="none" w="med" len="med"/>
            <a:tailEnd type="none" w="med" len="med"/>
          </a:ln>
        </p:spPr>
      </p:cxnSp>
      <p:grpSp>
        <p:nvGrpSpPr>
          <p:cNvPr id="10" name="Group 28"/>
          <p:cNvGrpSpPr/>
          <p:nvPr/>
        </p:nvGrpSpPr>
        <p:grpSpPr>
          <a:xfrm>
            <a:off x="509270" y="5666105"/>
            <a:ext cx="736600" cy="738188"/>
            <a:chOff x="647002" y="5633161"/>
            <a:chExt cx="738003" cy="737637"/>
          </a:xfrm>
        </p:grpSpPr>
        <p:sp>
          <p:nvSpPr>
            <p:cNvPr id="40976" name="Freeform 5"/>
            <p:cNvSpPr/>
            <p:nvPr/>
          </p:nvSpPr>
          <p:spPr>
            <a:xfrm>
              <a:off x="647002"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138738"/>
                </a:cxn>
                <a:cxn ang="0">
                  <a:pos x="184627" y="68938"/>
                </a:cxn>
                <a:cxn ang="0">
                  <a:pos x="115607" y="0"/>
                </a:cxn>
                <a:cxn ang="0">
                  <a:pos x="46588" y="68938"/>
                </a:cxn>
                <a:cxn ang="0">
                  <a:pos x="46588" y="138738"/>
                </a:cxn>
                <a:cxn ang="0">
                  <a:pos x="0" y="230942"/>
                </a:cxn>
                <a:cxn ang="0">
                  <a:pos x="46588" y="322285"/>
                </a:cxn>
                <a:cxn ang="0">
                  <a:pos x="46588" y="668699"/>
                </a:cxn>
                <a:cxn ang="0">
                  <a:pos x="115607" y="737637"/>
                </a:cxn>
                <a:cxn ang="0">
                  <a:pos x="184627" y="668699"/>
                </a:cxn>
                <a:cxn ang="0">
                  <a:pos x="184627" y="322285"/>
                </a:cxn>
                <a:cxn ang="0">
                  <a:pos x="231215" y="230942"/>
                </a:cxn>
                <a:cxn ang="0">
                  <a:pos x="184627" y="138738"/>
                </a:cxn>
                <a:cxn ang="0">
                  <a:pos x="92313" y="68938"/>
                </a:cxn>
                <a:cxn ang="0">
                  <a:pos x="115607" y="46533"/>
                </a:cxn>
                <a:cxn ang="0">
                  <a:pos x="138902" y="68938"/>
                </a:cxn>
                <a:cxn ang="0">
                  <a:pos x="138902" y="117195"/>
                </a:cxn>
                <a:cxn ang="0">
                  <a:pos x="115607" y="115471"/>
                </a:cxn>
                <a:cxn ang="0">
                  <a:pos x="92313" y="117195"/>
                </a:cxn>
                <a:cxn ang="0">
                  <a:pos x="92313" y="68938"/>
                </a:cxn>
                <a:cxn ang="0">
                  <a:pos x="138902" y="668699"/>
                </a:cxn>
                <a:cxn ang="0">
                  <a:pos x="115607" y="691966"/>
                </a:cxn>
                <a:cxn ang="0">
                  <a:pos x="92313" y="668699"/>
                </a:cxn>
                <a:cxn ang="0">
                  <a:pos x="92313" y="343828"/>
                </a:cxn>
                <a:cxn ang="0">
                  <a:pos x="115607" y="345552"/>
                </a:cxn>
                <a:cxn ang="0">
                  <a:pos x="138902" y="343828"/>
                </a:cxn>
                <a:cxn ang="0">
                  <a:pos x="138902" y="668699"/>
                </a:cxn>
                <a:cxn ang="0">
                  <a:pos x="181176" y="249900"/>
                </a:cxn>
                <a:cxn ang="0">
                  <a:pos x="180313" y="253347"/>
                </a:cxn>
                <a:cxn ang="0">
                  <a:pos x="171686" y="270582"/>
                </a:cxn>
                <a:cxn ang="0">
                  <a:pos x="171686" y="270582"/>
                </a:cxn>
                <a:cxn ang="0">
                  <a:pos x="157019" y="285231"/>
                </a:cxn>
                <a:cxn ang="0">
                  <a:pos x="157019" y="285231"/>
                </a:cxn>
                <a:cxn ang="0">
                  <a:pos x="138902" y="295572"/>
                </a:cxn>
                <a:cxn ang="0">
                  <a:pos x="115607" y="299880"/>
                </a:cxn>
                <a:cxn ang="0">
                  <a:pos x="92313" y="295572"/>
                </a:cxn>
                <a:cxn ang="0">
                  <a:pos x="74196" y="285231"/>
                </a:cxn>
                <a:cxn ang="0">
                  <a:pos x="73333" y="285231"/>
                </a:cxn>
                <a:cxn ang="0">
                  <a:pos x="59529" y="270582"/>
                </a:cxn>
                <a:cxn ang="0">
                  <a:pos x="59529" y="270582"/>
                </a:cxn>
                <a:cxn ang="0">
                  <a:pos x="50039" y="253347"/>
                </a:cxn>
                <a:cxn ang="0">
                  <a:pos x="49176" y="249900"/>
                </a:cxn>
                <a:cxn ang="0">
                  <a:pos x="46588" y="230942"/>
                </a:cxn>
                <a:cxn ang="0">
                  <a:pos x="49176" y="211123"/>
                </a:cxn>
                <a:cxn ang="0">
                  <a:pos x="50039" y="207676"/>
                </a:cxn>
                <a:cxn ang="0">
                  <a:pos x="59529" y="190441"/>
                </a:cxn>
                <a:cxn ang="0">
                  <a:pos x="59529" y="190441"/>
                </a:cxn>
                <a:cxn ang="0">
                  <a:pos x="73333" y="175792"/>
                </a:cxn>
                <a:cxn ang="0">
                  <a:pos x="74196" y="175792"/>
                </a:cxn>
                <a:cxn ang="0">
                  <a:pos x="92313" y="165451"/>
                </a:cxn>
                <a:cxn ang="0">
                  <a:pos x="115607" y="161143"/>
                </a:cxn>
                <a:cxn ang="0">
                  <a:pos x="138902" y="165451"/>
                </a:cxn>
                <a:cxn ang="0">
                  <a:pos x="157019" y="175792"/>
                </a:cxn>
                <a:cxn ang="0">
                  <a:pos x="157019" y="175792"/>
                </a:cxn>
                <a:cxn ang="0">
                  <a:pos x="171686" y="190441"/>
                </a:cxn>
                <a:cxn ang="0">
                  <a:pos x="171686" y="190441"/>
                </a:cxn>
                <a:cxn ang="0">
                  <a:pos x="180313" y="207676"/>
                </a:cxn>
                <a:cxn ang="0">
                  <a:pos x="181176" y="211123"/>
                </a:cxn>
                <a:cxn ang="0">
                  <a:pos x="184627" y="230942"/>
                </a:cxn>
                <a:cxn ang="0">
                  <a:pos x="181176" y="249900"/>
                </a:cxn>
              </a:cxnLst>
              <a:rect l="txL" t="txT" r="txR" b="txB"/>
              <a:pathLst>
                <a:path w="268" h="856">
                  <a:moveTo>
                    <a:pt x="214" y="161"/>
                  </a:moveTo>
                  <a:cubicBezTo>
                    <a:pt x="214" y="80"/>
                    <a:pt x="214" y="80"/>
                    <a:pt x="214" y="80"/>
                  </a:cubicBezTo>
                  <a:cubicBezTo>
                    <a:pt x="214" y="36"/>
                    <a:pt x="178" y="0"/>
                    <a:pt x="134" y="0"/>
                  </a:cubicBezTo>
                  <a:cubicBezTo>
                    <a:pt x="89" y="0"/>
                    <a:pt x="54" y="36"/>
                    <a:pt x="54" y="80"/>
                  </a:cubicBezTo>
                  <a:cubicBezTo>
                    <a:pt x="54" y="161"/>
                    <a:pt x="54" y="161"/>
                    <a:pt x="54" y="161"/>
                  </a:cubicBezTo>
                  <a:cubicBezTo>
                    <a:pt x="21" y="186"/>
                    <a:pt x="0" y="224"/>
                    <a:pt x="0" y="268"/>
                  </a:cubicBezTo>
                  <a:cubicBezTo>
                    <a:pt x="0" y="311"/>
                    <a:pt x="21" y="349"/>
                    <a:pt x="54" y="374"/>
                  </a:cubicBezTo>
                  <a:cubicBezTo>
                    <a:pt x="54" y="776"/>
                    <a:pt x="54" y="776"/>
                    <a:pt x="54" y="776"/>
                  </a:cubicBezTo>
                  <a:cubicBezTo>
                    <a:pt x="54" y="820"/>
                    <a:pt x="89" y="856"/>
                    <a:pt x="134" y="856"/>
                  </a:cubicBezTo>
                  <a:cubicBezTo>
                    <a:pt x="178" y="856"/>
                    <a:pt x="214" y="820"/>
                    <a:pt x="214" y="776"/>
                  </a:cubicBezTo>
                  <a:cubicBezTo>
                    <a:pt x="214" y="374"/>
                    <a:pt x="214" y="374"/>
                    <a:pt x="214" y="374"/>
                  </a:cubicBezTo>
                  <a:cubicBezTo>
                    <a:pt x="246" y="349"/>
                    <a:pt x="268" y="311"/>
                    <a:pt x="268" y="268"/>
                  </a:cubicBezTo>
                  <a:cubicBezTo>
                    <a:pt x="268" y="224"/>
                    <a:pt x="246" y="186"/>
                    <a:pt x="214" y="161"/>
                  </a:cubicBezTo>
                  <a:close/>
                  <a:moveTo>
                    <a:pt x="107" y="80"/>
                  </a:moveTo>
                  <a:cubicBezTo>
                    <a:pt x="107" y="65"/>
                    <a:pt x="119" y="54"/>
                    <a:pt x="134" y="54"/>
                  </a:cubicBezTo>
                  <a:cubicBezTo>
                    <a:pt x="149" y="54"/>
                    <a:pt x="161" y="65"/>
                    <a:pt x="161" y="80"/>
                  </a:cubicBezTo>
                  <a:cubicBezTo>
                    <a:pt x="161" y="136"/>
                    <a:pt x="161" y="136"/>
                    <a:pt x="161" y="136"/>
                  </a:cubicBezTo>
                  <a:cubicBezTo>
                    <a:pt x="152" y="135"/>
                    <a:pt x="143" y="134"/>
                    <a:pt x="134" y="134"/>
                  </a:cubicBezTo>
                  <a:cubicBezTo>
                    <a:pt x="125" y="134"/>
                    <a:pt x="116" y="135"/>
                    <a:pt x="107" y="136"/>
                  </a:cubicBezTo>
                  <a:lnTo>
                    <a:pt x="107" y="80"/>
                  </a:lnTo>
                  <a:close/>
                  <a:moveTo>
                    <a:pt x="161" y="776"/>
                  </a:moveTo>
                  <a:cubicBezTo>
                    <a:pt x="161" y="791"/>
                    <a:pt x="149" y="803"/>
                    <a:pt x="134" y="803"/>
                  </a:cubicBezTo>
                  <a:cubicBezTo>
                    <a:pt x="119" y="803"/>
                    <a:pt x="107" y="791"/>
                    <a:pt x="107" y="776"/>
                  </a:cubicBezTo>
                  <a:cubicBezTo>
                    <a:pt x="107" y="399"/>
                    <a:pt x="107" y="399"/>
                    <a:pt x="107" y="399"/>
                  </a:cubicBezTo>
                  <a:cubicBezTo>
                    <a:pt x="116" y="400"/>
                    <a:pt x="125" y="401"/>
                    <a:pt x="134" y="401"/>
                  </a:cubicBezTo>
                  <a:cubicBezTo>
                    <a:pt x="143" y="401"/>
                    <a:pt x="152" y="400"/>
                    <a:pt x="161" y="399"/>
                  </a:cubicBezTo>
                  <a:lnTo>
                    <a:pt x="161" y="776"/>
                  </a:lnTo>
                  <a:close/>
                  <a:moveTo>
                    <a:pt x="210" y="290"/>
                  </a:moveTo>
                  <a:cubicBezTo>
                    <a:pt x="210" y="291"/>
                    <a:pt x="210" y="293"/>
                    <a:pt x="209" y="294"/>
                  </a:cubicBezTo>
                  <a:cubicBezTo>
                    <a:pt x="207" y="301"/>
                    <a:pt x="203" y="308"/>
                    <a:pt x="199" y="314"/>
                  </a:cubicBezTo>
                  <a:cubicBezTo>
                    <a:pt x="199" y="314"/>
                    <a:pt x="199" y="314"/>
                    <a:pt x="199" y="314"/>
                  </a:cubicBezTo>
                  <a:cubicBezTo>
                    <a:pt x="194" y="321"/>
                    <a:pt x="188" y="326"/>
                    <a:pt x="182" y="331"/>
                  </a:cubicBezTo>
                  <a:cubicBezTo>
                    <a:pt x="182" y="331"/>
                    <a:pt x="182" y="331"/>
                    <a:pt x="182" y="331"/>
                  </a:cubicBezTo>
                  <a:cubicBezTo>
                    <a:pt x="175" y="336"/>
                    <a:pt x="168" y="340"/>
                    <a:pt x="161" y="343"/>
                  </a:cubicBezTo>
                  <a:cubicBezTo>
                    <a:pt x="152" y="346"/>
                    <a:pt x="143" y="348"/>
                    <a:pt x="134" y="348"/>
                  </a:cubicBezTo>
                  <a:cubicBezTo>
                    <a:pt x="124" y="348"/>
                    <a:pt x="115" y="346"/>
                    <a:pt x="107" y="343"/>
                  </a:cubicBezTo>
                  <a:cubicBezTo>
                    <a:pt x="99" y="340"/>
                    <a:pt x="92" y="336"/>
                    <a:pt x="86" y="331"/>
                  </a:cubicBezTo>
                  <a:cubicBezTo>
                    <a:pt x="86" y="331"/>
                    <a:pt x="85" y="331"/>
                    <a:pt x="85" y="331"/>
                  </a:cubicBezTo>
                  <a:cubicBezTo>
                    <a:pt x="79" y="326"/>
                    <a:pt x="74" y="321"/>
                    <a:pt x="69" y="314"/>
                  </a:cubicBezTo>
                  <a:cubicBezTo>
                    <a:pt x="69" y="314"/>
                    <a:pt x="69" y="314"/>
                    <a:pt x="69" y="314"/>
                  </a:cubicBezTo>
                  <a:cubicBezTo>
                    <a:pt x="64" y="308"/>
                    <a:pt x="61" y="301"/>
                    <a:pt x="58" y="294"/>
                  </a:cubicBezTo>
                  <a:cubicBezTo>
                    <a:pt x="58" y="293"/>
                    <a:pt x="58" y="291"/>
                    <a:pt x="57" y="290"/>
                  </a:cubicBezTo>
                  <a:cubicBezTo>
                    <a:pt x="55" y="283"/>
                    <a:pt x="54" y="275"/>
                    <a:pt x="54" y="268"/>
                  </a:cubicBezTo>
                  <a:cubicBezTo>
                    <a:pt x="54" y="260"/>
                    <a:pt x="55" y="252"/>
                    <a:pt x="57" y="245"/>
                  </a:cubicBezTo>
                  <a:cubicBezTo>
                    <a:pt x="58" y="244"/>
                    <a:pt x="58" y="242"/>
                    <a:pt x="58" y="241"/>
                  </a:cubicBezTo>
                  <a:cubicBezTo>
                    <a:pt x="61" y="234"/>
                    <a:pt x="64" y="227"/>
                    <a:pt x="69" y="221"/>
                  </a:cubicBezTo>
                  <a:cubicBezTo>
                    <a:pt x="69" y="221"/>
                    <a:pt x="69" y="221"/>
                    <a:pt x="69" y="221"/>
                  </a:cubicBezTo>
                  <a:cubicBezTo>
                    <a:pt x="74" y="214"/>
                    <a:pt x="79" y="209"/>
                    <a:pt x="85" y="204"/>
                  </a:cubicBezTo>
                  <a:cubicBezTo>
                    <a:pt x="85" y="204"/>
                    <a:pt x="86" y="204"/>
                    <a:pt x="86" y="204"/>
                  </a:cubicBezTo>
                  <a:cubicBezTo>
                    <a:pt x="92" y="199"/>
                    <a:pt x="99" y="195"/>
                    <a:pt x="107" y="192"/>
                  </a:cubicBezTo>
                  <a:cubicBezTo>
                    <a:pt x="115" y="189"/>
                    <a:pt x="124" y="187"/>
                    <a:pt x="134" y="187"/>
                  </a:cubicBezTo>
                  <a:cubicBezTo>
                    <a:pt x="143" y="187"/>
                    <a:pt x="152" y="189"/>
                    <a:pt x="161" y="192"/>
                  </a:cubicBezTo>
                  <a:cubicBezTo>
                    <a:pt x="168" y="195"/>
                    <a:pt x="175" y="199"/>
                    <a:pt x="182" y="204"/>
                  </a:cubicBezTo>
                  <a:cubicBezTo>
                    <a:pt x="182" y="204"/>
                    <a:pt x="182" y="204"/>
                    <a:pt x="182" y="204"/>
                  </a:cubicBezTo>
                  <a:cubicBezTo>
                    <a:pt x="188" y="209"/>
                    <a:pt x="194" y="214"/>
                    <a:pt x="199" y="221"/>
                  </a:cubicBezTo>
                  <a:cubicBezTo>
                    <a:pt x="199" y="221"/>
                    <a:pt x="199" y="221"/>
                    <a:pt x="199" y="221"/>
                  </a:cubicBezTo>
                  <a:cubicBezTo>
                    <a:pt x="203" y="227"/>
                    <a:pt x="207" y="234"/>
                    <a:pt x="209" y="241"/>
                  </a:cubicBezTo>
                  <a:cubicBezTo>
                    <a:pt x="210" y="242"/>
                    <a:pt x="210" y="244"/>
                    <a:pt x="210" y="245"/>
                  </a:cubicBezTo>
                  <a:cubicBezTo>
                    <a:pt x="213" y="252"/>
                    <a:pt x="214" y="260"/>
                    <a:pt x="214" y="268"/>
                  </a:cubicBezTo>
                  <a:cubicBezTo>
                    <a:pt x="214" y="275"/>
                    <a:pt x="213" y="283"/>
                    <a:pt x="210" y="290"/>
                  </a:cubicBezTo>
                  <a:close/>
                </a:path>
              </a:pathLst>
            </a:custGeom>
            <a:solidFill>
              <a:srgbClr val="FFFFFF">
                <a:alpha val="100000"/>
              </a:srgbClr>
            </a:solidFill>
            <a:ln w="9525">
              <a:noFill/>
            </a:ln>
          </p:spPr>
          <p:txBody>
            <a:bodyPr/>
            <a:lstStyle/>
            <a:p>
              <a:endParaRPr lang="fr-FR" altLang="en-US"/>
            </a:p>
          </p:txBody>
        </p:sp>
        <p:sp>
          <p:nvSpPr>
            <p:cNvPr id="40977" name="Freeform 6"/>
            <p:cNvSpPr/>
            <p:nvPr/>
          </p:nvSpPr>
          <p:spPr>
            <a:xfrm>
              <a:off x="1154878" y="5633161"/>
              <a:ext cx="230127" cy="737637"/>
            </a:xfrm>
            <a:custGeom>
              <a:avLst/>
              <a:gdLst>
                <a:gd name="txL" fmla="*/ 0 w 267"/>
                <a:gd name="txT" fmla="*/ 0 h 856"/>
                <a:gd name="txR" fmla="*/ 267 w 267"/>
                <a:gd name="txB" fmla="*/ 856 h 856"/>
              </a:gdLst>
              <a:ahLst/>
              <a:cxnLst>
                <a:cxn ang="17694720">
                  <a:pos x="115064" y="0"/>
                </a:cxn>
                <a:cxn ang="0">
                  <a:pos x="230127" y="368819"/>
                </a:cxn>
                <a:cxn ang="5898240">
                  <a:pos x="115064" y="737637"/>
                </a:cxn>
                <a:cxn ang="11796480">
                  <a:pos x="0" y="368819"/>
                </a:cxn>
                <a:cxn ang="0">
                  <a:pos x="184446" y="138738"/>
                </a:cxn>
                <a:cxn ang="0">
                  <a:pos x="184446" y="68938"/>
                </a:cxn>
                <a:cxn ang="0">
                  <a:pos x="114633" y="0"/>
                </a:cxn>
                <a:cxn ang="0">
                  <a:pos x="45681" y="68938"/>
                </a:cxn>
                <a:cxn ang="0">
                  <a:pos x="45681" y="138738"/>
                </a:cxn>
                <a:cxn ang="0">
                  <a:pos x="0" y="230942"/>
                </a:cxn>
                <a:cxn ang="0">
                  <a:pos x="45681" y="322285"/>
                </a:cxn>
                <a:cxn ang="0">
                  <a:pos x="45681" y="668699"/>
                </a:cxn>
                <a:cxn ang="0">
                  <a:pos x="114633" y="737637"/>
                </a:cxn>
                <a:cxn ang="0">
                  <a:pos x="184446" y="668699"/>
                </a:cxn>
                <a:cxn ang="0">
                  <a:pos x="184446" y="322285"/>
                </a:cxn>
                <a:cxn ang="0">
                  <a:pos x="230127" y="230942"/>
                </a:cxn>
                <a:cxn ang="0">
                  <a:pos x="184446" y="138738"/>
                </a:cxn>
                <a:cxn ang="0">
                  <a:pos x="92223" y="68938"/>
                </a:cxn>
                <a:cxn ang="0">
                  <a:pos x="114633" y="46533"/>
                </a:cxn>
                <a:cxn ang="0">
                  <a:pos x="137904" y="68938"/>
                </a:cxn>
                <a:cxn ang="0">
                  <a:pos x="137904" y="117195"/>
                </a:cxn>
                <a:cxn ang="0">
                  <a:pos x="114633" y="115471"/>
                </a:cxn>
                <a:cxn ang="0">
                  <a:pos x="92223" y="117195"/>
                </a:cxn>
                <a:cxn ang="0">
                  <a:pos x="92223" y="68938"/>
                </a:cxn>
                <a:cxn ang="0">
                  <a:pos x="137904" y="668699"/>
                </a:cxn>
                <a:cxn ang="0">
                  <a:pos x="114633" y="691966"/>
                </a:cxn>
                <a:cxn ang="0">
                  <a:pos x="92223" y="668699"/>
                </a:cxn>
                <a:cxn ang="0">
                  <a:pos x="92223" y="343828"/>
                </a:cxn>
                <a:cxn ang="0">
                  <a:pos x="114633" y="345552"/>
                </a:cxn>
                <a:cxn ang="0">
                  <a:pos x="137904" y="343828"/>
                </a:cxn>
                <a:cxn ang="0">
                  <a:pos x="137904" y="668699"/>
                </a:cxn>
                <a:cxn ang="0">
                  <a:pos x="180999" y="249900"/>
                </a:cxn>
                <a:cxn ang="0">
                  <a:pos x="180137" y="253347"/>
                </a:cxn>
                <a:cxn ang="0">
                  <a:pos x="170656" y="270582"/>
                </a:cxn>
                <a:cxn ang="0">
                  <a:pos x="170656" y="270582"/>
                </a:cxn>
                <a:cxn ang="0">
                  <a:pos x="156866" y="285231"/>
                </a:cxn>
                <a:cxn ang="0">
                  <a:pos x="156004" y="285231"/>
                </a:cxn>
                <a:cxn ang="0">
                  <a:pos x="137904" y="295572"/>
                </a:cxn>
                <a:cxn ang="0">
                  <a:pos x="114633" y="299880"/>
                </a:cxn>
                <a:cxn ang="0">
                  <a:pos x="92223" y="295572"/>
                </a:cxn>
                <a:cxn ang="0">
                  <a:pos x="73261" y="285231"/>
                </a:cxn>
                <a:cxn ang="0">
                  <a:pos x="73261" y="285231"/>
                </a:cxn>
                <a:cxn ang="0">
                  <a:pos x="58609" y="270582"/>
                </a:cxn>
                <a:cxn ang="0">
                  <a:pos x="58609" y="270582"/>
                </a:cxn>
                <a:cxn ang="0">
                  <a:pos x="49990" y="253347"/>
                </a:cxn>
                <a:cxn ang="0">
                  <a:pos x="49128" y="249900"/>
                </a:cxn>
                <a:cxn ang="0">
                  <a:pos x="45681" y="230942"/>
                </a:cxn>
                <a:cxn ang="0">
                  <a:pos x="49128" y="211123"/>
                </a:cxn>
                <a:cxn ang="0">
                  <a:pos x="49990" y="207676"/>
                </a:cxn>
                <a:cxn ang="0">
                  <a:pos x="58609" y="190441"/>
                </a:cxn>
                <a:cxn ang="0">
                  <a:pos x="58609" y="190441"/>
                </a:cxn>
                <a:cxn ang="0">
                  <a:pos x="73261" y="175792"/>
                </a:cxn>
                <a:cxn ang="0">
                  <a:pos x="73261" y="175792"/>
                </a:cxn>
                <a:cxn ang="0">
                  <a:pos x="92223" y="165451"/>
                </a:cxn>
                <a:cxn ang="0">
                  <a:pos x="114633" y="161143"/>
                </a:cxn>
                <a:cxn ang="0">
                  <a:pos x="137904" y="165451"/>
                </a:cxn>
                <a:cxn ang="0">
                  <a:pos x="156004" y="175792"/>
                </a:cxn>
                <a:cxn ang="0">
                  <a:pos x="156866" y="175792"/>
                </a:cxn>
                <a:cxn ang="0">
                  <a:pos x="170656" y="190441"/>
                </a:cxn>
                <a:cxn ang="0">
                  <a:pos x="170656" y="190441"/>
                </a:cxn>
                <a:cxn ang="0">
                  <a:pos x="180137" y="207676"/>
                </a:cxn>
                <a:cxn ang="0">
                  <a:pos x="180999" y="211123"/>
                </a:cxn>
                <a:cxn ang="0">
                  <a:pos x="184446" y="230942"/>
                </a:cxn>
                <a:cxn ang="0">
                  <a:pos x="180999" y="249900"/>
                </a:cxn>
              </a:cxnLst>
              <a:rect l="txL" t="txT" r="txR" b="txB"/>
              <a:pathLst>
                <a:path w="267" h="856">
                  <a:moveTo>
                    <a:pt x="214" y="161"/>
                  </a:moveTo>
                  <a:cubicBezTo>
                    <a:pt x="214" y="80"/>
                    <a:pt x="214" y="80"/>
                    <a:pt x="214" y="80"/>
                  </a:cubicBezTo>
                  <a:cubicBezTo>
                    <a:pt x="214" y="36"/>
                    <a:pt x="178" y="0"/>
                    <a:pt x="133" y="0"/>
                  </a:cubicBezTo>
                  <a:cubicBezTo>
                    <a:pt x="89" y="0"/>
                    <a:pt x="53" y="36"/>
                    <a:pt x="53" y="80"/>
                  </a:cubicBezTo>
                  <a:cubicBezTo>
                    <a:pt x="53" y="161"/>
                    <a:pt x="53" y="161"/>
                    <a:pt x="53" y="161"/>
                  </a:cubicBezTo>
                  <a:cubicBezTo>
                    <a:pt x="21" y="186"/>
                    <a:pt x="0" y="224"/>
                    <a:pt x="0" y="268"/>
                  </a:cubicBezTo>
                  <a:cubicBezTo>
                    <a:pt x="0" y="311"/>
                    <a:pt x="21" y="349"/>
                    <a:pt x="53" y="374"/>
                  </a:cubicBezTo>
                  <a:cubicBezTo>
                    <a:pt x="53" y="776"/>
                    <a:pt x="53" y="776"/>
                    <a:pt x="53" y="776"/>
                  </a:cubicBezTo>
                  <a:cubicBezTo>
                    <a:pt x="53" y="820"/>
                    <a:pt x="89" y="856"/>
                    <a:pt x="133" y="856"/>
                  </a:cubicBezTo>
                  <a:cubicBezTo>
                    <a:pt x="178" y="856"/>
                    <a:pt x="214" y="820"/>
                    <a:pt x="214" y="776"/>
                  </a:cubicBezTo>
                  <a:cubicBezTo>
                    <a:pt x="214" y="374"/>
                    <a:pt x="214" y="374"/>
                    <a:pt x="214" y="374"/>
                  </a:cubicBezTo>
                  <a:cubicBezTo>
                    <a:pt x="246" y="349"/>
                    <a:pt x="267" y="311"/>
                    <a:pt x="267" y="268"/>
                  </a:cubicBezTo>
                  <a:cubicBezTo>
                    <a:pt x="267" y="224"/>
                    <a:pt x="246" y="186"/>
                    <a:pt x="214" y="161"/>
                  </a:cubicBezTo>
                  <a:close/>
                  <a:moveTo>
                    <a:pt x="107" y="80"/>
                  </a:moveTo>
                  <a:cubicBezTo>
                    <a:pt x="107" y="65"/>
                    <a:pt x="118" y="54"/>
                    <a:pt x="133" y="54"/>
                  </a:cubicBezTo>
                  <a:cubicBezTo>
                    <a:pt x="148" y="54"/>
                    <a:pt x="160" y="65"/>
                    <a:pt x="160" y="80"/>
                  </a:cubicBezTo>
                  <a:cubicBezTo>
                    <a:pt x="160" y="136"/>
                    <a:pt x="160" y="136"/>
                    <a:pt x="160" y="136"/>
                  </a:cubicBezTo>
                  <a:cubicBezTo>
                    <a:pt x="151" y="135"/>
                    <a:pt x="142" y="134"/>
                    <a:pt x="133" y="134"/>
                  </a:cubicBezTo>
                  <a:cubicBezTo>
                    <a:pt x="124" y="134"/>
                    <a:pt x="115" y="135"/>
                    <a:pt x="107" y="136"/>
                  </a:cubicBezTo>
                  <a:lnTo>
                    <a:pt x="107" y="80"/>
                  </a:lnTo>
                  <a:close/>
                  <a:moveTo>
                    <a:pt x="160" y="776"/>
                  </a:moveTo>
                  <a:cubicBezTo>
                    <a:pt x="160" y="791"/>
                    <a:pt x="148" y="803"/>
                    <a:pt x="133" y="803"/>
                  </a:cubicBezTo>
                  <a:cubicBezTo>
                    <a:pt x="118" y="803"/>
                    <a:pt x="107" y="791"/>
                    <a:pt x="107" y="776"/>
                  </a:cubicBezTo>
                  <a:cubicBezTo>
                    <a:pt x="107" y="399"/>
                    <a:pt x="107" y="399"/>
                    <a:pt x="107" y="399"/>
                  </a:cubicBezTo>
                  <a:cubicBezTo>
                    <a:pt x="115" y="400"/>
                    <a:pt x="124" y="401"/>
                    <a:pt x="133" y="401"/>
                  </a:cubicBezTo>
                  <a:cubicBezTo>
                    <a:pt x="142" y="401"/>
                    <a:pt x="151" y="400"/>
                    <a:pt x="160" y="399"/>
                  </a:cubicBezTo>
                  <a:lnTo>
                    <a:pt x="160" y="776"/>
                  </a:lnTo>
                  <a:close/>
                  <a:moveTo>
                    <a:pt x="210" y="290"/>
                  </a:moveTo>
                  <a:cubicBezTo>
                    <a:pt x="209" y="291"/>
                    <a:pt x="209" y="293"/>
                    <a:pt x="209" y="294"/>
                  </a:cubicBezTo>
                  <a:cubicBezTo>
                    <a:pt x="206" y="301"/>
                    <a:pt x="203" y="308"/>
                    <a:pt x="198" y="314"/>
                  </a:cubicBezTo>
                  <a:cubicBezTo>
                    <a:pt x="198" y="314"/>
                    <a:pt x="198" y="314"/>
                    <a:pt x="198" y="314"/>
                  </a:cubicBezTo>
                  <a:cubicBezTo>
                    <a:pt x="193" y="321"/>
                    <a:pt x="188" y="326"/>
                    <a:pt x="182" y="331"/>
                  </a:cubicBezTo>
                  <a:cubicBezTo>
                    <a:pt x="182" y="331"/>
                    <a:pt x="181" y="331"/>
                    <a:pt x="181" y="331"/>
                  </a:cubicBezTo>
                  <a:cubicBezTo>
                    <a:pt x="175" y="336"/>
                    <a:pt x="168" y="340"/>
                    <a:pt x="160" y="343"/>
                  </a:cubicBezTo>
                  <a:cubicBezTo>
                    <a:pt x="152" y="346"/>
                    <a:pt x="143" y="348"/>
                    <a:pt x="133" y="348"/>
                  </a:cubicBezTo>
                  <a:cubicBezTo>
                    <a:pt x="124" y="348"/>
                    <a:pt x="115" y="346"/>
                    <a:pt x="107" y="343"/>
                  </a:cubicBezTo>
                  <a:cubicBezTo>
                    <a:pt x="99" y="340"/>
                    <a:pt x="92" y="336"/>
                    <a:pt x="85" y="331"/>
                  </a:cubicBezTo>
                  <a:cubicBezTo>
                    <a:pt x="85" y="331"/>
                    <a:pt x="85" y="331"/>
                    <a:pt x="85" y="331"/>
                  </a:cubicBezTo>
                  <a:cubicBezTo>
                    <a:pt x="79" y="326"/>
                    <a:pt x="73" y="321"/>
                    <a:pt x="68" y="314"/>
                  </a:cubicBezTo>
                  <a:cubicBezTo>
                    <a:pt x="68" y="314"/>
                    <a:pt x="68" y="314"/>
                    <a:pt x="68" y="314"/>
                  </a:cubicBezTo>
                  <a:cubicBezTo>
                    <a:pt x="64" y="308"/>
                    <a:pt x="60" y="301"/>
                    <a:pt x="58" y="294"/>
                  </a:cubicBezTo>
                  <a:cubicBezTo>
                    <a:pt x="57" y="293"/>
                    <a:pt x="57" y="291"/>
                    <a:pt x="57" y="290"/>
                  </a:cubicBezTo>
                  <a:cubicBezTo>
                    <a:pt x="54" y="283"/>
                    <a:pt x="53" y="275"/>
                    <a:pt x="53" y="268"/>
                  </a:cubicBezTo>
                  <a:cubicBezTo>
                    <a:pt x="53" y="260"/>
                    <a:pt x="54" y="252"/>
                    <a:pt x="57" y="245"/>
                  </a:cubicBezTo>
                  <a:cubicBezTo>
                    <a:pt x="57" y="244"/>
                    <a:pt x="57" y="242"/>
                    <a:pt x="58" y="241"/>
                  </a:cubicBezTo>
                  <a:cubicBezTo>
                    <a:pt x="60" y="234"/>
                    <a:pt x="64" y="227"/>
                    <a:pt x="68" y="221"/>
                  </a:cubicBezTo>
                  <a:cubicBezTo>
                    <a:pt x="68" y="221"/>
                    <a:pt x="68" y="221"/>
                    <a:pt x="68" y="221"/>
                  </a:cubicBezTo>
                  <a:cubicBezTo>
                    <a:pt x="73" y="214"/>
                    <a:pt x="79" y="209"/>
                    <a:pt x="85" y="204"/>
                  </a:cubicBezTo>
                  <a:cubicBezTo>
                    <a:pt x="85" y="204"/>
                    <a:pt x="85" y="204"/>
                    <a:pt x="85" y="204"/>
                  </a:cubicBezTo>
                  <a:cubicBezTo>
                    <a:pt x="92" y="199"/>
                    <a:pt x="99" y="195"/>
                    <a:pt x="107" y="192"/>
                  </a:cubicBezTo>
                  <a:cubicBezTo>
                    <a:pt x="115" y="189"/>
                    <a:pt x="124" y="187"/>
                    <a:pt x="133" y="187"/>
                  </a:cubicBezTo>
                  <a:cubicBezTo>
                    <a:pt x="143" y="187"/>
                    <a:pt x="152" y="189"/>
                    <a:pt x="160" y="192"/>
                  </a:cubicBezTo>
                  <a:cubicBezTo>
                    <a:pt x="168" y="195"/>
                    <a:pt x="175" y="199"/>
                    <a:pt x="181" y="204"/>
                  </a:cubicBezTo>
                  <a:cubicBezTo>
                    <a:pt x="181" y="204"/>
                    <a:pt x="182" y="204"/>
                    <a:pt x="182" y="204"/>
                  </a:cubicBezTo>
                  <a:cubicBezTo>
                    <a:pt x="188" y="209"/>
                    <a:pt x="193" y="214"/>
                    <a:pt x="198" y="221"/>
                  </a:cubicBezTo>
                  <a:cubicBezTo>
                    <a:pt x="198" y="221"/>
                    <a:pt x="198" y="221"/>
                    <a:pt x="198" y="221"/>
                  </a:cubicBezTo>
                  <a:cubicBezTo>
                    <a:pt x="203" y="227"/>
                    <a:pt x="206" y="234"/>
                    <a:pt x="209" y="241"/>
                  </a:cubicBezTo>
                  <a:cubicBezTo>
                    <a:pt x="209" y="242"/>
                    <a:pt x="209" y="244"/>
                    <a:pt x="210" y="245"/>
                  </a:cubicBezTo>
                  <a:cubicBezTo>
                    <a:pt x="212" y="252"/>
                    <a:pt x="214" y="260"/>
                    <a:pt x="214" y="268"/>
                  </a:cubicBezTo>
                  <a:cubicBezTo>
                    <a:pt x="214" y="275"/>
                    <a:pt x="212" y="283"/>
                    <a:pt x="210" y="290"/>
                  </a:cubicBezTo>
                  <a:close/>
                </a:path>
              </a:pathLst>
            </a:custGeom>
            <a:solidFill>
              <a:srgbClr val="FFFFFF">
                <a:alpha val="100000"/>
              </a:srgbClr>
            </a:solidFill>
            <a:ln w="9525">
              <a:noFill/>
            </a:ln>
          </p:spPr>
          <p:txBody>
            <a:bodyPr/>
            <a:lstStyle/>
            <a:p>
              <a:endParaRPr lang="fr-FR" altLang="en-US"/>
            </a:p>
          </p:txBody>
        </p:sp>
        <p:sp>
          <p:nvSpPr>
            <p:cNvPr id="40978" name="Freeform 7"/>
            <p:cNvSpPr/>
            <p:nvPr/>
          </p:nvSpPr>
          <p:spPr>
            <a:xfrm>
              <a:off x="900391" y="5633161"/>
              <a:ext cx="231215" cy="737637"/>
            </a:xfrm>
            <a:custGeom>
              <a:avLst/>
              <a:gdLst>
                <a:gd name="txL" fmla="*/ 0 w 268"/>
                <a:gd name="txT" fmla="*/ 0 h 856"/>
                <a:gd name="txR" fmla="*/ 268 w 268"/>
                <a:gd name="txB" fmla="*/ 856 h 856"/>
              </a:gdLst>
              <a:ahLst/>
              <a:cxnLst>
                <a:cxn ang="17694720">
                  <a:pos x="115608" y="0"/>
                </a:cxn>
                <a:cxn ang="0">
                  <a:pos x="231215" y="368819"/>
                </a:cxn>
                <a:cxn ang="5898240">
                  <a:pos x="115608" y="737637"/>
                </a:cxn>
                <a:cxn ang="11796480">
                  <a:pos x="0" y="368819"/>
                </a:cxn>
                <a:cxn ang="0">
                  <a:pos x="184627" y="415352"/>
                </a:cxn>
                <a:cxn ang="0">
                  <a:pos x="184627" y="68938"/>
                </a:cxn>
                <a:cxn ang="0">
                  <a:pos x="115607" y="0"/>
                </a:cxn>
                <a:cxn ang="0">
                  <a:pos x="46588" y="68938"/>
                </a:cxn>
                <a:cxn ang="0">
                  <a:pos x="46588" y="415352"/>
                </a:cxn>
                <a:cxn ang="0">
                  <a:pos x="0" y="507556"/>
                </a:cxn>
                <a:cxn ang="0">
                  <a:pos x="46588" y="598899"/>
                </a:cxn>
                <a:cxn ang="0">
                  <a:pos x="46588" y="668699"/>
                </a:cxn>
                <a:cxn ang="0">
                  <a:pos x="115607" y="737637"/>
                </a:cxn>
                <a:cxn ang="0">
                  <a:pos x="184627" y="668699"/>
                </a:cxn>
                <a:cxn ang="0">
                  <a:pos x="184627" y="598899"/>
                </a:cxn>
                <a:cxn ang="0">
                  <a:pos x="231215" y="507556"/>
                </a:cxn>
                <a:cxn ang="0">
                  <a:pos x="184627" y="415352"/>
                </a:cxn>
                <a:cxn ang="0">
                  <a:pos x="92313" y="68938"/>
                </a:cxn>
                <a:cxn ang="0">
                  <a:pos x="115607" y="46533"/>
                </a:cxn>
                <a:cxn ang="0">
                  <a:pos x="138902" y="68938"/>
                </a:cxn>
                <a:cxn ang="0">
                  <a:pos x="138902" y="393809"/>
                </a:cxn>
                <a:cxn ang="0">
                  <a:pos x="115607" y="392085"/>
                </a:cxn>
                <a:cxn ang="0">
                  <a:pos x="92313" y="393809"/>
                </a:cxn>
                <a:cxn ang="0">
                  <a:pos x="92313" y="68938"/>
                </a:cxn>
                <a:cxn ang="0">
                  <a:pos x="138902" y="668699"/>
                </a:cxn>
                <a:cxn ang="0">
                  <a:pos x="115607" y="691966"/>
                </a:cxn>
                <a:cxn ang="0">
                  <a:pos x="92313" y="668699"/>
                </a:cxn>
                <a:cxn ang="0">
                  <a:pos x="92313" y="620442"/>
                </a:cxn>
                <a:cxn ang="0">
                  <a:pos x="115607" y="622166"/>
                </a:cxn>
                <a:cxn ang="0">
                  <a:pos x="138902" y="620442"/>
                </a:cxn>
                <a:cxn ang="0">
                  <a:pos x="138902" y="668699"/>
                </a:cxn>
                <a:cxn ang="0">
                  <a:pos x="182039" y="526514"/>
                </a:cxn>
                <a:cxn ang="0">
                  <a:pos x="180313" y="529961"/>
                </a:cxn>
                <a:cxn ang="0">
                  <a:pos x="171686" y="547196"/>
                </a:cxn>
                <a:cxn ang="0">
                  <a:pos x="171686" y="547196"/>
                </a:cxn>
                <a:cxn ang="0">
                  <a:pos x="157019" y="561845"/>
                </a:cxn>
                <a:cxn ang="0">
                  <a:pos x="157019" y="561845"/>
                </a:cxn>
                <a:cxn ang="0">
                  <a:pos x="138902" y="572186"/>
                </a:cxn>
                <a:cxn ang="0">
                  <a:pos x="115607" y="576494"/>
                </a:cxn>
                <a:cxn ang="0">
                  <a:pos x="92313" y="572186"/>
                </a:cxn>
                <a:cxn ang="0">
                  <a:pos x="74196" y="561845"/>
                </a:cxn>
                <a:cxn ang="0">
                  <a:pos x="74196" y="561845"/>
                </a:cxn>
                <a:cxn ang="0">
                  <a:pos x="59529" y="547196"/>
                </a:cxn>
                <a:cxn ang="0">
                  <a:pos x="59529" y="547196"/>
                </a:cxn>
                <a:cxn ang="0">
                  <a:pos x="50902" y="529961"/>
                </a:cxn>
                <a:cxn ang="0">
                  <a:pos x="49176" y="526514"/>
                </a:cxn>
                <a:cxn ang="0">
                  <a:pos x="46588" y="507556"/>
                </a:cxn>
                <a:cxn ang="0">
                  <a:pos x="49176" y="487737"/>
                </a:cxn>
                <a:cxn ang="0">
                  <a:pos x="50902" y="484290"/>
                </a:cxn>
                <a:cxn ang="0">
                  <a:pos x="59529" y="467055"/>
                </a:cxn>
                <a:cxn ang="0">
                  <a:pos x="59529" y="467055"/>
                </a:cxn>
                <a:cxn ang="0">
                  <a:pos x="74196" y="452406"/>
                </a:cxn>
                <a:cxn ang="0">
                  <a:pos x="74196" y="452406"/>
                </a:cxn>
                <a:cxn ang="0">
                  <a:pos x="92313" y="442065"/>
                </a:cxn>
                <a:cxn ang="0">
                  <a:pos x="115607" y="437757"/>
                </a:cxn>
                <a:cxn ang="0">
                  <a:pos x="138902" y="442065"/>
                </a:cxn>
                <a:cxn ang="0">
                  <a:pos x="157019" y="452406"/>
                </a:cxn>
                <a:cxn ang="0">
                  <a:pos x="157019" y="452406"/>
                </a:cxn>
                <a:cxn ang="0">
                  <a:pos x="171686" y="467055"/>
                </a:cxn>
                <a:cxn ang="0">
                  <a:pos x="171686" y="467055"/>
                </a:cxn>
                <a:cxn ang="0">
                  <a:pos x="180313" y="484290"/>
                </a:cxn>
                <a:cxn ang="0">
                  <a:pos x="182039" y="487737"/>
                </a:cxn>
                <a:cxn ang="0">
                  <a:pos x="184627" y="507556"/>
                </a:cxn>
                <a:cxn ang="0">
                  <a:pos x="182039" y="526514"/>
                </a:cxn>
              </a:cxnLst>
              <a:rect l="txL" t="txT" r="txR" b="txB"/>
              <a:pathLst>
                <a:path w="268" h="856">
                  <a:moveTo>
                    <a:pt x="214" y="482"/>
                  </a:moveTo>
                  <a:cubicBezTo>
                    <a:pt x="214" y="80"/>
                    <a:pt x="214" y="80"/>
                    <a:pt x="214" y="80"/>
                  </a:cubicBezTo>
                  <a:cubicBezTo>
                    <a:pt x="214" y="36"/>
                    <a:pt x="178" y="0"/>
                    <a:pt x="134" y="0"/>
                  </a:cubicBezTo>
                  <a:cubicBezTo>
                    <a:pt x="90" y="0"/>
                    <a:pt x="54" y="36"/>
                    <a:pt x="54" y="80"/>
                  </a:cubicBezTo>
                  <a:cubicBezTo>
                    <a:pt x="54" y="482"/>
                    <a:pt x="54" y="482"/>
                    <a:pt x="54" y="482"/>
                  </a:cubicBezTo>
                  <a:cubicBezTo>
                    <a:pt x="21" y="507"/>
                    <a:pt x="0" y="545"/>
                    <a:pt x="0" y="589"/>
                  </a:cubicBezTo>
                  <a:cubicBezTo>
                    <a:pt x="0" y="632"/>
                    <a:pt x="21" y="670"/>
                    <a:pt x="54" y="695"/>
                  </a:cubicBezTo>
                  <a:cubicBezTo>
                    <a:pt x="54" y="776"/>
                    <a:pt x="54" y="776"/>
                    <a:pt x="54" y="776"/>
                  </a:cubicBezTo>
                  <a:cubicBezTo>
                    <a:pt x="54" y="820"/>
                    <a:pt x="90" y="856"/>
                    <a:pt x="134" y="856"/>
                  </a:cubicBezTo>
                  <a:cubicBezTo>
                    <a:pt x="178" y="856"/>
                    <a:pt x="214" y="820"/>
                    <a:pt x="214" y="776"/>
                  </a:cubicBezTo>
                  <a:cubicBezTo>
                    <a:pt x="214" y="695"/>
                    <a:pt x="214" y="695"/>
                    <a:pt x="214" y="695"/>
                  </a:cubicBezTo>
                  <a:cubicBezTo>
                    <a:pt x="247" y="670"/>
                    <a:pt x="268" y="632"/>
                    <a:pt x="268" y="589"/>
                  </a:cubicBezTo>
                  <a:cubicBezTo>
                    <a:pt x="268" y="545"/>
                    <a:pt x="247" y="507"/>
                    <a:pt x="214" y="482"/>
                  </a:cubicBezTo>
                  <a:close/>
                  <a:moveTo>
                    <a:pt x="107" y="80"/>
                  </a:moveTo>
                  <a:cubicBezTo>
                    <a:pt x="107" y="65"/>
                    <a:pt x="119" y="54"/>
                    <a:pt x="134" y="54"/>
                  </a:cubicBezTo>
                  <a:cubicBezTo>
                    <a:pt x="149" y="54"/>
                    <a:pt x="161" y="65"/>
                    <a:pt x="161" y="80"/>
                  </a:cubicBezTo>
                  <a:cubicBezTo>
                    <a:pt x="161" y="457"/>
                    <a:pt x="161" y="457"/>
                    <a:pt x="161" y="457"/>
                  </a:cubicBezTo>
                  <a:cubicBezTo>
                    <a:pt x="152" y="456"/>
                    <a:pt x="143" y="455"/>
                    <a:pt x="134" y="455"/>
                  </a:cubicBezTo>
                  <a:cubicBezTo>
                    <a:pt x="125" y="455"/>
                    <a:pt x="116" y="456"/>
                    <a:pt x="107" y="457"/>
                  </a:cubicBezTo>
                  <a:lnTo>
                    <a:pt x="107" y="80"/>
                  </a:lnTo>
                  <a:close/>
                  <a:moveTo>
                    <a:pt x="161" y="776"/>
                  </a:moveTo>
                  <a:cubicBezTo>
                    <a:pt x="161" y="791"/>
                    <a:pt x="149" y="803"/>
                    <a:pt x="134" y="803"/>
                  </a:cubicBezTo>
                  <a:cubicBezTo>
                    <a:pt x="119" y="803"/>
                    <a:pt x="107" y="791"/>
                    <a:pt x="107" y="776"/>
                  </a:cubicBezTo>
                  <a:cubicBezTo>
                    <a:pt x="107" y="720"/>
                    <a:pt x="107" y="720"/>
                    <a:pt x="107" y="720"/>
                  </a:cubicBezTo>
                  <a:cubicBezTo>
                    <a:pt x="116" y="721"/>
                    <a:pt x="125" y="722"/>
                    <a:pt x="134" y="722"/>
                  </a:cubicBezTo>
                  <a:cubicBezTo>
                    <a:pt x="143" y="722"/>
                    <a:pt x="152" y="721"/>
                    <a:pt x="161" y="720"/>
                  </a:cubicBezTo>
                  <a:lnTo>
                    <a:pt x="161" y="776"/>
                  </a:lnTo>
                  <a:close/>
                  <a:moveTo>
                    <a:pt x="211" y="611"/>
                  </a:moveTo>
                  <a:cubicBezTo>
                    <a:pt x="210" y="612"/>
                    <a:pt x="210" y="614"/>
                    <a:pt x="209" y="615"/>
                  </a:cubicBezTo>
                  <a:cubicBezTo>
                    <a:pt x="207" y="622"/>
                    <a:pt x="204" y="629"/>
                    <a:pt x="199" y="635"/>
                  </a:cubicBezTo>
                  <a:cubicBezTo>
                    <a:pt x="199" y="635"/>
                    <a:pt x="199" y="635"/>
                    <a:pt x="199" y="635"/>
                  </a:cubicBezTo>
                  <a:cubicBezTo>
                    <a:pt x="194" y="642"/>
                    <a:pt x="189" y="647"/>
                    <a:pt x="182" y="652"/>
                  </a:cubicBezTo>
                  <a:cubicBezTo>
                    <a:pt x="182" y="652"/>
                    <a:pt x="182" y="652"/>
                    <a:pt x="182" y="652"/>
                  </a:cubicBezTo>
                  <a:cubicBezTo>
                    <a:pt x="176" y="657"/>
                    <a:pt x="168" y="661"/>
                    <a:pt x="161" y="664"/>
                  </a:cubicBezTo>
                  <a:cubicBezTo>
                    <a:pt x="152" y="667"/>
                    <a:pt x="143" y="669"/>
                    <a:pt x="134" y="669"/>
                  </a:cubicBezTo>
                  <a:cubicBezTo>
                    <a:pt x="125" y="669"/>
                    <a:pt x="116" y="667"/>
                    <a:pt x="107" y="664"/>
                  </a:cubicBezTo>
                  <a:cubicBezTo>
                    <a:pt x="100" y="661"/>
                    <a:pt x="92" y="657"/>
                    <a:pt x="86" y="652"/>
                  </a:cubicBezTo>
                  <a:cubicBezTo>
                    <a:pt x="86" y="652"/>
                    <a:pt x="86" y="652"/>
                    <a:pt x="86" y="652"/>
                  </a:cubicBezTo>
                  <a:cubicBezTo>
                    <a:pt x="79" y="647"/>
                    <a:pt x="74" y="642"/>
                    <a:pt x="69" y="635"/>
                  </a:cubicBezTo>
                  <a:cubicBezTo>
                    <a:pt x="69" y="635"/>
                    <a:pt x="69" y="635"/>
                    <a:pt x="69" y="635"/>
                  </a:cubicBezTo>
                  <a:cubicBezTo>
                    <a:pt x="64" y="629"/>
                    <a:pt x="61" y="622"/>
                    <a:pt x="59" y="615"/>
                  </a:cubicBezTo>
                  <a:cubicBezTo>
                    <a:pt x="58" y="614"/>
                    <a:pt x="58" y="612"/>
                    <a:pt x="57" y="611"/>
                  </a:cubicBezTo>
                  <a:cubicBezTo>
                    <a:pt x="55" y="604"/>
                    <a:pt x="54" y="596"/>
                    <a:pt x="54" y="589"/>
                  </a:cubicBezTo>
                  <a:cubicBezTo>
                    <a:pt x="54" y="581"/>
                    <a:pt x="55" y="573"/>
                    <a:pt x="57" y="566"/>
                  </a:cubicBezTo>
                  <a:cubicBezTo>
                    <a:pt x="58" y="565"/>
                    <a:pt x="58" y="563"/>
                    <a:pt x="59" y="562"/>
                  </a:cubicBezTo>
                  <a:cubicBezTo>
                    <a:pt x="61" y="555"/>
                    <a:pt x="64" y="548"/>
                    <a:pt x="69" y="542"/>
                  </a:cubicBezTo>
                  <a:cubicBezTo>
                    <a:pt x="69" y="542"/>
                    <a:pt x="69" y="542"/>
                    <a:pt x="69" y="542"/>
                  </a:cubicBezTo>
                  <a:cubicBezTo>
                    <a:pt x="74" y="535"/>
                    <a:pt x="79" y="530"/>
                    <a:pt x="86" y="525"/>
                  </a:cubicBezTo>
                  <a:cubicBezTo>
                    <a:pt x="86" y="525"/>
                    <a:pt x="86" y="525"/>
                    <a:pt x="86" y="525"/>
                  </a:cubicBezTo>
                  <a:cubicBezTo>
                    <a:pt x="92" y="520"/>
                    <a:pt x="100" y="516"/>
                    <a:pt x="107" y="513"/>
                  </a:cubicBezTo>
                  <a:cubicBezTo>
                    <a:pt x="116" y="510"/>
                    <a:pt x="125" y="508"/>
                    <a:pt x="134" y="508"/>
                  </a:cubicBezTo>
                  <a:cubicBezTo>
                    <a:pt x="143" y="508"/>
                    <a:pt x="152" y="510"/>
                    <a:pt x="161" y="513"/>
                  </a:cubicBezTo>
                  <a:cubicBezTo>
                    <a:pt x="168" y="516"/>
                    <a:pt x="176" y="520"/>
                    <a:pt x="182" y="525"/>
                  </a:cubicBezTo>
                  <a:cubicBezTo>
                    <a:pt x="182" y="525"/>
                    <a:pt x="182" y="525"/>
                    <a:pt x="182" y="525"/>
                  </a:cubicBezTo>
                  <a:cubicBezTo>
                    <a:pt x="189" y="530"/>
                    <a:pt x="194" y="535"/>
                    <a:pt x="199" y="542"/>
                  </a:cubicBezTo>
                  <a:cubicBezTo>
                    <a:pt x="199" y="542"/>
                    <a:pt x="199" y="542"/>
                    <a:pt x="199" y="542"/>
                  </a:cubicBezTo>
                  <a:cubicBezTo>
                    <a:pt x="204" y="548"/>
                    <a:pt x="207" y="555"/>
                    <a:pt x="209" y="562"/>
                  </a:cubicBezTo>
                  <a:cubicBezTo>
                    <a:pt x="210" y="563"/>
                    <a:pt x="210" y="565"/>
                    <a:pt x="211" y="566"/>
                  </a:cubicBezTo>
                  <a:cubicBezTo>
                    <a:pt x="213" y="573"/>
                    <a:pt x="214" y="581"/>
                    <a:pt x="214" y="589"/>
                  </a:cubicBezTo>
                  <a:cubicBezTo>
                    <a:pt x="214" y="596"/>
                    <a:pt x="213" y="604"/>
                    <a:pt x="211" y="611"/>
                  </a:cubicBezTo>
                  <a:close/>
                </a:path>
              </a:pathLst>
            </a:custGeom>
            <a:solidFill>
              <a:srgbClr val="FFFFFF">
                <a:alpha val="100000"/>
              </a:srgbClr>
            </a:solidFill>
            <a:ln w="9525">
              <a:noFill/>
            </a:ln>
          </p:spPr>
          <p:txBody>
            <a:bodyPr/>
            <a:lstStyle/>
            <a:p>
              <a:endParaRPr lang="fr-FR" altLang="en-US"/>
            </a:p>
          </p:txBody>
        </p:sp>
      </p:grpSp>
    </p:spTree>
    <p:extLst>
      <p:ext uri="{BB962C8B-B14F-4D97-AF65-F5344CB8AC3E}">
        <p14:creationId xmlns:p14="http://schemas.microsoft.com/office/powerpoint/2010/main" val="64895420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anim calcmode="lin" valueType="num">
                                      <p:cBhvr>
                                        <p:cTn id="18" dur="500" fill="hold"/>
                                        <p:tgtEl>
                                          <p:spTgt spid="2"/>
                                        </p:tgtEl>
                                        <p:attrNameLst>
                                          <p:attrName>ppt_x</p:attrName>
                                        </p:attrNameLst>
                                      </p:cBhvr>
                                      <p:tavLst>
                                        <p:tav tm="0">
                                          <p:val>
                                            <p:strVal val="#ppt_x"/>
                                          </p:val>
                                        </p:tav>
                                        <p:tav tm="100000">
                                          <p:val>
                                            <p:strVal val="#ppt_x"/>
                                          </p:val>
                                        </p:tav>
                                      </p:tavLst>
                                    </p:anim>
                                    <p:anim calcmode="lin" valueType="num">
                                      <p:cBhvr>
                                        <p:cTn id="19" dur="500" fill="hold"/>
                                        <p:tgtEl>
                                          <p:spTgt spid="2"/>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anim calcmode="lin" valueType="num">
                                      <p:cBhvr>
                                        <p:cTn id="24" dur="500" fill="hold"/>
                                        <p:tgtEl>
                                          <p:spTgt spid="3"/>
                                        </p:tgtEl>
                                        <p:attrNameLst>
                                          <p:attrName>ppt_x</p:attrName>
                                        </p:attrNameLst>
                                      </p:cBhvr>
                                      <p:tavLst>
                                        <p:tav tm="0">
                                          <p:val>
                                            <p:strVal val="#ppt_x"/>
                                          </p:val>
                                        </p:tav>
                                        <p:tav tm="100000">
                                          <p:val>
                                            <p:strVal val="#ppt_x"/>
                                          </p:val>
                                        </p:tav>
                                      </p:tavLst>
                                    </p:anim>
                                    <p:anim calcmode="lin" valueType="num">
                                      <p:cBhvr>
                                        <p:cTn id="25" dur="500" fill="hold"/>
                                        <p:tgtEl>
                                          <p:spTgt spid="3"/>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grpId="0"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anim calcmode="lin" valueType="num">
                                      <p:cBhvr>
                                        <p:cTn id="30" dur="500" fill="hold"/>
                                        <p:tgtEl>
                                          <p:spTgt spid="4"/>
                                        </p:tgtEl>
                                        <p:attrNameLst>
                                          <p:attrName>ppt_x</p:attrName>
                                        </p:attrNameLst>
                                      </p:cBhvr>
                                      <p:tavLst>
                                        <p:tav tm="0">
                                          <p:val>
                                            <p:strVal val="#ppt_x"/>
                                          </p:val>
                                        </p:tav>
                                        <p:tav tm="100000">
                                          <p:val>
                                            <p:strVal val="#ppt_x"/>
                                          </p:val>
                                        </p:tav>
                                      </p:tavLst>
                                    </p:anim>
                                    <p:anim calcmode="lin" valueType="num">
                                      <p:cBhvr>
                                        <p:cTn id="31" dur="500" fill="hold"/>
                                        <p:tgtEl>
                                          <p:spTgt spid="4"/>
                                        </p:tgtEl>
                                        <p:attrNameLst>
                                          <p:attrName>ppt_y</p:attrName>
                                        </p:attrNameLst>
                                      </p:cBhvr>
                                      <p:tavLst>
                                        <p:tav tm="0">
                                          <p:val>
                                            <p:strVal val="#ppt_y+.1"/>
                                          </p:val>
                                        </p:tav>
                                        <p:tav tm="100000">
                                          <p:val>
                                            <p:strVal val="#ppt_y"/>
                                          </p:val>
                                        </p:tav>
                                      </p:tavLst>
                                    </p:anim>
                                  </p:childTnLst>
                                </p:cTn>
                              </p:par>
                            </p:childTnLst>
                          </p:cTn>
                        </p:par>
                        <p:par>
                          <p:cTn id="32" fill="hold">
                            <p:stCondLst>
                              <p:cond delay="2500"/>
                            </p:stCondLst>
                            <p:childTnLst>
                              <p:par>
                                <p:cTn id="33" presetID="42" presetClass="entr" presetSubtype="0" fill="hold" grpId="0"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anim calcmode="lin" valueType="num">
                                      <p:cBhvr>
                                        <p:cTn id="36" dur="500" fill="hold"/>
                                        <p:tgtEl>
                                          <p:spTgt spid="5"/>
                                        </p:tgtEl>
                                        <p:attrNameLst>
                                          <p:attrName>ppt_x</p:attrName>
                                        </p:attrNameLst>
                                      </p:cBhvr>
                                      <p:tavLst>
                                        <p:tav tm="0">
                                          <p:val>
                                            <p:strVal val="#ppt_x"/>
                                          </p:val>
                                        </p:tav>
                                        <p:tav tm="100000">
                                          <p:val>
                                            <p:strVal val="#ppt_x"/>
                                          </p:val>
                                        </p:tav>
                                      </p:tavLst>
                                    </p:anim>
                                    <p:anim calcmode="lin" valueType="num">
                                      <p:cBhvr>
                                        <p:cTn id="37" dur="500" fill="hold"/>
                                        <p:tgtEl>
                                          <p:spTgt spid="5"/>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anim calcmode="lin" valueType="num">
                                      <p:cBhvr>
                                        <p:cTn id="42" dur="500" fill="hold"/>
                                        <p:tgtEl>
                                          <p:spTgt spid="6"/>
                                        </p:tgtEl>
                                        <p:attrNameLst>
                                          <p:attrName>ppt_x</p:attrName>
                                        </p:attrNameLst>
                                      </p:cBhvr>
                                      <p:tavLst>
                                        <p:tav tm="0">
                                          <p:val>
                                            <p:strVal val="#ppt_x"/>
                                          </p:val>
                                        </p:tav>
                                        <p:tav tm="100000">
                                          <p:val>
                                            <p:strVal val="#ppt_x"/>
                                          </p:val>
                                        </p:tav>
                                      </p:tavLst>
                                    </p:anim>
                                    <p:anim calcmode="lin" valueType="num">
                                      <p:cBhvr>
                                        <p:cTn id="43" dur="500" fill="hold"/>
                                        <p:tgtEl>
                                          <p:spTgt spid="6"/>
                                        </p:tgtEl>
                                        <p:attrNameLst>
                                          <p:attrName>ppt_y</p:attrName>
                                        </p:attrNameLst>
                                      </p:cBhvr>
                                      <p:tavLst>
                                        <p:tav tm="0">
                                          <p:val>
                                            <p:strVal val="#ppt_y+.1"/>
                                          </p:val>
                                        </p:tav>
                                        <p:tav tm="100000">
                                          <p:val>
                                            <p:strVal val="#ppt_y"/>
                                          </p:val>
                                        </p:tav>
                                      </p:tavLst>
                                    </p:anim>
                                  </p:childTnLst>
                                </p:cTn>
                              </p:par>
                            </p:childTnLst>
                          </p:cTn>
                        </p:par>
                        <p:par>
                          <p:cTn id="44" fill="hold">
                            <p:stCondLst>
                              <p:cond delay="3500"/>
                            </p:stCondLst>
                            <p:childTnLst>
                              <p:par>
                                <p:cTn id="45" presetID="16" presetClass="entr" presetSubtype="37"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barn(outVertical)">
                                      <p:cBhvr>
                                        <p:cTn id="47" dur="500"/>
                                        <p:tgtEl>
                                          <p:spTgt spid="17"/>
                                        </p:tgtEl>
                                      </p:cBhvr>
                                    </p:animEffect>
                                  </p:childTnLst>
                                </p:cTn>
                              </p:par>
                            </p:childTnLst>
                          </p:cTn>
                        </p:par>
                        <p:par>
                          <p:cTn id="48" fill="hold">
                            <p:stCondLst>
                              <p:cond delay="4000"/>
                            </p:stCondLst>
                            <p:childTnLst>
                              <p:par>
                                <p:cTn id="49" presetID="47" presetClass="entr" presetSubtype="0"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par>
                          <p:cTn id="54" fill="hold">
                            <p:stCondLst>
                              <p:cond delay="5000"/>
                            </p:stCondLst>
                            <p:childTnLst>
                              <p:par>
                                <p:cTn id="55" presetID="16" presetClass="entr" presetSubtype="37"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outVertical)">
                                      <p:cBhvr>
                                        <p:cTn id="57" dur="500"/>
                                        <p:tgtEl>
                                          <p:spTgt spid="16"/>
                                        </p:tgtEl>
                                      </p:cBhvr>
                                    </p:animEffect>
                                  </p:childTnLst>
                                </p:cTn>
                              </p:par>
                            </p:childTnLst>
                          </p:cTn>
                        </p:par>
                        <p:par>
                          <p:cTn id="58" fill="hold">
                            <p:stCondLst>
                              <p:cond delay="5500"/>
                            </p:stCondLst>
                            <p:childTnLst>
                              <p:par>
                                <p:cTn id="59" presetID="22" presetClass="entr" presetSubtype="8" fill="hold" nodeType="after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childTnLst>
                          </p:cTn>
                        </p:par>
                        <p:par>
                          <p:cTn id="62" fill="hold">
                            <p:stCondLst>
                              <p:cond delay="6000"/>
                            </p:stCondLst>
                            <p:childTnLst>
                              <p:par>
                                <p:cTn id="63" presetID="22" presetClass="entr" presetSubtype="4" fill="hold" nodeType="after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down)">
                                      <p:cBhvr>
                                        <p:cTn id="65" dur="500"/>
                                        <p:tgtEl>
                                          <p:spTgt spid="24"/>
                                        </p:tgtEl>
                                      </p:cBhvr>
                                    </p:animEffect>
                                  </p:childTnLst>
                                </p:cTn>
                              </p:par>
                            </p:childTnLst>
                          </p:cTn>
                        </p:par>
                        <p:par>
                          <p:cTn id="66" fill="hold">
                            <p:stCondLst>
                              <p:cond delay="6500"/>
                            </p:stCondLst>
                            <p:childTnLst>
                              <p:par>
                                <p:cTn id="67" presetID="22" presetClass="entr" presetSubtype="8" fill="hold" nodeType="after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wipe(left)">
                                      <p:cBhvr>
                                        <p:cTn id="69" dur="500"/>
                                        <p:tgtEl>
                                          <p:spTgt spid="9"/>
                                        </p:tgtEl>
                                      </p:cBhvr>
                                    </p:animEffect>
                                  </p:childTnLst>
                                </p:cTn>
                              </p:par>
                            </p:childTnLst>
                          </p:cTn>
                        </p:par>
                        <p:par>
                          <p:cTn id="70" fill="hold">
                            <p:stCondLst>
                              <p:cond delay="7000"/>
                            </p:stCondLst>
                            <p:childTnLst>
                              <p:par>
                                <p:cTn id="71" presetID="53" presetClass="entr" presetSubtype="16" fill="hold" nodeType="afterEffect">
                                  <p:stCondLst>
                                    <p:cond delay="0"/>
                                  </p:stCondLst>
                                  <p:childTnLst>
                                    <p:set>
                                      <p:cBhvr>
                                        <p:cTn id="72" dur="1" fill="hold">
                                          <p:stCondLst>
                                            <p:cond delay="0"/>
                                          </p:stCondLst>
                                        </p:cTn>
                                        <p:tgtEl>
                                          <p:spTgt spid="10"/>
                                        </p:tgtEl>
                                        <p:attrNameLst>
                                          <p:attrName>style.visibility</p:attrName>
                                        </p:attrNameLst>
                                      </p:cBhvr>
                                      <p:to>
                                        <p:strVal val="visible"/>
                                      </p:to>
                                    </p:set>
                                    <p:anim calcmode="lin" valueType="num">
                                      <p:cBhvr>
                                        <p:cTn id="73" dur="500" fill="hold"/>
                                        <p:tgtEl>
                                          <p:spTgt spid="10"/>
                                        </p:tgtEl>
                                        <p:attrNameLst>
                                          <p:attrName>ppt_w</p:attrName>
                                        </p:attrNameLst>
                                      </p:cBhvr>
                                      <p:tavLst>
                                        <p:tav tm="0">
                                          <p:val>
                                            <p:fltVal val="0"/>
                                          </p:val>
                                        </p:tav>
                                        <p:tav tm="100000">
                                          <p:val>
                                            <p:strVal val="#ppt_w"/>
                                          </p:val>
                                        </p:tav>
                                      </p:tavLst>
                                    </p:anim>
                                    <p:anim calcmode="lin" valueType="num">
                                      <p:cBhvr>
                                        <p:cTn id="74" dur="500" fill="hold"/>
                                        <p:tgtEl>
                                          <p:spTgt spid="10"/>
                                        </p:tgtEl>
                                        <p:attrNameLst>
                                          <p:attrName>ppt_h</p:attrName>
                                        </p:attrNameLst>
                                      </p:cBhvr>
                                      <p:tavLst>
                                        <p:tav tm="0">
                                          <p:val>
                                            <p:fltVal val="0"/>
                                          </p:val>
                                        </p:tav>
                                        <p:tav tm="100000">
                                          <p:val>
                                            <p:strVal val="#ppt_h"/>
                                          </p:val>
                                        </p:tav>
                                      </p:tavLst>
                                    </p:anim>
                                    <p:animEffect transition="in" filter="fade">
                                      <p:cBhvr>
                                        <p:cTn id="7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bldLvl="0" animBg="1"/>
      <p:bldP spid="15" grpId="0"/>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7"/>
          <p:cNvSpPr txBox="1"/>
          <p:nvPr/>
        </p:nvSpPr>
        <p:spPr>
          <a:xfrm>
            <a:off x="4040188" y="661988"/>
            <a:ext cx="4040505" cy="829945"/>
          </a:xfrm>
          <a:prstGeom prst="rect">
            <a:avLst/>
          </a:prstGeom>
          <a:noFill/>
          <a:ln w="9525">
            <a:noFill/>
          </a:ln>
        </p:spPr>
        <p:txBody>
          <a:bodyPr wrap="none">
            <a:spAutoFit/>
          </a:bodyPr>
          <a:lstStyle/>
          <a:p>
            <a:pPr eaLnBrk="1" hangingPunct="1"/>
            <a:r>
              <a:rPr lang="id-ID" altLang="x-none" sz="4800" dirty="0">
                <a:solidFill>
                  <a:srgbClr val="7F7F7F"/>
                </a:solidFill>
                <a:cs typeface="Calibri" panose="020F0502020204030204" pitchFamily="34" charset="0"/>
              </a:rPr>
              <a:t>Plan du modèle</a:t>
            </a:r>
            <a:endParaRPr lang="fr-FR" altLang="x-none" dirty="0">
              <a:solidFill>
                <a:srgbClr val="000000"/>
              </a:solidFill>
              <a:cs typeface="Calibri" panose="020F0502020204030204" pitchFamily="34" charset="0"/>
            </a:endParaRPr>
          </a:p>
        </p:txBody>
      </p:sp>
      <p:cxnSp>
        <p:nvCxnSpPr>
          <p:cNvPr id="3" name="Straight Connector 10"/>
          <p:cNvCxnSpPr/>
          <p:nvPr/>
        </p:nvCxnSpPr>
        <p:spPr>
          <a:xfrm>
            <a:off x="6096000" y="1793875"/>
            <a:ext cx="0" cy="1557338"/>
          </a:xfrm>
          <a:prstGeom prst="straightConnector1">
            <a:avLst/>
          </a:prstGeom>
          <a:ln w="25402" cap="flat" cmpd="sng">
            <a:solidFill>
              <a:srgbClr val="D9D9D9"/>
            </a:solidFill>
            <a:prstDash val="solid"/>
            <a:miter/>
            <a:headEnd type="none" w="med" len="med"/>
            <a:tailEnd type="none" w="med" len="med"/>
          </a:ln>
        </p:spPr>
      </p:cxnSp>
      <p:sp>
        <p:nvSpPr>
          <p:cNvPr id="4" name="TextBox 14"/>
          <p:cNvSpPr txBox="1"/>
          <p:nvPr/>
        </p:nvSpPr>
        <p:spPr>
          <a:xfrm>
            <a:off x="2354263" y="2860675"/>
            <a:ext cx="1890712" cy="460375"/>
          </a:xfrm>
          <a:prstGeom prst="rect">
            <a:avLst/>
          </a:prstGeom>
          <a:noFill/>
          <a:ln w="9525">
            <a:noFill/>
          </a:ln>
        </p:spPr>
        <p:txBody>
          <a:bodyPr>
            <a:spAutoFit/>
          </a:bodyPr>
          <a:lstStyle/>
          <a:p>
            <a:pPr eaLnBrk="1" hangingPunct="1"/>
            <a:r>
              <a:rPr lang="id-ID" altLang="x-none" sz="2400" b="1" dirty="0">
                <a:solidFill>
                  <a:srgbClr val="7F7F7F"/>
                </a:solidFill>
                <a:cs typeface="Calibri" panose="020F0502020204030204" pitchFamily="34" charset="0"/>
              </a:rPr>
              <a:t>Introduction</a:t>
            </a:r>
            <a:endParaRPr lang="id-ID" altLang="x-none" sz="2400" b="1" dirty="0">
              <a:solidFill>
                <a:srgbClr val="7F7F7F"/>
              </a:solidFill>
              <a:ea typeface="Source Sans Pro Light"/>
              <a:cs typeface="Calibri" panose="020F0502020204030204" pitchFamily="34" charset="0"/>
            </a:endParaRPr>
          </a:p>
        </p:txBody>
      </p:sp>
      <p:sp>
        <p:nvSpPr>
          <p:cNvPr id="6" name="Isosceles Triangle 1"/>
          <p:cNvSpPr/>
          <p:nvPr/>
        </p:nvSpPr>
        <p:spPr>
          <a:xfrm rot="10799991">
            <a:off x="5964238" y="1633538"/>
            <a:ext cx="263525"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endParaRPr lang="fr-FR" altLang="en-US"/>
          </a:p>
        </p:txBody>
      </p:sp>
      <p:sp>
        <p:nvSpPr>
          <p:cNvPr id="7" name="Oval 3"/>
          <p:cNvSpPr/>
          <p:nvPr/>
        </p:nvSpPr>
        <p:spPr>
          <a:xfrm>
            <a:off x="6038850" y="336708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88A945">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8" name="Straight Connector 9"/>
          <p:cNvCxnSpPr/>
          <p:nvPr/>
        </p:nvCxnSpPr>
        <p:spPr>
          <a:xfrm>
            <a:off x="5514975" y="3441700"/>
            <a:ext cx="523875" cy="0"/>
          </a:xfrm>
          <a:prstGeom prst="straightConnector1">
            <a:avLst/>
          </a:prstGeom>
          <a:ln w="25402" cap="flat" cmpd="sng">
            <a:solidFill>
              <a:srgbClr val="D9D9D9"/>
            </a:solidFill>
            <a:prstDash val="solid"/>
            <a:miter/>
            <a:headEnd type="none" w="med" len="med"/>
            <a:tailEnd type="none" w="med" len="med"/>
          </a:ln>
        </p:spPr>
      </p:cxnSp>
      <p:sp>
        <p:nvSpPr>
          <p:cNvPr id="9" name="Rectangle 13"/>
          <p:cNvSpPr/>
          <p:nvPr/>
        </p:nvSpPr>
        <p:spPr>
          <a:xfrm>
            <a:off x="4448175" y="2914650"/>
            <a:ext cx="1054100" cy="105410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25"/>
          <p:cNvGrpSpPr/>
          <p:nvPr/>
        </p:nvGrpSpPr>
        <p:grpSpPr>
          <a:xfrm>
            <a:off x="4752975" y="3224213"/>
            <a:ext cx="444500" cy="436562"/>
            <a:chOff x="4753453" y="3223973"/>
            <a:chExt cx="444389" cy="436744"/>
          </a:xfrm>
        </p:grpSpPr>
        <p:sp>
          <p:nvSpPr>
            <p:cNvPr id="30749" name="Freeform 5"/>
            <p:cNvSpPr/>
            <p:nvPr/>
          </p:nvSpPr>
          <p:spPr>
            <a:xfrm>
              <a:off x="4996409" y="3278389"/>
              <a:ext cx="143670" cy="143670"/>
            </a:xfrm>
            <a:custGeom>
              <a:avLst/>
              <a:gdLst>
                <a:gd name="txL" fmla="*/ 0 w 254"/>
                <a:gd name="txT" fmla="*/ 0 h 254"/>
                <a:gd name="txR" fmla="*/ 254 w 254"/>
                <a:gd name="txB" fmla="*/ 254 h 254"/>
              </a:gdLst>
              <a:ahLst/>
              <a:cxnLst>
                <a:cxn ang="17694720">
                  <a:pos x="71835" y="0"/>
                </a:cxn>
                <a:cxn ang="0">
                  <a:pos x="143670" y="71835"/>
                </a:cxn>
                <a:cxn ang="5898240">
                  <a:pos x="71835" y="143670"/>
                </a:cxn>
                <a:cxn ang="11796480">
                  <a:pos x="0" y="71835"/>
                </a:cxn>
                <a:cxn ang="0">
                  <a:pos x="129529" y="136882"/>
                </a:cxn>
                <a:cxn ang="0">
                  <a:pos x="129529" y="136882"/>
                </a:cxn>
                <a:cxn ang="0">
                  <a:pos x="136317" y="143670"/>
                </a:cxn>
                <a:cxn ang="0">
                  <a:pos x="143670" y="136882"/>
                </a:cxn>
                <a:cxn ang="0">
                  <a:pos x="143104" y="136882"/>
                </a:cxn>
                <a:cxn ang="0">
                  <a:pos x="7353" y="566"/>
                </a:cxn>
                <a:cxn ang="0">
                  <a:pos x="6788" y="0"/>
                </a:cxn>
                <a:cxn ang="0">
                  <a:pos x="0" y="7353"/>
                </a:cxn>
                <a:cxn ang="0">
                  <a:pos x="6788" y="14141"/>
                </a:cxn>
                <a:cxn ang="0">
                  <a:pos x="6788" y="14141"/>
                </a:cxn>
                <a:cxn ang="0">
                  <a:pos x="129529" y="136882"/>
                </a:cxn>
              </a:cxnLst>
              <a:rect l="txL" t="txT" r="txR" b="tx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solidFill>
              <a:srgbClr val="FFFFFF">
                <a:alpha val="100000"/>
              </a:srgbClr>
            </a:solidFill>
            <a:ln w="9525">
              <a:noFill/>
            </a:ln>
          </p:spPr>
          <p:txBody>
            <a:bodyPr/>
            <a:lstStyle/>
            <a:p>
              <a:endParaRPr lang="fr-FR" altLang="en-US"/>
            </a:p>
          </p:txBody>
        </p:sp>
        <p:grpSp>
          <p:nvGrpSpPr>
            <p:cNvPr id="30750" name="Group 24"/>
            <p:cNvGrpSpPr/>
            <p:nvPr/>
          </p:nvGrpSpPr>
          <p:grpSpPr>
            <a:xfrm>
              <a:off x="4753453" y="3223973"/>
              <a:ext cx="444389" cy="436744"/>
              <a:chOff x="4753453" y="3223973"/>
              <a:chExt cx="444389" cy="436744"/>
            </a:xfrm>
          </p:grpSpPr>
          <p:sp>
            <p:nvSpPr>
              <p:cNvPr id="30751" name="Freeform 6"/>
              <p:cNvSpPr/>
              <p:nvPr/>
            </p:nvSpPr>
            <p:spPr>
              <a:xfrm>
                <a:off x="4753453" y="3223973"/>
                <a:ext cx="444389" cy="436744"/>
              </a:xfrm>
              <a:custGeom>
                <a:avLst/>
                <a:gdLst>
                  <a:gd name="txL" fmla="*/ 0 w 785"/>
                  <a:gd name="txT" fmla="*/ 0 h 772"/>
                  <a:gd name="txR" fmla="*/ 785 w 785"/>
                  <a:gd name="txB" fmla="*/ 772 h 772"/>
                </a:gdLst>
                <a:ahLst/>
                <a:cxnLst>
                  <a:cxn ang="17694720">
                    <a:pos x="222195" y="0"/>
                  </a:cxn>
                  <a:cxn ang="0">
                    <a:pos x="444389" y="218372"/>
                  </a:cxn>
                  <a:cxn ang="5898240">
                    <a:pos x="222195" y="436744"/>
                  </a:cxn>
                  <a:cxn ang="11796480">
                    <a:pos x="0" y="218372"/>
                  </a:cxn>
                  <a:cxn ang="0">
                    <a:pos x="128505" y="11880"/>
                  </a:cxn>
                  <a:cxn ang="0">
                    <a:pos x="99634" y="0"/>
                  </a:cxn>
                  <a:cxn ang="0">
                    <a:pos x="83783" y="3394"/>
                  </a:cxn>
                  <a:cxn ang="0">
                    <a:pos x="58308" y="40733"/>
                  </a:cxn>
                  <a:cxn ang="0">
                    <a:pos x="58308" y="228555"/>
                  </a:cxn>
                  <a:cxn ang="0">
                    <a:pos x="15851" y="271551"/>
                  </a:cxn>
                  <a:cxn ang="0">
                    <a:pos x="15851" y="329255"/>
                  </a:cxn>
                  <a:cxn ang="0">
                    <a:pos x="111522" y="424864"/>
                  </a:cxn>
                  <a:cxn ang="0">
                    <a:pos x="140393" y="436744"/>
                  </a:cxn>
                  <a:cxn ang="0">
                    <a:pos x="169264" y="424864"/>
                  </a:cxn>
                  <a:cxn ang="0">
                    <a:pos x="212288" y="381868"/>
                  </a:cxn>
                  <a:cxn ang="0">
                    <a:pos x="400233" y="381868"/>
                  </a:cxn>
                  <a:cxn ang="0">
                    <a:pos x="437596" y="356976"/>
                  </a:cxn>
                  <a:cxn ang="0">
                    <a:pos x="429104" y="312283"/>
                  </a:cxn>
                  <a:cxn ang="0">
                    <a:pos x="128505" y="11880"/>
                  </a:cxn>
                  <a:cxn ang="0">
                    <a:pos x="193040" y="362633"/>
                  </a:cxn>
                  <a:cxn ang="0">
                    <a:pos x="150017" y="405629"/>
                  </a:cxn>
                  <a:cxn ang="0">
                    <a:pos x="140393" y="409589"/>
                  </a:cxn>
                  <a:cxn ang="0">
                    <a:pos x="130769" y="405629"/>
                  </a:cxn>
                  <a:cxn ang="0">
                    <a:pos x="35098" y="310020"/>
                  </a:cxn>
                  <a:cxn ang="0">
                    <a:pos x="31136" y="300403"/>
                  </a:cxn>
                  <a:cxn ang="0">
                    <a:pos x="35098" y="290786"/>
                  </a:cxn>
                  <a:cxn ang="0">
                    <a:pos x="78122" y="247790"/>
                  </a:cxn>
                  <a:cxn ang="0">
                    <a:pos x="78122" y="247790"/>
                  </a:cxn>
                  <a:cxn ang="0">
                    <a:pos x="193040" y="362633"/>
                  </a:cxn>
                  <a:cxn ang="0">
                    <a:pos x="193040" y="362633"/>
                  </a:cxn>
                  <a:cxn ang="0">
                    <a:pos x="212288" y="354713"/>
                  </a:cxn>
                  <a:cxn ang="0">
                    <a:pos x="206061" y="355845"/>
                  </a:cxn>
                  <a:cxn ang="0">
                    <a:pos x="84915" y="234778"/>
                  </a:cxn>
                  <a:cxn ang="0">
                    <a:pos x="86047" y="228555"/>
                  </a:cxn>
                  <a:cxn ang="0">
                    <a:pos x="86047" y="64493"/>
                  </a:cxn>
                  <a:cxn ang="0">
                    <a:pos x="376457" y="354713"/>
                  </a:cxn>
                  <a:cxn ang="0">
                    <a:pos x="212288" y="354713"/>
                  </a:cxn>
                  <a:cxn ang="0">
                    <a:pos x="412687" y="346227"/>
                  </a:cxn>
                  <a:cxn ang="0">
                    <a:pos x="400233" y="354713"/>
                  </a:cxn>
                  <a:cxn ang="0">
                    <a:pos x="395704" y="354713"/>
                  </a:cxn>
                  <a:cxn ang="0">
                    <a:pos x="86047" y="45258"/>
                  </a:cxn>
                  <a:cxn ang="0">
                    <a:pos x="86047" y="40733"/>
                  </a:cxn>
                  <a:cxn ang="0">
                    <a:pos x="94539" y="28287"/>
                  </a:cxn>
                  <a:cxn ang="0">
                    <a:pos x="99634" y="27155"/>
                  </a:cxn>
                  <a:cxn ang="0">
                    <a:pos x="109257" y="31115"/>
                  </a:cxn>
                  <a:cxn ang="0">
                    <a:pos x="409857" y="331518"/>
                  </a:cxn>
                  <a:cxn ang="0">
                    <a:pos x="412687" y="346227"/>
                  </a:cxn>
                </a:cxnLst>
                <a:rect l="txL" t="txT" r="txR" b="tx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solidFill>
                <a:srgbClr val="FFFFFF">
                  <a:alpha val="100000"/>
                </a:srgbClr>
              </a:solidFill>
              <a:ln w="9525">
                <a:noFill/>
              </a:ln>
            </p:spPr>
            <p:txBody>
              <a:bodyPr/>
              <a:lstStyle/>
              <a:p>
                <a:endParaRPr lang="fr-FR" altLang="en-US"/>
              </a:p>
            </p:txBody>
          </p:sp>
          <p:sp>
            <p:nvSpPr>
              <p:cNvPr id="30752" name="Freeform 7"/>
              <p:cNvSpPr/>
              <p:nvPr/>
            </p:nvSpPr>
            <p:spPr>
              <a:xfrm>
                <a:off x="4989487" y="3223973"/>
                <a:ext cx="204770" cy="204770"/>
              </a:xfrm>
              <a:custGeom>
                <a:avLst/>
                <a:gdLst>
                  <a:gd name="txL" fmla="*/ 0 w 362"/>
                  <a:gd name="txT" fmla="*/ 0 h 362"/>
                  <a:gd name="txR" fmla="*/ 362 w 362"/>
                  <a:gd name="txB" fmla="*/ 362 h 362"/>
                </a:gdLst>
                <a:ahLst/>
                <a:cxnLst>
                  <a:cxn ang="17694720">
                    <a:pos x="102385" y="0"/>
                  </a:cxn>
                  <a:cxn ang="0">
                    <a:pos x="204770" y="102385"/>
                  </a:cxn>
                  <a:cxn ang="5898240">
                    <a:pos x="102385" y="204770"/>
                  </a:cxn>
                  <a:cxn ang="11796480">
                    <a:pos x="0" y="102385"/>
                  </a:cxn>
                  <a:cxn ang="0">
                    <a:pos x="13576" y="27152"/>
                  </a:cxn>
                  <a:cxn ang="0">
                    <a:pos x="13576" y="27152"/>
                  </a:cxn>
                  <a:cxn ang="0">
                    <a:pos x="177618" y="191194"/>
                  </a:cxn>
                  <a:cxn ang="0">
                    <a:pos x="177618" y="191194"/>
                  </a:cxn>
                  <a:cxn ang="0">
                    <a:pos x="191194" y="204770"/>
                  </a:cxn>
                  <a:cxn ang="0">
                    <a:pos x="204770" y="191194"/>
                  </a:cxn>
                  <a:cxn ang="0">
                    <a:pos x="204770" y="191194"/>
                  </a:cxn>
                  <a:cxn ang="0">
                    <a:pos x="14142" y="0"/>
                  </a:cxn>
                  <a:cxn ang="0">
                    <a:pos x="13576" y="0"/>
                  </a:cxn>
                  <a:cxn ang="0">
                    <a:pos x="0" y="13576"/>
                  </a:cxn>
                  <a:cxn ang="0">
                    <a:pos x="13576" y="27152"/>
                  </a:cxn>
                </a:cxnLst>
                <a:rect l="txL" t="txT" r="txR" b="tx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solidFill>
                <a:srgbClr val="FFFFFF">
                  <a:alpha val="100000"/>
                </a:srgbClr>
              </a:solidFill>
              <a:ln w="9525">
                <a:noFill/>
              </a:ln>
            </p:spPr>
            <p:txBody>
              <a:bodyPr/>
              <a:lstStyle/>
              <a:p>
                <a:endParaRPr lang="fr-FR" altLang="en-US"/>
              </a:p>
            </p:txBody>
          </p:sp>
        </p:grpSp>
      </p:grpSp>
      <p:cxnSp>
        <p:nvCxnSpPr>
          <p:cNvPr id="15" name="Straight Connector 26"/>
          <p:cNvCxnSpPr/>
          <p:nvPr/>
        </p:nvCxnSpPr>
        <p:spPr>
          <a:xfrm>
            <a:off x="6096000" y="3489325"/>
            <a:ext cx="0" cy="1249363"/>
          </a:xfrm>
          <a:prstGeom prst="straightConnector1">
            <a:avLst/>
          </a:prstGeom>
          <a:ln w="25402" cap="flat" cmpd="sng">
            <a:solidFill>
              <a:srgbClr val="D9D9D9"/>
            </a:solidFill>
            <a:prstDash val="solid"/>
            <a:miter/>
            <a:headEnd type="none" w="med" len="med"/>
            <a:tailEnd type="none" w="med" len="med"/>
          </a:ln>
        </p:spPr>
      </p:cxnSp>
      <p:sp>
        <p:nvSpPr>
          <p:cNvPr id="16" name="Oval 27"/>
          <p:cNvSpPr/>
          <p:nvPr/>
        </p:nvSpPr>
        <p:spPr>
          <a:xfrm>
            <a:off x="6038850" y="4752975"/>
            <a:ext cx="114300" cy="114300"/>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9BBB59">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7" name="Straight Connector 28"/>
          <p:cNvCxnSpPr/>
          <p:nvPr/>
        </p:nvCxnSpPr>
        <p:spPr>
          <a:xfrm>
            <a:off x="6153150" y="4829175"/>
            <a:ext cx="523875" cy="0"/>
          </a:xfrm>
          <a:prstGeom prst="straightConnector1">
            <a:avLst/>
          </a:prstGeom>
          <a:ln w="25402" cap="flat" cmpd="sng">
            <a:solidFill>
              <a:srgbClr val="D9D9D9"/>
            </a:solidFill>
            <a:prstDash val="solid"/>
            <a:miter/>
            <a:headEnd type="none" w="med" len="med"/>
            <a:tailEnd type="none" w="med" len="med"/>
          </a:ln>
        </p:spPr>
      </p:cxnSp>
      <p:sp>
        <p:nvSpPr>
          <p:cNvPr id="18" name="Rectangle 29"/>
          <p:cNvSpPr/>
          <p:nvPr/>
        </p:nvSpPr>
        <p:spPr>
          <a:xfrm>
            <a:off x="6677025" y="4302125"/>
            <a:ext cx="1054100" cy="10541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19" name="Straight Connector 31"/>
          <p:cNvCxnSpPr/>
          <p:nvPr/>
        </p:nvCxnSpPr>
        <p:spPr>
          <a:xfrm>
            <a:off x="6096000" y="4867275"/>
            <a:ext cx="0" cy="1990725"/>
          </a:xfrm>
          <a:prstGeom prst="straightConnector1">
            <a:avLst/>
          </a:prstGeom>
          <a:ln w="25402" cap="flat" cmpd="sng">
            <a:solidFill>
              <a:srgbClr val="D9D9D9"/>
            </a:solidFill>
            <a:prstDash val="solid"/>
            <a:miter/>
            <a:headEnd type="none" w="med" len="med"/>
            <a:tailEnd type="none" w="med" len="med"/>
          </a:ln>
        </p:spPr>
      </p:cxnSp>
      <p:sp>
        <p:nvSpPr>
          <p:cNvPr id="20" name="TextBox 36"/>
          <p:cNvSpPr txBox="1"/>
          <p:nvPr/>
        </p:nvSpPr>
        <p:spPr>
          <a:xfrm>
            <a:off x="7916863" y="4302125"/>
            <a:ext cx="4600958" cy="461665"/>
          </a:xfrm>
          <a:prstGeom prst="rect">
            <a:avLst/>
          </a:prstGeom>
          <a:noFill/>
          <a:ln w="9525">
            <a:noFill/>
          </a:ln>
        </p:spPr>
        <p:txBody>
          <a:bodyPr wrap="square">
            <a:spAutoFit/>
          </a:bodyPr>
          <a:lstStyle/>
          <a:p>
            <a:pPr eaLnBrk="1" hangingPunct="1"/>
            <a:r>
              <a:rPr lang="id-ID" altLang="x-none" sz="2400" b="1" dirty="0">
                <a:solidFill>
                  <a:srgbClr val="7F7F7F"/>
                </a:solidFill>
                <a:cs typeface="Calibri" panose="020F0502020204030204" pitchFamily="34" charset="0"/>
              </a:rPr>
              <a:t>Contexte et objectif</a:t>
            </a:r>
            <a:endParaRPr lang="fr-FR" altLang="x-none" dirty="0">
              <a:solidFill>
                <a:srgbClr val="000000"/>
              </a:solidFill>
              <a:cs typeface="Calibri" panose="020F0502020204030204" pitchFamily="34" charset="0"/>
            </a:endParaRPr>
          </a:p>
        </p:txBody>
      </p:sp>
      <p:grpSp>
        <p:nvGrpSpPr>
          <p:cNvPr id="21" name="Group 45"/>
          <p:cNvGrpSpPr/>
          <p:nvPr/>
        </p:nvGrpSpPr>
        <p:grpSpPr>
          <a:xfrm>
            <a:off x="6959600" y="4643438"/>
            <a:ext cx="484188" cy="369887"/>
            <a:chOff x="6959727" y="4643880"/>
            <a:chExt cx="484705" cy="370185"/>
          </a:xfrm>
        </p:grpSpPr>
        <p:sp>
          <p:nvSpPr>
            <p:cNvPr id="30742" name="Freeform 5"/>
            <p:cNvSpPr/>
            <p:nvPr/>
          </p:nvSpPr>
          <p:spPr>
            <a:xfrm>
              <a:off x="7019318" y="4700153"/>
              <a:ext cx="306452" cy="240121"/>
            </a:xfrm>
            <a:custGeom>
              <a:avLst/>
              <a:gdLst>
                <a:gd name="txL" fmla="*/ 0 w 1250"/>
                <a:gd name="txT" fmla="*/ 0 h 979"/>
                <a:gd name="txR" fmla="*/ 1250 w 1250"/>
                <a:gd name="txB" fmla="*/ 979 h 979"/>
              </a:gdLst>
              <a:ahLst/>
              <a:cxnLst>
                <a:cxn ang="17694720">
                  <a:pos x="153226" y="0"/>
                </a:cxn>
                <a:cxn ang="0">
                  <a:pos x="306452" y="120061"/>
                </a:cxn>
                <a:cxn ang="5898240">
                  <a:pos x="153226" y="240121"/>
                </a:cxn>
                <a:cxn ang="11796480">
                  <a:pos x="0" y="120061"/>
                </a:cxn>
                <a:cxn ang="0">
                  <a:pos x="274091" y="12264"/>
                </a:cxn>
                <a:cxn ang="0">
                  <a:pos x="153226" y="0"/>
                </a:cxn>
                <a:cxn ang="0">
                  <a:pos x="32361" y="12264"/>
                </a:cxn>
                <a:cxn ang="0">
                  <a:pos x="21329" y="22074"/>
                </a:cxn>
                <a:cxn ang="0">
                  <a:pos x="21329" y="217801"/>
                </a:cxn>
                <a:cxn ang="0">
                  <a:pos x="32361" y="227612"/>
                </a:cxn>
                <a:cxn ang="0">
                  <a:pos x="153226" y="240121"/>
                </a:cxn>
                <a:cxn ang="0">
                  <a:pos x="274091" y="227612"/>
                </a:cxn>
                <a:cxn ang="0">
                  <a:pos x="285123" y="217801"/>
                </a:cxn>
                <a:cxn ang="0">
                  <a:pos x="285123" y="22074"/>
                </a:cxn>
                <a:cxn ang="0">
                  <a:pos x="274091" y="12264"/>
                </a:cxn>
                <a:cxn ang="0">
                  <a:pos x="271149" y="213141"/>
                </a:cxn>
                <a:cxn ang="0">
                  <a:pos x="35303" y="213141"/>
                </a:cxn>
                <a:cxn ang="0">
                  <a:pos x="35303" y="26735"/>
                </a:cxn>
                <a:cxn ang="0">
                  <a:pos x="271149" y="26735"/>
                </a:cxn>
                <a:cxn ang="0">
                  <a:pos x="271149" y="213141"/>
                </a:cxn>
              </a:cxnLst>
              <a:rect l="txL" t="txT" r="txR" b="txB"/>
              <a:pathLst>
                <a:path w="1250" h="979">
                  <a:moveTo>
                    <a:pt x="1118" y="50"/>
                  </a:moveTo>
                  <a:cubicBezTo>
                    <a:pt x="954" y="17"/>
                    <a:pt x="789" y="0"/>
                    <a:pt x="625" y="0"/>
                  </a:cubicBezTo>
                  <a:cubicBezTo>
                    <a:pt x="461" y="0"/>
                    <a:pt x="295" y="17"/>
                    <a:pt x="132" y="50"/>
                  </a:cubicBezTo>
                  <a:cubicBezTo>
                    <a:pt x="111" y="55"/>
                    <a:pt x="94" y="70"/>
                    <a:pt x="87" y="90"/>
                  </a:cubicBezTo>
                  <a:cubicBezTo>
                    <a:pt x="0" y="355"/>
                    <a:pt x="0" y="623"/>
                    <a:pt x="87" y="888"/>
                  </a:cubicBezTo>
                  <a:cubicBezTo>
                    <a:pt x="94" y="908"/>
                    <a:pt x="111" y="924"/>
                    <a:pt x="132" y="928"/>
                  </a:cubicBezTo>
                  <a:cubicBezTo>
                    <a:pt x="295" y="961"/>
                    <a:pt x="461" y="979"/>
                    <a:pt x="625" y="979"/>
                  </a:cubicBezTo>
                  <a:cubicBezTo>
                    <a:pt x="789" y="979"/>
                    <a:pt x="954" y="961"/>
                    <a:pt x="1118" y="928"/>
                  </a:cubicBezTo>
                  <a:cubicBezTo>
                    <a:pt x="1139" y="924"/>
                    <a:pt x="1156" y="908"/>
                    <a:pt x="1163" y="888"/>
                  </a:cubicBezTo>
                  <a:cubicBezTo>
                    <a:pt x="1250" y="623"/>
                    <a:pt x="1250" y="355"/>
                    <a:pt x="1163" y="90"/>
                  </a:cubicBezTo>
                  <a:cubicBezTo>
                    <a:pt x="1156" y="70"/>
                    <a:pt x="1139" y="55"/>
                    <a:pt x="1118" y="50"/>
                  </a:cubicBezTo>
                  <a:close/>
                  <a:moveTo>
                    <a:pt x="1106" y="869"/>
                  </a:moveTo>
                  <a:cubicBezTo>
                    <a:pt x="785" y="935"/>
                    <a:pt x="465" y="935"/>
                    <a:pt x="144" y="869"/>
                  </a:cubicBezTo>
                  <a:cubicBezTo>
                    <a:pt x="61" y="616"/>
                    <a:pt x="61" y="363"/>
                    <a:pt x="144" y="109"/>
                  </a:cubicBezTo>
                  <a:cubicBezTo>
                    <a:pt x="465" y="43"/>
                    <a:pt x="785" y="43"/>
                    <a:pt x="1106" y="109"/>
                  </a:cubicBezTo>
                  <a:cubicBezTo>
                    <a:pt x="1189" y="363"/>
                    <a:pt x="1189" y="616"/>
                    <a:pt x="1106" y="869"/>
                  </a:cubicBezTo>
                  <a:close/>
                </a:path>
              </a:pathLst>
            </a:custGeom>
            <a:solidFill>
              <a:srgbClr val="FFFFFF">
                <a:alpha val="100000"/>
              </a:srgbClr>
            </a:solidFill>
            <a:ln w="9525">
              <a:noFill/>
            </a:ln>
          </p:spPr>
          <p:txBody>
            <a:bodyPr/>
            <a:lstStyle/>
            <a:p>
              <a:endParaRPr lang="fr-FR" altLang="en-US"/>
            </a:p>
          </p:txBody>
        </p:sp>
        <p:sp>
          <p:nvSpPr>
            <p:cNvPr id="30743" name="Freeform 6"/>
            <p:cNvSpPr/>
            <p:nvPr/>
          </p:nvSpPr>
          <p:spPr>
            <a:xfrm>
              <a:off x="6959727" y="4643880"/>
              <a:ext cx="484705" cy="370185"/>
            </a:xfrm>
            <a:custGeom>
              <a:avLst/>
              <a:gdLst>
                <a:gd name="txL" fmla="*/ 0 w 1977"/>
                <a:gd name="txT" fmla="*/ 0 h 1509"/>
                <a:gd name="txR" fmla="*/ 1977 w 1977"/>
                <a:gd name="txB" fmla="*/ 1509 h 1509"/>
              </a:gdLst>
              <a:ahLst/>
              <a:cxnLst>
                <a:cxn ang="17694720">
                  <a:pos x="242353" y="0"/>
                </a:cxn>
                <a:cxn ang="0">
                  <a:pos x="484705" y="185093"/>
                </a:cxn>
                <a:cxn ang="5898240">
                  <a:pos x="242353" y="370185"/>
                </a:cxn>
                <a:cxn ang="11796480">
                  <a:pos x="0" y="185093"/>
                </a:cxn>
                <a:cxn ang="0">
                  <a:pos x="462149" y="34345"/>
                </a:cxn>
                <a:cxn ang="0">
                  <a:pos x="436896" y="11775"/>
                </a:cxn>
                <a:cxn ang="0">
                  <a:pos x="242475" y="0"/>
                </a:cxn>
                <a:cxn ang="0">
                  <a:pos x="47809" y="11775"/>
                </a:cxn>
                <a:cxn ang="0">
                  <a:pos x="22556" y="34345"/>
                </a:cxn>
                <a:cxn ang="0">
                  <a:pos x="22556" y="321121"/>
                </a:cxn>
                <a:cxn ang="0">
                  <a:pos x="47809" y="343691"/>
                </a:cxn>
                <a:cxn ang="0">
                  <a:pos x="141464" y="352277"/>
                </a:cxn>
                <a:cxn ang="0">
                  <a:pos x="138767" y="355466"/>
                </a:cxn>
                <a:cxn ang="0">
                  <a:pos x="242475" y="370185"/>
                </a:cxn>
                <a:cxn ang="0">
                  <a:pos x="345938" y="355466"/>
                </a:cxn>
                <a:cxn ang="0">
                  <a:pos x="343241" y="352277"/>
                </a:cxn>
                <a:cxn ang="0">
                  <a:pos x="436896" y="343691"/>
                </a:cxn>
                <a:cxn ang="0">
                  <a:pos x="462149" y="321121"/>
                </a:cxn>
                <a:cxn ang="0">
                  <a:pos x="462149" y="34345"/>
                </a:cxn>
                <a:cxn ang="0">
                  <a:pos x="433464" y="314252"/>
                </a:cxn>
                <a:cxn ang="0">
                  <a:pos x="51486" y="314252"/>
                </a:cxn>
                <a:cxn ang="0">
                  <a:pos x="51486" y="41213"/>
                </a:cxn>
                <a:cxn ang="0">
                  <a:pos x="433464" y="41213"/>
                </a:cxn>
                <a:cxn ang="0">
                  <a:pos x="433464" y="314252"/>
                </a:cxn>
              </a:cxnLst>
              <a:rect l="txL" t="txT" r="txR" b="txB"/>
              <a:pathLst>
                <a:path w="1977" h="1509">
                  <a:moveTo>
                    <a:pt x="1885" y="140"/>
                  </a:moveTo>
                  <a:cubicBezTo>
                    <a:pt x="1873" y="91"/>
                    <a:pt x="1832" y="54"/>
                    <a:pt x="1782" y="48"/>
                  </a:cubicBezTo>
                  <a:cubicBezTo>
                    <a:pt x="1519" y="16"/>
                    <a:pt x="1252" y="0"/>
                    <a:pt x="989" y="0"/>
                  </a:cubicBezTo>
                  <a:cubicBezTo>
                    <a:pt x="725" y="0"/>
                    <a:pt x="458" y="16"/>
                    <a:pt x="195" y="48"/>
                  </a:cubicBezTo>
                  <a:cubicBezTo>
                    <a:pt x="145" y="54"/>
                    <a:pt x="104" y="91"/>
                    <a:pt x="92" y="140"/>
                  </a:cubicBezTo>
                  <a:cubicBezTo>
                    <a:pt x="0" y="528"/>
                    <a:pt x="0" y="921"/>
                    <a:pt x="92" y="1309"/>
                  </a:cubicBezTo>
                  <a:cubicBezTo>
                    <a:pt x="104" y="1358"/>
                    <a:pt x="145" y="1395"/>
                    <a:pt x="195" y="1401"/>
                  </a:cubicBezTo>
                  <a:cubicBezTo>
                    <a:pt x="322" y="1416"/>
                    <a:pt x="450" y="1428"/>
                    <a:pt x="577" y="1436"/>
                  </a:cubicBezTo>
                  <a:cubicBezTo>
                    <a:pt x="570" y="1440"/>
                    <a:pt x="566" y="1444"/>
                    <a:pt x="566" y="1449"/>
                  </a:cubicBezTo>
                  <a:cubicBezTo>
                    <a:pt x="566" y="1482"/>
                    <a:pt x="755" y="1509"/>
                    <a:pt x="989" y="1509"/>
                  </a:cubicBezTo>
                  <a:cubicBezTo>
                    <a:pt x="1222" y="1509"/>
                    <a:pt x="1411" y="1482"/>
                    <a:pt x="1411" y="1449"/>
                  </a:cubicBezTo>
                  <a:cubicBezTo>
                    <a:pt x="1411" y="1444"/>
                    <a:pt x="1407" y="1440"/>
                    <a:pt x="1400" y="1436"/>
                  </a:cubicBezTo>
                  <a:cubicBezTo>
                    <a:pt x="1528" y="1428"/>
                    <a:pt x="1655" y="1416"/>
                    <a:pt x="1782" y="1401"/>
                  </a:cubicBezTo>
                  <a:cubicBezTo>
                    <a:pt x="1832" y="1395"/>
                    <a:pt x="1873" y="1358"/>
                    <a:pt x="1885" y="1309"/>
                  </a:cubicBezTo>
                  <a:cubicBezTo>
                    <a:pt x="1977" y="921"/>
                    <a:pt x="1977" y="528"/>
                    <a:pt x="1885" y="140"/>
                  </a:cubicBezTo>
                  <a:close/>
                  <a:moveTo>
                    <a:pt x="1768" y="1281"/>
                  </a:moveTo>
                  <a:cubicBezTo>
                    <a:pt x="1248" y="1344"/>
                    <a:pt x="729" y="1344"/>
                    <a:pt x="210" y="1281"/>
                  </a:cubicBezTo>
                  <a:cubicBezTo>
                    <a:pt x="121" y="910"/>
                    <a:pt x="121" y="539"/>
                    <a:pt x="210" y="168"/>
                  </a:cubicBezTo>
                  <a:cubicBezTo>
                    <a:pt x="729" y="105"/>
                    <a:pt x="1248" y="105"/>
                    <a:pt x="1768" y="168"/>
                  </a:cubicBezTo>
                  <a:cubicBezTo>
                    <a:pt x="1856" y="539"/>
                    <a:pt x="1856" y="910"/>
                    <a:pt x="1768" y="1281"/>
                  </a:cubicBezTo>
                  <a:close/>
                </a:path>
              </a:pathLst>
            </a:custGeom>
            <a:solidFill>
              <a:srgbClr val="FFFFFF">
                <a:alpha val="100000"/>
              </a:srgbClr>
            </a:solidFill>
            <a:ln w="9525">
              <a:noFill/>
            </a:ln>
          </p:spPr>
          <p:txBody>
            <a:bodyPr/>
            <a:lstStyle/>
            <a:p>
              <a:endParaRPr lang="fr-FR" altLang="en-US"/>
            </a:p>
          </p:txBody>
        </p:sp>
        <p:sp>
          <p:nvSpPr>
            <p:cNvPr id="30744" name="Freeform 7"/>
            <p:cNvSpPr/>
            <p:nvPr/>
          </p:nvSpPr>
          <p:spPr>
            <a:xfrm>
              <a:off x="7335298" y="4717974"/>
              <a:ext cx="44357" cy="44458"/>
            </a:xfrm>
            <a:custGeom>
              <a:avLst/>
              <a:gdLst>
                <a:gd name="txL" fmla="*/ 0 w 181"/>
                <a:gd name="txT" fmla="*/ 0 h 181"/>
                <a:gd name="txR" fmla="*/ 181 w 181"/>
                <a:gd name="txB" fmla="*/ 181 h 181"/>
              </a:gdLst>
              <a:ahLst/>
              <a:cxnLst>
                <a:cxn ang="17694720">
                  <a:pos x="22179" y="0"/>
                </a:cxn>
                <a:cxn ang="0">
                  <a:pos x="44357" y="22229"/>
                </a:cxn>
                <a:cxn ang="5898240">
                  <a:pos x="22179" y="44458"/>
                </a:cxn>
                <a:cxn ang="11796480">
                  <a:pos x="0" y="22229"/>
                </a:cxn>
                <a:cxn ang="0">
                  <a:pos x="22301" y="44458"/>
                </a:cxn>
                <a:cxn ang="0">
                  <a:pos x="44357" y="22106"/>
                </a:cxn>
                <a:cxn ang="0">
                  <a:pos x="22301" y="0"/>
                </a:cxn>
                <a:cxn ang="0">
                  <a:pos x="0" y="22106"/>
                </a:cxn>
                <a:cxn ang="0">
                  <a:pos x="22301" y="44458"/>
                </a:cxn>
                <a:cxn ang="0">
                  <a:pos x="22301" y="14737"/>
                </a:cxn>
                <a:cxn ang="0">
                  <a:pos x="29653" y="22106"/>
                </a:cxn>
                <a:cxn ang="0">
                  <a:pos x="22301" y="29721"/>
                </a:cxn>
                <a:cxn ang="0">
                  <a:pos x="14704" y="22106"/>
                </a:cxn>
                <a:cxn ang="0">
                  <a:pos x="22301" y="14737"/>
                </a:cxn>
              </a:cxnLst>
              <a:rect l="txL" t="txT" r="txR" b="txB"/>
              <a:pathLst>
                <a:path w="181" h="181">
                  <a:moveTo>
                    <a:pt x="91" y="181"/>
                  </a:moveTo>
                  <a:cubicBezTo>
                    <a:pt x="141" y="181"/>
                    <a:pt x="181" y="140"/>
                    <a:pt x="181" y="90"/>
                  </a:cubicBezTo>
                  <a:cubicBezTo>
                    <a:pt x="181" y="40"/>
                    <a:pt x="141" y="0"/>
                    <a:pt x="91" y="0"/>
                  </a:cubicBezTo>
                  <a:cubicBezTo>
                    <a:pt x="41" y="0"/>
                    <a:pt x="0" y="40"/>
                    <a:pt x="0" y="90"/>
                  </a:cubicBezTo>
                  <a:cubicBezTo>
                    <a:pt x="0" y="140"/>
                    <a:pt x="41" y="181"/>
                    <a:pt x="91" y="181"/>
                  </a:cubicBezTo>
                  <a:close/>
                  <a:moveTo>
                    <a:pt x="91" y="60"/>
                  </a:moveTo>
                  <a:cubicBezTo>
                    <a:pt x="107" y="60"/>
                    <a:pt x="121" y="74"/>
                    <a:pt x="121" y="90"/>
                  </a:cubicBezTo>
                  <a:cubicBezTo>
                    <a:pt x="121" y="107"/>
                    <a:pt x="107" y="121"/>
                    <a:pt x="91" y="121"/>
                  </a:cubicBezTo>
                  <a:cubicBezTo>
                    <a:pt x="74" y="121"/>
                    <a:pt x="60" y="107"/>
                    <a:pt x="60" y="90"/>
                  </a:cubicBezTo>
                  <a:cubicBezTo>
                    <a:pt x="60" y="74"/>
                    <a:pt x="74" y="60"/>
                    <a:pt x="91" y="60"/>
                  </a:cubicBezTo>
                  <a:close/>
                </a:path>
              </a:pathLst>
            </a:custGeom>
            <a:solidFill>
              <a:srgbClr val="FFFFFF">
                <a:alpha val="100000"/>
              </a:srgbClr>
            </a:solidFill>
            <a:ln w="9525">
              <a:noFill/>
            </a:ln>
          </p:spPr>
          <p:txBody>
            <a:bodyPr/>
            <a:lstStyle/>
            <a:p>
              <a:endParaRPr lang="fr-FR" altLang="en-US"/>
            </a:p>
          </p:txBody>
        </p:sp>
        <p:sp>
          <p:nvSpPr>
            <p:cNvPr id="30745" name="Freeform 8"/>
            <p:cNvSpPr/>
            <p:nvPr/>
          </p:nvSpPr>
          <p:spPr>
            <a:xfrm>
              <a:off x="7320585" y="4910529"/>
              <a:ext cx="59070" cy="14712"/>
            </a:xfrm>
            <a:custGeom>
              <a:avLst/>
              <a:gdLst>
                <a:gd name="txL" fmla="*/ 0 w 241"/>
                <a:gd name="txT" fmla="*/ 0 h 60"/>
                <a:gd name="txR" fmla="*/ 241 w 241"/>
                <a:gd name="txB" fmla="*/ 60 h 60"/>
              </a:gdLst>
              <a:ahLst/>
              <a:cxnLst>
                <a:cxn ang="17694720">
                  <a:pos x="29535" y="0"/>
                </a:cxn>
                <a:cxn ang="0">
                  <a:pos x="59070" y="7356"/>
                </a:cxn>
                <a:cxn ang="5898240">
                  <a:pos x="29535" y="14712"/>
                </a:cxn>
                <a:cxn ang="11796480">
                  <a:pos x="0" y="7356"/>
                </a:cxn>
                <a:cxn ang="0">
                  <a:pos x="51717" y="0"/>
                </a:cxn>
                <a:cxn ang="0">
                  <a:pos x="7353" y="0"/>
                </a:cxn>
                <a:cxn ang="0">
                  <a:pos x="0" y="7356"/>
                </a:cxn>
                <a:cxn ang="0">
                  <a:pos x="7353" y="14712"/>
                </a:cxn>
                <a:cxn ang="0">
                  <a:pos x="51717" y="14712"/>
                </a:cxn>
                <a:cxn ang="0">
                  <a:pos x="59070" y="7356"/>
                </a:cxn>
                <a:cxn ang="0">
                  <a:pos x="51717" y="0"/>
                </a:cxn>
              </a:cxnLst>
              <a:rect l="txL" t="txT" r="txR" b="txB"/>
              <a:pathLst>
                <a:path w="241" h="60">
                  <a:moveTo>
                    <a:pt x="211" y="0"/>
                  </a:moveTo>
                  <a:cubicBezTo>
                    <a:pt x="30" y="0"/>
                    <a:pt x="30" y="0"/>
                    <a:pt x="30" y="0"/>
                  </a:cubicBezTo>
                  <a:cubicBezTo>
                    <a:pt x="13" y="0"/>
                    <a:pt x="0" y="13"/>
                    <a:pt x="0" y="30"/>
                  </a:cubicBezTo>
                  <a:cubicBezTo>
                    <a:pt x="0" y="47"/>
                    <a:pt x="13" y="60"/>
                    <a:pt x="30" y="60"/>
                  </a:cubicBezTo>
                  <a:cubicBezTo>
                    <a:pt x="211" y="60"/>
                    <a:pt x="211" y="60"/>
                    <a:pt x="211" y="60"/>
                  </a:cubicBezTo>
                  <a:cubicBezTo>
                    <a:pt x="228" y="60"/>
                    <a:pt x="241" y="47"/>
                    <a:pt x="241" y="30"/>
                  </a:cubicBezTo>
                  <a:cubicBezTo>
                    <a:pt x="241" y="13"/>
                    <a:pt x="228" y="0"/>
                    <a:pt x="211" y="0"/>
                  </a:cubicBezTo>
                  <a:close/>
                </a:path>
              </a:pathLst>
            </a:custGeom>
            <a:solidFill>
              <a:srgbClr val="FFFFFF">
                <a:alpha val="100000"/>
              </a:srgbClr>
            </a:solidFill>
            <a:ln w="9525">
              <a:noFill/>
            </a:ln>
          </p:spPr>
          <p:txBody>
            <a:bodyPr/>
            <a:lstStyle/>
            <a:p>
              <a:endParaRPr lang="fr-FR" altLang="en-US"/>
            </a:p>
          </p:txBody>
        </p:sp>
        <p:sp>
          <p:nvSpPr>
            <p:cNvPr id="30746" name="Freeform 9"/>
            <p:cNvSpPr/>
            <p:nvPr/>
          </p:nvSpPr>
          <p:spPr>
            <a:xfrm>
              <a:off x="7335298" y="4866171"/>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7"/>
                    <a:pt x="14" y="60"/>
                    <a:pt x="30" y="60"/>
                  </a:cubicBezTo>
                  <a:cubicBezTo>
                    <a:pt x="211" y="60"/>
                    <a:pt x="211" y="60"/>
                    <a:pt x="211" y="60"/>
                  </a:cubicBezTo>
                  <a:cubicBezTo>
                    <a:pt x="228" y="60"/>
                    <a:pt x="242" y="47"/>
                    <a:pt x="242" y="30"/>
                  </a:cubicBezTo>
                  <a:cubicBezTo>
                    <a:pt x="242" y="13"/>
                    <a:pt x="228" y="0"/>
                    <a:pt x="211" y="0"/>
                  </a:cubicBezTo>
                  <a:close/>
                </a:path>
              </a:pathLst>
            </a:custGeom>
            <a:solidFill>
              <a:srgbClr val="FFFFFF">
                <a:alpha val="100000"/>
              </a:srgbClr>
            </a:solidFill>
            <a:ln w="9525">
              <a:noFill/>
            </a:ln>
          </p:spPr>
          <p:txBody>
            <a:bodyPr/>
            <a:lstStyle/>
            <a:p>
              <a:endParaRPr lang="fr-FR" altLang="en-US"/>
            </a:p>
          </p:txBody>
        </p:sp>
        <p:sp>
          <p:nvSpPr>
            <p:cNvPr id="30747" name="Freeform 10"/>
            <p:cNvSpPr/>
            <p:nvPr/>
          </p:nvSpPr>
          <p:spPr>
            <a:xfrm>
              <a:off x="7335298" y="4821823"/>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6"/>
                    <a:pt x="14" y="60"/>
                    <a:pt x="30" y="60"/>
                  </a:cubicBezTo>
                  <a:cubicBezTo>
                    <a:pt x="211" y="60"/>
                    <a:pt x="211" y="60"/>
                    <a:pt x="211" y="60"/>
                  </a:cubicBezTo>
                  <a:cubicBezTo>
                    <a:pt x="228" y="60"/>
                    <a:pt x="242" y="46"/>
                    <a:pt x="242" y="30"/>
                  </a:cubicBezTo>
                  <a:cubicBezTo>
                    <a:pt x="242" y="13"/>
                    <a:pt x="228" y="0"/>
                    <a:pt x="211" y="0"/>
                  </a:cubicBezTo>
                  <a:close/>
                </a:path>
              </a:pathLst>
            </a:custGeom>
            <a:solidFill>
              <a:srgbClr val="FFFFFF">
                <a:alpha val="100000"/>
              </a:srgbClr>
            </a:solidFill>
            <a:ln w="9525">
              <a:noFill/>
            </a:ln>
          </p:spPr>
          <p:txBody>
            <a:bodyPr/>
            <a:lstStyle/>
            <a:p>
              <a:endParaRPr lang="fr-FR" altLang="en-US"/>
            </a:p>
          </p:txBody>
        </p:sp>
        <p:sp>
          <p:nvSpPr>
            <p:cNvPr id="30748" name="Freeform 11"/>
            <p:cNvSpPr/>
            <p:nvPr/>
          </p:nvSpPr>
          <p:spPr>
            <a:xfrm>
              <a:off x="7083984" y="4759433"/>
              <a:ext cx="88504" cy="62389"/>
            </a:xfrm>
            <a:custGeom>
              <a:avLst/>
              <a:gdLst>
                <a:gd name="txL" fmla="*/ 0 w 361"/>
                <a:gd name="txT" fmla="*/ 0 h 254"/>
                <a:gd name="txR" fmla="*/ 361 w 361"/>
                <a:gd name="txB" fmla="*/ 254 h 254"/>
              </a:gdLst>
              <a:ahLst/>
              <a:cxnLst>
                <a:cxn ang="17694720">
                  <a:pos x="44252" y="0"/>
                </a:cxn>
                <a:cxn ang="0">
                  <a:pos x="88504" y="31195"/>
                </a:cxn>
                <a:cxn ang="5898240">
                  <a:pos x="44252" y="62389"/>
                </a:cxn>
                <a:cxn ang="11796480">
                  <a:pos x="0" y="31195"/>
                </a:cxn>
                <a:cxn ang="0">
                  <a:pos x="81149" y="0"/>
                </a:cxn>
                <a:cxn ang="0">
                  <a:pos x="13239" y="5404"/>
                </a:cxn>
                <a:cxn ang="0">
                  <a:pos x="4658" y="13509"/>
                </a:cxn>
                <a:cxn ang="0">
                  <a:pos x="0" y="54775"/>
                </a:cxn>
                <a:cxn ang="0">
                  <a:pos x="7110" y="62389"/>
                </a:cxn>
                <a:cxn ang="0">
                  <a:pos x="14710" y="54775"/>
                </a:cxn>
                <a:cxn ang="0">
                  <a:pos x="17161" y="26773"/>
                </a:cxn>
                <a:cxn ang="0">
                  <a:pos x="25497" y="18668"/>
                </a:cxn>
                <a:cxn ang="0">
                  <a:pos x="81149" y="14738"/>
                </a:cxn>
                <a:cxn ang="0">
                  <a:pos x="88504" y="7123"/>
                </a:cxn>
                <a:cxn ang="0">
                  <a:pos x="81149" y="0"/>
                </a:cxn>
              </a:cxnLst>
              <a:rect l="txL" t="txT" r="txR" b="txB"/>
              <a:pathLst>
                <a:path w="361" h="254">
                  <a:moveTo>
                    <a:pt x="331" y="0"/>
                  </a:moveTo>
                  <a:cubicBezTo>
                    <a:pt x="54" y="22"/>
                    <a:pt x="54" y="22"/>
                    <a:pt x="54" y="22"/>
                  </a:cubicBezTo>
                  <a:cubicBezTo>
                    <a:pt x="37" y="24"/>
                    <a:pt x="22" y="39"/>
                    <a:pt x="19" y="55"/>
                  </a:cubicBezTo>
                  <a:cubicBezTo>
                    <a:pt x="0" y="223"/>
                    <a:pt x="0" y="223"/>
                    <a:pt x="0" y="223"/>
                  </a:cubicBezTo>
                  <a:cubicBezTo>
                    <a:pt x="0" y="240"/>
                    <a:pt x="12" y="254"/>
                    <a:pt x="29" y="254"/>
                  </a:cubicBezTo>
                  <a:cubicBezTo>
                    <a:pt x="46" y="254"/>
                    <a:pt x="60" y="240"/>
                    <a:pt x="60" y="223"/>
                  </a:cubicBezTo>
                  <a:cubicBezTo>
                    <a:pt x="70" y="109"/>
                    <a:pt x="70" y="109"/>
                    <a:pt x="70" y="109"/>
                  </a:cubicBezTo>
                  <a:cubicBezTo>
                    <a:pt x="73" y="92"/>
                    <a:pt x="88" y="78"/>
                    <a:pt x="104" y="76"/>
                  </a:cubicBezTo>
                  <a:cubicBezTo>
                    <a:pt x="331" y="60"/>
                    <a:pt x="331" y="60"/>
                    <a:pt x="331" y="60"/>
                  </a:cubicBezTo>
                  <a:cubicBezTo>
                    <a:pt x="347" y="60"/>
                    <a:pt x="361" y="46"/>
                    <a:pt x="361" y="29"/>
                  </a:cubicBezTo>
                  <a:cubicBezTo>
                    <a:pt x="361" y="13"/>
                    <a:pt x="347" y="0"/>
                    <a:pt x="331" y="0"/>
                  </a:cubicBezTo>
                  <a:close/>
                </a:path>
              </a:pathLst>
            </a:custGeom>
            <a:solidFill>
              <a:srgbClr val="FFFFFF">
                <a:alpha val="100000"/>
              </a:srgbClr>
            </a:solidFill>
            <a:ln w="9525">
              <a:noFill/>
            </a:ln>
          </p:spPr>
          <p:txBody>
            <a:bodyPr/>
            <a:lstStyle/>
            <a:p>
              <a:endParaRPr lang="fr-FR" altLang="en-US"/>
            </a:p>
          </p:txBody>
        </p:sp>
      </p:grpSp>
      <p:cxnSp>
        <p:nvCxnSpPr>
          <p:cNvPr id="30738" name="Straight Connector 30"/>
          <p:cNvCxnSpPr/>
          <p:nvPr/>
        </p:nvCxnSpPr>
        <p:spPr>
          <a:xfrm flipH="1">
            <a:off x="6061075" y="0"/>
            <a:ext cx="34925" cy="982980"/>
          </a:xfrm>
          <a:prstGeom prst="straightConnector1">
            <a:avLst/>
          </a:prstGeom>
          <a:ln w="25402" cap="flat" cmpd="sng">
            <a:solidFill>
              <a:srgbClr val="D9D9D9"/>
            </a:solidFill>
            <a:prstDash val="solid"/>
            <a:miter/>
            <a:headEnd type="none" w="med" len="med"/>
            <a:tailEnd type="arrow" w="med" len="med"/>
          </a:ln>
        </p:spPr>
      </p:cxnSp>
      <p:sp>
        <p:nvSpPr>
          <p:cNvPr id="30" name="Rectangle 4"/>
          <p:cNvSpPr/>
          <p:nvPr/>
        </p:nvSpPr>
        <p:spPr>
          <a:xfrm>
            <a:off x="4448175" y="3883025"/>
            <a:ext cx="1054100" cy="85725"/>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1" name="Rectangle 33"/>
          <p:cNvSpPr/>
          <p:nvPr/>
        </p:nvSpPr>
        <p:spPr>
          <a:xfrm>
            <a:off x="6675438" y="5268913"/>
            <a:ext cx="1054100" cy="87312"/>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Tree>
    <p:extLst>
      <p:ext uri="{BB962C8B-B14F-4D97-AF65-F5344CB8AC3E}">
        <p14:creationId xmlns:p14="http://schemas.microsoft.com/office/powerpoint/2010/main" val="29507526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7"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childTnLst>
                          </p:cTn>
                        </p:par>
                        <p:par>
                          <p:cTn id="45" fill="hold">
                            <p:stCondLst>
                              <p:cond delay="4000"/>
                            </p:stCondLst>
                            <p:childTnLst>
                              <p:par>
                                <p:cTn id="46" presetID="22" presetClass="entr" presetSubtype="1"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500"/>
                                        <p:tgtEl>
                                          <p:spTgt spid="15"/>
                                        </p:tgtEl>
                                      </p:cBhvr>
                                    </p:animEffect>
                                  </p:childTnLst>
                                </p:cTn>
                              </p:par>
                            </p:childTnLst>
                          </p:cTn>
                        </p:par>
                        <p:par>
                          <p:cTn id="49" fill="hold">
                            <p:stCondLst>
                              <p:cond delay="4500"/>
                            </p:stCondLst>
                            <p:childTnLst>
                              <p:par>
                                <p:cTn id="50" presetID="53" presetClass="entr" presetSubtype="16" fill="hold"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fltVal val="0"/>
                                          </p:val>
                                        </p:tav>
                                        <p:tav tm="100000">
                                          <p:val>
                                            <p:strVal val="#ppt_w"/>
                                          </p:val>
                                        </p:tav>
                                      </p:tavLst>
                                    </p:anim>
                                    <p:anim calcmode="lin" valueType="num">
                                      <p:cBhvr>
                                        <p:cTn id="53" dur="500" fill="hold"/>
                                        <p:tgtEl>
                                          <p:spTgt spid="16"/>
                                        </p:tgtEl>
                                        <p:attrNameLst>
                                          <p:attrName>ppt_h</p:attrName>
                                        </p:attrNameLst>
                                      </p:cBhvr>
                                      <p:tavLst>
                                        <p:tav tm="0">
                                          <p:val>
                                            <p:fltVal val="0"/>
                                          </p:val>
                                        </p:tav>
                                        <p:tav tm="100000">
                                          <p:val>
                                            <p:strVal val="#ppt_h"/>
                                          </p:val>
                                        </p:tav>
                                      </p:tavLst>
                                    </p:anim>
                                    <p:animEffect transition="in" filter="fade">
                                      <p:cBhvr>
                                        <p:cTn id="54" dur="500"/>
                                        <p:tgtEl>
                                          <p:spTgt spid="16"/>
                                        </p:tgtEl>
                                      </p:cBhvr>
                                    </p:animEffect>
                                  </p:childTnLst>
                                </p:cTn>
                              </p:par>
                            </p:childTnLst>
                          </p:cTn>
                        </p:par>
                        <p:par>
                          <p:cTn id="55" fill="hold">
                            <p:stCondLst>
                              <p:cond delay="5000"/>
                            </p:stCondLst>
                            <p:childTnLst>
                              <p:par>
                                <p:cTn id="56" presetID="53" presetClass="entr" presetSubtype="16" fill="hold" nodeType="after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500" fill="hold"/>
                                        <p:tgtEl>
                                          <p:spTgt spid="21"/>
                                        </p:tgtEl>
                                        <p:attrNameLst>
                                          <p:attrName>ppt_w</p:attrName>
                                        </p:attrNameLst>
                                      </p:cBhvr>
                                      <p:tavLst>
                                        <p:tav tm="0">
                                          <p:val>
                                            <p:fltVal val="0"/>
                                          </p:val>
                                        </p:tav>
                                        <p:tav tm="100000">
                                          <p:val>
                                            <p:strVal val="#ppt_w"/>
                                          </p:val>
                                        </p:tav>
                                      </p:tavLst>
                                    </p:anim>
                                    <p:anim calcmode="lin" valueType="num">
                                      <p:cBhvr>
                                        <p:cTn id="59" dur="500" fill="hold"/>
                                        <p:tgtEl>
                                          <p:spTgt spid="21"/>
                                        </p:tgtEl>
                                        <p:attrNameLst>
                                          <p:attrName>ppt_h</p:attrName>
                                        </p:attrNameLst>
                                      </p:cBhvr>
                                      <p:tavLst>
                                        <p:tav tm="0">
                                          <p:val>
                                            <p:fltVal val="0"/>
                                          </p:val>
                                        </p:tav>
                                        <p:tav tm="100000">
                                          <p:val>
                                            <p:strVal val="#ppt_h"/>
                                          </p:val>
                                        </p:tav>
                                      </p:tavLst>
                                    </p:anim>
                                    <p:animEffect transition="in" filter="fade">
                                      <p:cBhvr>
                                        <p:cTn id="60" dur="500"/>
                                        <p:tgtEl>
                                          <p:spTgt spid="21"/>
                                        </p:tgtEl>
                                      </p:cBhvr>
                                    </p:animEffect>
                                  </p:childTnLst>
                                </p:cTn>
                              </p:par>
                            </p:childTnLst>
                          </p:cTn>
                        </p:par>
                        <p:par>
                          <p:cTn id="61" fill="hold">
                            <p:stCondLst>
                              <p:cond delay="5500"/>
                            </p:stCondLst>
                            <p:childTnLst>
                              <p:par>
                                <p:cTn id="62" presetID="22" presetClass="entr" presetSubtype="8" fill="hold" nodeType="after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childTnLst>
                          </p:cTn>
                        </p:par>
                        <p:par>
                          <p:cTn id="65" fill="hold">
                            <p:stCondLst>
                              <p:cond delay="6000"/>
                            </p:stCondLst>
                            <p:childTnLst>
                              <p:par>
                                <p:cTn id="66" presetID="10"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childTnLst>
                          </p:cTn>
                        </p:par>
                        <p:par>
                          <p:cTn id="72" fill="hold">
                            <p:stCondLst>
                              <p:cond delay="6500"/>
                            </p:stCondLst>
                            <p:childTnLst>
                              <p:par>
                                <p:cTn id="73" presetID="10" presetClass="entr" presetSubtype="0"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childTnLst>
                                </p:cTn>
                              </p:par>
                            </p:childTnLst>
                          </p:cTn>
                        </p:par>
                        <p:par>
                          <p:cTn id="76" fill="hold">
                            <p:stCondLst>
                              <p:cond delay="7000"/>
                            </p:stCondLst>
                            <p:childTnLst>
                              <p:par>
                                <p:cTn id="77" presetID="22" presetClass="entr" presetSubtype="1"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up)">
                                      <p:cBhvr>
                                        <p:cTn id="7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8" grpId="0" animBg="1"/>
      <p:bldP spid="20" grpId="0"/>
      <p:bldP spid="30" grpId="0" animBg="1"/>
      <p:bldP spid="3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746" name="Straight Connector 10"/>
          <p:cNvCxnSpPr/>
          <p:nvPr/>
        </p:nvCxnSpPr>
        <p:spPr>
          <a:xfrm>
            <a:off x="6096000" y="0"/>
            <a:ext cx="0" cy="1249363"/>
          </a:xfrm>
          <a:prstGeom prst="straightConnector1">
            <a:avLst/>
          </a:prstGeom>
          <a:ln w="25402" cap="flat" cmpd="sng">
            <a:solidFill>
              <a:srgbClr val="D9D9D9"/>
            </a:solidFill>
            <a:prstDash val="solid"/>
            <a:miter/>
            <a:headEnd type="none" w="med" len="med"/>
            <a:tailEnd type="none" w="med" len="med"/>
          </a:ln>
        </p:spPr>
      </p:cxnSp>
      <p:sp>
        <p:nvSpPr>
          <p:cNvPr id="3" name="TextBox 14"/>
          <p:cNvSpPr txBox="1"/>
          <p:nvPr/>
        </p:nvSpPr>
        <p:spPr>
          <a:xfrm>
            <a:off x="1250736" y="789305"/>
            <a:ext cx="2903117" cy="461665"/>
          </a:xfrm>
          <a:prstGeom prst="rect">
            <a:avLst/>
          </a:prstGeom>
          <a:noFill/>
          <a:ln w="9525">
            <a:noFill/>
          </a:ln>
        </p:spPr>
        <p:txBody>
          <a:bodyPr wrap="square">
            <a:spAutoFit/>
          </a:bodyPr>
          <a:lstStyle/>
          <a:p>
            <a:pPr algn="r" eaLnBrk="1" hangingPunct="1"/>
            <a:r>
              <a:rPr lang="id-ID" altLang="x-none" sz="2400" b="1" dirty="0">
                <a:solidFill>
                  <a:srgbClr val="7F7F7F"/>
                </a:solidFill>
                <a:cs typeface="Calibri" panose="020F0502020204030204" pitchFamily="34" charset="0"/>
              </a:rPr>
              <a:t>Caractéristiques</a:t>
            </a:r>
            <a:endParaRPr lang="fr-FR" altLang="x-none" sz="2400" dirty="0">
              <a:solidFill>
                <a:srgbClr val="7F7F7F"/>
              </a:solidFill>
              <a:cs typeface="Calibri" panose="020F0502020204030204" pitchFamily="34" charset="0"/>
            </a:endParaRPr>
          </a:p>
        </p:txBody>
      </p:sp>
      <p:sp>
        <p:nvSpPr>
          <p:cNvPr id="5" name="Oval 3"/>
          <p:cNvSpPr/>
          <p:nvPr/>
        </p:nvSpPr>
        <p:spPr>
          <a:xfrm>
            <a:off x="6038850" y="126523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ACC777">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6" name="Straight Connector 9"/>
          <p:cNvCxnSpPr/>
          <p:nvPr/>
        </p:nvCxnSpPr>
        <p:spPr>
          <a:xfrm>
            <a:off x="5514975" y="1339850"/>
            <a:ext cx="523875" cy="0"/>
          </a:xfrm>
          <a:prstGeom prst="straightConnector1">
            <a:avLst/>
          </a:prstGeom>
          <a:ln w="25402" cap="flat" cmpd="sng">
            <a:solidFill>
              <a:srgbClr val="D9D9D9"/>
            </a:solidFill>
            <a:prstDash val="solid"/>
            <a:miter/>
            <a:headEnd type="none" w="med" len="med"/>
            <a:tailEnd type="none" w="med" len="med"/>
          </a:ln>
        </p:spPr>
      </p:cxnSp>
      <p:sp>
        <p:nvSpPr>
          <p:cNvPr id="7" name="Rectangle 13"/>
          <p:cNvSpPr/>
          <p:nvPr/>
        </p:nvSpPr>
        <p:spPr>
          <a:xfrm>
            <a:off x="4448175" y="812800"/>
            <a:ext cx="1054100" cy="10541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8" name="Straight Connector 26"/>
          <p:cNvCxnSpPr/>
          <p:nvPr/>
        </p:nvCxnSpPr>
        <p:spPr>
          <a:xfrm>
            <a:off x="6096000" y="1385888"/>
            <a:ext cx="0" cy="1249362"/>
          </a:xfrm>
          <a:prstGeom prst="straightConnector1">
            <a:avLst/>
          </a:prstGeom>
          <a:ln w="25402" cap="flat" cmpd="sng">
            <a:solidFill>
              <a:srgbClr val="D9D9D9"/>
            </a:solidFill>
            <a:prstDash val="solid"/>
            <a:miter/>
            <a:headEnd type="none" w="med" len="med"/>
            <a:tailEnd type="none" w="med" len="med"/>
          </a:ln>
        </p:spPr>
      </p:cxnSp>
      <p:sp>
        <p:nvSpPr>
          <p:cNvPr id="9" name="Oval 27"/>
          <p:cNvSpPr/>
          <p:nvPr/>
        </p:nvSpPr>
        <p:spPr>
          <a:xfrm>
            <a:off x="6038850" y="2651125"/>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77933C">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0" name="Straight Connector 28"/>
          <p:cNvCxnSpPr/>
          <p:nvPr/>
        </p:nvCxnSpPr>
        <p:spPr>
          <a:xfrm>
            <a:off x="6153150" y="2727325"/>
            <a:ext cx="523875" cy="0"/>
          </a:xfrm>
          <a:prstGeom prst="straightConnector1">
            <a:avLst/>
          </a:prstGeom>
          <a:ln w="25402" cap="flat" cmpd="sng">
            <a:solidFill>
              <a:srgbClr val="D9D9D9"/>
            </a:solidFill>
            <a:prstDash val="solid"/>
            <a:miter/>
            <a:headEnd type="none" w="med" len="med"/>
            <a:tailEnd type="none" w="med" len="med"/>
          </a:ln>
        </p:spPr>
      </p:cxnSp>
      <p:sp>
        <p:nvSpPr>
          <p:cNvPr id="11" name="Rectangle 29"/>
          <p:cNvSpPr/>
          <p:nvPr/>
        </p:nvSpPr>
        <p:spPr>
          <a:xfrm>
            <a:off x="6677025" y="2200275"/>
            <a:ext cx="1054100" cy="10541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12" name="TextBox 36"/>
          <p:cNvSpPr txBox="1"/>
          <p:nvPr/>
        </p:nvSpPr>
        <p:spPr>
          <a:xfrm>
            <a:off x="7916863" y="2200275"/>
            <a:ext cx="3263073" cy="461665"/>
          </a:xfrm>
          <a:prstGeom prst="rect">
            <a:avLst/>
          </a:prstGeom>
          <a:noFill/>
          <a:ln w="9525">
            <a:noFill/>
          </a:ln>
        </p:spPr>
        <p:txBody>
          <a:bodyPr wrap="none">
            <a:spAutoFit/>
          </a:bodyPr>
          <a:lstStyle/>
          <a:p>
            <a:pPr eaLnBrk="1" hangingPunct="1"/>
            <a:r>
              <a:rPr lang="id-ID" altLang="x-none" sz="2400" b="1" dirty="0">
                <a:solidFill>
                  <a:srgbClr val="7D7D7D"/>
                </a:solidFill>
                <a:ea typeface="Source Sans Pro Light"/>
                <a:cs typeface="Calibri" panose="020F0502020204030204" pitchFamily="34" charset="0"/>
              </a:rPr>
              <a:t> Architecture technique</a:t>
            </a:r>
          </a:p>
        </p:txBody>
      </p:sp>
      <p:sp>
        <p:nvSpPr>
          <p:cNvPr id="13" name="TextBox 37"/>
          <p:cNvSpPr txBox="1"/>
          <p:nvPr/>
        </p:nvSpPr>
        <p:spPr>
          <a:xfrm>
            <a:off x="7916863" y="2616200"/>
            <a:ext cx="2616200" cy="831850"/>
          </a:xfrm>
          <a:prstGeom prst="rect">
            <a:avLst/>
          </a:prstGeom>
          <a:noFill/>
          <a:ln w="9525">
            <a:noFill/>
          </a:ln>
        </p:spPr>
        <p:txBody>
          <a:bodyPr>
            <a:spAutoFit/>
          </a:bodyPr>
          <a:lstStyle/>
          <a:p>
            <a:pPr marL="171450" indent="-171450" eaLnBrk="1" hangingPunct="1">
              <a:buSzPct val="100000"/>
              <a:buFont typeface="Arial" panose="020B0604020202020204" pitchFamily="34" charset="0"/>
              <a:buChar char="•"/>
            </a:pPr>
            <a:r>
              <a:rPr lang="fr-FR" altLang="x-none" sz="1200" dirty="0">
                <a:solidFill>
                  <a:srgbClr val="A6A6A6"/>
                </a:solidFill>
              </a:rPr>
              <a:t> Transformer </a:t>
            </a:r>
            <a:r>
              <a:rPr lang="fr-FR" altLang="x-none" sz="1200" dirty="0" err="1">
                <a:solidFill>
                  <a:srgbClr val="A6A6A6"/>
                </a:solidFill>
              </a:rPr>
              <a:t>decoder-only</a:t>
            </a:r>
            <a:endParaRPr lang="fr-FR" altLang="x-none" sz="1200" dirty="0">
              <a:solidFill>
                <a:srgbClr val="A6A6A6"/>
              </a:solidFill>
            </a:endParaRPr>
          </a:p>
          <a:p>
            <a:pPr marL="171450" indent="-171450" eaLnBrk="1" hangingPunct="1">
              <a:buSzPct val="100000"/>
              <a:buFont typeface="Arial" panose="020B0604020202020204" pitchFamily="34" charset="0"/>
              <a:buChar char="•"/>
            </a:pPr>
            <a:r>
              <a:rPr lang="fr-FR" altLang="x-none" sz="1200" dirty="0">
                <a:solidFill>
                  <a:srgbClr val="A6A6A6"/>
                </a:solidFill>
              </a:rPr>
              <a:t>  Attention causale</a:t>
            </a:r>
          </a:p>
          <a:p>
            <a:pPr marL="171450" indent="-171450" eaLnBrk="1" hangingPunct="1">
              <a:buSzPct val="100000"/>
              <a:buFont typeface="Arial" panose="020B0604020202020204" pitchFamily="34" charset="0"/>
              <a:buChar char="•"/>
            </a:pPr>
            <a:r>
              <a:rPr lang="fr-FR" altLang="x-none" sz="1200" dirty="0">
                <a:solidFill>
                  <a:srgbClr val="A6A6A6"/>
                </a:solidFill>
              </a:rPr>
              <a:t>  Tokenisation BPE</a:t>
            </a:r>
          </a:p>
          <a:p>
            <a:pPr marL="171450" indent="-171450" eaLnBrk="1" hangingPunct="1">
              <a:buSzPct val="100000"/>
              <a:buFont typeface="Arial" panose="020B0604020202020204" pitchFamily="34" charset="0"/>
              <a:buChar char="•"/>
            </a:pPr>
            <a:r>
              <a:rPr lang="fr-FR" altLang="x-none" sz="1200" dirty="0">
                <a:solidFill>
                  <a:srgbClr val="A6A6A6"/>
                </a:solidFill>
              </a:rPr>
              <a:t> Pipeline </a:t>
            </a:r>
            <a:r>
              <a:rPr lang="fr-FR" altLang="x-none" sz="1200" dirty="0" err="1">
                <a:solidFill>
                  <a:srgbClr val="A6A6A6"/>
                </a:solidFill>
              </a:rPr>
              <a:t>auto-régressif</a:t>
            </a:r>
            <a:endParaRPr lang="id-ID" altLang="x-none" sz="1200" dirty="0">
              <a:solidFill>
                <a:srgbClr val="A6A6A6"/>
              </a:solidFill>
              <a:latin typeface="Calibri" panose="020F0502020204030204" pitchFamily="34" charset="0"/>
              <a:ea typeface="Calibri" panose="020F0502020204030204" pitchFamily="34" charset="0"/>
            </a:endParaRPr>
          </a:p>
        </p:txBody>
      </p:sp>
      <p:cxnSp>
        <p:nvCxnSpPr>
          <p:cNvPr id="14" name="Straight Connector 66"/>
          <p:cNvCxnSpPr/>
          <p:nvPr/>
        </p:nvCxnSpPr>
        <p:spPr>
          <a:xfrm>
            <a:off x="6096000" y="2760663"/>
            <a:ext cx="0" cy="1249362"/>
          </a:xfrm>
          <a:prstGeom prst="straightConnector1">
            <a:avLst/>
          </a:prstGeom>
          <a:ln w="25402" cap="flat" cmpd="sng">
            <a:solidFill>
              <a:srgbClr val="D9D9D9"/>
            </a:solidFill>
            <a:prstDash val="solid"/>
            <a:miter/>
            <a:headEnd type="none" w="med" len="med"/>
            <a:tailEnd type="none" w="med" len="med"/>
          </a:ln>
        </p:spPr>
      </p:cxnSp>
      <p:sp>
        <p:nvSpPr>
          <p:cNvPr id="15" name="TextBox 67"/>
          <p:cNvSpPr txBox="1"/>
          <p:nvPr/>
        </p:nvSpPr>
        <p:spPr>
          <a:xfrm>
            <a:off x="2199701" y="3548063"/>
            <a:ext cx="1930657" cy="461665"/>
          </a:xfrm>
          <a:prstGeom prst="rect">
            <a:avLst/>
          </a:prstGeom>
          <a:noFill/>
          <a:ln w="9525">
            <a:noFill/>
          </a:ln>
        </p:spPr>
        <p:txBody>
          <a:bodyPr wrap="none">
            <a:spAutoFit/>
          </a:bodyPr>
          <a:lstStyle/>
          <a:p>
            <a:pPr algn="r" eaLnBrk="1" hangingPunct="1"/>
            <a:r>
              <a:rPr lang="fr-FR" altLang="id-ID" sz="2400" b="1" dirty="0">
                <a:solidFill>
                  <a:srgbClr val="7F7F7F"/>
                </a:solidFill>
                <a:cs typeface="Calibri" panose="020F0502020204030204" pitchFamily="34" charset="0"/>
              </a:rPr>
              <a:t>Entraînement</a:t>
            </a:r>
          </a:p>
        </p:txBody>
      </p:sp>
      <p:sp>
        <p:nvSpPr>
          <p:cNvPr id="16" name="TextBox 68"/>
          <p:cNvSpPr txBox="1"/>
          <p:nvPr/>
        </p:nvSpPr>
        <p:spPr>
          <a:xfrm>
            <a:off x="1324303" y="4048125"/>
            <a:ext cx="2823836" cy="646331"/>
          </a:xfrm>
          <a:prstGeom prst="rect">
            <a:avLst/>
          </a:prstGeom>
          <a:noFill/>
          <a:ln w="9525">
            <a:noFill/>
          </a:ln>
        </p:spPr>
        <p:txBody>
          <a:bodyPr wrap="square">
            <a:spAutoFit/>
          </a:bodyPr>
          <a:lstStyle/>
          <a:p>
            <a:pPr marL="171450" indent="-171450" algn="r" eaLnBrk="1" hangingPunct="1">
              <a:buSzPct val="100000"/>
              <a:buFont typeface="Arial" panose="020B0604020202020204" pitchFamily="34" charset="0"/>
              <a:buChar char="•"/>
            </a:pPr>
            <a:r>
              <a:rPr lang="id-ID" altLang="x-none" sz="1200" dirty="0">
                <a:solidFill>
                  <a:srgbClr val="A6A6A6"/>
                </a:solidFill>
              </a:rPr>
              <a:t> Dataset (159 GB Python)</a:t>
            </a:r>
          </a:p>
          <a:p>
            <a:pPr marL="171450" indent="-171450" algn="r" eaLnBrk="1" hangingPunct="1">
              <a:buSzPct val="100000"/>
              <a:buFont typeface="Arial" panose="020B0604020202020204" pitchFamily="34" charset="0"/>
              <a:buChar char="•"/>
            </a:pPr>
            <a:r>
              <a:rPr lang="id-ID" altLang="x-none" sz="1200" dirty="0">
                <a:solidFill>
                  <a:srgbClr val="A6A6A6"/>
                </a:solidFill>
              </a:rPr>
              <a:t>  Infrastructure distribuée</a:t>
            </a:r>
          </a:p>
          <a:p>
            <a:pPr marL="171450" indent="-171450" algn="r" eaLnBrk="1" hangingPunct="1">
              <a:buSzPct val="100000"/>
              <a:buFont typeface="Arial" panose="020B0604020202020204" pitchFamily="34" charset="0"/>
              <a:buChar char="•"/>
            </a:pPr>
            <a:r>
              <a:rPr lang="id-ID" altLang="x-none" sz="1200" dirty="0">
                <a:solidFill>
                  <a:srgbClr val="A6A6A6"/>
                </a:solidFill>
              </a:rPr>
              <a:t>Paramètres (AdamW, cosine decay)</a:t>
            </a:r>
            <a:endParaRPr lang="id-ID" altLang="x-none" sz="1200" dirty="0">
              <a:solidFill>
                <a:srgbClr val="A6A6A6"/>
              </a:solidFill>
              <a:latin typeface="Calibri" panose="020F0502020204030204" pitchFamily="34" charset="0"/>
              <a:ea typeface="Calibri" panose="020F0502020204030204" pitchFamily="34" charset="0"/>
            </a:endParaRPr>
          </a:p>
        </p:txBody>
      </p:sp>
      <p:sp>
        <p:nvSpPr>
          <p:cNvPr id="17" name="Oval 69"/>
          <p:cNvSpPr/>
          <p:nvPr/>
        </p:nvSpPr>
        <p:spPr>
          <a:xfrm>
            <a:off x="6038850" y="4025900"/>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C0D498">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8" name="Straight Connector 70"/>
          <p:cNvCxnSpPr/>
          <p:nvPr/>
        </p:nvCxnSpPr>
        <p:spPr>
          <a:xfrm>
            <a:off x="5514975" y="4100513"/>
            <a:ext cx="523875" cy="0"/>
          </a:xfrm>
          <a:prstGeom prst="straightConnector1">
            <a:avLst/>
          </a:prstGeom>
          <a:ln w="25402" cap="flat" cmpd="sng">
            <a:solidFill>
              <a:srgbClr val="D9D9D9"/>
            </a:solidFill>
            <a:prstDash val="solid"/>
            <a:miter/>
            <a:headEnd type="none" w="med" len="med"/>
            <a:tailEnd type="none" w="med" len="med"/>
          </a:ln>
        </p:spPr>
      </p:cxnSp>
      <p:sp>
        <p:nvSpPr>
          <p:cNvPr id="19" name="Rectangle 71"/>
          <p:cNvSpPr/>
          <p:nvPr/>
        </p:nvSpPr>
        <p:spPr>
          <a:xfrm>
            <a:off x="4448175" y="3573463"/>
            <a:ext cx="1054100" cy="1055687"/>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20" name="Straight Connector 77"/>
          <p:cNvCxnSpPr/>
          <p:nvPr/>
        </p:nvCxnSpPr>
        <p:spPr>
          <a:xfrm>
            <a:off x="6096000" y="4148138"/>
            <a:ext cx="0" cy="1249362"/>
          </a:xfrm>
          <a:prstGeom prst="straightConnector1">
            <a:avLst/>
          </a:prstGeom>
          <a:ln w="25402" cap="flat" cmpd="sng">
            <a:solidFill>
              <a:srgbClr val="D9D9D9"/>
            </a:solidFill>
            <a:prstDash val="solid"/>
            <a:miter/>
            <a:headEnd type="none" w="med" len="med"/>
            <a:tailEnd type="none" w="med" len="med"/>
          </a:ln>
        </p:spPr>
      </p:cxnSp>
      <p:grpSp>
        <p:nvGrpSpPr>
          <p:cNvPr id="21" name="Group 17"/>
          <p:cNvGrpSpPr/>
          <p:nvPr/>
        </p:nvGrpSpPr>
        <p:grpSpPr>
          <a:xfrm>
            <a:off x="4759325" y="1104900"/>
            <a:ext cx="433388" cy="433388"/>
            <a:chOff x="4759241" y="1105079"/>
            <a:chExt cx="432813" cy="432474"/>
          </a:xfrm>
        </p:grpSpPr>
        <p:sp>
          <p:nvSpPr>
            <p:cNvPr id="31772" name="Freeform 5"/>
            <p:cNvSpPr/>
            <p:nvPr/>
          </p:nvSpPr>
          <p:spPr>
            <a:xfrm>
              <a:off x="4759241"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073" y="40447"/>
                </a:cxn>
                <a:cxn ang="0">
                  <a:pos x="81073" y="69227"/>
                </a:cxn>
                <a:cxn ang="0">
                  <a:pos x="67821" y="67671"/>
                </a:cxn>
                <a:cxn ang="0">
                  <a:pos x="54569" y="69227"/>
                </a:cxn>
                <a:cxn ang="0">
                  <a:pos x="54569" y="40447"/>
                </a:cxn>
                <a:cxn ang="0">
                  <a:pos x="81073" y="392027"/>
                </a:cxn>
                <a:cxn ang="0">
                  <a:pos x="67821" y="405250"/>
                </a:cxn>
                <a:cxn ang="0">
                  <a:pos x="54569" y="392027"/>
                </a:cxn>
                <a:cxn ang="0">
                  <a:pos x="54569" y="201458"/>
                </a:cxn>
                <a:cxn ang="0">
                  <a:pos x="67821" y="203014"/>
                </a:cxn>
                <a:cxn ang="0">
                  <a:pos x="81073" y="201458"/>
                </a:cxn>
                <a:cxn ang="0">
                  <a:pos x="81073" y="392027"/>
                </a:cxn>
                <a:cxn ang="0">
                  <a:pos x="106799" y="146232"/>
                </a:cxn>
                <a:cxn ang="0">
                  <a:pos x="106019" y="148566"/>
                </a:cxn>
                <a:cxn ang="0">
                  <a:pos x="100562" y="158678"/>
                </a:cxn>
                <a:cxn ang="0">
                  <a:pos x="100562" y="158678"/>
                </a:cxn>
                <a:cxn ang="0">
                  <a:pos x="91987" y="167234"/>
                </a:cxn>
                <a:cxn ang="0">
                  <a:pos x="91987" y="167234"/>
                </a:cxn>
                <a:cxn ang="0">
                  <a:pos x="81073" y="173456"/>
                </a:cxn>
                <a:cxn ang="0">
                  <a:pos x="67821" y="175790"/>
                </a:cxn>
                <a:cxn ang="0">
                  <a:pos x="54569" y="173456"/>
                </a:cxn>
                <a:cxn ang="0">
                  <a:pos x="43655" y="167234"/>
                </a:cxn>
                <a:cxn ang="0">
                  <a:pos x="4287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2875" y="102674"/>
                </a:cxn>
                <a:cxn ang="0">
                  <a:pos x="43655" y="102674"/>
                </a:cxn>
                <a:cxn ang="0">
                  <a:pos x="54569" y="97229"/>
                </a:cxn>
                <a:cxn ang="0">
                  <a:pos x="67821" y="94895"/>
                </a:cxn>
                <a:cxn ang="0">
                  <a:pos x="81073" y="97229"/>
                </a:cxn>
                <a:cxn ang="0">
                  <a:pos x="91987" y="102674"/>
                </a:cxn>
                <a:cxn ang="0">
                  <a:pos x="9198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3" name="Freeform 6"/>
            <p:cNvSpPr/>
            <p:nvPr/>
          </p:nvSpPr>
          <p:spPr>
            <a:xfrm>
              <a:off x="5056412"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853" y="40447"/>
                </a:cxn>
                <a:cxn ang="0">
                  <a:pos x="81853" y="69227"/>
                </a:cxn>
                <a:cxn ang="0">
                  <a:pos x="67821" y="67671"/>
                </a:cxn>
                <a:cxn ang="0">
                  <a:pos x="54569" y="69227"/>
                </a:cxn>
                <a:cxn ang="0">
                  <a:pos x="54569" y="40447"/>
                </a:cxn>
                <a:cxn ang="0">
                  <a:pos x="81853" y="392027"/>
                </a:cxn>
                <a:cxn ang="0">
                  <a:pos x="67821" y="405250"/>
                </a:cxn>
                <a:cxn ang="0">
                  <a:pos x="54569" y="392027"/>
                </a:cxn>
                <a:cxn ang="0">
                  <a:pos x="54569" y="201458"/>
                </a:cxn>
                <a:cxn ang="0">
                  <a:pos x="67821" y="203014"/>
                </a:cxn>
                <a:cxn ang="0">
                  <a:pos x="81853" y="201458"/>
                </a:cxn>
                <a:cxn ang="0">
                  <a:pos x="81853" y="392027"/>
                </a:cxn>
                <a:cxn ang="0">
                  <a:pos x="106799" y="146232"/>
                </a:cxn>
                <a:cxn ang="0">
                  <a:pos x="106019" y="148566"/>
                </a:cxn>
                <a:cxn ang="0">
                  <a:pos x="100562" y="158678"/>
                </a:cxn>
                <a:cxn ang="0">
                  <a:pos x="100562" y="158678"/>
                </a:cxn>
                <a:cxn ang="0">
                  <a:pos x="92767" y="167234"/>
                </a:cxn>
                <a:cxn ang="0">
                  <a:pos x="91987" y="167234"/>
                </a:cxn>
                <a:cxn ang="0">
                  <a:pos x="81853" y="173456"/>
                </a:cxn>
                <a:cxn ang="0">
                  <a:pos x="67821" y="175790"/>
                </a:cxn>
                <a:cxn ang="0">
                  <a:pos x="54569" y="173456"/>
                </a:cxn>
                <a:cxn ang="0">
                  <a:pos x="43655" y="167234"/>
                </a:cxn>
                <a:cxn ang="0">
                  <a:pos x="4365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3655" y="102674"/>
                </a:cxn>
                <a:cxn ang="0">
                  <a:pos x="43655" y="102674"/>
                </a:cxn>
                <a:cxn ang="0">
                  <a:pos x="54569" y="97229"/>
                </a:cxn>
                <a:cxn ang="0">
                  <a:pos x="67821" y="94895"/>
                </a:cxn>
                <a:cxn ang="0">
                  <a:pos x="81853" y="97229"/>
                </a:cxn>
                <a:cxn ang="0">
                  <a:pos x="91987" y="102674"/>
                </a:cxn>
                <a:cxn ang="0">
                  <a:pos x="9276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4" name="Freeform 7"/>
            <p:cNvSpPr/>
            <p:nvPr/>
          </p:nvSpPr>
          <p:spPr>
            <a:xfrm>
              <a:off x="4907996" y="1105079"/>
              <a:ext cx="135312" cy="432474"/>
            </a:xfrm>
            <a:custGeom>
              <a:avLst/>
              <a:gdLst>
                <a:gd name="txL" fmla="*/ 0 w 174"/>
                <a:gd name="txT" fmla="*/ 0 h 556"/>
                <a:gd name="txR" fmla="*/ 174 w 174"/>
                <a:gd name="txB" fmla="*/ 556 h 556"/>
              </a:gdLst>
              <a:ahLst/>
              <a:cxnLst>
                <a:cxn ang="17694720">
                  <a:pos x="67656" y="0"/>
                </a:cxn>
                <a:cxn ang="0">
                  <a:pos x="135312" y="216237"/>
                </a:cxn>
                <a:cxn ang="5898240">
                  <a:pos x="67656" y="432474"/>
                </a:cxn>
                <a:cxn ang="11796480">
                  <a:pos x="0" y="216237"/>
                </a:cxn>
                <a:cxn ang="0">
                  <a:pos x="108094" y="243461"/>
                </a:cxn>
                <a:cxn ang="0">
                  <a:pos x="108094" y="40447"/>
                </a:cxn>
                <a:cxn ang="0">
                  <a:pos x="67656" y="0"/>
                </a:cxn>
                <a:cxn ang="0">
                  <a:pos x="27218" y="40447"/>
                </a:cxn>
                <a:cxn ang="0">
                  <a:pos x="27218" y="243461"/>
                </a:cxn>
                <a:cxn ang="0">
                  <a:pos x="0" y="297131"/>
                </a:cxn>
                <a:cxn ang="0">
                  <a:pos x="27218" y="350802"/>
                </a:cxn>
                <a:cxn ang="0">
                  <a:pos x="27218" y="392027"/>
                </a:cxn>
                <a:cxn ang="0">
                  <a:pos x="67656" y="432474"/>
                </a:cxn>
                <a:cxn ang="0">
                  <a:pos x="108094" y="392027"/>
                </a:cxn>
                <a:cxn ang="0">
                  <a:pos x="108094" y="350802"/>
                </a:cxn>
                <a:cxn ang="0">
                  <a:pos x="135312" y="297131"/>
                </a:cxn>
                <a:cxn ang="0">
                  <a:pos x="108094" y="243461"/>
                </a:cxn>
                <a:cxn ang="0">
                  <a:pos x="54436" y="40447"/>
                </a:cxn>
                <a:cxn ang="0">
                  <a:pos x="67656" y="27224"/>
                </a:cxn>
                <a:cxn ang="0">
                  <a:pos x="80876" y="40447"/>
                </a:cxn>
                <a:cxn ang="0">
                  <a:pos x="80876" y="231016"/>
                </a:cxn>
                <a:cxn ang="0">
                  <a:pos x="67656" y="229460"/>
                </a:cxn>
                <a:cxn ang="0">
                  <a:pos x="54436" y="231016"/>
                </a:cxn>
                <a:cxn ang="0">
                  <a:pos x="54436" y="40447"/>
                </a:cxn>
                <a:cxn ang="0">
                  <a:pos x="80876" y="392027"/>
                </a:cxn>
                <a:cxn ang="0">
                  <a:pos x="67656" y="405250"/>
                </a:cxn>
                <a:cxn ang="0">
                  <a:pos x="54436" y="392027"/>
                </a:cxn>
                <a:cxn ang="0">
                  <a:pos x="54436" y="363247"/>
                </a:cxn>
                <a:cxn ang="0">
                  <a:pos x="67656" y="364803"/>
                </a:cxn>
                <a:cxn ang="0">
                  <a:pos x="80876" y="363247"/>
                </a:cxn>
                <a:cxn ang="0">
                  <a:pos x="80876" y="392027"/>
                </a:cxn>
                <a:cxn ang="0">
                  <a:pos x="106539" y="308799"/>
                </a:cxn>
                <a:cxn ang="0">
                  <a:pos x="105761" y="311132"/>
                </a:cxn>
                <a:cxn ang="0">
                  <a:pos x="100318" y="320466"/>
                </a:cxn>
                <a:cxn ang="0">
                  <a:pos x="100318" y="321244"/>
                </a:cxn>
                <a:cxn ang="0">
                  <a:pos x="91763" y="329800"/>
                </a:cxn>
                <a:cxn ang="0">
                  <a:pos x="91763" y="329800"/>
                </a:cxn>
                <a:cxn ang="0">
                  <a:pos x="80876" y="335245"/>
                </a:cxn>
                <a:cxn ang="0">
                  <a:pos x="67656" y="337579"/>
                </a:cxn>
                <a:cxn ang="0">
                  <a:pos x="54436" y="335245"/>
                </a:cxn>
                <a:cxn ang="0">
                  <a:pos x="43549" y="329800"/>
                </a:cxn>
                <a:cxn ang="0">
                  <a:pos x="43549" y="329800"/>
                </a:cxn>
                <a:cxn ang="0">
                  <a:pos x="34994" y="321244"/>
                </a:cxn>
                <a:cxn ang="0">
                  <a:pos x="34994" y="320466"/>
                </a:cxn>
                <a:cxn ang="0">
                  <a:pos x="29551" y="311132"/>
                </a:cxn>
                <a:cxn ang="0">
                  <a:pos x="28773" y="308799"/>
                </a:cxn>
                <a:cxn ang="0">
                  <a:pos x="27218" y="297131"/>
                </a:cxn>
                <a:cxn ang="0">
                  <a:pos x="28773" y="286242"/>
                </a:cxn>
                <a:cxn ang="0">
                  <a:pos x="29551" y="283908"/>
                </a:cxn>
                <a:cxn ang="0">
                  <a:pos x="34994" y="273796"/>
                </a:cxn>
                <a:cxn ang="0">
                  <a:pos x="34994" y="273796"/>
                </a:cxn>
                <a:cxn ang="0">
                  <a:pos x="43549" y="265240"/>
                </a:cxn>
                <a:cxn ang="0">
                  <a:pos x="43549" y="265240"/>
                </a:cxn>
                <a:cxn ang="0">
                  <a:pos x="54436" y="259018"/>
                </a:cxn>
                <a:cxn ang="0">
                  <a:pos x="67656" y="256684"/>
                </a:cxn>
                <a:cxn ang="0">
                  <a:pos x="80876" y="259018"/>
                </a:cxn>
                <a:cxn ang="0">
                  <a:pos x="91763" y="265240"/>
                </a:cxn>
                <a:cxn ang="0">
                  <a:pos x="91763" y="265240"/>
                </a:cxn>
                <a:cxn ang="0">
                  <a:pos x="100318" y="273796"/>
                </a:cxn>
                <a:cxn ang="0">
                  <a:pos x="100318" y="273796"/>
                </a:cxn>
                <a:cxn ang="0">
                  <a:pos x="105761" y="283908"/>
                </a:cxn>
                <a:cxn ang="0">
                  <a:pos x="106539" y="286242"/>
                </a:cxn>
                <a:cxn ang="0">
                  <a:pos x="108094" y="297131"/>
                </a:cxn>
                <a:cxn ang="0">
                  <a:pos x="106539" y="308799"/>
                </a:cxn>
              </a:cxnLst>
              <a:rect l="txL" t="txT" r="txR" b="tx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solidFill>
              <a:srgbClr val="FFFFFF">
                <a:alpha val="100000"/>
              </a:srgbClr>
            </a:solidFill>
            <a:ln w="9525">
              <a:noFill/>
            </a:ln>
          </p:spPr>
          <p:txBody>
            <a:bodyPr/>
            <a:lstStyle/>
            <a:p>
              <a:endParaRPr lang="fr-FR" altLang="en-US"/>
            </a:p>
          </p:txBody>
        </p:sp>
      </p:grpSp>
      <p:sp>
        <p:nvSpPr>
          <p:cNvPr id="25" name="Freeform 11"/>
          <p:cNvSpPr/>
          <p:nvPr/>
        </p:nvSpPr>
        <p:spPr>
          <a:xfrm>
            <a:off x="6994525" y="2500313"/>
            <a:ext cx="420688" cy="415925"/>
          </a:xfrm>
          <a:custGeom>
            <a:avLst/>
            <a:gdLst>
              <a:gd name="txL" fmla="*/ 0 w 906"/>
              <a:gd name="txT" fmla="*/ 0 h 896"/>
              <a:gd name="txR" fmla="*/ 906 w 906"/>
              <a:gd name="txB" fmla="*/ 896 h 896"/>
            </a:gdLst>
            <a:ahLst/>
            <a:cxnLst>
              <a:cxn ang="17694720">
                <a:pos x="210554" y="0"/>
              </a:cxn>
              <a:cxn ang="0">
                <a:pos x="421108" y="208300"/>
              </a:cxn>
              <a:cxn ang="5898240">
                <a:pos x="210554" y="416600"/>
              </a:cxn>
              <a:cxn ang="11796480">
                <a:pos x="0" y="208300"/>
              </a:cxn>
              <a:cxn ang="0">
                <a:pos x="407164" y="368710"/>
              </a:cxn>
              <a:cxn ang="0">
                <a:pos x="286316" y="320819"/>
              </a:cxn>
              <a:cxn ang="0">
                <a:pos x="336050" y="214344"/>
              </a:cxn>
              <a:cxn ang="0">
                <a:pos x="303049" y="44171"/>
              </a:cxn>
              <a:cxn ang="0">
                <a:pos x="210554" y="0"/>
              </a:cxn>
              <a:cxn ang="0">
                <a:pos x="118059" y="44171"/>
              </a:cxn>
              <a:cxn ang="0">
                <a:pos x="85058" y="214344"/>
              </a:cxn>
              <a:cxn ang="0">
                <a:pos x="134792" y="320819"/>
              </a:cxn>
              <a:cxn ang="0">
                <a:pos x="13944" y="368710"/>
              </a:cxn>
              <a:cxn ang="0">
                <a:pos x="3254" y="398002"/>
              </a:cxn>
              <a:cxn ang="0">
                <a:pos x="28353" y="416600"/>
              </a:cxn>
              <a:cxn ang="0">
                <a:pos x="392755" y="416600"/>
              </a:cxn>
              <a:cxn ang="0">
                <a:pos x="417854" y="398002"/>
              </a:cxn>
              <a:cxn ang="0">
                <a:pos x="407164" y="368710"/>
              </a:cxn>
              <a:cxn ang="0">
                <a:pos x="265865" y="304546"/>
              </a:cxn>
              <a:cxn ang="0">
                <a:pos x="261682" y="310125"/>
              </a:cxn>
              <a:cxn ang="0">
                <a:pos x="159426" y="310125"/>
              </a:cxn>
              <a:cxn ang="0">
                <a:pos x="155243" y="304546"/>
              </a:cxn>
              <a:cxn ang="0">
                <a:pos x="108763" y="139952"/>
              </a:cxn>
              <a:cxn ang="0">
                <a:pos x="210554" y="26038"/>
              </a:cxn>
              <a:cxn ang="0">
                <a:pos x="312345" y="139952"/>
              </a:cxn>
              <a:cxn ang="0">
                <a:pos x="265865" y="304546"/>
              </a:cxn>
              <a:cxn ang="0">
                <a:pos x="28353" y="390563"/>
              </a:cxn>
              <a:cxn ang="0">
                <a:pos x="139905" y="346392"/>
              </a:cxn>
              <a:cxn ang="0">
                <a:pos x="172440" y="339417"/>
              </a:cxn>
              <a:cxn ang="0">
                <a:pos x="210554" y="351506"/>
              </a:cxn>
              <a:cxn ang="0">
                <a:pos x="248668" y="339417"/>
              </a:cxn>
              <a:cxn ang="0">
                <a:pos x="281203" y="346392"/>
              </a:cxn>
              <a:cxn ang="0">
                <a:pos x="392755" y="390563"/>
              </a:cxn>
              <a:cxn ang="0">
                <a:pos x="28353" y="390563"/>
              </a:cxn>
            </a:cxnLst>
            <a:rect l="txL" t="txT" r="txR" b="txB"/>
            <a:pathLst>
              <a:path w="906" h="896">
                <a:moveTo>
                  <a:pt x="876" y="793"/>
                </a:moveTo>
                <a:cubicBezTo>
                  <a:pt x="870" y="790"/>
                  <a:pt x="768" y="723"/>
                  <a:pt x="616" y="690"/>
                </a:cubicBezTo>
                <a:cubicBezTo>
                  <a:pt x="672" y="619"/>
                  <a:pt x="708" y="524"/>
                  <a:pt x="723" y="461"/>
                </a:cubicBezTo>
                <a:cubicBezTo>
                  <a:pt x="744" y="374"/>
                  <a:pt x="736" y="202"/>
                  <a:pt x="652" y="95"/>
                </a:cubicBezTo>
                <a:cubicBezTo>
                  <a:pt x="603" y="33"/>
                  <a:pt x="534" y="0"/>
                  <a:pt x="453" y="0"/>
                </a:cubicBezTo>
                <a:cubicBezTo>
                  <a:pt x="372" y="0"/>
                  <a:pt x="303" y="33"/>
                  <a:pt x="254" y="95"/>
                </a:cubicBezTo>
                <a:cubicBezTo>
                  <a:pt x="170" y="202"/>
                  <a:pt x="162" y="374"/>
                  <a:pt x="183" y="461"/>
                </a:cubicBezTo>
                <a:cubicBezTo>
                  <a:pt x="198" y="524"/>
                  <a:pt x="234" y="619"/>
                  <a:pt x="290" y="690"/>
                </a:cubicBezTo>
                <a:cubicBezTo>
                  <a:pt x="138" y="723"/>
                  <a:pt x="36" y="790"/>
                  <a:pt x="30" y="793"/>
                </a:cubicBezTo>
                <a:cubicBezTo>
                  <a:pt x="9" y="807"/>
                  <a:pt x="0" y="833"/>
                  <a:pt x="7" y="856"/>
                </a:cubicBezTo>
                <a:cubicBezTo>
                  <a:pt x="15" y="880"/>
                  <a:pt x="36" y="896"/>
                  <a:pt x="61" y="896"/>
                </a:cubicBezTo>
                <a:cubicBezTo>
                  <a:pt x="845" y="896"/>
                  <a:pt x="845" y="896"/>
                  <a:pt x="845" y="896"/>
                </a:cubicBezTo>
                <a:cubicBezTo>
                  <a:pt x="870" y="896"/>
                  <a:pt x="891" y="880"/>
                  <a:pt x="899" y="856"/>
                </a:cubicBezTo>
                <a:cubicBezTo>
                  <a:pt x="906" y="833"/>
                  <a:pt x="897" y="807"/>
                  <a:pt x="876" y="793"/>
                </a:cubicBezTo>
                <a:close/>
                <a:moveTo>
                  <a:pt x="572" y="655"/>
                </a:moveTo>
                <a:cubicBezTo>
                  <a:pt x="563" y="667"/>
                  <a:pt x="563" y="667"/>
                  <a:pt x="563" y="667"/>
                </a:cubicBezTo>
                <a:cubicBezTo>
                  <a:pt x="497" y="743"/>
                  <a:pt x="409" y="743"/>
                  <a:pt x="343" y="667"/>
                </a:cubicBezTo>
                <a:cubicBezTo>
                  <a:pt x="334" y="655"/>
                  <a:pt x="334" y="655"/>
                  <a:pt x="334" y="655"/>
                </a:cubicBezTo>
                <a:cubicBezTo>
                  <a:pt x="256" y="556"/>
                  <a:pt x="217" y="426"/>
                  <a:pt x="234" y="301"/>
                </a:cubicBezTo>
                <a:cubicBezTo>
                  <a:pt x="249" y="181"/>
                  <a:pt x="317" y="56"/>
                  <a:pt x="453" y="56"/>
                </a:cubicBezTo>
                <a:cubicBezTo>
                  <a:pt x="589" y="56"/>
                  <a:pt x="657" y="181"/>
                  <a:pt x="672" y="301"/>
                </a:cubicBezTo>
                <a:cubicBezTo>
                  <a:pt x="689" y="426"/>
                  <a:pt x="651" y="556"/>
                  <a:pt x="572" y="655"/>
                </a:cubicBezTo>
                <a:close/>
                <a:moveTo>
                  <a:pt x="61" y="840"/>
                </a:moveTo>
                <a:cubicBezTo>
                  <a:pt x="65" y="837"/>
                  <a:pt x="160" y="775"/>
                  <a:pt x="301" y="745"/>
                </a:cubicBezTo>
                <a:cubicBezTo>
                  <a:pt x="371" y="730"/>
                  <a:pt x="371" y="730"/>
                  <a:pt x="371" y="730"/>
                </a:cubicBezTo>
                <a:cubicBezTo>
                  <a:pt x="396" y="746"/>
                  <a:pt x="423" y="756"/>
                  <a:pt x="453" y="756"/>
                </a:cubicBezTo>
                <a:cubicBezTo>
                  <a:pt x="483" y="756"/>
                  <a:pt x="510" y="746"/>
                  <a:pt x="535" y="730"/>
                </a:cubicBezTo>
                <a:cubicBezTo>
                  <a:pt x="605" y="745"/>
                  <a:pt x="605" y="745"/>
                  <a:pt x="605" y="745"/>
                </a:cubicBezTo>
                <a:cubicBezTo>
                  <a:pt x="745" y="775"/>
                  <a:pt x="840" y="836"/>
                  <a:pt x="845" y="840"/>
                </a:cubicBezTo>
                <a:lnTo>
                  <a:pt x="61" y="840"/>
                </a:lnTo>
                <a:close/>
              </a:path>
            </a:pathLst>
          </a:custGeom>
          <a:solidFill>
            <a:srgbClr val="FFFFFF">
              <a:alpha val="100000"/>
            </a:srgbClr>
          </a:solidFill>
          <a:ln w="9525">
            <a:noFill/>
          </a:ln>
        </p:spPr>
        <p:txBody>
          <a:bodyPr/>
          <a:lstStyle/>
          <a:p>
            <a:endParaRPr lang="fr-FR" altLang="en-US"/>
          </a:p>
        </p:txBody>
      </p:sp>
      <p:sp>
        <p:nvSpPr>
          <p:cNvPr id="26" name="Freeform 15"/>
          <p:cNvSpPr/>
          <p:nvPr/>
        </p:nvSpPr>
        <p:spPr>
          <a:xfrm>
            <a:off x="4754563" y="3960813"/>
            <a:ext cx="447675" cy="336550"/>
          </a:xfrm>
          <a:custGeom>
            <a:avLst/>
            <a:gdLst>
              <a:gd name="txL" fmla="*/ 0 w 696"/>
              <a:gd name="txT" fmla="*/ 0 h 522"/>
              <a:gd name="txR" fmla="*/ 696 w 696"/>
              <a:gd name="txB" fmla="*/ 522 h 522"/>
            </a:gdLst>
            <a:ahLst/>
            <a:cxnLst>
              <a:cxn ang="17694720">
                <a:pos x="223735" y="0"/>
              </a:cxn>
              <a:cxn ang="0">
                <a:pos x="447470" y="168039"/>
              </a:cxn>
              <a:cxn ang="5898240">
                <a:pos x="223735" y="336078"/>
              </a:cxn>
              <a:cxn ang="11796480">
                <a:pos x="0" y="168039"/>
              </a:cxn>
              <a:cxn ang="0">
                <a:pos x="368391" y="8370"/>
              </a:cxn>
              <a:cxn ang="0">
                <a:pos x="99009" y="0"/>
              </a:cxn>
              <a:cxn ang="0">
                <a:pos x="8358" y="79191"/>
              </a:cxn>
              <a:cxn ang="0">
                <a:pos x="7072" y="117820"/>
              </a:cxn>
              <a:cxn ang="0">
                <a:pos x="223735" y="336078"/>
              </a:cxn>
              <a:cxn ang="0">
                <a:pos x="440398" y="117820"/>
              </a:cxn>
              <a:cxn ang="0">
                <a:pos x="439112" y="79191"/>
              </a:cxn>
              <a:cxn ang="0">
                <a:pos x="192875" y="97862"/>
              </a:cxn>
              <a:cxn ang="0">
                <a:pos x="254595" y="97862"/>
              </a:cxn>
              <a:cxn ang="0">
                <a:pos x="272597" y="30904"/>
              </a:cxn>
              <a:cxn ang="0">
                <a:pos x="265525" y="88848"/>
              </a:cxn>
              <a:cxn ang="0">
                <a:pos x="181945" y="88848"/>
              </a:cxn>
              <a:cxn ang="0">
                <a:pos x="174873" y="30904"/>
              </a:cxn>
              <a:cxn ang="0">
                <a:pos x="181945" y="88848"/>
              </a:cxn>
              <a:cxn ang="0">
                <a:pos x="223735" y="286503"/>
              </a:cxn>
              <a:cxn ang="0">
                <a:pos x="258452" y="112026"/>
              </a:cxn>
              <a:cxn ang="0">
                <a:pos x="341389" y="112026"/>
              </a:cxn>
              <a:cxn ang="0">
                <a:pos x="272597" y="112026"/>
              </a:cxn>
              <a:cxn ang="0">
                <a:pos x="311172" y="69533"/>
              </a:cxn>
              <a:cxn ang="0">
                <a:pos x="276454" y="97862"/>
              </a:cxn>
              <a:cxn ang="0">
                <a:pos x="338817" y="28328"/>
              </a:cxn>
              <a:cxn ang="0">
                <a:pos x="289313" y="28328"/>
              </a:cxn>
              <a:cxn ang="0">
                <a:pos x="192875" y="28328"/>
              </a:cxn>
              <a:cxn ang="0">
                <a:pos x="223735" y="54082"/>
              </a:cxn>
              <a:cxn ang="0">
                <a:pos x="108653" y="28328"/>
              </a:cxn>
              <a:cxn ang="0">
                <a:pos x="135655" y="50219"/>
              </a:cxn>
              <a:cxn ang="0">
                <a:pos x="171016" y="97862"/>
              </a:cxn>
              <a:cxn ang="0">
                <a:pos x="136298" y="69533"/>
              </a:cxn>
              <a:cxn ang="0">
                <a:pos x="208948" y="283928"/>
              </a:cxn>
              <a:cxn ang="0">
                <a:pos x="174873" y="112026"/>
              </a:cxn>
              <a:cxn ang="0">
                <a:pos x="39861" y="112026"/>
              </a:cxn>
              <a:cxn ang="0">
                <a:pos x="177445" y="258819"/>
              </a:cxn>
              <a:cxn ang="0">
                <a:pos x="407609" y="112026"/>
              </a:cxn>
              <a:cxn ang="0">
                <a:pos x="357462" y="112026"/>
              </a:cxn>
              <a:cxn ang="0">
                <a:pos x="322101" y="60520"/>
              </a:cxn>
              <a:cxn ang="0">
                <a:pos x="418539" y="97862"/>
              </a:cxn>
              <a:cxn ang="0">
                <a:pos x="93223" y="33479"/>
              </a:cxn>
              <a:cxn ang="0">
                <a:pos x="88080" y="97862"/>
              </a:cxn>
              <a:cxn ang="0">
                <a:pos x="93223" y="33479"/>
              </a:cxn>
            </a:cxnLst>
            <a:rect l="txL" t="txT" r="txR" b="tx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rgbClr val="FFFFFF">
              <a:alpha val="100000"/>
            </a:srgbClr>
          </a:solidFill>
          <a:ln w="9525">
            <a:noFill/>
          </a:ln>
        </p:spPr>
        <p:txBody>
          <a:bodyPr/>
          <a:lstStyle/>
          <a:p>
            <a:endParaRPr lang="fr-FR" altLang="en-US"/>
          </a:p>
        </p:txBody>
      </p:sp>
      <p:sp>
        <p:nvSpPr>
          <p:cNvPr id="27" name="Rectangle 35"/>
          <p:cNvSpPr/>
          <p:nvPr/>
        </p:nvSpPr>
        <p:spPr>
          <a:xfrm>
            <a:off x="4448175" y="1781175"/>
            <a:ext cx="1054100" cy="85725"/>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8" name="Rectangle 38"/>
          <p:cNvSpPr/>
          <p:nvPr/>
        </p:nvSpPr>
        <p:spPr>
          <a:xfrm>
            <a:off x="6675438" y="3167063"/>
            <a:ext cx="1054100" cy="87312"/>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9" name="Rectangle 39"/>
          <p:cNvSpPr/>
          <p:nvPr/>
        </p:nvSpPr>
        <p:spPr>
          <a:xfrm>
            <a:off x="4448175" y="4541838"/>
            <a:ext cx="1054100" cy="87312"/>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0" name="Isosceles Triangle 1"/>
          <p:cNvSpPr/>
          <p:nvPr/>
        </p:nvSpPr>
        <p:spPr>
          <a:xfrm rot="10799991" flipH="1" flipV="1">
            <a:off x="5953125" y="5394325"/>
            <a:ext cx="265113"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endParaRPr lang="fr-FR" altLang="en-US"/>
          </a:p>
        </p:txBody>
      </p:sp>
    </p:spTree>
    <p:extLst>
      <p:ext uri="{BB962C8B-B14F-4D97-AF65-F5344CB8AC3E}">
        <p14:creationId xmlns:p14="http://schemas.microsoft.com/office/powerpoint/2010/main" val="2658800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par>
                          <p:cTn id="31" fill="hold">
                            <p:stCondLst>
                              <p:cond delay="2500"/>
                            </p:stCondLst>
                            <p:childTnLst>
                              <p:par>
                                <p:cTn id="32" presetID="22" presetClass="entr" presetSubtype="1"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up)">
                                      <p:cBhvr>
                                        <p:cTn id="34" dur="500"/>
                                        <p:tgtEl>
                                          <p:spTgt spid="8"/>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childTnLst>
                          </p:cTn>
                        </p:par>
                        <p:par>
                          <p:cTn id="41" fill="hold">
                            <p:stCondLst>
                              <p:cond delay="350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childTnLst>
                          </p:cTn>
                        </p:par>
                        <p:par>
                          <p:cTn id="52" fill="hold">
                            <p:stCondLst>
                              <p:cond delay="4500"/>
                            </p:stCondLst>
                            <p:childTnLst>
                              <p:par>
                                <p:cTn id="53" presetID="53" presetClass="entr" presetSubtype="16"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p:cTn id="55" dur="500" fill="hold"/>
                                        <p:tgtEl>
                                          <p:spTgt spid="25"/>
                                        </p:tgtEl>
                                        <p:attrNameLst>
                                          <p:attrName>ppt_w</p:attrName>
                                        </p:attrNameLst>
                                      </p:cBhvr>
                                      <p:tavLst>
                                        <p:tav tm="0">
                                          <p:val>
                                            <p:fltVal val="0"/>
                                          </p:val>
                                        </p:tav>
                                        <p:tav tm="100000">
                                          <p:val>
                                            <p:strVal val="#ppt_w"/>
                                          </p:val>
                                        </p:tav>
                                      </p:tavLst>
                                    </p:anim>
                                    <p:anim calcmode="lin" valueType="num">
                                      <p:cBhvr>
                                        <p:cTn id="56" dur="500" fill="hold"/>
                                        <p:tgtEl>
                                          <p:spTgt spid="25"/>
                                        </p:tgtEl>
                                        <p:attrNameLst>
                                          <p:attrName>ppt_h</p:attrName>
                                        </p:attrNameLst>
                                      </p:cBhvr>
                                      <p:tavLst>
                                        <p:tav tm="0">
                                          <p:val>
                                            <p:fltVal val="0"/>
                                          </p:val>
                                        </p:tav>
                                        <p:tav tm="100000">
                                          <p:val>
                                            <p:strVal val="#ppt_h"/>
                                          </p:val>
                                        </p:tav>
                                      </p:tavLst>
                                    </p:anim>
                                    <p:animEffect transition="in" filter="fade">
                                      <p:cBhvr>
                                        <p:cTn id="57" dur="500"/>
                                        <p:tgtEl>
                                          <p:spTgt spid="25"/>
                                        </p:tgtEl>
                                      </p:cBhvr>
                                    </p:animEffect>
                                  </p:childTnLst>
                                </p:cTn>
                              </p:par>
                            </p:childTnLst>
                          </p:cTn>
                        </p:par>
                        <p:par>
                          <p:cTn id="58" fill="hold">
                            <p:stCondLst>
                              <p:cond delay="5000"/>
                            </p:stCondLst>
                            <p:childTnLst>
                              <p:par>
                                <p:cTn id="59" presetID="10"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childTnLst>
                          </p:cTn>
                        </p:par>
                        <p:par>
                          <p:cTn id="65" fill="hold">
                            <p:stCondLst>
                              <p:cond delay="5500"/>
                            </p:stCondLst>
                            <p:childTnLst>
                              <p:par>
                                <p:cTn id="66" presetID="22" presetClass="entr" presetSubtype="1" fill="hold" nodeType="after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wipe(up)">
                                      <p:cBhvr>
                                        <p:cTn id="68" dur="500"/>
                                        <p:tgtEl>
                                          <p:spTgt spid="14"/>
                                        </p:tgtEl>
                                      </p:cBhvr>
                                    </p:animEffect>
                                  </p:childTnLst>
                                </p:cTn>
                              </p:par>
                            </p:childTnLst>
                          </p:cTn>
                        </p:par>
                        <p:par>
                          <p:cTn id="69" fill="hold">
                            <p:stCondLst>
                              <p:cond delay="6000"/>
                            </p:stCondLst>
                            <p:childTnLst>
                              <p:par>
                                <p:cTn id="70" presetID="53" presetClass="entr" presetSubtype="16" fill="hold"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6500"/>
                            </p:stCondLst>
                            <p:childTnLst>
                              <p:par>
                                <p:cTn id="76" presetID="22" presetClass="entr" presetSubtype="2" fill="hold"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wipe(right)">
                                      <p:cBhvr>
                                        <p:cTn id="78" dur="500"/>
                                        <p:tgtEl>
                                          <p:spTgt spid="18"/>
                                        </p:tgtEl>
                                      </p:cBhvr>
                                    </p:animEffect>
                                  </p:childTnLst>
                                </p:cTn>
                              </p:par>
                            </p:childTnLst>
                          </p:cTn>
                        </p:par>
                        <p:par>
                          <p:cTn id="79" fill="hold">
                            <p:stCondLst>
                              <p:cond delay="7000"/>
                            </p:stCondLst>
                            <p:childTnLst>
                              <p:par>
                                <p:cTn id="80" presetID="10" presetClass="entr" presetSubtype="0" fill="hold" grpId="0"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childTnLst>
                          </p:cTn>
                        </p:par>
                        <p:par>
                          <p:cTn id="86" fill="hold">
                            <p:stCondLst>
                              <p:cond delay="7500"/>
                            </p:stCondLst>
                            <p:childTnLst>
                              <p:par>
                                <p:cTn id="87" presetID="53" presetClass="entr" presetSubtype="16" fill="hold" nodeType="afterEffect">
                                  <p:stCondLst>
                                    <p:cond delay="0"/>
                                  </p:stCondLst>
                                  <p:childTnLst>
                                    <p:set>
                                      <p:cBhvr>
                                        <p:cTn id="88" dur="1" fill="hold">
                                          <p:stCondLst>
                                            <p:cond delay="0"/>
                                          </p:stCondLst>
                                        </p:cTn>
                                        <p:tgtEl>
                                          <p:spTgt spid="26"/>
                                        </p:tgtEl>
                                        <p:attrNameLst>
                                          <p:attrName>style.visibility</p:attrName>
                                        </p:attrNameLst>
                                      </p:cBhvr>
                                      <p:to>
                                        <p:strVal val="visible"/>
                                      </p:to>
                                    </p:set>
                                    <p:anim calcmode="lin" valueType="num">
                                      <p:cBhvr>
                                        <p:cTn id="89" dur="500" fill="hold"/>
                                        <p:tgtEl>
                                          <p:spTgt spid="26"/>
                                        </p:tgtEl>
                                        <p:attrNameLst>
                                          <p:attrName>ppt_w</p:attrName>
                                        </p:attrNameLst>
                                      </p:cBhvr>
                                      <p:tavLst>
                                        <p:tav tm="0">
                                          <p:val>
                                            <p:fltVal val="0"/>
                                          </p:val>
                                        </p:tav>
                                        <p:tav tm="100000">
                                          <p:val>
                                            <p:strVal val="#ppt_w"/>
                                          </p:val>
                                        </p:tav>
                                      </p:tavLst>
                                    </p:anim>
                                    <p:anim calcmode="lin" valueType="num">
                                      <p:cBhvr>
                                        <p:cTn id="90" dur="500" fill="hold"/>
                                        <p:tgtEl>
                                          <p:spTgt spid="26"/>
                                        </p:tgtEl>
                                        <p:attrNameLst>
                                          <p:attrName>ppt_h</p:attrName>
                                        </p:attrNameLst>
                                      </p:cBhvr>
                                      <p:tavLst>
                                        <p:tav tm="0">
                                          <p:val>
                                            <p:fltVal val="0"/>
                                          </p:val>
                                        </p:tav>
                                        <p:tav tm="100000">
                                          <p:val>
                                            <p:strVal val="#ppt_h"/>
                                          </p:val>
                                        </p:tav>
                                      </p:tavLst>
                                    </p:anim>
                                    <p:animEffect transition="in" filter="fade">
                                      <p:cBhvr>
                                        <p:cTn id="91" dur="500"/>
                                        <p:tgtEl>
                                          <p:spTgt spid="26"/>
                                        </p:tgtEl>
                                      </p:cBhvr>
                                    </p:animEffect>
                                  </p:childTnLst>
                                </p:cTn>
                              </p:par>
                            </p:childTnLst>
                          </p:cTn>
                        </p:par>
                        <p:par>
                          <p:cTn id="92" fill="hold">
                            <p:stCondLst>
                              <p:cond delay="8000"/>
                            </p:stCondLst>
                            <p:childTnLst>
                              <p:par>
                                <p:cTn id="93" presetID="10" presetClass="entr" presetSubtype="0" fill="hold" grpId="0" nodeType="after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500"/>
                                        <p:tgtEl>
                                          <p:spTgt spid="1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500"/>
                                        <p:tgtEl>
                                          <p:spTgt spid="16"/>
                                        </p:tgtEl>
                                      </p:cBhvr>
                                    </p:animEffect>
                                  </p:childTnLst>
                                </p:cTn>
                              </p:par>
                            </p:childTnLst>
                          </p:cTn>
                        </p:par>
                        <p:par>
                          <p:cTn id="99" fill="hold">
                            <p:stCondLst>
                              <p:cond delay="8500"/>
                            </p:stCondLst>
                            <p:childTnLst>
                              <p:par>
                                <p:cTn id="100" presetID="22" presetClass="entr" presetSubtype="1" fill="hold" nodeType="afterEffect">
                                  <p:stCondLst>
                                    <p:cond delay="0"/>
                                  </p:stCondLst>
                                  <p:childTnLst>
                                    <p:set>
                                      <p:cBhvr>
                                        <p:cTn id="101" dur="1" fill="hold">
                                          <p:stCondLst>
                                            <p:cond delay="0"/>
                                          </p:stCondLst>
                                        </p:cTn>
                                        <p:tgtEl>
                                          <p:spTgt spid="20"/>
                                        </p:tgtEl>
                                        <p:attrNameLst>
                                          <p:attrName>style.visibility</p:attrName>
                                        </p:attrNameLst>
                                      </p:cBhvr>
                                      <p:to>
                                        <p:strVal val="visible"/>
                                      </p:to>
                                    </p:set>
                                    <p:animEffect transition="in" filter="wipe(up)">
                                      <p:cBhvr>
                                        <p:cTn id="102" dur="500"/>
                                        <p:tgtEl>
                                          <p:spTgt spid="20"/>
                                        </p:tgtEl>
                                      </p:cBhvr>
                                    </p:animEffect>
                                  </p:childTnLst>
                                </p:cTn>
                              </p:par>
                            </p:childTnLst>
                          </p:cTn>
                        </p:par>
                        <p:par>
                          <p:cTn id="103" fill="hold">
                            <p:stCondLst>
                              <p:cond delay="9000"/>
                            </p:stCondLst>
                            <p:childTnLst>
                              <p:par>
                                <p:cTn id="104" presetID="42" presetClass="entr" presetSubtype="0" fill="hold" nodeType="after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500"/>
                                        <p:tgtEl>
                                          <p:spTgt spid="30"/>
                                        </p:tgtEl>
                                      </p:cBhvr>
                                    </p:animEffect>
                                    <p:anim calcmode="lin" valueType="num">
                                      <p:cBhvr>
                                        <p:cTn id="107" dur="500" fill="hold"/>
                                        <p:tgtEl>
                                          <p:spTgt spid="30"/>
                                        </p:tgtEl>
                                        <p:attrNameLst>
                                          <p:attrName>ppt_x</p:attrName>
                                        </p:attrNameLst>
                                      </p:cBhvr>
                                      <p:tavLst>
                                        <p:tav tm="0">
                                          <p:val>
                                            <p:strVal val="#ppt_x"/>
                                          </p:val>
                                        </p:tav>
                                        <p:tav tm="100000">
                                          <p:val>
                                            <p:strVal val="#ppt_x"/>
                                          </p:val>
                                        </p:tav>
                                      </p:tavLst>
                                    </p:anim>
                                    <p:anim calcmode="lin" valueType="num">
                                      <p:cBhvr>
                                        <p:cTn id="108"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1" grpId="0" animBg="1"/>
      <p:bldP spid="12" grpId="0"/>
      <p:bldP spid="13" grpId="0"/>
      <p:bldP spid="15" grpId="0"/>
      <p:bldP spid="16" grpId="0"/>
      <p:bldP spid="19" grpId="0" animBg="1"/>
      <p:bldP spid="27" grpId="0" animBg="1"/>
      <p:bldP spid="28" grpId="0" animBg="1"/>
      <p:bldP spid="2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31746" name="Straight Connector 10"/>
          <p:cNvCxnSpPr/>
          <p:nvPr/>
        </p:nvCxnSpPr>
        <p:spPr>
          <a:xfrm>
            <a:off x="6096000" y="0"/>
            <a:ext cx="0" cy="1249363"/>
          </a:xfrm>
          <a:prstGeom prst="straightConnector1">
            <a:avLst/>
          </a:prstGeom>
          <a:ln w="25402" cap="flat" cmpd="sng">
            <a:solidFill>
              <a:srgbClr val="D9D9D9"/>
            </a:solidFill>
            <a:prstDash val="solid"/>
            <a:miter/>
            <a:headEnd type="none" w="med" len="med"/>
            <a:tailEnd type="none" w="med" len="med"/>
          </a:ln>
        </p:spPr>
      </p:cxnSp>
      <p:sp>
        <p:nvSpPr>
          <p:cNvPr id="3" name="TextBox 14"/>
          <p:cNvSpPr txBox="1"/>
          <p:nvPr/>
        </p:nvSpPr>
        <p:spPr>
          <a:xfrm>
            <a:off x="1250736" y="789305"/>
            <a:ext cx="2903117" cy="461665"/>
          </a:xfrm>
          <a:prstGeom prst="rect">
            <a:avLst/>
          </a:prstGeom>
          <a:noFill/>
          <a:ln w="9525">
            <a:noFill/>
          </a:ln>
        </p:spPr>
        <p:txBody>
          <a:bodyPr wrap="square">
            <a:spAutoFit/>
          </a:bodyPr>
          <a:lstStyle/>
          <a:p>
            <a:pPr algn="r" eaLnBrk="1" hangingPunct="1"/>
            <a:r>
              <a:rPr lang="id-ID" altLang="x-none" sz="2400" b="1" dirty="0">
                <a:solidFill>
                  <a:srgbClr val="7F7F7F"/>
                </a:solidFill>
                <a:cs typeface="Calibri" panose="020F0502020204030204" pitchFamily="34" charset="0"/>
              </a:rPr>
              <a:t>Évaluation</a:t>
            </a:r>
            <a:endParaRPr lang="fr-FR" altLang="x-none" sz="2400" dirty="0">
              <a:solidFill>
                <a:srgbClr val="7F7F7F"/>
              </a:solidFill>
              <a:cs typeface="Calibri" panose="020F0502020204030204" pitchFamily="34" charset="0"/>
            </a:endParaRPr>
          </a:p>
        </p:txBody>
      </p:sp>
      <p:sp>
        <p:nvSpPr>
          <p:cNvPr id="5" name="Oval 3"/>
          <p:cNvSpPr/>
          <p:nvPr/>
        </p:nvSpPr>
        <p:spPr>
          <a:xfrm>
            <a:off x="6038850" y="126523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ACC777">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6" name="Straight Connector 9"/>
          <p:cNvCxnSpPr/>
          <p:nvPr/>
        </p:nvCxnSpPr>
        <p:spPr>
          <a:xfrm>
            <a:off x="5514975" y="1339850"/>
            <a:ext cx="523875" cy="0"/>
          </a:xfrm>
          <a:prstGeom prst="straightConnector1">
            <a:avLst/>
          </a:prstGeom>
          <a:ln w="25402" cap="flat" cmpd="sng">
            <a:solidFill>
              <a:srgbClr val="D9D9D9"/>
            </a:solidFill>
            <a:prstDash val="solid"/>
            <a:miter/>
            <a:headEnd type="none" w="med" len="med"/>
            <a:tailEnd type="none" w="med" len="med"/>
          </a:ln>
        </p:spPr>
      </p:cxnSp>
      <p:sp>
        <p:nvSpPr>
          <p:cNvPr id="7" name="Rectangle 13"/>
          <p:cNvSpPr/>
          <p:nvPr/>
        </p:nvSpPr>
        <p:spPr>
          <a:xfrm>
            <a:off x="4448175" y="812800"/>
            <a:ext cx="1054100" cy="10541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8" name="Straight Connector 26"/>
          <p:cNvCxnSpPr/>
          <p:nvPr/>
        </p:nvCxnSpPr>
        <p:spPr>
          <a:xfrm>
            <a:off x="6096000" y="1385888"/>
            <a:ext cx="0" cy="1249362"/>
          </a:xfrm>
          <a:prstGeom prst="straightConnector1">
            <a:avLst/>
          </a:prstGeom>
          <a:ln w="25402" cap="flat" cmpd="sng">
            <a:solidFill>
              <a:srgbClr val="D9D9D9"/>
            </a:solidFill>
            <a:prstDash val="solid"/>
            <a:miter/>
            <a:headEnd type="none" w="med" len="med"/>
            <a:tailEnd type="none" w="med" len="med"/>
          </a:ln>
        </p:spPr>
      </p:cxnSp>
      <p:sp>
        <p:nvSpPr>
          <p:cNvPr id="9" name="Oval 27"/>
          <p:cNvSpPr/>
          <p:nvPr/>
        </p:nvSpPr>
        <p:spPr>
          <a:xfrm>
            <a:off x="6038850" y="2651125"/>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77933C">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0" name="Straight Connector 28"/>
          <p:cNvCxnSpPr/>
          <p:nvPr/>
        </p:nvCxnSpPr>
        <p:spPr>
          <a:xfrm>
            <a:off x="6153150" y="2727325"/>
            <a:ext cx="523875" cy="0"/>
          </a:xfrm>
          <a:prstGeom prst="straightConnector1">
            <a:avLst/>
          </a:prstGeom>
          <a:ln w="25402" cap="flat" cmpd="sng">
            <a:solidFill>
              <a:srgbClr val="D9D9D9"/>
            </a:solidFill>
            <a:prstDash val="solid"/>
            <a:miter/>
            <a:headEnd type="none" w="med" len="med"/>
            <a:tailEnd type="none" w="med" len="med"/>
          </a:ln>
        </p:spPr>
      </p:cxnSp>
      <p:sp>
        <p:nvSpPr>
          <p:cNvPr id="11" name="Rectangle 29"/>
          <p:cNvSpPr/>
          <p:nvPr/>
        </p:nvSpPr>
        <p:spPr>
          <a:xfrm>
            <a:off x="6677025" y="2200275"/>
            <a:ext cx="1054100" cy="10541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12" name="TextBox 36"/>
          <p:cNvSpPr txBox="1"/>
          <p:nvPr/>
        </p:nvSpPr>
        <p:spPr>
          <a:xfrm>
            <a:off x="7916863" y="2200275"/>
            <a:ext cx="3570849" cy="461665"/>
          </a:xfrm>
          <a:prstGeom prst="rect">
            <a:avLst/>
          </a:prstGeom>
          <a:noFill/>
          <a:ln w="9525">
            <a:noFill/>
          </a:ln>
        </p:spPr>
        <p:txBody>
          <a:bodyPr wrap="none">
            <a:spAutoFit/>
          </a:bodyPr>
          <a:lstStyle/>
          <a:p>
            <a:pPr eaLnBrk="1" hangingPunct="1"/>
            <a:r>
              <a:rPr lang="id-ID" altLang="x-none" sz="2400" b="1" dirty="0">
                <a:solidFill>
                  <a:srgbClr val="7D7D7D"/>
                </a:solidFill>
                <a:ea typeface="Source Sans Pro Light"/>
                <a:cs typeface="Calibri" panose="020F0502020204030204" pitchFamily="34" charset="0"/>
              </a:rPr>
              <a:t>Résultats (Codex vs GPT-3)</a:t>
            </a:r>
          </a:p>
        </p:txBody>
      </p:sp>
      <p:cxnSp>
        <p:nvCxnSpPr>
          <p:cNvPr id="14" name="Straight Connector 66"/>
          <p:cNvCxnSpPr/>
          <p:nvPr/>
        </p:nvCxnSpPr>
        <p:spPr>
          <a:xfrm>
            <a:off x="6096000" y="2760663"/>
            <a:ext cx="0" cy="1249362"/>
          </a:xfrm>
          <a:prstGeom prst="straightConnector1">
            <a:avLst/>
          </a:prstGeom>
          <a:ln w="25402" cap="flat" cmpd="sng">
            <a:solidFill>
              <a:srgbClr val="D9D9D9"/>
            </a:solidFill>
            <a:prstDash val="solid"/>
            <a:miter/>
            <a:headEnd type="none" w="med" len="med"/>
            <a:tailEnd type="none" w="med" len="med"/>
          </a:ln>
        </p:spPr>
      </p:cxnSp>
      <p:sp>
        <p:nvSpPr>
          <p:cNvPr id="15" name="TextBox 67"/>
          <p:cNvSpPr txBox="1"/>
          <p:nvPr/>
        </p:nvSpPr>
        <p:spPr>
          <a:xfrm>
            <a:off x="3032558" y="3548063"/>
            <a:ext cx="1097800" cy="461665"/>
          </a:xfrm>
          <a:prstGeom prst="rect">
            <a:avLst/>
          </a:prstGeom>
          <a:noFill/>
          <a:ln w="9525">
            <a:noFill/>
          </a:ln>
        </p:spPr>
        <p:txBody>
          <a:bodyPr wrap="none">
            <a:spAutoFit/>
          </a:bodyPr>
          <a:lstStyle/>
          <a:p>
            <a:pPr algn="r" eaLnBrk="1" hangingPunct="1"/>
            <a:r>
              <a:rPr lang="fr-FR" altLang="id-ID" sz="2400" b="1" dirty="0">
                <a:solidFill>
                  <a:srgbClr val="7F7F7F"/>
                </a:solidFill>
                <a:cs typeface="Calibri" panose="020F0502020204030204" pitchFamily="34" charset="0"/>
              </a:rPr>
              <a:t>Limites</a:t>
            </a:r>
          </a:p>
        </p:txBody>
      </p:sp>
      <p:sp>
        <p:nvSpPr>
          <p:cNvPr id="17" name="Oval 69"/>
          <p:cNvSpPr/>
          <p:nvPr/>
        </p:nvSpPr>
        <p:spPr>
          <a:xfrm>
            <a:off x="6038850" y="4025900"/>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C0D498">
              <a:alpha val="100000"/>
            </a:srgbClr>
          </a:solidFill>
          <a:ln w="50804" cap="flat" cmpd="sng">
            <a:solidFill>
              <a:srgbClr val="D9D9D9">
                <a:alpha val="100000"/>
              </a:srgbClr>
            </a:solidFill>
            <a:prstDash val="solid"/>
            <a:miter/>
            <a:headEnd type="none" w="med" len="med"/>
            <a:tailEnd type="none" w="med" len="med"/>
          </a:ln>
        </p:spPr>
        <p:txBody>
          <a:bodyPr/>
          <a:lstStyle/>
          <a:p>
            <a:endParaRPr lang="fr-FR" altLang="en-US"/>
          </a:p>
        </p:txBody>
      </p:sp>
      <p:cxnSp>
        <p:nvCxnSpPr>
          <p:cNvPr id="18" name="Straight Connector 70"/>
          <p:cNvCxnSpPr/>
          <p:nvPr/>
        </p:nvCxnSpPr>
        <p:spPr>
          <a:xfrm>
            <a:off x="5514975" y="4100513"/>
            <a:ext cx="523875" cy="0"/>
          </a:xfrm>
          <a:prstGeom prst="straightConnector1">
            <a:avLst/>
          </a:prstGeom>
          <a:ln w="25402" cap="flat" cmpd="sng">
            <a:solidFill>
              <a:srgbClr val="D9D9D9"/>
            </a:solidFill>
            <a:prstDash val="solid"/>
            <a:miter/>
            <a:headEnd type="none" w="med" len="med"/>
            <a:tailEnd type="none" w="med" len="med"/>
          </a:ln>
        </p:spPr>
      </p:cxnSp>
      <p:sp>
        <p:nvSpPr>
          <p:cNvPr id="19" name="Rectangle 71"/>
          <p:cNvSpPr/>
          <p:nvPr/>
        </p:nvSpPr>
        <p:spPr>
          <a:xfrm>
            <a:off x="4448175" y="3573463"/>
            <a:ext cx="1054100" cy="1055687"/>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cxnSp>
        <p:nvCxnSpPr>
          <p:cNvPr id="20" name="Straight Connector 77"/>
          <p:cNvCxnSpPr/>
          <p:nvPr/>
        </p:nvCxnSpPr>
        <p:spPr>
          <a:xfrm>
            <a:off x="6096000" y="4148138"/>
            <a:ext cx="0" cy="1249362"/>
          </a:xfrm>
          <a:prstGeom prst="straightConnector1">
            <a:avLst/>
          </a:prstGeom>
          <a:ln w="25402" cap="flat" cmpd="sng">
            <a:solidFill>
              <a:srgbClr val="D9D9D9"/>
            </a:solidFill>
            <a:prstDash val="solid"/>
            <a:miter/>
            <a:headEnd type="none" w="med" len="med"/>
            <a:tailEnd type="none" w="med" len="med"/>
          </a:ln>
        </p:spPr>
      </p:cxnSp>
      <p:grpSp>
        <p:nvGrpSpPr>
          <p:cNvPr id="21" name="Group 17"/>
          <p:cNvGrpSpPr/>
          <p:nvPr/>
        </p:nvGrpSpPr>
        <p:grpSpPr>
          <a:xfrm>
            <a:off x="4759325" y="1104900"/>
            <a:ext cx="433388" cy="433388"/>
            <a:chOff x="4759241" y="1105079"/>
            <a:chExt cx="432813" cy="432474"/>
          </a:xfrm>
        </p:grpSpPr>
        <p:sp>
          <p:nvSpPr>
            <p:cNvPr id="31772" name="Freeform 5"/>
            <p:cNvSpPr/>
            <p:nvPr/>
          </p:nvSpPr>
          <p:spPr>
            <a:xfrm>
              <a:off x="4759241"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073" y="40447"/>
                </a:cxn>
                <a:cxn ang="0">
                  <a:pos x="81073" y="69227"/>
                </a:cxn>
                <a:cxn ang="0">
                  <a:pos x="67821" y="67671"/>
                </a:cxn>
                <a:cxn ang="0">
                  <a:pos x="54569" y="69227"/>
                </a:cxn>
                <a:cxn ang="0">
                  <a:pos x="54569" y="40447"/>
                </a:cxn>
                <a:cxn ang="0">
                  <a:pos x="81073" y="392027"/>
                </a:cxn>
                <a:cxn ang="0">
                  <a:pos x="67821" y="405250"/>
                </a:cxn>
                <a:cxn ang="0">
                  <a:pos x="54569" y="392027"/>
                </a:cxn>
                <a:cxn ang="0">
                  <a:pos x="54569" y="201458"/>
                </a:cxn>
                <a:cxn ang="0">
                  <a:pos x="67821" y="203014"/>
                </a:cxn>
                <a:cxn ang="0">
                  <a:pos x="81073" y="201458"/>
                </a:cxn>
                <a:cxn ang="0">
                  <a:pos x="81073" y="392027"/>
                </a:cxn>
                <a:cxn ang="0">
                  <a:pos x="106799" y="146232"/>
                </a:cxn>
                <a:cxn ang="0">
                  <a:pos x="106019" y="148566"/>
                </a:cxn>
                <a:cxn ang="0">
                  <a:pos x="100562" y="158678"/>
                </a:cxn>
                <a:cxn ang="0">
                  <a:pos x="100562" y="158678"/>
                </a:cxn>
                <a:cxn ang="0">
                  <a:pos x="91987" y="167234"/>
                </a:cxn>
                <a:cxn ang="0">
                  <a:pos x="91987" y="167234"/>
                </a:cxn>
                <a:cxn ang="0">
                  <a:pos x="81073" y="173456"/>
                </a:cxn>
                <a:cxn ang="0">
                  <a:pos x="67821" y="175790"/>
                </a:cxn>
                <a:cxn ang="0">
                  <a:pos x="54569" y="173456"/>
                </a:cxn>
                <a:cxn ang="0">
                  <a:pos x="43655" y="167234"/>
                </a:cxn>
                <a:cxn ang="0">
                  <a:pos x="4287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2875" y="102674"/>
                </a:cxn>
                <a:cxn ang="0">
                  <a:pos x="43655" y="102674"/>
                </a:cxn>
                <a:cxn ang="0">
                  <a:pos x="54569" y="97229"/>
                </a:cxn>
                <a:cxn ang="0">
                  <a:pos x="67821" y="94895"/>
                </a:cxn>
                <a:cxn ang="0">
                  <a:pos x="81073" y="97229"/>
                </a:cxn>
                <a:cxn ang="0">
                  <a:pos x="91987" y="102674"/>
                </a:cxn>
                <a:cxn ang="0">
                  <a:pos x="9198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3" name="Freeform 6"/>
            <p:cNvSpPr/>
            <p:nvPr/>
          </p:nvSpPr>
          <p:spPr>
            <a:xfrm>
              <a:off x="5056412"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853" y="40447"/>
                </a:cxn>
                <a:cxn ang="0">
                  <a:pos x="81853" y="69227"/>
                </a:cxn>
                <a:cxn ang="0">
                  <a:pos x="67821" y="67671"/>
                </a:cxn>
                <a:cxn ang="0">
                  <a:pos x="54569" y="69227"/>
                </a:cxn>
                <a:cxn ang="0">
                  <a:pos x="54569" y="40447"/>
                </a:cxn>
                <a:cxn ang="0">
                  <a:pos x="81853" y="392027"/>
                </a:cxn>
                <a:cxn ang="0">
                  <a:pos x="67821" y="405250"/>
                </a:cxn>
                <a:cxn ang="0">
                  <a:pos x="54569" y="392027"/>
                </a:cxn>
                <a:cxn ang="0">
                  <a:pos x="54569" y="201458"/>
                </a:cxn>
                <a:cxn ang="0">
                  <a:pos x="67821" y="203014"/>
                </a:cxn>
                <a:cxn ang="0">
                  <a:pos x="81853" y="201458"/>
                </a:cxn>
                <a:cxn ang="0">
                  <a:pos x="81853" y="392027"/>
                </a:cxn>
                <a:cxn ang="0">
                  <a:pos x="106799" y="146232"/>
                </a:cxn>
                <a:cxn ang="0">
                  <a:pos x="106019" y="148566"/>
                </a:cxn>
                <a:cxn ang="0">
                  <a:pos x="100562" y="158678"/>
                </a:cxn>
                <a:cxn ang="0">
                  <a:pos x="100562" y="158678"/>
                </a:cxn>
                <a:cxn ang="0">
                  <a:pos x="92767" y="167234"/>
                </a:cxn>
                <a:cxn ang="0">
                  <a:pos x="91987" y="167234"/>
                </a:cxn>
                <a:cxn ang="0">
                  <a:pos x="81853" y="173456"/>
                </a:cxn>
                <a:cxn ang="0">
                  <a:pos x="67821" y="175790"/>
                </a:cxn>
                <a:cxn ang="0">
                  <a:pos x="54569" y="173456"/>
                </a:cxn>
                <a:cxn ang="0">
                  <a:pos x="43655" y="167234"/>
                </a:cxn>
                <a:cxn ang="0">
                  <a:pos x="4365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3655" y="102674"/>
                </a:cxn>
                <a:cxn ang="0">
                  <a:pos x="43655" y="102674"/>
                </a:cxn>
                <a:cxn ang="0">
                  <a:pos x="54569" y="97229"/>
                </a:cxn>
                <a:cxn ang="0">
                  <a:pos x="67821" y="94895"/>
                </a:cxn>
                <a:cxn ang="0">
                  <a:pos x="81853" y="97229"/>
                </a:cxn>
                <a:cxn ang="0">
                  <a:pos x="91987" y="102674"/>
                </a:cxn>
                <a:cxn ang="0">
                  <a:pos x="9276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endParaRPr lang="fr-FR" altLang="en-US"/>
            </a:p>
          </p:txBody>
        </p:sp>
        <p:sp>
          <p:nvSpPr>
            <p:cNvPr id="31774" name="Freeform 7"/>
            <p:cNvSpPr/>
            <p:nvPr/>
          </p:nvSpPr>
          <p:spPr>
            <a:xfrm>
              <a:off x="4907996" y="1105079"/>
              <a:ext cx="135312" cy="432474"/>
            </a:xfrm>
            <a:custGeom>
              <a:avLst/>
              <a:gdLst>
                <a:gd name="txL" fmla="*/ 0 w 174"/>
                <a:gd name="txT" fmla="*/ 0 h 556"/>
                <a:gd name="txR" fmla="*/ 174 w 174"/>
                <a:gd name="txB" fmla="*/ 556 h 556"/>
              </a:gdLst>
              <a:ahLst/>
              <a:cxnLst>
                <a:cxn ang="17694720">
                  <a:pos x="67656" y="0"/>
                </a:cxn>
                <a:cxn ang="0">
                  <a:pos x="135312" y="216237"/>
                </a:cxn>
                <a:cxn ang="5898240">
                  <a:pos x="67656" y="432474"/>
                </a:cxn>
                <a:cxn ang="11796480">
                  <a:pos x="0" y="216237"/>
                </a:cxn>
                <a:cxn ang="0">
                  <a:pos x="108094" y="243461"/>
                </a:cxn>
                <a:cxn ang="0">
                  <a:pos x="108094" y="40447"/>
                </a:cxn>
                <a:cxn ang="0">
                  <a:pos x="67656" y="0"/>
                </a:cxn>
                <a:cxn ang="0">
                  <a:pos x="27218" y="40447"/>
                </a:cxn>
                <a:cxn ang="0">
                  <a:pos x="27218" y="243461"/>
                </a:cxn>
                <a:cxn ang="0">
                  <a:pos x="0" y="297131"/>
                </a:cxn>
                <a:cxn ang="0">
                  <a:pos x="27218" y="350802"/>
                </a:cxn>
                <a:cxn ang="0">
                  <a:pos x="27218" y="392027"/>
                </a:cxn>
                <a:cxn ang="0">
                  <a:pos x="67656" y="432474"/>
                </a:cxn>
                <a:cxn ang="0">
                  <a:pos x="108094" y="392027"/>
                </a:cxn>
                <a:cxn ang="0">
                  <a:pos x="108094" y="350802"/>
                </a:cxn>
                <a:cxn ang="0">
                  <a:pos x="135312" y="297131"/>
                </a:cxn>
                <a:cxn ang="0">
                  <a:pos x="108094" y="243461"/>
                </a:cxn>
                <a:cxn ang="0">
                  <a:pos x="54436" y="40447"/>
                </a:cxn>
                <a:cxn ang="0">
                  <a:pos x="67656" y="27224"/>
                </a:cxn>
                <a:cxn ang="0">
                  <a:pos x="80876" y="40447"/>
                </a:cxn>
                <a:cxn ang="0">
                  <a:pos x="80876" y="231016"/>
                </a:cxn>
                <a:cxn ang="0">
                  <a:pos x="67656" y="229460"/>
                </a:cxn>
                <a:cxn ang="0">
                  <a:pos x="54436" y="231016"/>
                </a:cxn>
                <a:cxn ang="0">
                  <a:pos x="54436" y="40447"/>
                </a:cxn>
                <a:cxn ang="0">
                  <a:pos x="80876" y="392027"/>
                </a:cxn>
                <a:cxn ang="0">
                  <a:pos x="67656" y="405250"/>
                </a:cxn>
                <a:cxn ang="0">
                  <a:pos x="54436" y="392027"/>
                </a:cxn>
                <a:cxn ang="0">
                  <a:pos x="54436" y="363247"/>
                </a:cxn>
                <a:cxn ang="0">
                  <a:pos x="67656" y="364803"/>
                </a:cxn>
                <a:cxn ang="0">
                  <a:pos x="80876" y="363247"/>
                </a:cxn>
                <a:cxn ang="0">
                  <a:pos x="80876" y="392027"/>
                </a:cxn>
                <a:cxn ang="0">
                  <a:pos x="106539" y="308799"/>
                </a:cxn>
                <a:cxn ang="0">
                  <a:pos x="105761" y="311132"/>
                </a:cxn>
                <a:cxn ang="0">
                  <a:pos x="100318" y="320466"/>
                </a:cxn>
                <a:cxn ang="0">
                  <a:pos x="100318" y="321244"/>
                </a:cxn>
                <a:cxn ang="0">
                  <a:pos x="91763" y="329800"/>
                </a:cxn>
                <a:cxn ang="0">
                  <a:pos x="91763" y="329800"/>
                </a:cxn>
                <a:cxn ang="0">
                  <a:pos x="80876" y="335245"/>
                </a:cxn>
                <a:cxn ang="0">
                  <a:pos x="67656" y="337579"/>
                </a:cxn>
                <a:cxn ang="0">
                  <a:pos x="54436" y="335245"/>
                </a:cxn>
                <a:cxn ang="0">
                  <a:pos x="43549" y="329800"/>
                </a:cxn>
                <a:cxn ang="0">
                  <a:pos x="43549" y="329800"/>
                </a:cxn>
                <a:cxn ang="0">
                  <a:pos x="34994" y="321244"/>
                </a:cxn>
                <a:cxn ang="0">
                  <a:pos x="34994" y="320466"/>
                </a:cxn>
                <a:cxn ang="0">
                  <a:pos x="29551" y="311132"/>
                </a:cxn>
                <a:cxn ang="0">
                  <a:pos x="28773" y="308799"/>
                </a:cxn>
                <a:cxn ang="0">
                  <a:pos x="27218" y="297131"/>
                </a:cxn>
                <a:cxn ang="0">
                  <a:pos x="28773" y="286242"/>
                </a:cxn>
                <a:cxn ang="0">
                  <a:pos x="29551" y="283908"/>
                </a:cxn>
                <a:cxn ang="0">
                  <a:pos x="34994" y="273796"/>
                </a:cxn>
                <a:cxn ang="0">
                  <a:pos x="34994" y="273796"/>
                </a:cxn>
                <a:cxn ang="0">
                  <a:pos x="43549" y="265240"/>
                </a:cxn>
                <a:cxn ang="0">
                  <a:pos x="43549" y="265240"/>
                </a:cxn>
                <a:cxn ang="0">
                  <a:pos x="54436" y="259018"/>
                </a:cxn>
                <a:cxn ang="0">
                  <a:pos x="67656" y="256684"/>
                </a:cxn>
                <a:cxn ang="0">
                  <a:pos x="80876" y="259018"/>
                </a:cxn>
                <a:cxn ang="0">
                  <a:pos x="91763" y="265240"/>
                </a:cxn>
                <a:cxn ang="0">
                  <a:pos x="91763" y="265240"/>
                </a:cxn>
                <a:cxn ang="0">
                  <a:pos x="100318" y="273796"/>
                </a:cxn>
                <a:cxn ang="0">
                  <a:pos x="100318" y="273796"/>
                </a:cxn>
                <a:cxn ang="0">
                  <a:pos x="105761" y="283908"/>
                </a:cxn>
                <a:cxn ang="0">
                  <a:pos x="106539" y="286242"/>
                </a:cxn>
                <a:cxn ang="0">
                  <a:pos x="108094" y="297131"/>
                </a:cxn>
                <a:cxn ang="0">
                  <a:pos x="106539" y="308799"/>
                </a:cxn>
              </a:cxnLst>
              <a:rect l="txL" t="txT" r="txR" b="tx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solidFill>
              <a:srgbClr val="FFFFFF">
                <a:alpha val="100000"/>
              </a:srgbClr>
            </a:solidFill>
            <a:ln w="9525">
              <a:noFill/>
            </a:ln>
          </p:spPr>
          <p:txBody>
            <a:bodyPr/>
            <a:lstStyle/>
            <a:p>
              <a:endParaRPr lang="fr-FR" altLang="en-US"/>
            </a:p>
          </p:txBody>
        </p:sp>
      </p:grpSp>
      <p:sp>
        <p:nvSpPr>
          <p:cNvPr id="25" name="Freeform 11"/>
          <p:cNvSpPr/>
          <p:nvPr/>
        </p:nvSpPr>
        <p:spPr>
          <a:xfrm>
            <a:off x="6994525" y="2500313"/>
            <a:ext cx="420688" cy="415925"/>
          </a:xfrm>
          <a:custGeom>
            <a:avLst/>
            <a:gdLst>
              <a:gd name="txL" fmla="*/ 0 w 906"/>
              <a:gd name="txT" fmla="*/ 0 h 896"/>
              <a:gd name="txR" fmla="*/ 906 w 906"/>
              <a:gd name="txB" fmla="*/ 896 h 896"/>
            </a:gdLst>
            <a:ahLst/>
            <a:cxnLst>
              <a:cxn ang="17694720">
                <a:pos x="210554" y="0"/>
              </a:cxn>
              <a:cxn ang="0">
                <a:pos x="421108" y="208300"/>
              </a:cxn>
              <a:cxn ang="5898240">
                <a:pos x="210554" y="416600"/>
              </a:cxn>
              <a:cxn ang="11796480">
                <a:pos x="0" y="208300"/>
              </a:cxn>
              <a:cxn ang="0">
                <a:pos x="407164" y="368710"/>
              </a:cxn>
              <a:cxn ang="0">
                <a:pos x="286316" y="320819"/>
              </a:cxn>
              <a:cxn ang="0">
                <a:pos x="336050" y="214344"/>
              </a:cxn>
              <a:cxn ang="0">
                <a:pos x="303049" y="44171"/>
              </a:cxn>
              <a:cxn ang="0">
                <a:pos x="210554" y="0"/>
              </a:cxn>
              <a:cxn ang="0">
                <a:pos x="118059" y="44171"/>
              </a:cxn>
              <a:cxn ang="0">
                <a:pos x="85058" y="214344"/>
              </a:cxn>
              <a:cxn ang="0">
                <a:pos x="134792" y="320819"/>
              </a:cxn>
              <a:cxn ang="0">
                <a:pos x="13944" y="368710"/>
              </a:cxn>
              <a:cxn ang="0">
                <a:pos x="3254" y="398002"/>
              </a:cxn>
              <a:cxn ang="0">
                <a:pos x="28353" y="416600"/>
              </a:cxn>
              <a:cxn ang="0">
                <a:pos x="392755" y="416600"/>
              </a:cxn>
              <a:cxn ang="0">
                <a:pos x="417854" y="398002"/>
              </a:cxn>
              <a:cxn ang="0">
                <a:pos x="407164" y="368710"/>
              </a:cxn>
              <a:cxn ang="0">
                <a:pos x="265865" y="304546"/>
              </a:cxn>
              <a:cxn ang="0">
                <a:pos x="261682" y="310125"/>
              </a:cxn>
              <a:cxn ang="0">
                <a:pos x="159426" y="310125"/>
              </a:cxn>
              <a:cxn ang="0">
                <a:pos x="155243" y="304546"/>
              </a:cxn>
              <a:cxn ang="0">
                <a:pos x="108763" y="139952"/>
              </a:cxn>
              <a:cxn ang="0">
                <a:pos x="210554" y="26038"/>
              </a:cxn>
              <a:cxn ang="0">
                <a:pos x="312345" y="139952"/>
              </a:cxn>
              <a:cxn ang="0">
                <a:pos x="265865" y="304546"/>
              </a:cxn>
              <a:cxn ang="0">
                <a:pos x="28353" y="390563"/>
              </a:cxn>
              <a:cxn ang="0">
                <a:pos x="139905" y="346392"/>
              </a:cxn>
              <a:cxn ang="0">
                <a:pos x="172440" y="339417"/>
              </a:cxn>
              <a:cxn ang="0">
                <a:pos x="210554" y="351506"/>
              </a:cxn>
              <a:cxn ang="0">
                <a:pos x="248668" y="339417"/>
              </a:cxn>
              <a:cxn ang="0">
                <a:pos x="281203" y="346392"/>
              </a:cxn>
              <a:cxn ang="0">
                <a:pos x="392755" y="390563"/>
              </a:cxn>
              <a:cxn ang="0">
                <a:pos x="28353" y="390563"/>
              </a:cxn>
            </a:cxnLst>
            <a:rect l="txL" t="txT" r="txR" b="txB"/>
            <a:pathLst>
              <a:path w="906" h="896">
                <a:moveTo>
                  <a:pt x="876" y="793"/>
                </a:moveTo>
                <a:cubicBezTo>
                  <a:pt x="870" y="790"/>
                  <a:pt x="768" y="723"/>
                  <a:pt x="616" y="690"/>
                </a:cubicBezTo>
                <a:cubicBezTo>
                  <a:pt x="672" y="619"/>
                  <a:pt x="708" y="524"/>
                  <a:pt x="723" y="461"/>
                </a:cubicBezTo>
                <a:cubicBezTo>
                  <a:pt x="744" y="374"/>
                  <a:pt x="736" y="202"/>
                  <a:pt x="652" y="95"/>
                </a:cubicBezTo>
                <a:cubicBezTo>
                  <a:pt x="603" y="33"/>
                  <a:pt x="534" y="0"/>
                  <a:pt x="453" y="0"/>
                </a:cubicBezTo>
                <a:cubicBezTo>
                  <a:pt x="372" y="0"/>
                  <a:pt x="303" y="33"/>
                  <a:pt x="254" y="95"/>
                </a:cubicBezTo>
                <a:cubicBezTo>
                  <a:pt x="170" y="202"/>
                  <a:pt x="162" y="374"/>
                  <a:pt x="183" y="461"/>
                </a:cubicBezTo>
                <a:cubicBezTo>
                  <a:pt x="198" y="524"/>
                  <a:pt x="234" y="619"/>
                  <a:pt x="290" y="690"/>
                </a:cubicBezTo>
                <a:cubicBezTo>
                  <a:pt x="138" y="723"/>
                  <a:pt x="36" y="790"/>
                  <a:pt x="30" y="793"/>
                </a:cubicBezTo>
                <a:cubicBezTo>
                  <a:pt x="9" y="807"/>
                  <a:pt x="0" y="833"/>
                  <a:pt x="7" y="856"/>
                </a:cubicBezTo>
                <a:cubicBezTo>
                  <a:pt x="15" y="880"/>
                  <a:pt x="36" y="896"/>
                  <a:pt x="61" y="896"/>
                </a:cubicBezTo>
                <a:cubicBezTo>
                  <a:pt x="845" y="896"/>
                  <a:pt x="845" y="896"/>
                  <a:pt x="845" y="896"/>
                </a:cubicBezTo>
                <a:cubicBezTo>
                  <a:pt x="870" y="896"/>
                  <a:pt x="891" y="880"/>
                  <a:pt x="899" y="856"/>
                </a:cubicBezTo>
                <a:cubicBezTo>
                  <a:pt x="906" y="833"/>
                  <a:pt x="897" y="807"/>
                  <a:pt x="876" y="793"/>
                </a:cubicBezTo>
                <a:close/>
                <a:moveTo>
                  <a:pt x="572" y="655"/>
                </a:moveTo>
                <a:cubicBezTo>
                  <a:pt x="563" y="667"/>
                  <a:pt x="563" y="667"/>
                  <a:pt x="563" y="667"/>
                </a:cubicBezTo>
                <a:cubicBezTo>
                  <a:pt x="497" y="743"/>
                  <a:pt x="409" y="743"/>
                  <a:pt x="343" y="667"/>
                </a:cubicBezTo>
                <a:cubicBezTo>
                  <a:pt x="334" y="655"/>
                  <a:pt x="334" y="655"/>
                  <a:pt x="334" y="655"/>
                </a:cubicBezTo>
                <a:cubicBezTo>
                  <a:pt x="256" y="556"/>
                  <a:pt x="217" y="426"/>
                  <a:pt x="234" y="301"/>
                </a:cubicBezTo>
                <a:cubicBezTo>
                  <a:pt x="249" y="181"/>
                  <a:pt x="317" y="56"/>
                  <a:pt x="453" y="56"/>
                </a:cubicBezTo>
                <a:cubicBezTo>
                  <a:pt x="589" y="56"/>
                  <a:pt x="657" y="181"/>
                  <a:pt x="672" y="301"/>
                </a:cubicBezTo>
                <a:cubicBezTo>
                  <a:pt x="689" y="426"/>
                  <a:pt x="651" y="556"/>
                  <a:pt x="572" y="655"/>
                </a:cubicBezTo>
                <a:close/>
                <a:moveTo>
                  <a:pt x="61" y="840"/>
                </a:moveTo>
                <a:cubicBezTo>
                  <a:pt x="65" y="837"/>
                  <a:pt x="160" y="775"/>
                  <a:pt x="301" y="745"/>
                </a:cubicBezTo>
                <a:cubicBezTo>
                  <a:pt x="371" y="730"/>
                  <a:pt x="371" y="730"/>
                  <a:pt x="371" y="730"/>
                </a:cubicBezTo>
                <a:cubicBezTo>
                  <a:pt x="396" y="746"/>
                  <a:pt x="423" y="756"/>
                  <a:pt x="453" y="756"/>
                </a:cubicBezTo>
                <a:cubicBezTo>
                  <a:pt x="483" y="756"/>
                  <a:pt x="510" y="746"/>
                  <a:pt x="535" y="730"/>
                </a:cubicBezTo>
                <a:cubicBezTo>
                  <a:pt x="605" y="745"/>
                  <a:pt x="605" y="745"/>
                  <a:pt x="605" y="745"/>
                </a:cubicBezTo>
                <a:cubicBezTo>
                  <a:pt x="745" y="775"/>
                  <a:pt x="840" y="836"/>
                  <a:pt x="845" y="840"/>
                </a:cubicBezTo>
                <a:lnTo>
                  <a:pt x="61" y="840"/>
                </a:lnTo>
                <a:close/>
              </a:path>
            </a:pathLst>
          </a:custGeom>
          <a:solidFill>
            <a:srgbClr val="FFFFFF">
              <a:alpha val="100000"/>
            </a:srgbClr>
          </a:solidFill>
          <a:ln w="9525">
            <a:noFill/>
          </a:ln>
        </p:spPr>
        <p:txBody>
          <a:bodyPr/>
          <a:lstStyle/>
          <a:p>
            <a:endParaRPr lang="fr-FR" altLang="en-US"/>
          </a:p>
        </p:txBody>
      </p:sp>
      <p:sp>
        <p:nvSpPr>
          <p:cNvPr id="26" name="Freeform 15"/>
          <p:cNvSpPr/>
          <p:nvPr/>
        </p:nvSpPr>
        <p:spPr>
          <a:xfrm>
            <a:off x="4754563" y="3960813"/>
            <a:ext cx="447675" cy="336550"/>
          </a:xfrm>
          <a:custGeom>
            <a:avLst/>
            <a:gdLst>
              <a:gd name="txL" fmla="*/ 0 w 696"/>
              <a:gd name="txT" fmla="*/ 0 h 522"/>
              <a:gd name="txR" fmla="*/ 696 w 696"/>
              <a:gd name="txB" fmla="*/ 522 h 522"/>
            </a:gdLst>
            <a:ahLst/>
            <a:cxnLst>
              <a:cxn ang="17694720">
                <a:pos x="223735" y="0"/>
              </a:cxn>
              <a:cxn ang="0">
                <a:pos x="447470" y="168039"/>
              </a:cxn>
              <a:cxn ang="5898240">
                <a:pos x="223735" y="336078"/>
              </a:cxn>
              <a:cxn ang="11796480">
                <a:pos x="0" y="168039"/>
              </a:cxn>
              <a:cxn ang="0">
                <a:pos x="368391" y="8370"/>
              </a:cxn>
              <a:cxn ang="0">
                <a:pos x="99009" y="0"/>
              </a:cxn>
              <a:cxn ang="0">
                <a:pos x="8358" y="79191"/>
              </a:cxn>
              <a:cxn ang="0">
                <a:pos x="7072" y="117820"/>
              </a:cxn>
              <a:cxn ang="0">
                <a:pos x="223735" y="336078"/>
              </a:cxn>
              <a:cxn ang="0">
                <a:pos x="440398" y="117820"/>
              </a:cxn>
              <a:cxn ang="0">
                <a:pos x="439112" y="79191"/>
              </a:cxn>
              <a:cxn ang="0">
                <a:pos x="192875" y="97862"/>
              </a:cxn>
              <a:cxn ang="0">
                <a:pos x="254595" y="97862"/>
              </a:cxn>
              <a:cxn ang="0">
                <a:pos x="272597" y="30904"/>
              </a:cxn>
              <a:cxn ang="0">
                <a:pos x="265525" y="88848"/>
              </a:cxn>
              <a:cxn ang="0">
                <a:pos x="181945" y="88848"/>
              </a:cxn>
              <a:cxn ang="0">
                <a:pos x="174873" y="30904"/>
              </a:cxn>
              <a:cxn ang="0">
                <a:pos x="181945" y="88848"/>
              </a:cxn>
              <a:cxn ang="0">
                <a:pos x="223735" y="286503"/>
              </a:cxn>
              <a:cxn ang="0">
                <a:pos x="258452" y="112026"/>
              </a:cxn>
              <a:cxn ang="0">
                <a:pos x="341389" y="112026"/>
              </a:cxn>
              <a:cxn ang="0">
                <a:pos x="272597" y="112026"/>
              </a:cxn>
              <a:cxn ang="0">
                <a:pos x="311172" y="69533"/>
              </a:cxn>
              <a:cxn ang="0">
                <a:pos x="276454" y="97862"/>
              </a:cxn>
              <a:cxn ang="0">
                <a:pos x="338817" y="28328"/>
              </a:cxn>
              <a:cxn ang="0">
                <a:pos x="289313" y="28328"/>
              </a:cxn>
              <a:cxn ang="0">
                <a:pos x="192875" y="28328"/>
              </a:cxn>
              <a:cxn ang="0">
                <a:pos x="223735" y="54082"/>
              </a:cxn>
              <a:cxn ang="0">
                <a:pos x="108653" y="28328"/>
              </a:cxn>
              <a:cxn ang="0">
                <a:pos x="135655" y="50219"/>
              </a:cxn>
              <a:cxn ang="0">
                <a:pos x="171016" y="97862"/>
              </a:cxn>
              <a:cxn ang="0">
                <a:pos x="136298" y="69533"/>
              </a:cxn>
              <a:cxn ang="0">
                <a:pos x="208948" y="283928"/>
              </a:cxn>
              <a:cxn ang="0">
                <a:pos x="174873" y="112026"/>
              </a:cxn>
              <a:cxn ang="0">
                <a:pos x="39861" y="112026"/>
              </a:cxn>
              <a:cxn ang="0">
                <a:pos x="177445" y="258819"/>
              </a:cxn>
              <a:cxn ang="0">
                <a:pos x="407609" y="112026"/>
              </a:cxn>
              <a:cxn ang="0">
                <a:pos x="357462" y="112026"/>
              </a:cxn>
              <a:cxn ang="0">
                <a:pos x="322101" y="60520"/>
              </a:cxn>
              <a:cxn ang="0">
                <a:pos x="418539" y="97862"/>
              </a:cxn>
              <a:cxn ang="0">
                <a:pos x="93223" y="33479"/>
              </a:cxn>
              <a:cxn ang="0">
                <a:pos x="88080" y="97862"/>
              </a:cxn>
              <a:cxn ang="0">
                <a:pos x="93223" y="33479"/>
              </a:cxn>
            </a:cxnLst>
            <a:rect l="txL" t="txT" r="txR" b="tx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rgbClr val="FFFFFF">
              <a:alpha val="100000"/>
            </a:srgbClr>
          </a:solidFill>
          <a:ln w="9525">
            <a:noFill/>
          </a:ln>
        </p:spPr>
        <p:txBody>
          <a:bodyPr/>
          <a:lstStyle/>
          <a:p>
            <a:endParaRPr lang="fr-FR" altLang="en-US"/>
          </a:p>
        </p:txBody>
      </p:sp>
      <p:sp>
        <p:nvSpPr>
          <p:cNvPr id="27" name="Rectangle 35"/>
          <p:cNvSpPr/>
          <p:nvPr/>
        </p:nvSpPr>
        <p:spPr>
          <a:xfrm>
            <a:off x="4448175" y="1781175"/>
            <a:ext cx="1054100" cy="85725"/>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8" name="Rectangle 38"/>
          <p:cNvSpPr/>
          <p:nvPr/>
        </p:nvSpPr>
        <p:spPr>
          <a:xfrm>
            <a:off x="6675438" y="3167063"/>
            <a:ext cx="1054100" cy="87312"/>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29" name="Rectangle 39"/>
          <p:cNvSpPr/>
          <p:nvPr/>
        </p:nvSpPr>
        <p:spPr>
          <a:xfrm>
            <a:off x="4448175" y="4541838"/>
            <a:ext cx="1054100" cy="87312"/>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0" name="Isosceles Triangle 1"/>
          <p:cNvSpPr/>
          <p:nvPr/>
        </p:nvSpPr>
        <p:spPr>
          <a:xfrm rot="10799991" flipH="1" flipV="1">
            <a:off x="5953125" y="5394325"/>
            <a:ext cx="265113"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endParaRPr lang="fr-FR" altLang="en-US"/>
          </a:p>
        </p:txBody>
      </p:sp>
    </p:spTree>
    <p:extLst>
      <p:ext uri="{BB962C8B-B14F-4D97-AF65-F5344CB8AC3E}">
        <p14:creationId xmlns:p14="http://schemas.microsoft.com/office/powerpoint/2010/main" val="2258484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par>
                          <p:cTn id="31" fill="hold">
                            <p:stCondLst>
                              <p:cond delay="2500"/>
                            </p:stCondLst>
                            <p:childTnLst>
                              <p:par>
                                <p:cTn id="32" presetID="22" presetClass="entr" presetSubtype="1"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up)">
                                      <p:cBhvr>
                                        <p:cTn id="34" dur="500"/>
                                        <p:tgtEl>
                                          <p:spTgt spid="8"/>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childTnLst>
                          </p:cTn>
                        </p:par>
                        <p:par>
                          <p:cTn id="41" fill="hold">
                            <p:stCondLst>
                              <p:cond delay="3500"/>
                            </p:stCondLst>
                            <p:childTnLst>
                              <p:par>
                                <p:cTn id="42" presetID="22" presetClass="entr" presetSubtype="8" fill="hold"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par>
                          <p:cTn id="45" fill="hold">
                            <p:stCondLst>
                              <p:cond delay="4000"/>
                            </p:stCondLst>
                            <p:childTnLst>
                              <p:par>
                                <p:cTn id="46" presetID="10" presetClass="entr" presetSubtype="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500"/>
                                        <p:tgtEl>
                                          <p:spTgt spid="28"/>
                                        </p:tgtEl>
                                      </p:cBhvr>
                                    </p:animEffect>
                                  </p:childTnLst>
                                </p:cTn>
                              </p:par>
                            </p:childTnLst>
                          </p:cTn>
                        </p:par>
                        <p:par>
                          <p:cTn id="52" fill="hold">
                            <p:stCondLst>
                              <p:cond delay="4500"/>
                            </p:stCondLst>
                            <p:childTnLst>
                              <p:par>
                                <p:cTn id="53" presetID="53" presetClass="entr" presetSubtype="16"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p:cTn id="55" dur="500" fill="hold"/>
                                        <p:tgtEl>
                                          <p:spTgt spid="25"/>
                                        </p:tgtEl>
                                        <p:attrNameLst>
                                          <p:attrName>ppt_w</p:attrName>
                                        </p:attrNameLst>
                                      </p:cBhvr>
                                      <p:tavLst>
                                        <p:tav tm="0">
                                          <p:val>
                                            <p:fltVal val="0"/>
                                          </p:val>
                                        </p:tav>
                                        <p:tav tm="100000">
                                          <p:val>
                                            <p:strVal val="#ppt_w"/>
                                          </p:val>
                                        </p:tav>
                                      </p:tavLst>
                                    </p:anim>
                                    <p:anim calcmode="lin" valueType="num">
                                      <p:cBhvr>
                                        <p:cTn id="56" dur="500" fill="hold"/>
                                        <p:tgtEl>
                                          <p:spTgt spid="25"/>
                                        </p:tgtEl>
                                        <p:attrNameLst>
                                          <p:attrName>ppt_h</p:attrName>
                                        </p:attrNameLst>
                                      </p:cBhvr>
                                      <p:tavLst>
                                        <p:tav tm="0">
                                          <p:val>
                                            <p:fltVal val="0"/>
                                          </p:val>
                                        </p:tav>
                                        <p:tav tm="100000">
                                          <p:val>
                                            <p:strVal val="#ppt_h"/>
                                          </p:val>
                                        </p:tav>
                                      </p:tavLst>
                                    </p:anim>
                                    <p:animEffect transition="in" filter="fade">
                                      <p:cBhvr>
                                        <p:cTn id="57" dur="500"/>
                                        <p:tgtEl>
                                          <p:spTgt spid="25"/>
                                        </p:tgtEl>
                                      </p:cBhvr>
                                    </p:animEffect>
                                  </p:childTnLst>
                                </p:cTn>
                              </p:par>
                            </p:childTnLst>
                          </p:cTn>
                        </p:par>
                        <p:par>
                          <p:cTn id="58" fill="hold">
                            <p:stCondLst>
                              <p:cond delay="5000"/>
                            </p:stCondLst>
                            <p:childTnLst>
                              <p:par>
                                <p:cTn id="59" presetID="10" presetClass="entr" presetSubtype="0" fill="hold" grpId="0"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childTnLst>
                          </p:cTn>
                        </p:par>
                        <p:par>
                          <p:cTn id="62" fill="hold">
                            <p:stCondLst>
                              <p:cond delay="5500"/>
                            </p:stCondLst>
                            <p:childTnLst>
                              <p:par>
                                <p:cTn id="63" presetID="22" presetClass="entr" presetSubtype="1" fill="hold"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childTnLst>
                          </p:cTn>
                        </p:par>
                        <p:par>
                          <p:cTn id="66" fill="hold">
                            <p:stCondLst>
                              <p:cond delay="6000"/>
                            </p:stCondLst>
                            <p:childTnLst>
                              <p:par>
                                <p:cTn id="67" presetID="53" presetClass="entr" presetSubtype="16"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500" fill="hold"/>
                                        <p:tgtEl>
                                          <p:spTgt spid="17"/>
                                        </p:tgtEl>
                                        <p:attrNameLst>
                                          <p:attrName>ppt_w</p:attrName>
                                        </p:attrNameLst>
                                      </p:cBhvr>
                                      <p:tavLst>
                                        <p:tav tm="0">
                                          <p:val>
                                            <p:fltVal val="0"/>
                                          </p:val>
                                        </p:tav>
                                        <p:tav tm="100000">
                                          <p:val>
                                            <p:strVal val="#ppt_w"/>
                                          </p:val>
                                        </p:tav>
                                      </p:tavLst>
                                    </p:anim>
                                    <p:anim calcmode="lin" valueType="num">
                                      <p:cBhvr>
                                        <p:cTn id="70" dur="500" fill="hold"/>
                                        <p:tgtEl>
                                          <p:spTgt spid="17"/>
                                        </p:tgtEl>
                                        <p:attrNameLst>
                                          <p:attrName>ppt_h</p:attrName>
                                        </p:attrNameLst>
                                      </p:cBhvr>
                                      <p:tavLst>
                                        <p:tav tm="0">
                                          <p:val>
                                            <p:fltVal val="0"/>
                                          </p:val>
                                        </p:tav>
                                        <p:tav tm="100000">
                                          <p:val>
                                            <p:strVal val="#ppt_h"/>
                                          </p:val>
                                        </p:tav>
                                      </p:tavLst>
                                    </p:anim>
                                    <p:animEffect transition="in" filter="fade">
                                      <p:cBhvr>
                                        <p:cTn id="71" dur="500"/>
                                        <p:tgtEl>
                                          <p:spTgt spid="17"/>
                                        </p:tgtEl>
                                      </p:cBhvr>
                                    </p:animEffect>
                                  </p:childTnLst>
                                </p:cTn>
                              </p:par>
                            </p:childTnLst>
                          </p:cTn>
                        </p:par>
                        <p:par>
                          <p:cTn id="72" fill="hold">
                            <p:stCondLst>
                              <p:cond delay="6500"/>
                            </p:stCondLst>
                            <p:childTnLst>
                              <p:par>
                                <p:cTn id="73" presetID="22" presetClass="entr" presetSubtype="2" fill="hold" nodeType="after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right)">
                                      <p:cBhvr>
                                        <p:cTn id="75" dur="500"/>
                                        <p:tgtEl>
                                          <p:spTgt spid="18"/>
                                        </p:tgtEl>
                                      </p:cBhvr>
                                    </p:animEffect>
                                  </p:childTnLst>
                                </p:cTn>
                              </p:par>
                            </p:childTnLst>
                          </p:cTn>
                        </p:par>
                        <p:par>
                          <p:cTn id="76" fill="hold">
                            <p:stCondLst>
                              <p:cond delay="7000"/>
                            </p:stCondLst>
                            <p:childTnLst>
                              <p:par>
                                <p:cTn id="77" presetID="10" presetClass="entr" presetSubtype="0" fill="hold" grpId="0"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childTnLst>
                          </p:cTn>
                        </p:par>
                        <p:par>
                          <p:cTn id="83" fill="hold">
                            <p:stCondLst>
                              <p:cond delay="7500"/>
                            </p:stCondLst>
                            <p:childTnLst>
                              <p:par>
                                <p:cTn id="84" presetID="53" presetClass="entr" presetSubtype="16" fill="hold" nodeType="afterEffect">
                                  <p:stCondLst>
                                    <p:cond delay="0"/>
                                  </p:stCondLst>
                                  <p:childTnLst>
                                    <p:set>
                                      <p:cBhvr>
                                        <p:cTn id="85" dur="1" fill="hold">
                                          <p:stCondLst>
                                            <p:cond delay="0"/>
                                          </p:stCondLst>
                                        </p:cTn>
                                        <p:tgtEl>
                                          <p:spTgt spid="26"/>
                                        </p:tgtEl>
                                        <p:attrNameLst>
                                          <p:attrName>style.visibility</p:attrName>
                                        </p:attrNameLst>
                                      </p:cBhvr>
                                      <p:to>
                                        <p:strVal val="visible"/>
                                      </p:to>
                                    </p:set>
                                    <p:anim calcmode="lin" valueType="num">
                                      <p:cBhvr>
                                        <p:cTn id="86" dur="500" fill="hold"/>
                                        <p:tgtEl>
                                          <p:spTgt spid="26"/>
                                        </p:tgtEl>
                                        <p:attrNameLst>
                                          <p:attrName>ppt_w</p:attrName>
                                        </p:attrNameLst>
                                      </p:cBhvr>
                                      <p:tavLst>
                                        <p:tav tm="0">
                                          <p:val>
                                            <p:fltVal val="0"/>
                                          </p:val>
                                        </p:tav>
                                        <p:tav tm="100000">
                                          <p:val>
                                            <p:strVal val="#ppt_w"/>
                                          </p:val>
                                        </p:tav>
                                      </p:tavLst>
                                    </p:anim>
                                    <p:anim calcmode="lin" valueType="num">
                                      <p:cBhvr>
                                        <p:cTn id="87" dur="500" fill="hold"/>
                                        <p:tgtEl>
                                          <p:spTgt spid="26"/>
                                        </p:tgtEl>
                                        <p:attrNameLst>
                                          <p:attrName>ppt_h</p:attrName>
                                        </p:attrNameLst>
                                      </p:cBhvr>
                                      <p:tavLst>
                                        <p:tav tm="0">
                                          <p:val>
                                            <p:fltVal val="0"/>
                                          </p:val>
                                        </p:tav>
                                        <p:tav tm="100000">
                                          <p:val>
                                            <p:strVal val="#ppt_h"/>
                                          </p:val>
                                        </p:tav>
                                      </p:tavLst>
                                    </p:anim>
                                    <p:animEffect transition="in" filter="fade">
                                      <p:cBhvr>
                                        <p:cTn id="88" dur="500"/>
                                        <p:tgtEl>
                                          <p:spTgt spid="26"/>
                                        </p:tgtEl>
                                      </p:cBhvr>
                                    </p:animEffect>
                                  </p:childTnLst>
                                </p:cTn>
                              </p:par>
                            </p:childTnLst>
                          </p:cTn>
                        </p:par>
                        <p:par>
                          <p:cTn id="89" fill="hold">
                            <p:stCondLst>
                              <p:cond delay="8000"/>
                            </p:stCondLst>
                            <p:childTnLst>
                              <p:par>
                                <p:cTn id="90" presetID="10" presetClass="entr" presetSubtype="0" fill="hold" grpId="0" nodeType="after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childTnLst>
                                </p:cTn>
                              </p:par>
                            </p:childTnLst>
                          </p:cTn>
                        </p:par>
                        <p:par>
                          <p:cTn id="93" fill="hold">
                            <p:stCondLst>
                              <p:cond delay="8500"/>
                            </p:stCondLst>
                            <p:childTnLst>
                              <p:par>
                                <p:cTn id="94" presetID="22" presetClass="entr" presetSubtype="1" fill="hold"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up)">
                                      <p:cBhvr>
                                        <p:cTn id="96" dur="500"/>
                                        <p:tgtEl>
                                          <p:spTgt spid="20"/>
                                        </p:tgtEl>
                                      </p:cBhvr>
                                    </p:animEffect>
                                  </p:childTnLst>
                                </p:cTn>
                              </p:par>
                            </p:childTnLst>
                          </p:cTn>
                        </p:par>
                        <p:par>
                          <p:cTn id="97" fill="hold">
                            <p:stCondLst>
                              <p:cond delay="9000"/>
                            </p:stCondLst>
                            <p:childTnLst>
                              <p:par>
                                <p:cTn id="98" presetID="42" presetClass="entr" presetSubtype="0" fill="hold" nodeType="after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500"/>
                                        <p:tgtEl>
                                          <p:spTgt spid="30"/>
                                        </p:tgtEl>
                                      </p:cBhvr>
                                    </p:animEffect>
                                    <p:anim calcmode="lin" valueType="num">
                                      <p:cBhvr>
                                        <p:cTn id="101" dur="500" fill="hold"/>
                                        <p:tgtEl>
                                          <p:spTgt spid="30"/>
                                        </p:tgtEl>
                                        <p:attrNameLst>
                                          <p:attrName>ppt_x</p:attrName>
                                        </p:attrNameLst>
                                      </p:cBhvr>
                                      <p:tavLst>
                                        <p:tav tm="0">
                                          <p:val>
                                            <p:strVal val="#ppt_x"/>
                                          </p:val>
                                        </p:tav>
                                        <p:tav tm="100000">
                                          <p:val>
                                            <p:strVal val="#ppt_x"/>
                                          </p:val>
                                        </p:tav>
                                      </p:tavLst>
                                    </p:anim>
                                    <p:anim calcmode="lin" valueType="num">
                                      <p:cBhvr>
                                        <p:cTn id="102"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11" grpId="0" animBg="1"/>
      <p:bldP spid="12" grpId="0"/>
      <p:bldP spid="15" grpId="0"/>
      <p:bldP spid="19" grpId="0" animBg="1"/>
      <p:bldP spid="27" grpId="0" animBg="1"/>
      <p:bldP spid="28" grpId="0" animBg="1"/>
      <p:bldP spid="2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7556749" cy="769441"/>
          </a:xfrm>
          <a:prstGeom prst="rect">
            <a:avLst/>
          </a:prstGeom>
          <a:noFill/>
          <a:ln w="9525">
            <a:noFill/>
          </a:ln>
        </p:spPr>
        <p:txBody>
          <a:bodyPr wrap="none">
            <a:spAutoFit/>
          </a:bodyPr>
          <a:lstStyle/>
          <a:p>
            <a:r>
              <a:rPr lang="fr-FR" sz="4400" b="1" dirty="0">
                <a:solidFill>
                  <a:schemeClr val="bg1">
                    <a:lumMod val="50000"/>
                  </a:schemeClr>
                </a:solidFill>
              </a:rPr>
              <a:t>Introduction — Codex (</a:t>
            </a:r>
            <a:r>
              <a:rPr lang="fr-FR" sz="4400" b="1" dirty="0" err="1">
                <a:solidFill>
                  <a:schemeClr val="bg1">
                    <a:lumMod val="50000"/>
                  </a:schemeClr>
                </a:solidFill>
              </a:rPr>
              <a:t>OpenAI</a:t>
            </a:r>
            <a:r>
              <a:rPr lang="fr-FR" sz="4400" b="1" dirty="0">
                <a:solidFill>
                  <a:schemeClr val="bg1">
                    <a:lumMod val="50000"/>
                  </a:schemeClr>
                </a:solidFill>
              </a:rPr>
              <a:t>)</a:t>
            </a:r>
          </a:p>
        </p:txBody>
      </p:sp>
      <p:sp>
        <p:nvSpPr>
          <p:cNvPr id="3" name="Rectangle 24"/>
          <p:cNvSpPr/>
          <p:nvPr/>
        </p:nvSpPr>
        <p:spPr>
          <a:xfrm>
            <a:off x="1016001" y="2019101"/>
            <a:ext cx="9357364" cy="2062103"/>
          </a:xfrm>
          <a:prstGeom prst="rect">
            <a:avLst/>
          </a:prstGeom>
          <a:noFill/>
          <a:ln w="9525">
            <a:noFill/>
          </a:ln>
        </p:spPr>
        <p:txBody>
          <a:bodyPr wrap="square">
            <a:spAutoFit/>
          </a:bodyPr>
          <a:lstStyle/>
          <a:p>
            <a:r>
              <a:rPr lang="fr-FR" sz="1600" dirty="0">
                <a:solidFill>
                  <a:srgbClr val="C00000"/>
                </a:solidFill>
              </a:rPr>
              <a:t>Codex</a:t>
            </a:r>
            <a:r>
              <a:rPr lang="fr-FR" sz="1600" dirty="0"/>
              <a:t> est un modèle de langage spécialisé dans la programmation, développé par </a:t>
            </a:r>
            <a:r>
              <a:rPr lang="fr-FR" sz="1600" dirty="0" err="1">
                <a:solidFill>
                  <a:srgbClr val="C00000"/>
                </a:solidFill>
              </a:rPr>
              <a:t>OpenAI</a:t>
            </a:r>
            <a:r>
              <a:rPr lang="fr-FR" sz="1600" dirty="0"/>
              <a:t> et publié en août </a:t>
            </a:r>
            <a:r>
              <a:rPr lang="fr-FR" sz="1600" dirty="0">
                <a:solidFill>
                  <a:schemeClr val="accent6">
                    <a:lumMod val="75000"/>
                  </a:schemeClr>
                </a:solidFill>
              </a:rPr>
              <a:t>2021</a:t>
            </a:r>
            <a:r>
              <a:rPr lang="fr-FR" sz="1600" dirty="0"/>
              <a:t>.</a:t>
            </a:r>
          </a:p>
          <a:p>
            <a:r>
              <a:rPr lang="fr-FR" sz="1600" dirty="0"/>
              <a:t>Il est basé sur</a:t>
            </a:r>
            <a:r>
              <a:rPr lang="fr-FR" sz="1600" dirty="0">
                <a:solidFill>
                  <a:srgbClr val="C00000"/>
                </a:solidFill>
              </a:rPr>
              <a:t> GPT-3</a:t>
            </a:r>
            <a:r>
              <a:rPr lang="fr-FR" sz="1600" dirty="0"/>
              <a:t>, un modèle généraliste de </a:t>
            </a:r>
            <a:r>
              <a:rPr lang="fr-FR" sz="1600" dirty="0">
                <a:solidFill>
                  <a:schemeClr val="accent6">
                    <a:lumMod val="75000"/>
                  </a:schemeClr>
                </a:solidFill>
              </a:rPr>
              <a:t>175</a:t>
            </a:r>
            <a:r>
              <a:rPr lang="fr-FR" sz="1600" dirty="0"/>
              <a:t> milliards de paramètres, mais il est beaucoup plus petit : seulement </a:t>
            </a:r>
            <a:r>
              <a:rPr lang="fr-FR" sz="1600" dirty="0">
                <a:solidFill>
                  <a:schemeClr val="accent6">
                    <a:lumMod val="75000"/>
                  </a:schemeClr>
                </a:solidFill>
              </a:rPr>
              <a:t>12 </a:t>
            </a:r>
            <a:r>
              <a:rPr lang="fr-FR" sz="1600" dirty="0"/>
              <a:t>milliards de paramètres.</a:t>
            </a:r>
          </a:p>
          <a:p>
            <a:r>
              <a:rPr lang="fr-FR" sz="1600" dirty="0"/>
              <a:t>Sa spécialité est la génération de code Python à partir d'instructions en langage naturel.</a:t>
            </a:r>
          </a:p>
          <a:p>
            <a:r>
              <a:rPr lang="fr-FR" sz="1600" dirty="0"/>
              <a:t>Codex est le modèle qui propulse GitHub </a:t>
            </a:r>
            <a:r>
              <a:rPr lang="fr-FR" sz="1600" dirty="0" err="1"/>
              <a:t>Copilot</a:t>
            </a:r>
            <a:r>
              <a:rPr lang="fr-FR" sz="1600" dirty="0"/>
              <a:t>, l'assistant de programmation utilisé par des millions de développeurs.</a:t>
            </a:r>
          </a:p>
          <a:p>
            <a:pPr eaLnBrk="1" hangingPunct="1"/>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54872778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7570514" cy="769441"/>
          </a:xfrm>
          <a:prstGeom prst="rect">
            <a:avLst/>
          </a:prstGeom>
          <a:noFill/>
          <a:ln w="9525">
            <a:noFill/>
          </a:ln>
        </p:spPr>
        <p:txBody>
          <a:bodyPr wrap="square">
            <a:spAutoFit/>
          </a:bodyPr>
          <a:lstStyle/>
          <a:p>
            <a:r>
              <a:rPr lang="fr-FR" sz="4400" b="1" dirty="0">
                <a:solidFill>
                  <a:schemeClr val="bg1">
                    <a:lumMod val="50000"/>
                  </a:schemeClr>
                </a:solidFill>
              </a:rPr>
              <a:t>CONTEXTE ET OBJECTIF</a:t>
            </a:r>
          </a:p>
        </p:txBody>
      </p:sp>
      <p:sp>
        <p:nvSpPr>
          <p:cNvPr id="3" name="Rectangle 24"/>
          <p:cNvSpPr/>
          <p:nvPr/>
        </p:nvSpPr>
        <p:spPr>
          <a:xfrm>
            <a:off x="1016000" y="2019101"/>
            <a:ext cx="10324661" cy="2554545"/>
          </a:xfrm>
          <a:prstGeom prst="rect">
            <a:avLst/>
          </a:prstGeom>
          <a:noFill/>
          <a:ln w="9525">
            <a:noFill/>
          </a:ln>
        </p:spPr>
        <p:txBody>
          <a:bodyPr wrap="square">
            <a:spAutoFit/>
          </a:bodyPr>
          <a:lstStyle/>
          <a:p>
            <a:r>
              <a:rPr lang="fr-FR" sz="1600" dirty="0"/>
              <a:t>En </a:t>
            </a:r>
            <a:r>
              <a:rPr lang="fr-FR" sz="1600" dirty="0">
                <a:solidFill>
                  <a:srgbClr val="C00000"/>
                </a:solidFill>
              </a:rPr>
              <a:t>2020</a:t>
            </a:r>
            <a:r>
              <a:rPr lang="fr-FR" sz="1600" dirty="0"/>
              <a:t>, </a:t>
            </a:r>
            <a:r>
              <a:rPr lang="fr-FR" sz="1600" b="1" dirty="0" err="1"/>
              <a:t>OpenAI</a:t>
            </a:r>
            <a:r>
              <a:rPr lang="fr-FR" sz="1600" b="1" dirty="0"/>
              <a:t> </a:t>
            </a:r>
            <a:r>
              <a:rPr lang="fr-FR" sz="1600" dirty="0"/>
              <a:t>publie </a:t>
            </a:r>
            <a:r>
              <a:rPr lang="fr-FR" sz="1600" b="1" dirty="0"/>
              <a:t>GPT-3</a:t>
            </a:r>
            <a:r>
              <a:rPr lang="fr-FR" sz="1600" dirty="0"/>
              <a:t>, un modèle de </a:t>
            </a:r>
            <a:r>
              <a:rPr lang="fr-FR" sz="1600" dirty="0">
                <a:solidFill>
                  <a:schemeClr val="accent6">
                    <a:lumMod val="75000"/>
                  </a:schemeClr>
                </a:solidFill>
              </a:rPr>
              <a:t>175</a:t>
            </a:r>
            <a:r>
              <a:rPr lang="fr-FR" sz="1600" dirty="0"/>
              <a:t> milliards de paramètres capable de générer du texte très fluide. Cependant, sur les tâches de programmation, GPT-3 échoue complètement — son taux de réussite est proche de zéro pour cent.</a:t>
            </a:r>
          </a:p>
          <a:p>
            <a:r>
              <a:rPr lang="fr-FR" sz="1600" dirty="0"/>
              <a:t>Le constat est clair : un modèle généraliste, même très gros, n'est pas suffisant pour coder efficacement.</a:t>
            </a:r>
          </a:p>
          <a:p>
            <a:r>
              <a:rPr lang="fr-FR" sz="1600" b="1" dirty="0">
                <a:solidFill>
                  <a:srgbClr val="002060"/>
                </a:solidFill>
              </a:rPr>
              <a:t>L'objectif</a:t>
            </a:r>
            <a:r>
              <a:rPr lang="fr-FR" sz="1600" b="1" dirty="0"/>
              <a:t> </a:t>
            </a:r>
            <a:r>
              <a:rPr lang="fr-FR" sz="1600" dirty="0"/>
              <a:t>de Codex est de démontrer qu'un modèle plus petit, mais spécialisé sur le code, peut surpasser un géant généraliste.</a:t>
            </a:r>
          </a:p>
          <a:p>
            <a:r>
              <a:rPr lang="fr-FR" sz="1600" dirty="0"/>
              <a:t>Pour cela, </a:t>
            </a:r>
            <a:r>
              <a:rPr lang="fr-FR" sz="1600" b="1" dirty="0" err="1"/>
              <a:t>OpenAI</a:t>
            </a:r>
            <a:r>
              <a:rPr lang="fr-FR" sz="1600" b="1" dirty="0"/>
              <a:t> </a:t>
            </a:r>
            <a:r>
              <a:rPr lang="fr-FR" sz="1600" dirty="0"/>
              <a:t>prend </a:t>
            </a:r>
            <a:r>
              <a:rPr lang="fr-FR" sz="1600" b="1" dirty="0"/>
              <a:t>GPT-3</a:t>
            </a:r>
            <a:r>
              <a:rPr lang="fr-FR" sz="1600" dirty="0"/>
              <a:t> et le soumet à un fine-tuning sur </a:t>
            </a:r>
            <a:r>
              <a:rPr lang="fr-FR" sz="1600" dirty="0">
                <a:solidFill>
                  <a:schemeClr val="accent6">
                    <a:lumMod val="75000"/>
                  </a:schemeClr>
                </a:solidFill>
              </a:rPr>
              <a:t>159</a:t>
            </a:r>
            <a:r>
              <a:rPr lang="fr-FR" sz="1600" dirty="0"/>
              <a:t> </a:t>
            </a:r>
            <a:r>
              <a:rPr lang="fr-FR" sz="1600" dirty="0" err="1"/>
              <a:t>gigaoctets</a:t>
            </a:r>
            <a:r>
              <a:rPr lang="fr-FR" sz="1600" dirty="0"/>
              <a:t> de code Python provenant de </a:t>
            </a:r>
            <a:r>
              <a:rPr lang="fr-FR" sz="1600" dirty="0">
                <a:solidFill>
                  <a:schemeClr val="accent6">
                    <a:lumMod val="75000"/>
                  </a:schemeClr>
                </a:solidFill>
              </a:rPr>
              <a:t>54</a:t>
            </a:r>
            <a:r>
              <a:rPr lang="fr-FR" sz="1600" dirty="0"/>
              <a:t> millions de dépôts GitHub.</a:t>
            </a:r>
          </a:p>
          <a:p>
            <a:r>
              <a:rPr lang="fr-FR" sz="1600" dirty="0"/>
              <a:t>L'objectif final est de créer un assistant de programmation performant, qui deviendra </a:t>
            </a:r>
            <a:r>
              <a:rPr lang="fr-FR" sz="1600" b="1" dirty="0"/>
              <a:t>GitHub </a:t>
            </a:r>
            <a:r>
              <a:rPr lang="fr-FR" sz="1600" b="1" dirty="0" err="1"/>
              <a:t>Copilot</a:t>
            </a:r>
            <a:r>
              <a:rPr lang="fr-FR" sz="1600" dirty="0"/>
              <a:t>.</a:t>
            </a:r>
          </a:p>
          <a:p>
            <a:pPr eaLnBrk="1" hangingPunct="1"/>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6527465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7570514" cy="769441"/>
          </a:xfrm>
          <a:prstGeom prst="rect">
            <a:avLst/>
          </a:prstGeom>
          <a:noFill/>
          <a:ln w="9525">
            <a:noFill/>
          </a:ln>
        </p:spPr>
        <p:txBody>
          <a:bodyPr wrap="square">
            <a:spAutoFit/>
          </a:bodyPr>
          <a:lstStyle/>
          <a:p>
            <a:r>
              <a:rPr lang="fr-FR" sz="4400" b="1" dirty="0">
                <a:solidFill>
                  <a:schemeClr val="bg1">
                    <a:lumMod val="50000"/>
                  </a:schemeClr>
                </a:solidFill>
              </a:rPr>
              <a:t>CARACTÉRISTIQUES</a:t>
            </a:r>
          </a:p>
        </p:txBody>
      </p:sp>
      <p:sp>
        <p:nvSpPr>
          <p:cNvPr id="3" name="Rectangle 24"/>
          <p:cNvSpPr/>
          <p:nvPr/>
        </p:nvSpPr>
        <p:spPr>
          <a:xfrm>
            <a:off x="1016000" y="2019101"/>
            <a:ext cx="10934262" cy="3539430"/>
          </a:xfrm>
          <a:prstGeom prst="rect">
            <a:avLst/>
          </a:prstGeom>
          <a:noFill/>
          <a:ln w="9525">
            <a:noFill/>
          </a:ln>
        </p:spPr>
        <p:txBody>
          <a:bodyPr wrap="square">
            <a:spAutoFit/>
          </a:bodyPr>
          <a:lstStyle/>
          <a:p>
            <a:r>
              <a:rPr lang="fr-FR" sz="1600" b="1" dirty="0"/>
              <a:t>Codex</a:t>
            </a:r>
            <a:r>
              <a:rPr lang="fr-FR" sz="1600" dirty="0"/>
              <a:t> se distingue par plusieurs caractéristiques clés.</a:t>
            </a:r>
          </a:p>
          <a:p>
            <a:endParaRPr lang="fr-FR" sz="1600" dirty="0"/>
          </a:p>
          <a:p>
            <a:r>
              <a:rPr lang="fr-FR" sz="1600" b="1" dirty="0">
                <a:solidFill>
                  <a:srgbClr val="C00000"/>
                </a:solidFill>
              </a:rPr>
              <a:t>Premièrement</a:t>
            </a:r>
            <a:r>
              <a:rPr lang="fr-FR" sz="1600" dirty="0"/>
              <a:t>, il repose sur un fine-tuning spécialisé de GPT-3 sur 1</a:t>
            </a:r>
            <a:r>
              <a:rPr lang="fr-FR" sz="1600" dirty="0">
                <a:solidFill>
                  <a:schemeClr val="accent6">
                    <a:lumMod val="50000"/>
                  </a:schemeClr>
                </a:solidFill>
              </a:rPr>
              <a:t>59</a:t>
            </a:r>
            <a:r>
              <a:rPr lang="fr-FR" sz="1600" dirty="0"/>
              <a:t> </a:t>
            </a:r>
            <a:r>
              <a:rPr lang="fr-FR" sz="1600" dirty="0" err="1"/>
              <a:t>gigaoctets</a:t>
            </a:r>
            <a:r>
              <a:rPr lang="fr-FR" sz="1600" dirty="0"/>
              <a:t> de code Python. C'est cette spécialisation qui fait sa force.</a:t>
            </a:r>
          </a:p>
          <a:p>
            <a:r>
              <a:rPr lang="fr-FR" sz="1600" b="1" dirty="0">
                <a:solidFill>
                  <a:srgbClr val="C00000"/>
                </a:solidFill>
              </a:rPr>
              <a:t>Deuxièmement, </a:t>
            </a:r>
            <a:r>
              <a:rPr lang="fr-FR" sz="1600" dirty="0"/>
              <a:t>sa tokenisation est adaptée à Python. Contrairement aux </a:t>
            </a:r>
            <a:r>
              <a:rPr lang="fr-FR" sz="1600" dirty="0" err="1"/>
              <a:t>tokenizers</a:t>
            </a:r>
            <a:r>
              <a:rPr lang="fr-FR" sz="1600" dirty="0"/>
              <a:t> standards qui découpent chaque espace individuellement, Codex traite quatre espaces d'indentation comme un seul </a:t>
            </a:r>
            <a:r>
              <a:rPr lang="fr-FR" sz="1600" dirty="0" err="1"/>
              <a:t>token</a:t>
            </a:r>
            <a:r>
              <a:rPr lang="fr-FR" sz="1600" dirty="0"/>
              <a:t>. Cela préserve la structure syntaxique du code Python.</a:t>
            </a:r>
          </a:p>
          <a:p>
            <a:r>
              <a:rPr lang="fr-FR" sz="1600" b="1" dirty="0">
                <a:solidFill>
                  <a:srgbClr val="C00000"/>
                </a:solidFill>
              </a:rPr>
              <a:t>Troisièmement</a:t>
            </a:r>
            <a:r>
              <a:rPr lang="fr-FR" sz="1600" dirty="0"/>
              <a:t>, sa fenêtre de contexte est de </a:t>
            </a:r>
            <a:r>
              <a:rPr lang="fr-FR" sz="1600" dirty="0">
                <a:solidFill>
                  <a:schemeClr val="accent6">
                    <a:lumMod val="50000"/>
                  </a:schemeClr>
                </a:solidFill>
              </a:rPr>
              <a:t>4 096 </a:t>
            </a:r>
            <a:r>
              <a:rPr lang="fr-FR" sz="1600" dirty="0" err="1"/>
              <a:t>tokens</a:t>
            </a:r>
            <a:r>
              <a:rPr lang="fr-FR" sz="1600" dirty="0"/>
              <a:t>, soit le double de celle de </a:t>
            </a:r>
            <a:r>
              <a:rPr lang="fr-FR" sz="1600" b="1" dirty="0"/>
              <a:t>GPT-3</a:t>
            </a:r>
            <a:r>
              <a:rPr lang="fr-FR" sz="1600" dirty="0"/>
              <a:t>. Cela lui permet de lire et générer des fonctions beaucoup plus longues.</a:t>
            </a:r>
          </a:p>
          <a:p>
            <a:r>
              <a:rPr lang="fr-FR" sz="1600" b="1" dirty="0">
                <a:solidFill>
                  <a:srgbClr val="C00000"/>
                </a:solidFill>
              </a:rPr>
              <a:t>Quatrièmement</a:t>
            </a:r>
            <a:r>
              <a:rPr lang="fr-FR" sz="1600" dirty="0"/>
              <a:t>, son évaluation est fonctionnelle. On n'évalue pas la ressemblance textuelle avec une référence, mais on exécute le code généré pour vérifier s'il passe les tests.</a:t>
            </a:r>
          </a:p>
          <a:p>
            <a:endParaRPr lang="fr-FR" sz="1600" dirty="0"/>
          </a:p>
          <a:p>
            <a:r>
              <a:rPr lang="fr-FR" sz="1600" dirty="0"/>
              <a:t>L'idée clé à retenir est que la taille seule ne suffit pas — </a:t>
            </a:r>
            <a:r>
              <a:rPr lang="fr-FR" sz="1600" b="1" dirty="0">
                <a:solidFill>
                  <a:srgbClr val="00B050"/>
                </a:solidFill>
              </a:rPr>
              <a:t>la spécialisation sur le code améliore fortement les performances.</a:t>
            </a:r>
          </a:p>
          <a:p>
            <a:pPr eaLnBrk="1" hangingPunct="1"/>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3341206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79500" y="346075"/>
            <a:ext cx="9840748" cy="2123658"/>
          </a:xfrm>
          <a:prstGeom prst="rect">
            <a:avLst/>
          </a:prstGeom>
          <a:noFill/>
          <a:ln w="9525">
            <a:noFill/>
          </a:ln>
        </p:spPr>
        <p:txBody>
          <a:bodyPr wrap="square">
            <a:spAutoFit/>
          </a:bodyPr>
          <a:lstStyle/>
          <a:p>
            <a:r>
              <a:rPr lang="fr-FR" sz="4400" b="1" dirty="0">
                <a:solidFill>
                  <a:schemeClr val="bg1">
                    <a:lumMod val="50000"/>
                  </a:schemeClr>
                </a:solidFill>
              </a:rPr>
              <a:t> ARCHITECTURE TECHNIQUE (DECODER-ONLY)</a:t>
            </a:r>
          </a:p>
          <a:p>
            <a:endParaRPr lang="fr-FR" sz="4400" b="1" dirty="0">
              <a:solidFill>
                <a:schemeClr val="bg1">
                  <a:lumMod val="50000"/>
                </a:schemeClr>
              </a:solidFill>
            </a:endParaRPr>
          </a:p>
        </p:txBody>
      </p:sp>
      <p:sp>
        <p:nvSpPr>
          <p:cNvPr id="3" name="Rectangle 24"/>
          <p:cNvSpPr/>
          <p:nvPr/>
        </p:nvSpPr>
        <p:spPr>
          <a:xfrm>
            <a:off x="1016000" y="2019101"/>
            <a:ext cx="10934262" cy="2308324"/>
          </a:xfrm>
          <a:prstGeom prst="rect">
            <a:avLst/>
          </a:prstGeom>
          <a:noFill/>
          <a:ln w="9525">
            <a:noFill/>
          </a:ln>
        </p:spPr>
        <p:txBody>
          <a:bodyPr wrap="square">
            <a:spAutoFit/>
          </a:bodyPr>
          <a:lstStyle/>
          <a:p>
            <a:r>
              <a:rPr lang="fr-FR" sz="1600" b="1" dirty="0">
                <a:solidFill>
                  <a:srgbClr val="C00000"/>
                </a:solidFill>
              </a:rPr>
              <a:t>Codex</a:t>
            </a:r>
            <a:r>
              <a:rPr lang="fr-FR" sz="1600" dirty="0"/>
              <a:t> utilise une architecture de type </a:t>
            </a:r>
            <a:r>
              <a:rPr lang="fr-FR" sz="1600" dirty="0">
                <a:solidFill>
                  <a:schemeClr val="accent1">
                    <a:lumMod val="75000"/>
                  </a:schemeClr>
                </a:solidFill>
              </a:rPr>
              <a:t>décodeur seul</a:t>
            </a:r>
            <a:r>
              <a:rPr lang="fr-FR" sz="1600" dirty="0"/>
              <a:t>, ce qui signifie qu'il n'a pas d'encodeur séparé.</a:t>
            </a:r>
          </a:p>
          <a:p>
            <a:r>
              <a:rPr lang="fr-FR" sz="1600" dirty="0"/>
              <a:t>Le modèle contient </a:t>
            </a:r>
            <a:r>
              <a:rPr lang="fr-FR" sz="1600" dirty="0">
                <a:solidFill>
                  <a:srgbClr val="C00000"/>
                </a:solidFill>
              </a:rPr>
              <a:t>12</a:t>
            </a:r>
            <a:r>
              <a:rPr lang="fr-FR" sz="1600" dirty="0"/>
              <a:t> couches Transformer empilées. Chaque couche possède </a:t>
            </a:r>
            <a:r>
              <a:rPr lang="fr-FR" sz="1600" dirty="0">
                <a:solidFill>
                  <a:srgbClr val="C00000"/>
                </a:solidFill>
              </a:rPr>
              <a:t>12 </a:t>
            </a:r>
            <a:r>
              <a:rPr lang="fr-FR" sz="1600" dirty="0"/>
              <a:t>têtes d'attention. La dimension d'</a:t>
            </a:r>
            <a:r>
              <a:rPr lang="fr-FR" sz="1600" dirty="0" err="1"/>
              <a:t>embedding</a:t>
            </a:r>
            <a:r>
              <a:rPr lang="fr-FR" sz="1600" dirty="0"/>
              <a:t>, notée </a:t>
            </a:r>
            <a:r>
              <a:rPr lang="fr-FR" sz="1600" dirty="0" err="1"/>
              <a:t>d_model</a:t>
            </a:r>
            <a:r>
              <a:rPr lang="fr-FR" sz="1600" dirty="0"/>
              <a:t>, est </a:t>
            </a:r>
            <a:r>
              <a:rPr lang="fr-FR" sz="1600" dirty="0">
                <a:solidFill>
                  <a:schemeClr val="accent6">
                    <a:lumMod val="75000"/>
                  </a:schemeClr>
                </a:solidFill>
              </a:rPr>
              <a:t>de 12 28</a:t>
            </a:r>
            <a:r>
              <a:rPr lang="fr-FR" sz="1600" dirty="0"/>
              <a:t>8.</a:t>
            </a:r>
          </a:p>
          <a:p>
            <a:r>
              <a:rPr lang="fr-FR" sz="1600" dirty="0"/>
              <a:t>La fenêtre de contexte est de </a:t>
            </a:r>
            <a:r>
              <a:rPr lang="fr-FR" sz="1600" dirty="0">
                <a:solidFill>
                  <a:schemeClr val="accent6">
                    <a:lumMod val="75000"/>
                  </a:schemeClr>
                </a:solidFill>
              </a:rPr>
              <a:t>4 096 </a:t>
            </a:r>
            <a:r>
              <a:rPr lang="fr-FR" sz="1600" dirty="0" err="1"/>
              <a:t>tokens</a:t>
            </a:r>
            <a:r>
              <a:rPr lang="fr-FR" sz="1600" dirty="0"/>
              <a:t>.</a:t>
            </a:r>
          </a:p>
          <a:p>
            <a:r>
              <a:rPr lang="fr-FR" sz="1600" dirty="0"/>
              <a:t>L'attention utilisée est causale, c'est-à-dire masquée. Chaque </a:t>
            </a:r>
            <a:r>
              <a:rPr lang="fr-FR" sz="1600" dirty="0" err="1"/>
              <a:t>token</a:t>
            </a:r>
            <a:r>
              <a:rPr lang="fr-FR" sz="1600" dirty="0"/>
              <a:t> ne peut regarder que les </a:t>
            </a:r>
            <a:r>
              <a:rPr lang="fr-FR" sz="1600" dirty="0" err="1"/>
              <a:t>tokens</a:t>
            </a:r>
            <a:r>
              <a:rPr lang="fr-FR" sz="1600" dirty="0"/>
              <a:t> qui le précèdent, jamais ceux qui le suivent.</a:t>
            </a:r>
          </a:p>
          <a:p>
            <a:r>
              <a:rPr lang="fr-FR" sz="1600" b="1" dirty="0">
                <a:solidFill>
                  <a:srgbClr val="C00000"/>
                </a:solidFill>
              </a:rPr>
              <a:t>Pourquoi un décodeur seul ? </a:t>
            </a:r>
            <a:r>
              <a:rPr lang="fr-FR" sz="1600" dirty="0"/>
              <a:t>Parce que le prompt est simplement placé en début de séquence. L'attention causale permet au modèle de lire l'intégralité du prompt avant de commencer à générer la réponse. Un encodeur séparé n'est donc pas nécessaire.</a:t>
            </a:r>
          </a:p>
          <a:p>
            <a:pPr eaLnBrk="1" hangingPunct="1"/>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25489887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  ATTENTION CAUSALE</a:t>
            </a:r>
          </a:p>
          <a:p>
            <a:endParaRPr lang="fr-FR" sz="4400" b="1" dirty="0">
              <a:solidFill>
                <a:schemeClr val="bg1">
                  <a:lumMod val="50000"/>
                </a:schemeClr>
              </a:solidFill>
            </a:endParaRPr>
          </a:p>
        </p:txBody>
      </p:sp>
      <p:sp>
        <p:nvSpPr>
          <p:cNvPr id="3" name="Rectangle 24"/>
          <p:cNvSpPr/>
          <p:nvPr/>
        </p:nvSpPr>
        <p:spPr>
          <a:xfrm>
            <a:off x="693683" y="2019101"/>
            <a:ext cx="11256579" cy="3046988"/>
          </a:xfrm>
          <a:prstGeom prst="rect">
            <a:avLst/>
          </a:prstGeom>
          <a:noFill/>
          <a:ln w="9525">
            <a:noFill/>
          </a:ln>
        </p:spPr>
        <p:txBody>
          <a:bodyPr wrap="square">
            <a:spAutoFit/>
          </a:bodyPr>
          <a:lstStyle/>
          <a:p>
            <a:r>
              <a:rPr lang="sv-SE" sz="1600" b="1" dirty="0">
                <a:solidFill>
                  <a:srgbClr val="C00000"/>
                </a:solidFill>
              </a:rPr>
              <a:t>Attention(Q, K, V) = softmax( (Q·Kᵀ + M) / √d_k ) · V</a:t>
            </a:r>
          </a:p>
          <a:p>
            <a:endParaRPr lang="sv-SE" sz="1600" b="1" dirty="0">
              <a:solidFill>
                <a:srgbClr val="C00000"/>
              </a:solidFill>
            </a:endParaRPr>
          </a:p>
          <a:p>
            <a:endParaRPr lang="sv-SE" sz="1600" b="1" dirty="0">
              <a:solidFill>
                <a:srgbClr val="C00000"/>
              </a:solidFill>
            </a:endParaRPr>
          </a:p>
          <a:p>
            <a:r>
              <a:rPr lang="fr-FR" sz="1600" dirty="0">
                <a:solidFill>
                  <a:schemeClr val="accent6">
                    <a:lumMod val="75000"/>
                  </a:schemeClr>
                </a:solidFill>
              </a:rPr>
              <a:t>Q </a:t>
            </a:r>
            <a:r>
              <a:rPr lang="fr-FR" sz="1600" dirty="0"/>
              <a:t>représente la requête — ce que le </a:t>
            </a:r>
            <a:r>
              <a:rPr lang="fr-FR" sz="1600" dirty="0" err="1"/>
              <a:t>token</a:t>
            </a:r>
            <a:r>
              <a:rPr lang="fr-FR" sz="1600" dirty="0"/>
              <a:t> cherche.</a:t>
            </a:r>
            <a:r>
              <a:rPr lang="fr-FR" sz="1600" dirty="0">
                <a:solidFill>
                  <a:schemeClr val="accent6">
                    <a:lumMod val="75000"/>
                  </a:schemeClr>
                </a:solidFill>
              </a:rPr>
              <a:t> K </a:t>
            </a:r>
            <a:r>
              <a:rPr lang="fr-FR" sz="1600" dirty="0"/>
              <a:t>représente la clé — ce que chaque </a:t>
            </a:r>
            <a:r>
              <a:rPr lang="fr-FR" sz="1600" dirty="0" err="1"/>
              <a:t>token</a:t>
            </a:r>
            <a:r>
              <a:rPr lang="fr-FR" sz="1600" dirty="0"/>
              <a:t> offre aux autres. </a:t>
            </a:r>
            <a:r>
              <a:rPr lang="fr-FR" sz="1600" dirty="0">
                <a:solidFill>
                  <a:schemeClr val="accent6">
                    <a:lumMod val="75000"/>
                  </a:schemeClr>
                </a:solidFill>
              </a:rPr>
              <a:t>V</a:t>
            </a:r>
            <a:r>
              <a:rPr lang="fr-FR" sz="1600" dirty="0"/>
              <a:t> représente la valeur — l'information réelle à transmettre.</a:t>
            </a:r>
          </a:p>
          <a:p>
            <a:r>
              <a:rPr lang="fr-FR" sz="1600" dirty="0">
                <a:solidFill>
                  <a:schemeClr val="accent6">
                    <a:lumMod val="75000"/>
                  </a:schemeClr>
                </a:solidFill>
              </a:rPr>
              <a:t>M </a:t>
            </a:r>
            <a:r>
              <a:rPr lang="fr-FR" sz="1600" dirty="0"/>
              <a:t>est le masque causal. C'est une matrice triangulaire supérieure remplie de moins l'infini. Ce masque est ajouté aux scores avant le </a:t>
            </a:r>
            <a:r>
              <a:rPr lang="fr-FR" sz="1600" dirty="0" err="1"/>
              <a:t>softmax</a:t>
            </a:r>
            <a:r>
              <a:rPr lang="fr-FR" sz="1600" dirty="0"/>
              <a:t>.</a:t>
            </a:r>
          </a:p>
          <a:p>
            <a:r>
              <a:rPr lang="fr-FR" sz="1600" dirty="0"/>
              <a:t>Racine de </a:t>
            </a:r>
            <a:r>
              <a:rPr lang="fr-FR" sz="1600" dirty="0" err="1">
                <a:solidFill>
                  <a:schemeClr val="accent6">
                    <a:lumMod val="75000"/>
                  </a:schemeClr>
                </a:solidFill>
              </a:rPr>
              <a:t>d_k</a:t>
            </a:r>
            <a:r>
              <a:rPr lang="fr-FR" sz="1600" dirty="0">
                <a:solidFill>
                  <a:schemeClr val="accent6">
                    <a:lumMod val="75000"/>
                  </a:schemeClr>
                </a:solidFill>
              </a:rPr>
              <a:t> </a:t>
            </a:r>
            <a:r>
              <a:rPr lang="fr-FR" sz="1600" dirty="0"/>
              <a:t>est la normalisation. </a:t>
            </a:r>
          </a:p>
          <a:p>
            <a:endParaRPr lang="fr-FR" sz="1600" dirty="0"/>
          </a:p>
          <a:p>
            <a:r>
              <a:rPr lang="fr-FR" sz="1600" b="1" dirty="0"/>
              <a:t>Le principe est simple : </a:t>
            </a:r>
            <a:r>
              <a:rPr lang="fr-FR" sz="1600" dirty="0"/>
              <a:t>le masque M bloque l'accès aux </a:t>
            </a:r>
            <a:r>
              <a:rPr lang="fr-FR" sz="1600" dirty="0" err="1"/>
              <a:t>tokens</a:t>
            </a:r>
            <a:r>
              <a:rPr lang="fr-FR" sz="1600" dirty="0"/>
              <a:t> futurs. Un </a:t>
            </a:r>
            <a:r>
              <a:rPr lang="fr-FR" sz="1600" dirty="0" err="1"/>
              <a:t>token</a:t>
            </a:r>
            <a:r>
              <a:rPr lang="fr-FR" sz="1600" dirty="0"/>
              <a:t> à la position i ne peut voir que les </a:t>
            </a:r>
            <a:r>
              <a:rPr lang="fr-FR" sz="1600" dirty="0" err="1"/>
              <a:t>tokens</a:t>
            </a:r>
            <a:r>
              <a:rPr lang="fr-FR" sz="1600" dirty="0"/>
              <a:t> de la position 1 à i-1. Cela permet une génération </a:t>
            </a:r>
            <a:r>
              <a:rPr lang="fr-FR" sz="1600" dirty="0" err="1"/>
              <a:t>auto-régressive</a:t>
            </a:r>
            <a:r>
              <a:rPr lang="fr-FR" sz="1600" dirty="0"/>
              <a:t> de gauche à droite, sans jamais tricher en regardant le futur.</a:t>
            </a:r>
          </a:p>
          <a:p>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9462660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TOKENISATION BPE</a:t>
            </a:r>
          </a:p>
          <a:p>
            <a:endParaRPr lang="fr-FR" sz="4400" b="1" dirty="0">
              <a:solidFill>
                <a:schemeClr val="bg1">
                  <a:lumMod val="50000"/>
                </a:schemeClr>
              </a:solidFill>
            </a:endParaRPr>
          </a:p>
        </p:txBody>
      </p:sp>
      <p:sp>
        <p:nvSpPr>
          <p:cNvPr id="3" name="Rectangle 24"/>
          <p:cNvSpPr/>
          <p:nvPr/>
        </p:nvSpPr>
        <p:spPr>
          <a:xfrm>
            <a:off x="693683" y="2019101"/>
            <a:ext cx="11256579" cy="2554545"/>
          </a:xfrm>
          <a:prstGeom prst="rect">
            <a:avLst/>
          </a:prstGeom>
          <a:noFill/>
          <a:ln w="9525">
            <a:noFill/>
          </a:ln>
        </p:spPr>
        <p:txBody>
          <a:bodyPr wrap="square">
            <a:spAutoFit/>
          </a:bodyPr>
          <a:lstStyle/>
          <a:p>
            <a:r>
              <a:rPr lang="fr-FR" sz="1600" b="1" dirty="0"/>
              <a:t>Le problème </a:t>
            </a:r>
            <a:r>
              <a:rPr lang="fr-FR" sz="1600" dirty="0"/>
              <a:t>est le suivant : en Python, l'indentation n'est pas cosmétique. C'est une règle syntaxique obligatoire</a:t>
            </a:r>
            <a:r>
              <a:rPr lang="fr-FR" sz="1600" b="1" dirty="0">
                <a:solidFill>
                  <a:srgbClr val="C00000"/>
                </a:solidFill>
              </a:rPr>
              <a:t>. Un code mal indenté ne s'exécute pas</a:t>
            </a:r>
            <a:r>
              <a:rPr lang="fr-FR" sz="1600" dirty="0"/>
              <a:t>.</a:t>
            </a:r>
          </a:p>
          <a:p>
            <a:endParaRPr lang="fr-FR" sz="1600" dirty="0"/>
          </a:p>
          <a:p>
            <a:r>
              <a:rPr lang="fr-FR" sz="1600" dirty="0"/>
              <a:t>Un </a:t>
            </a:r>
            <a:r>
              <a:rPr lang="fr-FR" sz="1600" dirty="0" err="1"/>
              <a:t>tokenizer</a:t>
            </a:r>
            <a:r>
              <a:rPr lang="fr-FR" sz="1600" dirty="0"/>
              <a:t> standard découperait quatre espaces en quatre </a:t>
            </a:r>
            <a:r>
              <a:rPr lang="fr-FR" sz="1600" dirty="0" err="1"/>
              <a:t>tokens</a:t>
            </a:r>
            <a:r>
              <a:rPr lang="fr-FR" sz="1600" dirty="0"/>
              <a:t> séparés. Le modèle perdrait alors toute notion de structure de blocs.</a:t>
            </a:r>
          </a:p>
          <a:p>
            <a:endParaRPr lang="fr-FR" sz="1600" dirty="0"/>
          </a:p>
          <a:p>
            <a:r>
              <a:rPr lang="fr-FR" sz="1600" b="1" dirty="0"/>
              <a:t>La solution </a:t>
            </a:r>
            <a:r>
              <a:rPr lang="fr-FR" sz="1600" dirty="0"/>
              <a:t>apportée par </a:t>
            </a:r>
            <a:r>
              <a:rPr lang="fr-FR" sz="1600" dirty="0" err="1"/>
              <a:t>OpenAI</a:t>
            </a:r>
            <a:r>
              <a:rPr lang="fr-FR" sz="1600" dirty="0"/>
              <a:t> est une tokenisation adaptée où quatre espaces consécutifs comptent pour un seul </a:t>
            </a:r>
            <a:r>
              <a:rPr lang="fr-FR" sz="1600" dirty="0" err="1"/>
              <a:t>token</a:t>
            </a:r>
            <a:r>
              <a:rPr lang="fr-FR" sz="1600" dirty="0"/>
              <a:t> spécial.</a:t>
            </a:r>
          </a:p>
          <a:p>
            <a:r>
              <a:rPr lang="fr-FR" sz="1600" dirty="0"/>
              <a:t>L'algorithme utilisé est le </a:t>
            </a:r>
            <a:r>
              <a:rPr lang="fr-FR" sz="1600" b="1" dirty="0">
                <a:solidFill>
                  <a:srgbClr val="C00000"/>
                </a:solidFill>
              </a:rPr>
              <a:t>BPE</a:t>
            </a:r>
            <a:r>
              <a:rPr lang="fr-FR" sz="1600" dirty="0"/>
              <a:t>, Byte Pair </a:t>
            </a:r>
            <a:r>
              <a:rPr lang="fr-FR" sz="1600" dirty="0" err="1"/>
              <a:t>Encoding</a:t>
            </a:r>
            <a:r>
              <a:rPr lang="fr-FR" sz="1600" dirty="0"/>
              <a:t>. Il consiste à découper le texte en sous-mots fréquents. Le vocabulaire final contient environ </a:t>
            </a:r>
            <a:r>
              <a:rPr lang="fr-FR" sz="1600" dirty="0">
                <a:solidFill>
                  <a:schemeClr val="accent6">
                    <a:lumMod val="75000"/>
                  </a:schemeClr>
                </a:solidFill>
              </a:rPr>
              <a:t>50 000 </a:t>
            </a:r>
            <a:r>
              <a:rPr lang="fr-FR" sz="1600" dirty="0" err="1"/>
              <a:t>tokens</a:t>
            </a:r>
            <a:r>
              <a:rPr lang="fr-FR" sz="1600" dirty="0"/>
              <a:t>.</a:t>
            </a:r>
          </a:p>
          <a:p>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7316733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PIPELINE AUTO-RÉGRESSIF</a:t>
            </a:r>
          </a:p>
          <a:p>
            <a:endParaRPr lang="fr-FR" sz="4400" b="1" dirty="0">
              <a:solidFill>
                <a:schemeClr val="bg1">
                  <a:lumMod val="50000"/>
                </a:schemeClr>
              </a:solidFill>
            </a:endParaRPr>
          </a:p>
        </p:txBody>
      </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pic>
        <p:nvPicPr>
          <p:cNvPr id="11" name="Image 10">
            <a:extLst>
              <a:ext uri="{FF2B5EF4-FFF2-40B4-BE49-F238E27FC236}">
                <a16:creationId xmlns:a16="http://schemas.microsoft.com/office/drawing/2014/main" id="{E3474714-6A7A-47D8-AD52-26D08F8ACE4A}"/>
              </a:ext>
            </a:extLst>
          </p:cNvPr>
          <p:cNvPicPr>
            <a:picLocks noChangeAspect="1"/>
          </p:cNvPicPr>
          <p:nvPr/>
        </p:nvPicPr>
        <p:blipFill>
          <a:blip r:embed="rId2"/>
          <a:stretch>
            <a:fillRect/>
          </a:stretch>
        </p:blipFill>
        <p:spPr>
          <a:xfrm>
            <a:off x="1977986" y="1176878"/>
            <a:ext cx="9840748" cy="5472746"/>
          </a:xfrm>
          <a:prstGeom prst="rect">
            <a:avLst/>
          </a:prstGeom>
        </p:spPr>
      </p:pic>
    </p:spTree>
    <p:extLst>
      <p:ext uri="{BB962C8B-B14F-4D97-AF65-F5344CB8AC3E}">
        <p14:creationId xmlns:p14="http://schemas.microsoft.com/office/powerpoint/2010/main" val="172341073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 grpId="0"/>
      <p:bldP spid="18" grpId="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DATASET D'ENTRAÎNEMENT</a:t>
            </a:r>
          </a:p>
          <a:p>
            <a:endParaRPr lang="fr-FR" sz="4400" b="1" dirty="0">
              <a:solidFill>
                <a:schemeClr val="bg1">
                  <a:lumMod val="50000"/>
                </a:schemeClr>
              </a:solidFill>
            </a:endParaRPr>
          </a:p>
        </p:txBody>
      </p:sp>
      <p:sp>
        <p:nvSpPr>
          <p:cNvPr id="3" name="Rectangle 24"/>
          <p:cNvSpPr/>
          <p:nvPr/>
        </p:nvSpPr>
        <p:spPr>
          <a:xfrm>
            <a:off x="693683" y="2019101"/>
            <a:ext cx="11256579" cy="2308324"/>
          </a:xfrm>
          <a:prstGeom prst="rect">
            <a:avLst/>
          </a:prstGeom>
          <a:noFill/>
          <a:ln w="9525">
            <a:noFill/>
          </a:ln>
        </p:spPr>
        <p:txBody>
          <a:bodyPr wrap="square">
            <a:spAutoFit/>
          </a:bodyPr>
          <a:lstStyle/>
          <a:p>
            <a:r>
              <a:rPr lang="fr-FR" sz="1600" dirty="0"/>
              <a:t>Les données d'entraînement de Codex proviennent de</a:t>
            </a:r>
            <a:r>
              <a:rPr lang="fr-FR" sz="1600" b="1" dirty="0"/>
              <a:t> GitHub</a:t>
            </a:r>
            <a:r>
              <a:rPr lang="fr-FR" sz="1600" dirty="0"/>
              <a:t>. </a:t>
            </a:r>
            <a:r>
              <a:rPr lang="fr-FR" sz="1600" b="1" dirty="0" err="1">
                <a:solidFill>
                  <a:srgbClr val="C00000"/>
                </a:solidFill>
              </a:rPr>
              <a:t>OpenAI</a:t>
            </a:r>
            <a:r>
              <a:rPr lang="fr-FR" sz="1600" b="1" dirty="0">
                <a:solidFill>
                  <a:srgbClr val="C00000"/>
                </a:solidFill>
              </a:rPr>
              <a:t> </a:t>
            </a:r>
            <a:r>
              <a:rPr lang="fr-FR" sz="1600" dirty="0"/>
              <a:t>a aspiré</a:t>
            </a:r>
            <a:r>
              <a:rPr lang="fr-FR" sz="1600" dirty="0">
                <a:solidFill>
                  <a:schemeClr val="accent6">
                    <a:lumMod val="75000"/>
                  </a:schemeClr>
                </a:solidFill>
              </a:rPr>
              <a:t> 54 </a:t>
            </a:r>
            <a:r>
              <a:rPr lang="fr-FR" sz="1600" dirty="0"/>
              <a:t>millions de dépôts publics.</a:t>
            </a:r>
          </a:p>
          <a:p>
            <a:endParaRPr lang="fr-FR" sz="1600" dirty="0"/>
          </a:p>
          <a:p>
            <a:r>
              <a:rPr lang="fr-FR" sz="1600" dirty="0"/>
              <a:t>Le volume total est de </a:t>
            </a:r>
            <a:r>
              <a:rPr lang="fr-FR" sz="1600" dirty="0">
                <a:solidFill>
                  <a:schemeClr val="accent6">
                    <a:lumMod val="75000"/>
                  </a:schemeClr>
                </a:solidFill>
              </a:rPr>
              <a:t>159</a:t>
            </a:r>
            <a:r>
              <a:rPr lang="fr-FR" sz="1600" dirty="0"/>
              <a:t> </a:t>
            </a:r>
            <a:r>
              <a:rPr lang="fr-FR" sz="1600" dirty="0" err="1"/>
              <a:t>gigaoctets</a:t>
            </a:r>
            <a:r>
              <a:rPr lang="fr-FR" sz="1600" dirty="0"/>
              <a:t> de code Python.</a:t>
            </a:r>
          </a:p>
          <a:p>
            <a:endParaRPr lang="fr-FR" sz="1600" dirty="0"/>
          </a:p>
          <a:p>
            <a:r>
              <a:rPr lang="fr-FR" sz="1600" dirty="0"/>
              <a:t>Avant l'entraînement, un filtrage rigoureux est appliqué. On supprime le code auto-généré par des outils, car il n'est pas représentatif. On supprime les lignes de plus de </a:t>
            </a:r>
            <a:r>
              <a:rPr lang="fr-FR" sz="1600" dirty="0">
                <a:solidFill>
                  <a:schemeClr val="accent6">
                    <a:lumMod val="75000"/>
                  </a:schemeClr>
                </a:solidFill>
              </a:rPr>
              <a:t>200</a:t>
            </a:r>
            <a:r>
              <a:rPr lang="fr-FR" sz="1600" dirty="0"/>
              <a:t> caractères. On filtre par </a:t>
            </a:r>
            <a:r>
              <a:rPr lang="fr-FR" sz="1600" dirty="0">
                <a:solidFill>
                  <a:srgbClr val="C00000"/>
                </a:solidFill>
              </a:rPr>
              <a:t>entropie informationnelle </a:t>
            </a:r>
            <a:r>
              <a:rPr lang="fr-FR" sz="1600" dirty="0"/>
              <a:t>pour ne garder que le code le plus riche, environ les </a:t>
            </a:r>
            <a:r>
              <a:rPr lang="fr-FR" sz="1600" dirty="0">
                <a:solidFill>
                  <a:schemeClr val="accent6">
                    <a:lumMod val="75000"/>
                  </a:schemeClr>
                </a:solidFill>
              </a:rPr>
              <a:t>15</a:t>
            </a:r>
            <a:r>
              <a:rPr lang="fr-FR" sz="1600" dirty="0"/>
              <a:t> pour cent du top. Enfin, on effectue une décontamination pour s'assurer que les problèmes de test ne sont pas dans les données d'entraînement.</a:t>
            </a:r>
          </a:p>
          <a:p>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3" y="2984500"/>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70131718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INFRASTRUCTURE D'ENTRAÎNEMENT</a:t>
            </a:r>
          </a:p>
          <a:p>
            <a:endParaRPr lang="fr-FR" sz="4400" b="1" dirty="0">
              <a:solidFill>
                <a:schemeClr val="bg1">
                  <a:lumMod val="50000"/>
                </a:schemeClr>
              </a:solidFill>
            </a:endParaRPr>
          </a:p>
        </p:txBody>
      </p:sp>
      <p:sp>
        <p:nvSpPr>
          <p:cNvPr id="3" name="Rectangle 24"/>
          <p:cNvSpPr/>
          <p:nvPr/>
        </p:nvSpPr>
        <p:spPr>
          <a:xfrm>
            <a:off x="693683" y="2019101"/>
            <a:ext cx="11256579" cy="3293209"/>
          </a:xfrm>
          <a:prstGeom prst="rect">
            <a:avLst/>
          </a:prstGeom>
          <a:noFill/>
          <a:ln w="9525">
            <a:noFill/>
          </a:ln>
        </p:spPr>
        <p:txBody>
          <a:bodyPr wrap="square">
            <a:spAutoFit/>
          </a:bodyPr>
          <a:lstStyle/>
          <a:p>
            <a:r>
              <a:rPr lang="fr-FR" sz="1600" dirty="0"/>
              <a:t>Entraîner </a:t>
            </a:r>
            <a:r>
              <a:rPr lang="fr-FR" sz="1600" b="1" dirty="0">
                <a:solidFill>
                  <a:srgbClr val="C00000"/>
                </a:solidFill>
              </a:rPr>
              <a:t>Codex </a:t>
            </a:r>
            <a:r>
              <a:rPr lang="fr-FR" sz="1600" dirty="0"/>
              <a:t>pose un problème majeur : </a:t>
            </a:r>
            <a:r>
              <a:rPr lang="fr-FR" sz="1600" dirty="0">
                <a:solidFill>
                  <a:schemeClr val="accent6">
                    <a:lumMod val="75000"/>
                  </a:schemeClr>
                </a:solidFill>
              </a:rPr>
              <a:t>12 </a:t>
            </a:r>
            <a:r>
              <a:rPr lang="fr-FR" sz="1600" dirty="0"/>
              <a:t>milliards de paramètres nécessitent plus de </a:t>
            </a:r>
            <a:r>
              <a:rPr lang="fr-FR" sz="1600" dirty="0">
                <a:solidFill>
                  <a:schemeClr val="accent6">
                    <a:lumMod val="75000"/>
                  </a:schemeClr>
                </a:solidFill>
              </a:rPr>
              <a:t>200</a:t>
            </a:r>
            <a:r>
              <a:rPr lang="fr-FR" sz="1600" dirty="0"/>
              <a:t> </a:t>
            </a:r>
            <a:r>
              <a:rPr lang="fr-FR" sz="1600" dirty="0" err="1"/>
              <a:t>gigaoctets</a:t>
            </a:r>
            <a:r>
              <a:rPr lang="fr-FR" sz="1600" dirty="0"/>
              <a:t> de mémoire. Un seul GPU ne peut pas contenir cela.</a:t>
            </a:r>
          </a:p>
          <a:p>
            <a:r>
              <a:rPr lang="fr-FR" sz="1600" dirty="0"/>
              <a:t>Pour résoudre ce </a:t>
            </a:r>
            <a:r>
              <a:rPr lang="fr-FR" sz="1600" b="1" dirty="0"/>
              <a:t>problème</a:t>
            </a:r>
            <a:r>
              <a:rPr lang="fr-FR" sz="1600" b="1" dirty="0">
                <a:solidFill>
                  <a:srgbClr val="C00000"/>
                </a:solidFill>
              </a:rPr>
              <a:t>, </a:t>
            </a:r>
            <a:r>
              <a:rPr lang="fr-FR" sz="1600" b="1" dirty="0" err="1">
                <a:solidFill>
                  <a:srgbClr val="C00000"/>
                </a:solidFill>
              </a:rPr>
              <a:t>OpenAI</a:t>
            </a:r>
            <a:r>
              <a:rPr lang="fr-FR" sz="1600" b="1" dirty="0">
                <a:solidFill>
                  <a:srgbClr val="C00000"/>
                </a:solidFill>
              </a:rPr>
              <a:t> </a:t>
            </a:r>
            <a:r>
              <a:rPr lang="fr-FR" sz="1600" dirty="0"/>
              <a:t>utilise plusieurs techniques de </a:t>
            </a:r>
            <a:r>
              <a:rPr lang="fr-FR" sz="1600" b="1" dirty="0">
                <a:solidFill>
                  <a:schemeClr val="accent1">
                    <a:lumMod val="75000"/>
                  </a:schemeClr>
                </a:solidFill>
              </a:rPr>
              <a:t>parallélisme</a:t>
            </a:r>
            <a:r>
              <a:rPr lang="fr-FR" sz="1600" dirty="0"/>
              <a:t>.</a:t>
            </a:r>
          </a:p>
          <a:p>
            <a:r>
              <a:rPr lang="fr-FR" sz="1600" dirty="0"/>
              <a:t>Le </a:t>
            </a:r>
            <a:r>
              <a:rPr lang="fr-FR" sz="1600" b="1" dirty="0">
                <a:solidFill>
                  <a:schemeClr val="accent1">
                    <a:lumMod val="75000"/>
                  </a:schemeClr>
                </a:solidFill>
              </a:rPr>
              <a:t>data </a:t>
            </a:r>
            <a:r>
              <a:rPr lang="fr-FR" sz="1600" b="1" dirty="0" err="1">
                <a:solidFill>
                  <a:schemeClr val="accent1">
                    <a:lumMod val="75000"/>
                  </a:schemeClr>
                </a:solidFill>
              </a:rPr>
              <a:t>parallelism</a:t>
            </a:r>
            <a:r>
              <a:rPr lang="fr-FR" sz="1600" b="1" dirty="0">
                <a:solidFill>
                  <a:schemeClr val="accent1">
                    <a:lumMod val="75000"/>
                  </a:schemeClr>
                </a:solidFill>
              </a:rPr>
              <a:t> </a:t>
            </a:r>
            <a:r>
              <a:rPr lang="fr-FR" sz="1600" dirty="0"/>
              <a:t>consiste à répartir le batch d'entraînement sur plusieurs </a:t>
            </a:r>
            <a:r>
              <a:rPr lang="fr-FR" sz="1600" dirty="0" err="1"/>
              <a:t>GPUs</a:t>
            </a:r>
            <a:r>
              <a:rPr lang="fr-FR" sz="1600" dirty="0"/>
              <a:t>. Chaque GPU traite une portion différente des données.</a:t>
            </a:r>
          </a:p>
          <a:p>
            <a:r>
              <a:rPr lang="fr-FR" sz="1600" dirty="0"/>
              <a:t>Le </a:t>
            </a:r>
            <a:r>
              <a:rPr lang="fr-FR" sz="1600" b="1" dirty="0">
                <a:solidFill>
                  <a:schemeClr val="accent1">
                    <a:lumMod val="75000"/>
                  </a:schemeClr>
                </a:solidFill>
              </a:rPr>
              <a:t>model </a:t>
            </a:r>
            <a:r>
              <a:rPr lang="fr-FR" sz="1600" b="1" dirty="0" err="1">
                <a:solidFill>
                  <a:schemeClr val="accent1">
                    <a:lumMod val="75000"/>
                  </a:schemeClr>
                </a:solidFill>
              </a:rPr>
              <a:t>parallelism</a:t>
            </a:r>
            <a:r>
              <a:rPr lang="fr-FR" sz="1600" b="1" dirty="0">
                <a:solidFill>
                  <a:schemeClr val="accent1">
                    <a:lumMod val="75000"/>
                  </a:schemeClr>
                </a:solidFill>
              </a:rPr>
              <a:t> </a:t>
            </a:r>
            <a:r>
              <a:rPr lang="fr-FR" sz="1600" dirty="0"/>
              <a:t>consiste à découper le modèle lui-même. Les couches 1 à 4 vont sur un GPU, les couches 5 à 8 sur un autre, et ainsi de suite.</a:t>
            </a:r>
          </a:p>
          <a:p>
            <a:r>
              <a:rPr lang="fr-FR" sz="1600" dirty="0"/>
              <a:t>Le </a:t>
            </a:r>
            <a:r>
              <a:rPr lang="fr-FR" sz="1600" b="1" dirty="0">
                <a:solidFill>
                  <a:schemeClr val="accent1">
                    <a:lumMod val="75000"/>
                  </a:schemeClr>
                </a:solidFill>
              </a:rPr>
              <a:t>pipeline </a:t>
            </a:r>
            <a:r>
              <a:rPr lang="fr-FR" sz="1600" b="1" dirty="0" err="1">
                <a:solidFill>
                  <a:schemeClr val="accent1">
                    <a:lumMod val="75000"/>
                  </a:schemeClr>
                </a:solidFill>
              </a:rPr>
              <a:t>parallelism</a:t>
            </a:r>
            <a:r>
              <a:rPr lang="fr-FR" sz="1600" dirty="0"/>
              <a:t> fait circuler des micro-</a:t>
            </a:r>
            <a:r>
              <a:rPr lang="fr-FR" sz="1600" dirty="0" err="1"/>
              <a:t>batches</a:t>
            </a:r>
            <a:r>
              <a:rPr lang="fr-FR" sz="1600" dirty="0"/>
              <a:t> en pipeline. Cela évite que les </a:t>
            </a:r>
            <a:r>
              <a:rPr lang="fr-FR" sz="1600" dirty="0" err="1"/>
              <a:t>GPUs</a:t>
            </a:r>
            <a:r>
              <a:rPr lang="fr-FR" sz="1600" dirty="0"/>
              <a:t> restent inactifs en attendant que les autres aient fini.</a:t>
            </a:r>
          </a:p>
          <a:p>
            <a:endParaRPr lang="fr-FR" sz="1600" dirty="0"/>
          </a:p>
          <a:p>
            <a:r>
              <a:rPr lang="fr-FR" sz="1600" dirty="0"/>
              <a:t>Enfin, la mixed </a:t>
            </a:r>
            <a:r>
              <a:rPr lang="fr-FR" sz="1600" dirty="0" err="1"/>
              <a:t>precision</a:t>
            </a:r>
            <a:r>
              <a:rPr lang="fr-FR" sz="1600" dirty="0"/>
              <a:t> ou</a:t>
            </a:r>
            <a:r>
              <a:rPr lang="fr-FR" sz="1600" dirty="0">
                <a:solidFill>
                  <a:schemeClr val="accent1">
                    <a:lumMod val="75000"/>
                  </a:schemeClr>
                </a:solidFill>
              </a:rPr>
              <a:t> FP16 </a:t>
            </a:r>
            <a:r>
              <a:rPr lang="fr-FR" sz="1600" dirty="0"/>
              <a:t>utilise des calculs en virgule flottante 16 bits au lieu de 32 bits. Cela divise la mémoire par deux et accélère les calculs d'un facteur 2 à 4.</a:t>
            </a:r>
          </a:p>
          <a:p>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2" y="2984499"/>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78578983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PARAMÈTRES D'ENTRAÎNEMENT</a:t>
            </a:r>
          </a:p>
          <a:p>
            <a:endParaRPr lang="fr-FR" sz="4400" b="1" dirty="0">
              <a:solidFill>
                <a:schemeClr val="bg1">
                  <a:lumMod val="50000"/>
                </a:schemeClr>
              </a:solidFill>
            </a:endParaRPr>
          </a:p>
        </p:txBody>
      </p:sp>
      <p:sp>
        <p:nvSpPr>
          <p:cNvPr id="3" name="Rectangle 24"/>
          <p:cNvSpPr/>
          <p:nvPr/>
        </p:nvSpPr>
        <p:spPr>
          <a:xfrm>
            <a:off x="672663" y="1429407"/>
            <a:ext cx="11277600" cy="4278094"/>
          </a:xfrm>
          <a:prstGeom prst="rect">
            <a:avLst/>
          </a:prstGeom>
          <a:noFill/>
          <a:ln w="9525">
            <a:noFill/>
          </a:ln>
        </p:spPr>
        <p:txBody>
          <a:bodyPr wrap="square">
            <a:spAutoFit/>
          </a:bodyPr>
          <a:lstStyle/>
          <a:p>
            <a:r>
              <a:rPr lang="fr-FR" sz="1600" dirty="0"/>
              <a:t>Codex ne part pas de zéro. Il hérite des poids de GPT-3 pré-entraîné. C'est le </a:t>
            </a:r>
            <a:r>
              <a:rPr lang="fr-FR" sz="1600" b="1" dirty="0" err="1"/>
              <a:t>transfer</a:t>
            </a:r>
            <a:r>
              <a:rPr lang="fr-FR" sz="1600" b="1" dirty="0"/>
              <a:t> </a:t>
            </a:r>
            <a:r>
              <a:rPr lang="fr-FR" sz="1600" b="1" dirty="0" err="1"/>
              <a:t>learning</a:t>
            </a:r>
            <a:r>
              <a:rPr lang="fr-FR" sz="1600" dirty="0"/>
              <a:t>.</a:t>
            </a:r>
          </a:p>
          <a:p>
            <a:endParaRPr lang="fr-FR" sz="1600" dirty="0"/>
          </a:p>
          <a:p>
            <a:r>
              <a:rPr lang="fr-FR" sz="1600" b="1" dirty="0"/>
              <a:t>Fonction de coût — Cross-</a:t>
            </a:r>
            <a:r>
              <a:rPr lang="fr-FR" sz="1600" b="1" dirty="0" err="1"/>
              <a:t>Entropy</a:t>
            </a:r>
            <a:r>
              <a:rPr lang="fr-FR" sz="1600" b="1" dirty="0"/>
              <a:t> </a:t>
            </a:r>
            <a:r>
              <a:rPr lang="fr-FR" sz="1600" b="1" dirty="0" err="1"/>
              <a:t>Loss</a:t>
            </a:r>
            <a:endParaRPr lang="fr-FR" sz="1600" dirty="0"/>
          </a:p>
          <a:p>
            <a:r>
              <a:rPr lang="fr-FR" sz="1600" b="1" dirty="0">
                <a:solidFill>
                  <a:srgbClr val="C00000"/>
                </a:solidFill>
              </a:rPr>
              <a:t>L = -(1/T) × Σ log P(tᵢ | t₁…tᵢ₋₁ ; θ)</a:t>
            </a:r>
          </a:p>
          <a:p>
            <a:r>
              <a:rPr lang="fr-FR" sz="1600" dirty="0"/>
              <a:t>L est la perte ou erreur du modèle. T est le nombre total de </a:t>
            </a:r>
            <a:r>
              <a:rPr lang="fr-FR" sz="1600" dirty="0" err="1"/>
              <a:t>tokens</a:t>
            </a:r>
            <a:r>
              <a:rPr lang="fr-FR" sz="1600" dirty="0"/>
              <a:t> dans la séquence. P est la probabilité que le modèle a attribuée au </a:t>
            </a:r>
            <a:r>
              <a:rPr lang="fr-FR" sz="1600" dirty="0" err="1"/>
              <a:t>token</a:t>
            </a:r>
            <a:r>
              <a:rPr lang="fr-FR" sz="1600" dirty="0"/>
              <a:t> correct à la position i, sachant tous les </a:t>
            </a:r>
            <a:r>
              <a:rPr lang="fr-FR" sz="1600" dirty="0" err="1"/>
              <a:t>tokens</a:t>
            </a:r>
            <a:r>
              <a:rPr lang="fr-FR" sz="1600" dirty="0"/>
              <a:t> précédents. θ représente l'ensemble des paramètres du modèle (les </a:t>
            </a:r>
            <a:r>
              <a:rPr lang="fr-FR" sz="1600" dirty="0">
                <a:solidFill>
                  <a:schemeClr val="accent6">
                    <a:lumMod val="75000"/>
                  </a:schemeClr>
                </a:solidFill>
              </a:rPr>
              <a:t>12</a:t>
            </a:r>
            <a:r>
              <a:rPr lang="fr-FR" sz="1600" dirty="0"/>
              <a:t> milliards de poids). La somme Σ porte sur tous les </a:t>
            </a:r>
            <a:r>
              <a:rPr lang="fr-FR" sz="1600" dirty="0" err="1"/>
              <a:t>tokens</a:t>
            </a:r>
            <a:r>
              <a:rPr lang="fr-FR" sz="1600" dirty="0"/>
              <a:t> de la séquence. </a:t>
            </a:r>
          </a:p>
          <a:p>
            <a:r>
              <a:rPr lang="fr-FR" sz="1600" b="1" dirty="0"/>
              <a:t>Optimiseur — </a:t>
            </a:r>
            <a:r>
              <a:rPr lang="fr-FR" sz="1600" b="1" dirty="0" err="1"/>
              <a:t>AdamW</a:t>
            </a:r>
            <a:endParaRPr lang="fr-FR" sz="1600" dirty="0"/>
          </a:p>
          <a:p>
            <a:r>
              <a:rPr lang="fr-FR" sz="1600" dirty="0" err="1"/>
              <a:t>AdamW</a:t>
            </a:r>
            <a:r>
              <a:rPr lang="fr-FR" sz="1600" dirty="0"/>
              <a:t> est une variante d'Adam où le </a:t>
            </a:r>
            <a:r>
              <a:rPr lang="fr-FR" sz="1600" dirty="0" err="1"/>
              <a:t>weight</a:t>
            </a:r>
            <a:r>
              <a:rPr lang="fr-FR" sz="1600" dirty="0"/>
              <a:t> </a:t>
            </a:r>
            <a:r>
              <a:rPr lang="fr-FR" sz="1600" dirty="0" err="1"/>
              <a:t>decay</a:t>
            </a:r>
            <a:r>
              <a:rPr lang="fr-FR" sz="1600" dirty="0"/>
              <a:t> (régularisation qui pénalise les poids trop grands) est appliqué séparément de la mise à jour adaptative. Les hyperparamètres sont : </a:t>
            </a:r>
            <a:r>
              <a:rPr lang="fr-FR" sz="1600" dirty="0">
                <a:solidFill>
                  <a:schemeClr val="accent6">
                    <a:lumMod val="75000"/>
                  </a:schemeClr>
                </a:solidFill>
              </a:rPr>
              <a:t>β₁ = 0,9 </a:t>
            </a:r>
            <a:r>
              <a:rPr lang="fr-FR" sz="1600" dirty="0"/>
              <a:t>qui contrôle le </a:t>
            </a:r>
            <a:r>
              <a:rPr lang="fr-FR" sz="1600" dirty="0" err="1"/>
              <a:t>momentum</a:t>
            </a:r>
            <a:r>
              <a:rPr lang="fr-FR" sz="1600" dirty="0"/>
              <a:t> (moyenne des gradients passés), </a:t>
            </a:r>
            <a:r>
              <a:rPr lang="fr-FR" sz="1600" dirty="0">
                <a:solidFill>
                  <a:schemeClr val="accent6">
                    <a:lumMod val="75000"/>
                  </a:schemeClr>
                </a:solidFill>
              </a:rPr>
              <a:t>β₂ = 0,95 </a:t>
            </a:r>
            <a:r>
              <a:rPr lang="fr-FR" sz="1600" dirty="0"/>
              <a:t>qui contrôle l'adaptation (moyenne des carrés des gradients), </a:t>
            </a:r>
            <a:r>
              <a:rPr lang="fr-FR" sz="1600" dirty="0">
                <a:solidFill>
                  <a:schemeClr val="accent6">
                    <a:lumMod val="75000"/>
                  </a:schemeClr>
                </a:solidFill>
              </a:rPr>
              <a:t>ε = 10⁻⁸ </a:t>
            </a:r>
            <a:r>
              <a:rPr lang="fr-FR" sz="1600" dirty="0"/>
              <a:t>qui est un petit nombre pour éviter la division par zéro, et </a:t>
            </a:r>
            <a:r>
              <a:rPr lang="fr-FR" sz="1600" dirty="0">
                <a:solidFill>
                  <a:schemeClr val="accent6">
                    <a:lumMod val="75000"/>
                  </a:schemeClr>
                </a:solidFill>
              </a:rPr>
              <a:t>λ = 0,1 </a:t>
            </a:r>
            <a:r>
              <a:rPr lang="fr-FR" sz="1600" dirty="0"/>
              <a:t>qui est le coefficient de </a:t>
            </a:r>
            <a:r>
              <a:rPr lang="fr-FR" sz="1600" dirty="0" err="1"/>
              <a:t>weight</a:t>
            </a:r>
            <a:r>
              <a:rPr lang="fr-FR" sz="1600" dirty="0"/>
              <a:t> </a:t>
            </a:r>
            <a:r>
              <a:rPr lang="fr-FR" sz="1600" dirty="0" err="1"/>
              <a:t>decay</a:t>
            </a:r>
            <a:r>
              <a:rPr lang="fr-FR" sz="1600" dirty="0"/>
              <a:t>.</a:t>
            </a:r>
          </a:p>
          <a:p>
            <a:r>
              <a:rPr lang="fr-FR" sz="1600" b="1" dirty="0" err="1"/>
              <a:t>Scheduler</a:t>
            </a:r>
            <a:r>
              <a:rPr lang="fr-FR" sz="1600" b="1" dirty="0"/>
              <a:t> — </a:t>
            </a:r>
            <a:r>
              <a:rPr lang="fr-FR" sz="1600" b="1" dirty="0" err="1"/>
              <a:t>Cosine</a:t>
            </a:r>
            <a:r>
              <a:rPr lang="fr-FR" sz="1600" b="1" dirty="0"/>
              <a:t> </a:t>
            </a:r>
            <a:r>
              <a:rPr lang="fr-FR" sz="1600" b="1" dirty="0" err="1"/>
              <a:t>Decay</a:t>
            </a:r>
            <a:r>
              <a:rPr lang="fr-FR" sz="1600" b="1" dirty="0"/>
              <a:t> avec Warm-up</a:t>
            </a:r>
            <a:endParaRPr lang="fr-FR" sz="1600" dirty="0"/>
          </a:p>
          <a:p>
            <a:r>
              <a:rPr lang="fr-FR" sz="1600" dirty="0">
                <a:solidFill>
                  <a:srgbClr val="C00000"/>
                </a:solidFill>
              </a:rPr>
              <a:t>Le </a:t>
            </a:r>
            <a:r>
              <a:rPr lang="fr-FR" sz="1600" dirty="0" err="1">
                <a:solidFill>
                  <a:srgbClr val="C00000"/>
                </a:solidFill>
              </a:rPr>
              <a:t>learning</a:t>
            </a:r>
            <a:r>
              <a:rPr lang="fr-FR" sz="1600" dirty="0">
                <a:solidFill>
                  <a:srgbClr val="C00000"/>
                </a:solidFill>
              </a:rPr>
              <a:t> rate </a:t>
            </a:r>
            <a:r>
              <a:rPr lang="fr-FR" sz="1600" dirty="0"/>
              <a:t>évolue selon une courbe en cosinus, après un warm-up initial La valeur initiale </a:t>
            </a:r>
            <a:r>
              <a:rPr lang="fr-FR" sz="1600" dirty="0">
                <a:solidFill>
                  <a:schemeClr val="accent6">
                    <a:lumMod val="75000"/>
                  </a:schemeClr>
                </a:solidFill>
              </a:rPr>
              <a:t>est 3 × 10⁻⁵</a:t>
            </a:r>
            <a:r>
              <a:rPr lang="fr-FR" sz="1600" dirty="0"/>
              <a:t>, la valeur finale est </a:t>
            </a:r>
            <a:r>
              <a:rPr lang="fr-FR" sz="1600" dirty="0">
                <a:solidFill>
                  <a:schemeClr val="accent6">
                    <a:lumMod val="75000"/>
                  </a:schemeClr>
                </a:solidFill>
              </a:rPr>
              <a:t>1 × 10⁻⁵</a:t>
            </a:r>
            <a:r>
              <a:rPr lang="fr-FR" sz="1600" dirty="0"/>
              <a:t>, et un warm-up linéaire est appliqué pendant environ 1 pour cent de l'entraînement total pour stabiliser les gradients au début.</a:t>
            </a:r>
          </a:p>
          <a:p>
            <a:endParaRPr lang="fr-FR" sz="1600" dirty="0"/>
          </a:p>
          <a:p>
            <a:endParaRPr lang="fr-FR" altLang="x-none" sz="1600" dirty="0">
              <a:solidFill>
                <a:srgbClr val="000000"/>
              </a:solidFill>
              <a:latin typeface="Calibri" panose="020F0502020204030204" pitchFamily="34" charset="0"/>
              <a:ea typeface="Calibri" panose="020F0502020204030204" pitchFamily="34" charset="0"/>
            </a:endParaRP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14411" y="2984498"/>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536254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1016000" y="346075"/>
            <a:ext cx="9840748" cy="1446550"/>
          </a:xfrm>
          <a:prstGeom prst="rect">
            <a:avLst/>
          </a:prstGeom>
          <a:noFill/>
          <a:ln w="9525">
            <a:noFill/>
          </a:ln>
        </p:spPr>
        <p:txBody>
          <a:bodyPr wrap="square">
            <a:spAutoFit/>
          </a:bodyPr>
          <a:lstStyle/>
          <a:p>
            <a:r>
              <a:rPr lang="fr-FR" sz="4400" b="1" dirty="0">
                <a:solidFill>
                  <a:schemeClr val="bg1">
                    <a:lumMod val="50000"/>
                  </a:schemeClr>
                </a:solidFill>
              </a:rPr>
              <a:t>ÉVALUATION (HUMANEVAL)</a:t>
            </a:r>
          </a:p>
          <a:p>
            <a:endParaRPr lang="fr-FR" sz="4400" b="1" dirty="0">
              <a:solidFill>
                <a:schemeClr val="bg1">
                  <a:lumMod val="50000"/>
                </a:schemeClr>
              </a:solidFill>
            </a:endParaRPr>
          </a:p>
        </p:txBody>
      </p:sp>
      <p:sp>
        <p:nvSpPr>
          <p:cNvPr id="3" name="Rectangle 24"/>
          <p:cNvSpPr/>
          <p:nvPr/>
        </p:nvSpPr>
        <p:spPr>
          <a:xfrm>
            <a:off x="578069" y="1884697"/>
            <a:ext cx="11046372" cy="3046988"/>
          </a:xfrm>
          <a:prstGeom prst="rect">
            <a:avLst/>
          </a:prstGeom>
          <a:noFill/>
          <a:ln w="9525">
            <a:noFill/>
          </a:ln>
        </p:spPr>
        <p:txBody>
          <a:bodyPr wrap="square">
            <a:spAutoFit/>
          </a:bodyPr>
          <a:lstStyle/>
          <a:p>
            <a:r>
              <a:rPr lang="fr-FR" sz="1600" b="1" dirty="0">
                <a:solidFill>
                  <a:srgbClr val="C00000"/>
                </a:solidFill>
              </a:rPr>
              <a:t>Pourquoi n'utilise-t-on pas BLEU pour évaluer Codex ? </a:t>
            </a:r>
            <a:r>
              <a:rPr lang="fr-FR" sz="1600" dirty="0"/>
              <a:t>Parce que</a:t>
            </a:r>
            <a:r>
              <a:rPr lang="fr-FR" sz="1600" dirty="0">
                <a:solidFill>
                  <a:srgbClr val="C00000"/>
                </a:solidFill>
              </a:rPr>
              <a:t> BLEU </a:t>
            </a:r>
            <a:r>
              <a:rPr lang="fr-FR" sz="1600" dirty="0"/>
              <a:t>compare le texte. Or deux programmes corrects peuvent être très différents textuellement. Par exemple, une version récursive et une version itérative d'une factorielle sont toutes deux correctes mais très différentes. BLEU noterait mal la version itérative.</a:t>
            </a:r>
          </a:p>
          <a:p>
            <a:endParaRPr lang="fr-FR" sz="1600" dirty="0"/>
          </a:p>
          <a:p>
            <a:r>
              <a:rPr lang="fr-FR" sz="1600" dirty="0"/>
              <a:t>C'est pourquoi </a:t>
            </a:r>
            <a:r>
              <a:rPr lang="fr-FR" sz="1600" b="1" dirty="0" err="1"/>
              <a:t>OpenAI</a:t>
            </a:r>
            <a:r>
              <a:rPr lang="fr-FR" sz="1600" b="1" dirty="0"/>
              <a:t> </a:t>
            </a:r>
            <a:r>
              <a:rPr lang="fr-FR" sz="1600" dirty="0"/>
              <a:t>a créé </a:t>
            </a:r>
            <a:r>
              <a:rPr lang="fr-FR" sz="1600" b="1" dirty="0" err="1">
                <a:solidFill>
                  <a:schemeClr val="accent6">
                    <a:lumMod val="75000"/>
                  </a:schemeClr>
                </a:solidFill>
              </a:rPr>
              <a:t>HumanEval</a:t>
            </a:r>
            <a:r>
              <a:rPr lang="fr-FR" sz="1600" dirty="0"/>
              <a:t>. </a:t>
            </a:r>
            <a:r>
              <a:rPr lang="fr-FR" sz="1600" b="1" dirty="0" err="1">
                <a:solidFill>
                  <a:schemeClr val="accent6">
                    <a:lumMod val="75000"/>
                  </a:schemeClr>
                </a:solidFill>
              </a:rPr>
              <a:t>HumanEval</a:t>
            </a:r>
            <a:r>
              <a:rPr lang="fr-FR" sz="1600" b="1" dirty="0">
                <a:solidFill>
                  <a:schemeClr val="accent6">
                    <a:lumMod val="75000"/>
                  </a:schemeClr>
                </a:solidFill>
              </a:rPr>
              <a:t> </a:t>
            </a:r>
            <a:r>
              <a:rPr lang="fr-FR" sz="1600" dirty="0"/>
              <a:t>est un benchmark contenant </a:t>
            </a:r>
            <a:r>
              <a:rPr lang="fr-FR" sz="1600" dirty="0">
                <a:solidFill>
                  <a:schemeClr val="accent6">
                    <a:lumMod val="75000"/>
                  </a:schemeClr>
                </a:solidFill>
              </a:rPr>
              <a:t>164</a:t>
            </a:r>
            <a:r>
              <a:rPr lang="fr-FR" sz="1600" dirty="0"/>
              <a:t> problèmes de programmation écrits à la main par des ingénieurs.</a:t>
            </a:r>
          </a:p>
          <a:p>
            <a:r>
              <a:rPr lang="fr-FR" sz="1600" dirty="0"/>
              <a:t>Chaque problème contient </a:t>
            </a:r>
            <a:r>
              <a:rPr lang="fr-FR" sz="1600" b="1" dirty="0"/>
              <a:t>une signature de fonction</a:t>
            </a:r>
            <a:r>
              <a:rPr lang="fr-FR" sz="1600" dirty="0"/>
              <a:t>, une </a:t>
            </a:r>
            <a:r>
              <a:rPr lang="fr-FR" sz="1600" b="1" dirty="0" err="1"/>
              <a:t>docstring</a:t>
            </a:r>
            <a:r>
              <a:rPr lang="fr-FR" sz="1600" b="1" dirty="0"/>
              <a:t> </a:t>
            </a:r>
            <a:r>
              <a:rPr lang="fr-FR" sz="1600" dirty="0"/>
              <a:t>qui explique ce que la fonction doit faire, et </a:t>
            </a:r>
            <a:r>
              <a:rPr lang="fr-FR" sz="1600" b="1" dirty="0"/>
              <a:t>des tests unitaires </a:t>
            </a:r>
            <a:r>
              <a:rPr lang="fr-FR" sz="1600" dirty="0"/>
              <a:t>automatiques.</a:t>
            </a:r>
          </a:p>
          <a:p>
            <a:endParaRPr lang="fr-FR" sz="1600" dirty="0"/>
          </a:p>
          <a:p>
            <a:r>
              <a:rPr lang="fr-FR" sz="1600" dirty="0"/>
              <a:t>L'évaluation est fonctionnelle : on exécute le code généré par Codex, et on vérifie qu'il passe tous les tests.</a:t>
            </a:r>
          </a:p>
          <a:p>
            <a:endParaRPr lang="fr-FR" sz="1600" dirty="0"/>
          </a:p>
          <a:p>
            <a:r>
              <a:rPr lang="fr-FR" sz="1600" b="1" dirty="0"/>
              <a:t>Le message clé </a:t>
            </a:r>
            <a:r>
              <a:rPr lang="fr-FR" sz="1600" dirty="0">
                <a:solidFill>
                  <a:srgbClr val="00B0F0"/>
                </a:solidFill>
              </a:rPr>
              <a:t>est que le code doit fonctionner, pas seulement ressembler à une référence.</a:t>
            </a: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3361407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654798" y="346632"/>
            <a:ext cx="9840748" cy="1446550"/>
          </a:xfrm>
          <a:prstGeom prst="rect">
            <a:avLst/>
          </a:prstGeom>
          <a:noFill/>
          <a:ln w="9525">
            <a:noFill/>
          </a:ln>
        </p:spPr>
        <p:txBody>
          <a:bodyPr wrap="square">
            <a:spAutoFit/>
          </a:bodyPr>
          <a:lstStyle/>
          <a:p>
            <a:r>
              <a:rPr lang="fr-FR" sz="4400" b="1" dirty="0">
                <a:solidFill>
                  <a:schemeClr val="bg1">
                    <a:lumMod val="50000"/>
                  </a:schemeClr>
                </a:solidFill>
              </a:rPr>
              <a:t> MÉTRIQUE PASS@K</a:t>
            </a:r>
          </a:p>
          <a:p>
            <a:endParaRPr lang="fr-FR" sz="4400" b="1" dirty="0">
              <a:solidFill>
                <a:schemeClr val="bg1">
                  <a:lumMod val="50000"/>
                </a:schemeClr>
              </a:solidFill>
            </a:endParaRPr>
          </a:p>
        </p:txBody>
      </p:sp>
      <p:sp>
        <p:nvSpPr>
          <p:cNvPr id="3" name="Rectangle 24"/>
          <p:cNvSpPr/>
          <p:nvPr/>
        </p:nvSpPr>
        <p:spPr>
          <a:xfrm>
            <a:off x="578069" y="1884697"/>
            <a:ext cx="11046372" cy="3046988"/>
          </a:xfrm>
          <a:prstGeom prst="rect">
            <a:avLst/>
          </a:prstGeom>
          <a:noFill/>
          <a:ln w="9525">
            <a:noFill/>
          </a:ln>
        </p:spPr>
        <p:txBody>
          <a:bodyPr wrap="square">
            <a:spAutoFit/>
          </a:bodyPr>
          <a:lstStyle/>
          <a:p>
            <a:r>
              <a:rPr lang="pt-BR" sz="1600" b="1" dirty="0">
                <a:solidFill>
                  <a:srgbClr val="C00000"/>
                </a:solidFill>
              </a:rPr>
              <a:t>             pass@k = 1 - C(n - c, k) / C(n, k)</a:t>
            </a:r>
          </a:p>
          <a:p>
            <a:endParaRPr lang="pt-BR" sz="1600" b="1" dirty="0">
              <a:solidFill>
                <a:srgbClr val="C00000"/>
              </a:solidFill>
            </a:endParaRPr>
          </a:p>
          <a:p>
            <a:r>
              <a:rPr lang="fr-FR" sz="1600" b="1" dirty="0">
                <a:solidFill>
                  <a:srgbClr val="C00000"/>
                </a:solidFill>
              </a:rPr>
              <a:t>n </a:t>
            </a:r>
            <a:r>
              <a:rPr lang="fr-FR" sz="1600" dirty="0"/>
              <a:t>est le nombre total de solutions générées pour un problème. c est le nombre de solutions correctes parmi ces n. </a:t>
            </a:r>
            <a:r>
              <a:rPr lang="fr-FR" sz="1600" b="1" dirty="0">
                <a:solidFill>
                  <a:srgbClr val="C00000"/>
                </a:solidFill>
              </a:rPr>
              <a:t>k</a:t>
            </a:r>
            <a:r>
              <a:rPr lang="fr-FR" sz="1600" dirty="0"/>
              <a:t> est le nombre de solutions soumises au juge.</a:t>
            </a:r>
          </a:p>
          <a:p>
            <a:endParaRPr lang="fr-FR" sz="1600" dirty="0"/>
          </a:p>
          <a:p>
            <a:r>
              <a:rPr lang="fr-FR" sz="1600" dirty="0"/>
              <a:t>Prenons un exemple concret. On génère </a:t>
            </a:r>
            <a:r>
              <a:rPr lang="fr-FR" sz="1600" dirty="0">
                <a:solidFill>
                  <a:schemeClr val="accent6">
                    <a:lumMod val="75000"/>
                  </a:schemeClr>
                </a:solidFill>
              </a:rPr>
              <a:t>100</a:t>
            </a:r>
            <a:r>
              <a:rPr lang="fr-FR" sz="1600" dirty="0"/>
              <a:t> solutions pour un problème. Parmi ces </a:t>
            </a:r>
            <a:r>
              <a:rPr lang="fr-FR" sz="1600" dirty="0">
                <a:solidFill>
                  <a:schemeClr val="accent6">
                    <a:lumMod val="75000"/>
                  </a:schemeClr>
                </a:solidFill>
              </a:rPr>
              <a:t>100 </a:t>
            </a:r>
            <a:r>
              <a:rPr lang="fr-FR" sz="1600" dirty="0"/>
              <a:t>solutions, </a:t>
            </a:r>
            <a:r>
              <a:rPr lang="fr-FR" sz="1600" dirty="0">
                <a:solidFill>
                  <a:schemeClr val="accent6">
                    <a:lumMod val="75000"/>
                  </a:schemeClr>
                </a:solidFill>
              </a:rPr>
              <a:t>28</a:t>
            </a:r>
            <a:r>
              <a:rPr lang="fr-FR" sz="1600" dirty="0"/>
              <a:t> sont correctes. Le modèle a donc un taux de réussite de </a:t>
            </a:r>
            <a:r>
              <a:rPr lang="fr-FR" sz="1600" dirty="0">
                <a:solidFill>
                  <a:schemeClr val="accent6">
                    <a:lumMod val="75000"/>
                  </a:schemeClr>
                </a:solidFill>
              </a:rPr>
              <a:t>28</a:t>
            </a:r>
            <a:r>
              <a:rPr lang="fr-FR" sz="1600" dirty="0"/>
              <a:t> pour cent.</a:t>
            </a:r>
          </a:p>
          <a:p>
            <a:r>
              <a:rPr lang="fr-FR" sz="1600" b="1" dirty="0">
                <a:solidFill>
                  <a:srgbClr val="C00000"/>
                </a:solidFill>
              </a:rPr>
              <a:t>Le pass@1 </a:t>
            </a:r>
            <a:r>
              <a:rPr lang="fr-FR" sz="1600" dirty="0"/>
              <a:t>est la probabilité qu'une solution tirée au hasard soit correcte. Dans cet exemple, pass@1 vaut environ </a:t>
            </a:r>
            <a:r>
              <a:rPr lang="fr-FR" sz="1600" b="1" dirty="0">
                <a:solidFill>
                  <a:schemeClr val="accent6">
                    <a:lumMod val="75000"/>
                  </a:schemeClr>
                </a:solidFill>
              </a:rPr>
              <a:t>28</a:t>
            </a:r>
            <a:r>
              <a:rPr lang="fr-FR" sz="1600" dirty="0"/>
              <a:t> pour cent.</a:t>
            </a:r>
          </a:p>
          <a:p>
            <a:r>
              <a:rPr lang="fr-FR" sz="1600" b="1" dirty="0">
                <a:solidFill>
                  <a:srgbClr val="C00000"/>
                </a:solidFill>
              </a:rPr>
              <a:t>Le pass@100 </a:t>
            </a:r>
            <a:r>
              <a:rPr lang="fr-FR" sz="1600" dirty="0"/>
              <a:t>est la probabilité qu'au moins une des </a:t>
            </a:r>
            <a:r>
              <a:rPr lang="fr-FR" sz="1600" dirty="0">
                <a:solidFill>
                  <a:schemeClr val="accent6">
                    <a:lumMod val="75000"/>
                  </a:schemeClr>
                </a:solidFill>
              </a:rPr>
              <a:t>100</a:t>
            </a:r>
            <a:r>
              <a:rPr lang="fr-FR" sz="1600" dirty="0"/>
              <a:t> solutions soit correcte. Dans cet exemple, pass@100 vaut environ </a:t>
            </a:r>
            <a:r>
              <a:rPr lang="fr-FR" sz="1600" b="1" dirty="0">
                <a:solidFill>
                  <a:schemeClr val="accent6">
                    <a:lumMod val="75000"/>
                  </a:schemeClr>
                </a:solidFill>
              </a:rPr>
              <a:t>72</a:t>
            </a:r>
            <a:r>
              <a:rPr lang="fr-FR" sz="1600" dirty="0"/>
              <a:t> pour cent.</a:t>
            </a:r>
          </a:p>
          <a:p>
            <a:r>
              <a:rPr lang="fr-FR" sz="1600" dirty="0"/>
              <a:t>Plus </a:t>
            </a:r>
            <a:r>
              <a:rPr lang="fr-FR" sz="1600" dirty="0">
                <a:solidFill>
                  <a:schemeClr val="accent6">
                    <a:lumMod val="75000"/>
                  </a:schemeClr>
                </a:solidFill>
              </a:rPr>
              <a:t>k</a:t>
            </a:r>
            <a:r>
              <a:rPr lang="fr-FR" sz="1600" dirty="0"/>
              <a:t> est grand, plus le modèle a de chances de proposer au moins une solution correcte. Cette métrique modélise un usage réaliste où un développeur peut générer plusieurs solutions et tester laquelle fonctionne.</a:t>
            </a: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927278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654798" y="346632"/>
            <a:ext cx="11537202" cy="769441"/>
          </a:xfrm>
          <a:prstGeom prst="rect">
            <a:avLst/>
          </a:prstGeom>
          <a:noFill/>
          <a:ln w="9525">
            <a:noFill/>
          </a:ln>
        </p:spPr>
        <p:txBody>
          <a:bodyPr wrap="square">
            <a:spAutoFit/>
          </a:bodyPr>
          <a:lstStyle/>
          <a:p>
            <a:r>
              <a:rPr lang="fr-FR" sz="4400" b="1" dirty="0">
                <a:solidFill>
                  <a:schemeClr val="bg1">
                    <a:lumMod val="50000"/>
                  </a:schemeClr>
                </a:solidFill>
              </a:rPr>
              <a:t>Résultats — Codex vs GPT-3 sur </a:t>
            </a:r>
            <a:r>
              <a:rPr lang="fr-FR" sz="4400" b="1" dirty="0" err="1">
                <a:solidFill>
                  <a:schemeClr val="bg1">
                    <a:lumMod val="50000"/>
                  </a:schemeClr>
                </a:solidFill>
              </a:rPr>
              <a:t>HumanEval</a:t>
            </a:r>
            <a:endParaRPr lang="fr-FR" sz="4400" b="1" dirty="0">
              <a:solidFill>
                <a:schemeClr val="bg1">
                  <a:lumMod val="50000"/>
                </a:schemeClr>
              </a:solidFill>
            </a:endParaRPr>
          </a:p>
        </p:txBody>
      </p:sp>
      <p:sp>
        <p:nvSpPr>
          <p:cNvPr id="3" name="Rectangle 24"/>
          <p:cNvSpPr/>
          <p:nvPr/>
        </p:nvSpPr>
        <p:spPr>
          <a:xfrm>
            <a:off x="578069" y="1884697"/>
            <a:ext cx="11046372" cy="338554"/>
          </a:xfrm>
          <a:prstGeom prst="rect">
            <a:avLst/>
          </a:prstGeom>
          <a:noFill/>
          <a:ln w="9525">
            <a:noFill/>
          </a:ln>
        </p:spPr>
        <p:txBody>
          <a:bodyPr wrap="square">
            <a:spAutoFit/>
          </a:bodyPr>
          <a:lstStyle/>
          <a:p>
            <a:r>
              <a:rPr lang="pt-BR" sz="1600" b="1" dirty="0">
                <a:solidFill>
                  <a:srgbClr val="C00000"/>
                </a:solidFill>
              </a:rPr>
              <a:t>             </a:t>
            </a:r>
            <a:endParaRPr lang="fr-FR" sz="1600" dirty="0"/>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graphicFrame>
        <p:nvGraphicFramePr>
          <p:cNvPr id="13" name="Tableau 12">
            <a:extLst>
              <a:ext uri="{FF2B5EF4-FFF2-40B4-BE49-F238E27FC236}">
                <a16:creationId xmlns:a16="http://schemas.microsoft.com/office/drawing/2014/main" id="{F80E9E3D-CB4E-42C4-AAAA-73C0EE735183}"/>
              </a:ext>
            </a:extLst>
          </p:cNvPr>
          <p:cNvGraphicFramePr>
            <a:graphicFrameLocks noGrp="1"/>
          </p:cNvGraphicFramePr>
          <p:nvPr>
            <p:extLst>
              <p:ext uri="{D42A27DB-BD31-4B8C-83A1-F6EECF244321}">
                <p14:modId xmlns:p14="http://schemas.microsoft.com/office/powerpoint/2010/main" val="1016508848"/>
              </p:ext>
            </p:extLst>
          </p:nvPr>
        </p:nvGraphicFramePr>
        <p:xfrm>
          <a:off x="838201" y="1708211"/>
          <a:ext cx="10439399" cy="3095724"/>
        </p:xfrm>
        <a:graphic>
          <a:graphicData uri="http://schemas.openxmlformats.org/drawingml/2006/table">
            <a:tbl>
              <a:tblPr/>
              <a:tblGrid>
                <a:gridCol w="2521877">
                  <a:extLst>
                    <a:ext uri="{9D8B030D-6E8A-4147-A177-3AD203B41FA5}">
                      <a16:colId xmlns:a16="http://schemas.microsoft.com/office/drawing/2014/main" val="3780712540"/>
                    </a:ext>
                  </a:extLst>
                </a:gridCol>
                <a:gridCol w="2639174">
                  <a:extLst>
                    <a:ext uri="{9D8B030D-6E8A-4147-A177-3AD203B41FA5}">
                      <a16:colId xmlns:a16="http://schemas.microsoft.com/office/drawing/2014/main" val="399555863"/>
                    </a:ext>
                  </a:extLst>
                </a:gridCol>
                <a:gridCol w="2639174">
                  <a:extLst>
                    <a:ext uri="{9D8B030D-6E8A-4147-A177-3AD203B41FA5}">
                      <a16:colId xmlns:a16="http://schemas.microsoft.com/office/drawing/2014/main" val="2891270522"/>
                    </a:ext>
                  </a:extLst>
                </a:gridCol>
                <a:gridCol w="2639174">
                  <a:extLst>
                    <a:ext uri="{9D8B030D-6E8A-4147-A177-3AD203B41FA5}">
                      <a16:colId xmlns:a16="http://schemas.microsoft.com/office/drawing/2014/main" val="684096239"/>
                    </a:ext>
                  </a:extLst>
                </a:gridCol>
              </a:tblGrid>
              <a:tr h="773931">
                <a:tc>
                  <a:txBody>
                    <a:bodyPr/>
                    <a:lstStyle/>
                    <a:p>
                      <a:pPr algn="l"/>
                      <a:r>
                        <a:rPr lang="fr-FR" b="1" dirty="0">
                          <a:effectLst/>
                          <a:latin typeface="quote-cjk-patch"/>
                        </a:rPr>
                        <a:t>Modèle</a:t>
                      </a:r>
                    </a:p>
                  </a:txBody>
                  <a:tcPr marR="101600" marT="63500" marB="63500" anchor="ctr">
                    <a:lnL>
                      <a:noFill/>
                    </a:lnL>
                    <a:lnR>
                      <a:noFill/>
                    </a:lnR>
                    <a:lnT>
                      <a:noFill/>
                    </a:lnT>
                    <a:lnB>
                      <a:noFill/>
                    </a:lnB>
                  </a:tcPr>
                </a:tc>
                <a:tc>
                  <a:txBody>
                    <a:bodyPr/>
                    <a:lstStyle/>
                    <a:p>
                      <a:pPr algn="l"/>
                      <a:r>
                        <a:rPr lang="fr-FR" b="1" dirty="0">
                          <a:effectLst/>
                          <a:latin typeface="quote-cjk-patch"/>
                        </a:rPr>
                        <a:t>Taille</a:t>
                      </a:r>
                    </a:p>
                  </a:txBody>
                  <a:tcPr marL="101600" marR="101600" marT="63500" marB="63500" anchor="ctr">
                    <a:lnL>
                      <a:noFill/>
                    </a:lnL>
                    <a:lnR>
                      <a:noFill/>
                    </a:lnR>
                    <a:lnT>
                      <a:noFill/>
                    </a:lnT>
                    <a:lnB>
                      <a:noFill/>
                    </a:lnB>
                  </a:tcPr>
                </a:tc>
                <a:tc>
                  <a:txBody>
                    <a:bodyPr/>
                    <a:lstStyle/>
                    <a:p>
                      <a:pPr algn="l"/>
                      <a:r>
                        <a:rPr lang="fr-FR" b="1" dirty="0">
                          <a:effectLst/>
                          <a:latin typeface="quote-cjk-patch"/>
                        </a:rPr>
                        <a:t>pass@1</a:t>
                      </a:r>
                    </a:p>
                  </a:txBody>
                  <a:tcPr marL="101600" marR="101600" marT="63500" marB="63500" anchor="ctr">
                    <a:lnL>
                      <a:noFill/>
                    </a:lnL>
                    <a:lnR>
                      <a:noFill/>
                    </a:lnR>
                    <a:lnT>
                      <a:noFill/>
                    </a:lnT>
                    <a:lnB>
                      <a:noFill/>
                    </a:lnB>
                  </a:tcPr>
                </a:tc>
                <a:tc>
                  <a:txBody>
                    <a:bodyPr/>
                    <a:lstStyle/>
                    <a:p>
                      <a:pPr algn="l"/>
                      <a:r>
                        <a:rPr lang="fr-FR" b="1" dirty="0">
                          <a:effectLst/>
                          <a:latin typeface="quote-cjk-patch"/>
                        </a:rPr>
                        <a:t>pass@100</a:t>
                      </a:r>
                    </a:p>
                  </a:txBody>
                  <a:tcPr marL="101600" marR="101600" marT="63500" marB="63500" anchor="ctr">
                    <a:lnL>
                      <a:noFill/>
                    </a:lnL>
                    <a:lnR>
                      <a:noFill/>
                    </a:lnR>
                    <a:lnT>
                      <a:noFill/>
                    </a:lnT>
                    <a:lnB>
                      <a:noFill/>
                    </a:lnB>
                  </a:tcPr>
                </a:tc>
                <a:extLst>
                  <a:ext uri="{0D108BD9-81ED-4DB2-BD59-A6C34878D82A}">
                    <a16:rowId xmlns:a16="http://schemas.microsoft.com/office/drawing/2014/main" val="1639015888"/>
                  </a:ext>
                </a:extLst>
              </a:tr>
              <a:tr h="773931">
                <a:tc>
                  <a:txBody>
                    <a:bodyPr/>
                    <a:lstStyle/>
                    <a:p>
                      <a:r>
                        <a:rPr lang="fr-FR" b="1" dirty="0">
                          <a:solidFill>
                            <a:srgbClr val="C00000"/>
                          </a:solidFill>
                          <a:effectLst/>
                          <a:latin typeface="quote-cjk-patch"/>
                        </a:rPr>
                        <a:t>GPT-3</a:t>
                      </a:r>
                    </a:p>
                  </a:txBody>
                  <a:tcPr marR="101600" marT="63500" marB="63500" anchor="ctr">
                    <a:lnL>
                      <a:noFill/>
                    </a:lnL>
                    <a:lnR>
                      <a:noFill/>
                    </a:lnR>
                    <a:lnT>
                      <a:noFill/>
                    </a:lnT>
                    <a:lnB>
                      <a:noFill/>
                    </a:lnB>
                  </a:tcPr>
                </a:tc>
                <a:tc>
                  <a:txBody>
                    <a:bodyPr/>
                    <a:lstStyle/>
                    <a:p>
                      <a:r>
                        <a:rPr lang="fr-FR" b="0" dirty="0">
                          <a:solidFill>
                            <a:schemeClr val="accent6">
                              <a:lumMod val="75000"/>
                            </a:schemeClr>
                          </a:solidFill>
                          <a:effectLst/>
                          <a:latin typeface="quote-cjk-patch"/>
                        </a:rPr>
                        <a:t>175B</a:t>
                      </a:r>
                    </a:p>
                  </a:txBody>
                  <a:tcPr marL="101600" marR="101600" marT="63500" marB="63500" anchor="ctr">
                    <a:lnL>
                      <a:noFill/>
                    </a:lnL>
                    <a:lnR>
                      <a:noFill/>
                    </a:lnR>
                    <a:lnT>
                      <a:noFill/>
                    </a:lnT>
                    <a:lnB>
                      <a:noFill/>
                    </a:lnB>
                  </a:tcPr>
                </a:tc>
                <a:tc>
                  <a:txBody>
                    <a:bodyPr/>
                    <a:lstStyle/>
                    <a:p>
                      <a:r>
                        <a:rPr lang="fr-FR" b="0" dirty="0">
                          <a:solidFill>
                            <a:schemeClr val="accent1">
                              <a:lumMod val="75000"/>
                            </a:schemeClr>
                          </a:solidFill>
                          <a:effectLst/>
                          <a:latin typeface="quote-cjk-patch"/>
                        </a:rPr>
                        <a:t>~0%</a:t>
                      </a:r>
                    </a:p>
                  </a:txBody>
                  <a:tcPr marL="101600" marR="101600" marT="63500" marB="63500" anchor="ctr">
                    <a:lnL>
                      <a:noFill/>
                    </a:lnL>
                    <a:lnR>
                      <a:noFill/>
                    </a:lnR>
                    <a:lnT>
                      <a:noFill/>
                    </a:lnT>
                    <a:lnB>
                      <a:noFill/>
                    </a:lnB>
                  </a:tcPr>
                </a:tc>
                <a:tc>
                  <a:txBody>
                    <a:bodyPr/>
                    <a:lstStyle/>
                    <a:p>
                      <a:r>
                        <a:rPr lang="fr-FR" b="0" dirty="0">
                          <a:solidFill>
                            <a:schemeClr val="accent4">
                              <a:lumMod val="75000"/>
                            </a:schemeClr>
                          </a:solidFill>
                          <a:effectLst/>
                          <a:latin typeface="quote-cjk-patch"/>
                        </a:rPr>
                        <a:t>~0%</a:t>
                      </a:r>
                    </a:p>
                  </a:txBody>
                  <a:tcPr marL="101600" marT="63500" marB="63500" anchor="ctr">
                    <a:lnL>
                      <a:noFill/>
                    </a:lnL>
                    <a:lnR>
                      <a:noFill/>
                    </a:lnR>
                    <a:lnT>
                      <a:noFill/>
                    </a:lnT>
                    <a:lnB>
                      <a:noFill/>
                    </a:lnB>
                  </a:tcPr>
                </a:tc>
                <a:extLst>
                  <a:ext uri="{0D108BD9-81ED-4DB2-BD59-A6C34878D82A}">
                    <a16:rowId xmlns:a16="http://schemas.microsoft.com/office/drawing/2014/main" val="3845279596"/>
                  </a:ext>
                </a:extLst>
              </a:tr>
              <a:tr h="773931">
                <a:tc>
                  <a:txBody>
                    <a:bodyPr/>
                    <a:lstStyle/>
                    <a:p>
                      <a:r>
                        <a:rPr lang="fr-FR" b="1" dirty="0">
                          <a:solidFill>
                            <a:srgbClr val="C00000"/>
                          </a:solidFill>
                          <a:effectLst/>
                          <a:latin typeface="quote-cjk-patch"/>
                        </a:rPr>
                        <a:t>Codex 12B</a:t>
                      </a:r>
                    </a:p>
                  </a:txBody>
                  <a:tcPr marR="101600" marT="63500" marB="63500" anchor="ctr">
                    <a:lnL>
                      <a:noFill/>
                    </a:lnL>
                    <a:lnR>
                      <a:noFill/>
                    </a:lnR>
                    <a:lnT>
                      <a:noFill/>
                    </a:lnT>
                    <a:lnB>
                      <a:noFill/>
                    </a:lnB>
                  </a:tcPr>
                </a:tc>
                <a:tc>
                  <a:txBody>
                    <a:bodyPr/>
                    <a:lstStyle/>
                    <a:p>
                      <a:r>
                        <a:rPr lang="fr-FR" b="0">
                          <a:effectLst/>
                          <a:latin typeface="quote-cjk-patch"/>
                        </a:rPr>
                        <a:t>12B</a:t>
                      </a:r>
                    </a:p>
                  </a:txBody>
                  <a:tcPr marL="101600" marR="101600" marT="63500" marB="63500" anchor="ctr">
                    <a:lnL>
                      <a:noFill/>
                    </a:lnL>
                    <a:lnR>
                      <a:noFill/>
                    </a:lnR>
                    <a:lnT>
                      <a:noFill/>
                    </a:lnT>
                    <a:lnB>
                      <a:noFill/>
                    </a:lnB>
                  </a:tcPr>
                </a:tc>
                <a:tc>
                  <a:txBody>
                    <a:bodyPr/>
                    <a:lstStyle/>
                    <a:p>
                      <a:r>
                        <a:rPr lang="fr-FR" b="0" dirty="0">
                          <a:effectLst/>
                          <a:latin typeface="quote-cjk-patch"/>
                        </a:rPr>
                        <a:t>28,8%</a:t>
                      </a:r>
                    </a:p>
                  </a:txBody>
                  <a:tcPr marL="101600" marR="101600" marT="63500" marB="63500" anchor="ctr">
                    <a:lnL>
                      <a:noFill/>
                    </a:lnL>
                    <a:lnR>
                      <a:noFill/>
                    </a:lnR>
                    <a:lnT>
                      <a:noFill/>
                    </a:lnT>
                    <a:lnB>
                      <a:noFill/>
                    </a:lnB>
                  </a:tcPr>
                </a:tc>
                <a:tc>
                  <a:txBody>
                    <a:bodyPr/>
                    <a:lstStyle/>
                    <a:p>
                      <a:r>
                        <a:rPr lang="fr-FR" b="0">
                          <a:effectLst/>
                          <a:latin typeface="quote-cjk-patch"/>
                        </a:rPr>
                        <a:t>72,3%</a:t>
                      </a:r>
                    </a:p>
                  </a:txBody>
                  <a:tcPr marL="101600" marT="63500" marB="63500" anchor="ctr">
                    <a:lnL>
                      <a:noFill/>
                    </a:lnL>
                    <a:lnR>
                      <a:noFill/>
                    </a:lnR>
                    <a:lnT>
                      <a:noFill/>
                    </a:lnT>
                    <a:lnB>
                      <a:noFill/>
                    </a:lnB>
                  </a:tcPr>
                </a:tc>
                <a:extLst>
                  <a:ext uri="{0D108BD9-81ED-4DB2-BD59-A6C34878D82A}">
                    <a16:rowId xmlns:a16="http://schemas.microsoft.com/office/drawing/2014/main" val="2384508907"/>
                  </a:ext>
                </a:extLst>
              </a:tr>
              <a:tr h="773931">
                <a:tc>
                  <a:txBody>
                    <a:bodyPr/>
                    <a:lstStyle/>
                    <a:p>
                      <a:r>
                        <a:rPr lang="fr-FR" b="1" dirty="0">
                          <a:solidFill>
                            <a:srgbClr val="C00000"/>
                          </a:solidFill>
                          <a:effectLst/>
                          <a:latin typeface="quote-cjk-patch"/>
                        </a:rPr>
                        <a:t>Codex-S</a:t>
                      </a:r>
                    </a:p>
                  </a:txBody>
                  <a:tcPr marR="101600" marT="63500" marB="63500" anchor="ctr">
                    <a:lnL>
                      <a:noFill/>
                    </a:lnL>
                    <a:lnR>
                      <a:noFill/>
                    </a:lnR>
                    <a:lnT>
                      <a:noFill/>
                    </a:lnT>
                    <a:lnB>
                      <a:noFill/>
                    </a:lnB>
                  </a:tcPr>
                </a:tc>
                <a:tc>
                  <a:txBody>
                    <a:bodyPr/>
                    <a:lstStyle/>
                    <a:p>
                      <a:r>
                        <a:rPr lang="fr-FR" b="0" dirty="0">
                          <a:solidFill>
                            <a:schemeClr val="accent6">
                              <a:lumMod val="75000"/>
                            </a:schemeClr>
                          </a:solidFill>
                          <a:effectLst/>
                          <a:latin typeface="quote-cjk-patch"/>
                        </a:rPr>
                        <a:t>12B</a:t>
                      </a:r>
                    </a:p>
                  </a:txBody>
                  <a:tcPr marL="101600" marR="101600" marT="63500" marB="63500" anchor="ctr">
                    <a:lnL>
                      <a:noFill/>
                    </a:lnL>
                    <a:lnR>
                      <a:noFill/>
                    </a:lnR>
                    <a:lnT>
                      <a:noFill/>
                    </a:lnT>
                    <a:lnB>
                      <a:noFill/>
                    </a:lnB>
                  </a:tcPr>
                </a:tc>
                <a:tc>
                  <a:txBody>
                    <a:bodyPr/>
                    <a:lstStyle/>
                    <a:p>
                      <a:r>
                        <a:rPr lang="fr-FR" b="0" dirty="0">
                          <a:solidFill>
                            <a:schemeClr val="accent1">
                              <a:lumMod val="75000"/>
                            </a:schemeClr>
                          </a:solidFill>
                          <a:effectLst/>
                          <a:latin typeface="quote-cjk-patch"/>
                        </a:rPr>
                        <a:t>37,7%</a:t>
                      </a:r>
                    </a:p>
                  </a:txBody>
                  <a:tcPr marL="101600" marR="101600" marT="63500" marB="63500" anchor="ctr">
                    <a:lnL>
                      <a:noFill/>
                    </a:lnL>
                    <a:lnR>
                      <a:noFill/>
                    </a:lnR>
                    <a:lnT>
                      <a:noFill/>
                    </a:lnT>
                    <a:lnB>
                      <a:noFill/>
                    </a:lnB>
                  </a:tcPr>
                </a:tc>
                <a:tc>
                  <a:txBody>
                    <a:bodyPr/>
                    <a:lstStyle/>
                    <a:p>
                      <a:r>
                        <a:rPr lang="fr-FR" b="0" dirty="0">
                          <a:solidFill>
                            <a:schemeClr val="accent4">
                              <a:lumMod val="75000"/>
                            </a:schemeClr>
                          </a:solidFill>
                          <a:effectLst/>
                          <a:latin typeface="quote-cjk-patch"/>
                        </a:rPr>
                        <a:t>77,5%</a:t>
                      </a:r>
                    </a:p>
                  </a:txBody>
                  <a:tcPr marL="101600" marT="63500" marB="63500" anchor="ctr">
                    <a:lnL>
                      <a:noFill/>
                    </a:lnL>
                    <a:lnR>
                      <a:noFill/>
                    </a:lnR>
                    <a:lnT>
                      <a:noFill/>
                    </a:lnT>
                    <a:lnB>
                      <a:noFill/>
                    </a:lnB>
                  </a:tcPr>
                </a:tc>
                <a:extLst>
                  <a:ext uri="{0D108BD9-81ED-4DB2-BD59-A6C34878D82A}">
                    <a16:rowId xmlns:a16="http://schemas.microsoft.com/office/drawing/2014/main" val="2616497959"/>
                  </a:ext>
                </a:extLst>
              </a:tr>
            </a:tbl>
          </a:graphicData>
        </a:graphic>
      </p:graphicFrame>
    </p:spTree>
    <p:extLst>
      <p:ext uri="{BB962C8B-B14F-4D97-AF65-F5344CB8AC3E}">
        <p14:creationId xmlns:p14="http://schemas.microsoft.com/office/powerpoint/2010/main" val="31682969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3"/>
          <p:cNvSpPr txBox="1"/>
          <p:nvPr/>
        </p:nvSpPr>
        <p:spPr>
          <a:xfrm>
            <a:off x="654798" y="346632"/>
            <a:ext cx="9840748" cy="1446550"/>
          </a:xfrm>
          <a:prstGeom prst="rect">
            <a:avLst/>
          </a:prstGeom>
          <a:noFill/>
          <a:ln w="9525">
            <a:noFill/>
          </a:ln>
        </p:spPr>
        <p:txBody>
          <a:bodyPr wrap="square">
            <a:spAutoFit/>
          </a:bodyPr>
          <a:lstStyle/>
          <a:p>
            <a:r>
              <a:rPr lang="fr-FR" sz="4400" b="1" dirty="0">
                <a:solidFill>
                  <a:schemeClr val="bg1">
                    <a:lumMod val="50000"/>
                  </a:schemeClr>
                </a:solidFill>
              </a:rPr>
              <a:t>LIMITES DE CODEX</a:t>
            </a:r>
          </a:p>
          <a:p>
            <a:endParaRPr lang="fr-FR" sz="4400" b="1" dirty="0">
              <a:solidFill>
                <a:schemeClr val="bg1">
                  <a:lumMod val="50000"/>
                </a:schemeClr>
              </a:solidFill>
            </a:endParaRPr>
          </a:p>
        </p:txBody>
      </p:sp>
      <p:sp>
        <p:nvSpPr>
          <p:cNvPr id="3" name="Rectangle 24"/>
          <p:cNvSpPr/>
          <p:nvPr/>
        </p:nvSpPr>
        <p:spPr>
          <a:xfrm>
            <a:off x="462455" y="1355834"/>
            <a:ext cx="11161986" cy="3785652"/>
          </a:xfrm>
          <a:prstGeom prst="rect">
            <a:avLst/>
          </a:prstGeom>
          <a:noFill/>
          <a:ln w="9525">
            <a:noFill/>
          </a:ln>
        </p:spPr>
        <p:txBody>
          <a:bodyPr wrap="square">
            <a:spAutoFit/>
          </a:bodyPr>
          <a:lstStyle/>
          <a:p>
            <a:r>
              <a:rPr lang="fr-FR" sz="1600" b="1" dirty="0">
                <a:solidFill>
                  <a:srgbClr val="C00000"/>
                </a:solidFill>
              </a:rPr>
              <a:t>Codex </a:t>
            </a:r>
            <a:r>
              <a:rPr lang="fr-FR" sz="1600" dirty="0"/>
              <a:t>a plusieurs limites importantes que ses créateurs reconnaissent eux-mêmes.</a:t>
            </a:r>
          </a:p>
          <a:p>
            <a:r>
              <a:rPr lang="fr-FR" sz="1600" dirty="0"/>
              <a:t>      Première limite : les longues chaînes d'opérations. Au-delà de cinq à six étapes imbriquées, Codex perd la cohérence algorithmique. Il oublie ce qu'il était en train de faire.</a:t>
            </a:r>
          </a:p>
          <a:p>
            <a:r>
              <a:rPr lang="fr-FR" sz="1600" dirty="0"/>
              <a:t>      </a:t>
            </a:r>
            <a:r>
              <a:rPr lang="fr-FR" sz="1600" b="1" dirty="0">
                <a:solidFill>
                  <a:srgbClr val="C00000"/>
                </a:solidFill>
              </a:rPr>
              <a:t>Deuxième limite </a:t>
            </a:r>
            <a:r>
              <a:rPr lang="fr-FR" sz="1600" dirty="0"/>
              <a:t>: la </a:t>
            </a:r>
            <a:r>
              <a:rPr lang="fr-FR" sz="1600" b="1" dirty="0"/>
              <a:t>dépendance au prompt</a:t>
            </a:r>
            <a:r>
              <a:rPr lang="fr-FR" sz="1600" dirty="0"/>
              <a:t>. La qualité du code généré dépend fortement de la formulation de la demande. Un prompt ambigu ou mal structuré produit un code incorrect. Et ce problème s'aggrave avec la taille du modèle : plus le modèle est grand, plus il amplifie les ambiguïtés.</a:t>
            </a:r>
          </a:p>
          <a:p>
            <a:r>
              <a:rPr lang="fr-FR" sz="1600" b="1" dirty="0">
                <a:solidFill>
                  <a:srgbClr val="C00000"/>
                </a:solidFill>
              </a:rPr>
              <a:t>      Troisième limite </a:t>
            </a:r>
            <a:r>
              <a:rPr lang="fr-FR" sz="1600" dirty="0"/>
              <a:t>: les </a:t>
            </a:r>
            <a:r>
              <a:rPr lang="fr-FR" sz="1600" b="1" dirty="0"/>
              <a:t>vulnérabilités</a:t>
            </a:r>
            <a:r>
              <a:rPr lang="fr-FR" sz="1600" dirty="0"/>
              <a:t>. Codex a été entraîné sur </a:t>
            </a:r>
            <a:r>
              <a:rPr lang="fr-FR" sz="1600" dirty="0">
                <a:solidFill>
                  <a:schemeClr val="accent6">
                    <a:lumMod val="75000"/>
                  </a:schemeClr>
                </a:solidFill>
              </a:rPr>
              <a:t>54</a:t>
            </a:r>
            <a:r>
              <a:rPr lang="fr-FR" sz="1600" dirty="0"/>
              <a:t> millions de dépôts GitHub. Ces dépôts contiennent du code avec des failles de sécurité. Codex peut reproduire ces vulnérabilités — comme des injections SQL ou des mots de passe en dur — sans aucun avertissement.</a:t>
            </a:r>
          </a:p>
          <a:p>
            <a:r>
              <a:rPr lang="fr-FR" sz="1600" dirty="0"/>
              <a:t>       </a:t>
            </a:r>
            <a:r>
              <a:rPr lang="fr-FR" sz="1600" b="1" dirty="0">
                <a:solidFill>
                  <a:srgbClr val="C00000"/>
                </a:solidFill>
              </a:rPr>
              <a:t>Quatrième limite </a:t>
            </a:r>
            <a:r>
              <a:rPr lang="fr-FR" sz="1600" dirty="0"/>
              <a:t>: </a:t>
            </a:r>
            <a:r>
              <a:rPr lang="fr-FR" sz="1600" b="1" dirty="0"/>
              <a:t>les hallucinations</a:t>
            </a:r>
            <a:r>
              <a:rPr lang="fr-FR" sz="1600" dirty="0"/>
              <a:t>. Codex peut générer des appels à des fonctions qui n'existent pas, mais qui ressemblent à des fonctions réelles d'une bibliothèque connue.</a:t>
            </a:r>
          </a:p>
          <a:p>
            <a:r>
              <a:rPr lang="fr-FR" sz="1600" dirty="0"/>
              <a:t>       </a:t>
            </a:r>
            <a:r>
              <a:rPr lang="fr-FR" sz="1600" b="1" dirty="0">
                <a:solidFill>
                  <a:srgbClr val="C00000"/>
                </a:solidFill>
              </a:rPr>
              <a:t>Cinquième limite </a:t>
            </a:r>
            <a:r>
              <a:rPr lang="fr-FR" sz="1600" dirty="0"/>
              <a:t>: le retrait de l'API. En mars 2023, </a:t>
            </a:r>
            <a:r>
              <a:rPr lang="fr-FR" sz="1600" dirty="0" err="1"/>
              <a:t>OpenAI</a:t>
            </a:r>
            <a:r>
              <a:rPr lang="fr-FR" sz="1600" dirty="0"/>
              <a:t> a retiré Codex de son API publique, remplacé par GPT-3.5 et GPT-4 qui sont bien plus performants.</a:t>
            </a:r>
          </a:p>
          <a:p>
            <a:endParaRPr lang="fr-FR" sz="1600" dirty="0"/>
          </a:p>
          <a:p>
            <a:r>
              <a:rPr lang="fr-FR" sz="1600" dirty="0">
                <a:solidFill>
                  <a:srgbClr val="0070C0"/>
                </a:solidFill>
              </a:rPr>
              <a:t>                                                          Le message est que Codex est puissant, mais pas infaillible.</a:t>
            </a:r>
          </a:p>
        </p:txBody>
      </p:sp>
      <p:sp>
        <p:nvSpPr>
          <p:cNvPr id="4" name="Rectangle 2"/>
          <p:cNvSpPr/>
          <p:nvPr/>
        </p:nvSpPr>
        <p:spPr>
          <a:xfrm rot="-5399996">
            <a:off x="2752725" y="5546725"/>
            <a:ext cx="588963" cy="2032000"/>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44"/>
          <p:cNvSpPr/>
          <p:nvPr/>
        </p:nvSpPr>
        <p:spPr>
          <a:xfrm rot="-5399996">
            <a:off x="4005263" y="5607050"/>
            <a:ext cx="2105025" cy="2076450"/>
          </a:xfrm>
          <a:prstGeom prst="rect">
            <a:avLst/>
          </a:prstGeom>
          <a:solidFill>
            <a:srgbClr val="88A945"/>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45"/>
          <p:cNvSpPr/>
          <p:nvPr/>
        </p:nvSpPr>
        <p:spPr>
          <a:xfrm rot="-5399996">
            <a:off x="6605588" y="5675313"/>
            <a:ext cx="1012825" cy="2032000"/>
          </a:xfrm>
          <a:prstGeom prst="rect">
            <a:avLst/>
          </a:prstGeom>
          <a:solidFill>
            <a:srgbClr val="9BBB59"/>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46"/>
          <p:cNvSpPr/>
          <p:nvPr/>
        </p:nvSpPr>
        <p:spPr>
          <a:xfrm rot="-5399996">
            <a:off x="8448675" y="5538788"/>
            <a:ext cx="1409700" cy="2032000"/>
          </a:xfrm>
          <a:prstGeom prst="rect">
            <a:avLst/>
          </a:prstGeom>
          <a:solidFill>
            <a:srgbClr val="ACC777"/>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Rectangle 47"/>
          <p:cNvSpPr/>
          <p:nvPr/>
        </p:nvSpPr>
        <p:spPr>
          <a:xfrm rot="-5399996">
            <a:off x="10847388" y="5513388"/>
            <a:ext cx="655637" cy="2032000"/>
          </a:xfrm>
          <a:prstGeom prst="rect">
            <a:avLst/>
          </a:prstGeom>
          <a:solidFill>
            <a:srgbClr val="C0D49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9" name="Rectangle 48"/>
          <p:cNvSpPr/>
          <p:nvPr/>
        </p:nvSpPr>
        <p:spPr>
          <a:xfrm rot="-5399996">
            <a:off x="584200" y="5410200"/>
            <a:ext cx="862013" cy="2032000"/>
          </a:xfrm>
          <a:prstGeom prst="rect">
            <a:avLst/>
          </a:prstGeom>
          <a:solidFill>
            <a:srgbClr val="D0DFB3"/>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nvGrpSpPr>
          <p:cNvPr id="10" name="Group 5"/>
          <p:cNvGrpSpPr/>
          <p:nvPr/>
        </p:nvGrpSpPr>
        <p:grpSpPr>
          <a:xfrm>
            <a:off x="0" y="6737350"/>
            <a:ext cx="12192000" cy="133350"/>
            <a:chOff x="0" y="6736614"/>
            <a:chExt cx="12191996" cy="134343"/>
          </a:xfrm>
        </p:grpSpPr>
        <p:sp>
          <p:nvSpPr>
            <p:cNvPr id="33806" name="Rectangle 50"/>
            <p:cNvSpPr/>
            <p:nvPr/>
          </p:nvSpPr>
          <p:spPr>
            <a:xfrm rot="-5399996">
              <a:off x="2980839" y="5787791"/>
              <a:ext cx="134334"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7" name="Rectangle 51"/>
            <p:cNvSpPr/>
            <p:nvPr/>
          </p:nvSpPr>
          <p:spPr>
            <a:xfrm rot="-5399996">
              <a:off x="5012837" y="5787782"/>
              <a:ext cx="134334"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8" name="Rectangle 52"/>
            <p:cNvSpPr/>
            <p:nvPr/>
          </p:nvSpPr>
          <p:spPr>
            <a:xfrm rot="-5399996">
              <a:off x="7044835" y="5787782"/>
              <a:ext cx="134334"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09" name="Rectangle 53"/>
            <p:cNvSpPr/>
            <p:nvPr/>
          </p:nvSpPr>
          <p:spPr>
            <a:xfrm rot="-5399996">
              <a:off x="9076833" y="5787791"/>
              <a:ext cx="134334"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0" name="Rectangle 54"/>
            <p:cNvSpPr/>
            <p:nvPr/>
          </p:nvSpPr>
          <p:spPr>
            <a:xfrm rot="-5399996">
              <a:off x="11108830" y="5787791"/>
              <a:ext cx="134334"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3811" name="Rectangle 55"/>
            <p:cNvSpPr/>
            <p:nvPr/>
          </p:nvSpPr>
          <p:spPr>
            <a:xfrm rot="-5399996">
              <a:off x="948831" y="5787791"/>
              <a:ext cx="134334"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18" name="Rectangle 6"/>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defRPr sz="1800" b="0" i="0" u="none" strike="noStrike" kern="0" cap="none" spc="0" baseline="0">
                <a:solidFill>
                  <a:srgbClr val="000000"/>
                </a:solidFill>
                <a:uFillTx/>
              </a:defRPr>
            </a:pPr>
            <a:endParaRPr kumimoji="0" lang="id-ID"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lvl="1" indent="-285750" eaLnBrk="1" hangingPunct="1">
              <a:buSzPct val="100000"/>
              <a:buFont typeface="Courier New" panose="02070309020205020404" pitchFamily="49" charset="0"/>
              <a:buChar char="o"/>
            </a:pPr>
            <a:endParaRPr lang="id-ID" altLang="x-none"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397192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C9B9B9E-B818-1401-E982-BE08B7049210}"/>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FBCE88BD-39C9-A4A2-BC68-49C80BFEFEF6}"/>
              </a:ext>
            </a:extLst>
          </p:cNvPr>
          <p:cNvSpPr txBox="1"/>
          <p:nvPr/>
        </p:nvSpPr>
        <p:spPr>
          <a:xfrm>
            <a:off x="4040188" y="661988"/>
            <a:ext cx="4040505" cy="829945"/>
          </a:xfrm>
          <a:prstGeom prst="rect">
            <a:avLst/>
          </a:prstGeom>
          <a:noFill/>
          <a:ln w="9525">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id-ID" altLang="x-none" sz="4800" b="0" i="0" u="none" strike="noStrike" kern="1200" cap="none" spc="0" normalizeH="0" baseline="0" noProof="0" dirty="0">
                <a:ln>
                  <a:noFill/>
                </a:ln>
                <a:solidFill>
                  <a:srgbClr val="7F7F7F"/>
                </a:solidFill>
                <a:effectLst/>
                <a:uLnTx/>
                <a:uFillTx/>
                <a:latin typeface="Calibri" panose="020F0502020204030204" pitchFamily="34" charset="0"/>
                <a:ea typeface="+mn-ea"/>
                <a:cs typeface="Calibri" panose="020F0502020204030204" pitchFamily="34" charset="0"/>
              </a:rPr>
              <a:t>Plan du modèle</a:t>
            </a:r>
            <a:endParaRPr kumimoji="0" lang="fr-FR" altLang="x-none" sz="18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3" name="Straight Connector 10">
            <a:extLst>
              <a:ext uri="{FF2B5EF4-FFF2-40B4-BE49-F238E27FC236}">
                <a16:creationId xmlns:a16="http://schemas.microsoft.com/office/drawing/2014/main" id="{60C09519-F525-C3DB-1331-BBA480565988}"/>
              </a:ext>
            </a:extLst>
          </p:cNvPr>
          <p:cNvCxnSpPr/>
          <p:nvPr/>
        </p:nvCxnSpPr>
        <p:spPr>
          <a:xfrm>
            <a:off x="6096000" y="1793875"/>
            <a:ext cx="0" cy="1557338"/>
          </a:xfrm>
          <a:prstGeom prst="straightConnector1">
            <a:avLst/>
          </a:prstGeom>
          <a:ln w="25402" cap="flat" cmpd="sng">
            <a:solidFill>
              <a:srgbClr val="D9D9D9"/>
            </a:solidFill>
            <a:prstDash val="solid"/>
            <a:miter/>
            <a:headEnd type="none" w="med" len="med"/>
            <a:tailEnd type="none" w="med" len="med"/>
          </a:ln>
        </p:spPr>
      </p:cxnSp>
      <p:sp>
        <p:nvSpPr>
          <p:cNvPr id="4" name="TextBox 14">
            <a:extLst>
              <a:ext uri="{FF2B5EF4-FFF2-40B4-BE49-F238E27FC236}">
                <a16:creationId xmlns:a16="http://schemas.microsoft.com/office/drawing/2014/main" id="{3BC7B21E-12E1-3C9E-BEAA-C46DC09673A3}"/>
              </a:ext>
            </a:extLst>
          </p:cNvPr>
          <p:cNvSpPr txBox="1"/>
          <p:nvPr/>
        </p:nvSpPr>
        <p:spPr>
          <a:xfrm>
            <a:off x="2491582" y="3192028"/>
            <a:ext cx="1890712" cy="460375"/>
          </a:xfrm>
          <a:prstGeom prst="rect">
            <a:avLst/>
          </a:prstGeom>
          <a:noFill/>
          <a:ln w="9525">
            <a:no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id-ID" altLang="x-none" sz="2400" b="1" i="0" u="none" strike="noStrike" kern="1200" cap="none" spc="0" normalizeH="0" baseline="0" noProof="0" dirty="0">
                <a:ln>
                  <a:noFill/>
                </a:ln>
                <a:solidFill>
                  <a:srgbClr val="7F7F7F"/>
                </a:solidFill>
                <a:effectLst/>
                <a:uLnTx/>
                <a:uFillTx/>
                <a:latin typeface="Calibri" panose="020F0502020204030204" pitchFamily="34" charset="0"/>
                <a:ea typeface="+mn-ea"/>
                <a:cs typeface="Calibri" panose="020F0502020204030204" pitchFamily="34" charset="0"/>
              </a:rPr>
              <a:t>Introduction</a:t>
            </a:r>
            <a:endParaRPr kumimoji="0" lang="id-ID" altLang="x-none" sz="2400" b="1" i="0" u="none" strike="noStrike" kern="1200" cap="none" spc="0" normalizeH="0" baseline="0" noProof="0" dirty="0">
              <a:ln>
                <a:noFill/>
              </a:ln>
              <a:solidFill>
                <a:srgbClr val="7F7F7F"/>
              </a:solidFill>
              <a:effectLst/>
              <a:uLnTx/>
              <a:uFillTx/>
              <a:latin typeface="Calibri" panose="020F0502020204030204" pitchFamily="34" charset="0"/>
              <a:ea typeface="Source Sans Pro Light"/>
              <a:cs typeface="Calibri" panose="020F0502020204030204" pitchFamily="34" charset="0"/>
            </a:endParaRPr>
          </a:p>
        </p:txBody>
      </p:sp>
      <p:sp>
        <p:nvSpPr>
          <p:cNvPr id="6" name="Isosceles Triangle 1">
            <a:extLst>
              <a:ext uri="{FF2B5EF4-FFF2-40B4-BE49-F238E27FC236}">
                <a16:creationId xmlns:a16="http://schemas.microsoft.com/office/drawing/2014/main" id="{A40D5AE3-1AF9-49B4-949C-003905A8F0D1}"/>
              </a:ext>
            </a:extLst>
          </p:cNvPr>
          <p:cNvSpPr/>
          <p:nvPr/>
        </p:nvSpPr>
        <p:spPr>
          <a:xfrm rot="10799991">
            <a:off x="5964238" y="1633538"/>
            <a:ext cx="263525"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 name="Oval 3">
            <a:extLst>
              <a:ext uri="{FF2B5EF4-FFF2-40B4-BE49-F238E27FC236}">
                <a16:creationId xmlns:a16="http://schemas.microsoft.com/office/drawing/2014/main" id="{0F057260-DB8D-F92E-4A18-EB94F88F8DB2}"/>
              </a:ext>
            </a:extLst>
          </p:cNvPr>
          <p:cNvSpPr/>
          <p:nvPr/>
        </p:nvSpPr>
        <p:spPr>
          <a:xfrm>
            <a:off x="6038850" y="336708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88A945">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8" name="Straight Connector 9">
            <a:extLst>
              <a:ext uri="{FF2B5EF4-FFF2-40B4-BE49-F238E27FC236}">
                <a16:creationId xmlns:a16="http://schemas.microsoft.com/office/drawing/2014/main" id="{4975C25D-75FA-933A-D1ED-3DA9717D7C1D}"/>
              </a:ext>
            </a:extLst>
          </p:cNvPr>
          <p:cNvCxnSpPr/>
          <p:nvPr/>
        </p:nvCxnSpPr>
        <p:spPr>
          <a:xfrm>
            <a:off x="5514975" y="3441700"/>
            <a:ext cx="523875" cy="0"/>
          </a:xfrm>
          <a:prstGeom prst="straightConnector1">
            <a:avLst/>
          </a:prstGeom>
          <a:ln w="25402" cap="flat" cmpd="sng">
            <a:solidFill>
              <a:srgbClr val="D9D9D9"/>
            </a:solidFill>
            <a:prstDash val="solid"/>
            <a:miter/>
            <a:headEnd type="none" w="med" len="med"/>
            <a:tailEnd type="none" w="med" len="med"/>
          </a:ln>
        </p:spPr>
      </p:cxnSp>
      <p:sp>
        <p:nvSpPr>
          <p:cNvPr id="9" name="Rectangle 13">
            <a:extLst>
              <a:ext uri="{FF2B5EF4-FFF2-40B4-BE49-F238E27FC236}">
                <a16:creationId xmlns:a16="http://schemas.microsoft.com/office/drawing/2014/main" id="{AC464CCF-8D6F-810E-67A1-0426BDFB529A}"/>
              </a:ext>
            </a:extLst>
          </p:cNvPr>
          <p:cNvSpPr/>
          <p:nvPr/>
        </p:nvSpPr>
        <p:spPr>
          <a:xfrm>
            <a:off x="4448175" y="2914650"/>
            <a:ext cx="1054100" cy="105410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25">
            <a:extLst>
              <a:ext uri="{FF2B5EF4-FFF2-40B4-BE49-F238E27FC236}">
                <a16:creationId xmlns:a16="http://schemas.microsoft.com/office/drawing/2014/main" id="{BC885F2C-872B-F7FC-BEEB-1480283C4F3D}"/>
              </a:ext>
            </a:extLst>
          </p:cNvPr>
          <p:cNvGrpSpPr/>
          <p:nvPr/>
        </p:nvGrpSpPr>
        <p:grpSpPr>
          <a:xfrm>
            <a:off x="4752975" y="3224213"/>
            <a:ext cx="444500" cy="436562"/>
            <a:chOff x="4753453" y="3223973"/>
            <a:chExt cx="444389" cy="436744"/>
          </a:xfrm>
        </p:grpSpPr>
        <p:sp>
          <p:nvSpPr>
            <p:cNvPr id="30749" name="Freeform 5">
              <a:extLst>
                <a:ext uri="{FF2B5EF4-FFF2-40B4-BE49-F238E27FC236}">
                  <a16:creationId xmlns:a16="http://schemas.microsoft.com/office/drawing/2014/main" id="{A113A7AE-95A8-1D29-01B3-47E7755ED365}"/>
                </a:ext>
              </a:extLst>
            </p:cNvPr>
            <p:cNvSpPr/>
            <p:nvPr/>
          </p:nvSpPr>
          <p:spPr>
            <a:xfrm>
              <a:off x="4996409" y="3278389"/>
              <a:ext cx="143670" cy="143670"/>
            </a:xfrm>
            <a:custGeom>
              <a:avLst/>
              <a:gdLst>
                <a:gd name="txL" fmla="*/ 0 w 254"/>
                <a:gd name="txT" fmla="*/ 0 h 254"/>
                <a:gd name="txR" fmla="*/ 254 w 254"/>
                <a:gd name="txB" fmla="*/ 254 h 254"/>
              </a:gdLst>
              <a:ahLst/>
              <a:cxnLst>
                <a:cxn ang="17694720">
                  <a:pos x="71835" y="0"/>
                </a:cxn>
                <a:cxn ang="0">
                  <a:pos x="143670" y="71835"/>
                </a:cxn>
                <a:cxn ang="5898240">
                  <a:pos x="71835" y="143670"/>
                </a:cxn>
                <a:cxn ang="11796480">
                  <a:pos x="0" y="71835"/>
                </a:cxn>
                <a:cxn ang="0">
                  <a:pos x="129529" y="136882"/>
                </a:cxn>
                <a:cxn ang="0">
                  <a:pos x="129529" y="136882"/>
                </a:cxn>
                <a:cxn ang="0">
                  <a:pos x="136317" y="143670"/>
                </a:cxn>
                <a:cxn ang="0">
                  <a:pos x="143670" y="136882"/>
                </a:cxn>
                <a:cxn ang="0">
                  <a:pos x="143104" y="136882"/>
                </a:cxn>
                <a:cxn ang="0">
                  <a:pos x="7353" y="566"/>
                </a:cxn>
                <a:cxn ang="0">
                  <a:pos x="6788" y="0"/>
                </a:cxn>
                <a:cxn ang="0">
                  <a:pos x="0" y="7353"/>
                </a:cxn>
                <a:cxn ang="0">
                  <a:pos x="6788" y="14141"/>
                </a:cxn>
                <a:cxn ang="0">
                  <a:pos x="6788" y="14141"/>
                </a:cxn>
                <a:cxn ang="0">
                  <a:pos x="129529" y="136882"/>
                </a:cxn>
              </a:cxnLst>
              <a:rect l="txL" t="txT" r="txR" b="txB"/>
              <a:pathLst>
                <a:path w="254" h="254">
                  <a:moveTo>
                    <a:pt x="229" y="242"/>
                  </a:moveTo>
                  <a:cubicBezTo>
                    <a:pt x="229" y="242"/>
                    <a:pt x="229" y="242"/>
                    <a:pt x="229" y="242"/>
                  </a:cubicBezTo>
                  <a:cubicBezTo>
                    <a:pt x="229" y="248"/>
                    <a:pt x="235" y="254"/>
                    <a:pt x="241" y="254"/>
                  </a:cubicBezTo>
                  <a:cubicBezTo>
                    <a:pt x="248" y="254"/>
                    <a:pt x="254" y="248"/>
                    <a:pt x="254" y="242"/>
                  </a:cubicBezTo>
                  <a:cubicBezTo>
                    <a:pt x="254" y="242"/>
                    <a:pt x="253" y="242"/>
                    <a:pt x="253" y="242"/>
                  </a:cubicBezTo>
                  <a:cubicBezTo>
                    <a:pt x="253" y="109"/>
                    <a:pt x="146" y="1"/>
                    <a:pt x="13" y="1"/>
                  </a:cubicBezTo>
                  <a:cubicBezTo>
                    <a:pt x="13" y="1"/>
                    <a:pt x="12" y="0"/>
                    <a:pt x="12" y="0"/>
                  </a:cubicBezTo>
                  <a:cubicBezTo>
                    <a:pt x="6" y="0"/>
                    <a:pt x="0" y="6"/>
                    <a:pt x="0" y="13"/>
                  </a:cubicBezTo>
                  <a:cubicBezTo>
                    <a:pt x="0" y="19"/>
                    <a:pt x="6" y="25"/>
                    <a:pt x="12" y="25"/>
                  </a:cubicBezTo>
                  <a:cubicBezTo>
                    <a:pt x="12" y="25"/>
                    <a:pt x="12" y="25"/>
                    <a:pt x="12" y="25"/>
                  </a:cubicBezTo>
                  <a:cubicBezTo>
                    <a:pt x="132" y="25"/>
                    <a:pt x="229" y="122"/>
                    <a:pt x="229" y="242"/>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nvGrpSpPr>
            <p:cNvPr id="30750" name="Group 24">
              <a:extLst>
                <a:ext uri="{FF2B5EF4-FFF2-40B4-BE49-F238E27FC236}">
                  <a16:creationId xmlns:a16="http://schemas.microsoft.com/office/drawing/2014/main" id="{D60C79BC-3502-7F57-AC80-27D59DF927AB}"/>
                </a:ext>
              </a:extLst>
            </p:cNvPr>
            <p:cNvGrpSpPr/>
            <p:nvPr/>
          </p:nvGrpSpPr>
          <p:grpSpPr>
            <a:xfrm>
              <a:off x="4753453" y="3223973"/>
              <a:ext cx="444389" cy="436744"/>
              <a:chOff x="4753453" y="3223973"/>
              <a:chExt cx="444389" cy="436744"/>
            </a:xfrm>
          </p:grpSpPr>
          <p:sp>
            <p:nvSpPr>
              <p:cNvPr id="30751" name="Freeform 6">
                <a:extLst>
                  <a:ext uri="{FF2B5EF4-FFF2-40B4-BE49-F238E27FC236}">
                    <a16:creationId xmlns:a16="http://schemas.microsoft.com/office/drawing/2014/main" id="{A89D8BE7-0003-28E1-61F1-A770E8910F23}"/>
                  </a:ext>
                </a:extLst>
              </p:cNvPr>
              <p:cNvSpPr/>
              <p:nvPr/>
            </p:nvSpPr>
            <p:spPr>
              <a:xfrm>
                <a:off x="4753453" y="3223973"/>
                <a:ext cx="444389" cy="436744"/>
              </a:xfrm>
              <a:custGeom>
                <a:avLst/>
                <a:gdLst>
                  <a:gd name="txL" fmla="*/ 0 w 785"/>
                  <a:gd name="txT" fmla="*/ 0 h 772"/>
                  <a:gd name="txR" fmla="*/ 785 w 785"/>
                  <a:gd name="txB" fmla="*/ 772 h 772"/>
                </a:gdLst>
                <a:ahLst/>
                <a:cxnLst>
                  <a:cxn ang="17694720">
                    <a:pos x="222195" y="0"/>
                  </a:cxn>
                  <a:cxn ang="0">
                    <a:pos x="444389" y="218372"/>
                  </a:cxn>
                  <a:cxn ang="5898240">
                    <a:pos x="222195" y="436744"/>
                  </a:cxn>
                  <a:cxn ang="11796480">
                    <a:pos x="0" y="218372"/>
                  </a:cxn>
                  <a:cxn ang="0">
                    <a:pos x="128505" y="11880"/>
                  </a:cxn>
                  <a:cxn ang="0">
                    <a:pos x="99634" y="0"/>
                  </a:cxn>
                  <a:cxn ang="0">
                    <a:pos x="83783" y="3394"/>
                  </a:cxn>
                  <a:cxn ang="0">
                    <a:pos x="58308" y="40733"/>
                  </a:cxn>
                  <a:cxn ang="0">
                    <a:pos x="58308" y="228555"/>
                  </a:cxn>
                  <a:cxn ang="0">
                    <a:pos x="15851" y="271551"/>
                  </a:cxn>
                  <a:cxn ang="0">
                    <a:pos x="15851" y="329255"/>
                  </a:cxn>
                  <a:cxn ang="0">
                    <a:pos x="111522" y="424864"/>
                  </a:cxn>
                  <a:cxn ang="0">
                    <a:pos x="140393" y="436744"/>
                  </a:cxn>
                  <a:cxn ang="0">
                    <a:pos x="169264" y="424864"/>
                  </a:cxn>
                  <a:cxn ang="0">
                    <a:pos x="212288" y="381868"/>
                  </a:cxn>
                  <a:cxn ang="0">
                    <a:pos x="400233" y="381868"/>
                  </a:cxn>
                  <a:cxn ang="0">
                    <a:pos x="437596" y="356976"/>
                  </a:cxn>
                  <a:cxn ang="0">
                    <a:pos x="429104" y="312283"/>
                  </a:cxn>
                  <a:cxn ang="0">
                    <a:pos x="128505" y="11880"/>
                  </a:cxn>
                  <a:cxn ang="0">
                    <a:pos x="193040" y="362633"/>
                  </a:cxn>
                  <a:cxn ang="0">
                    <a:pos x="150017" y="405629"/>
                  </a:cxn>
                  <a:cxn ang="0">
                    <a:pos x="140393" y="409589"/>
                  </a:cxn>
                  <a:cxn ang="0">
                    <a:pos x="130769" y="405629"/>
                  </a:cxn>
                  <a:cxn ang="0">
                    <a:pos x="35098" y="310020"/>
                  </a:cxn>
                  <a:cxn ang="0">
                    <a:pos x="31136" y="300403"/>
                  </a:cxn>
                  <a:cxn ang="0">
                    <a:pos x="35098" y="290786"/>
                  </a:cxn>
                  <a:cxn ang="0">
                    <a:pos x="78122" y="247790"/>
                  </a:cxn>
                  <a:cxn ang="0">
                    <a:pos x="78122" y="247790"/>
                  </a:cxn>
                  <a:cxn ang="0">
                    <a:pos x="193040" y="362633"/>
                  </a:cxn>
                  <a:cxn ang="0">
                    <a:pos x="193040" y="362633"/>
                  </a:cxn>
                  <a:cxn ang="0">
                    <a:pos x="212288" y="354713"/>
                  </a:cxn>
                  <a:cxn ang="0">
                    <a:pos x="206061" y="355845"/>
                  </a:cxn>
                  <a:cxn ang="0">
                    <a:pos x="84915" y="234778"/>
                  </a:cxn>
                  <a:cxn ang="0">
                    <a:pos x="86047" y="228555"/>
                  </a:cxn>
                  <a:cxn ang="0">
                    <a:pos x="86047" y="64493"/>
                  </a:cxn>
                  <a:cxn ang="0">
                    <a:pos x="376457" y="354713"/>
                  </a:cxn>
                  <a:cxn ang="0">
                    <a:pos x="212288" y="354713"/>
                  </a:cxn>
                  <a:cxn ang="0">
                    <a:pos x="412687" y="346227"/>
                  </a:cxn>
                  <a:cxn ang="0">
                    <a:pos x="400233" y="354713"/>
                  </a:cxn>
                  <a:cxn ang="0">
                    <a:pos x="395704" y="354713"/>
                  </a:cxn>
                  <a:cxn ang="0">
                    <a:pos x="86047" y="45258"/>
                  </a:cxn>
                  <a:cxn ang="0">
                    <a:pos x="86047" y="40733"/>
                  </a:cxn>
                  <a:cxn ang="0">
                    <a:pos x="94539" y="28287"/>
                  </a:cxn>
                  <a:cxn ang="0">
                    <a:pos x="99634" y="27155"/>
                  </a:cxn>
                  <a:cxn ang="0">
                    <a:pos x="109257" y="31115"/>
                  </a:cxn>
                  <a:cxn ang="0">
                    <a:pos x="409857" y="331518"/>
                  </a:cxn>
                  <a:cxn ang="0">
                    <a:pos x="412687" y="346227"/>
                  </a:cxn>
                </a:cxnLst>
                <a:rect l="txL" t="txT" r="txR" b="txB"/>
                <a:pathLst>
                  <a:path w="785" h="772">
                    <a:moveTo>
                      <a:pt x="227" y="21"/>
                    </a:moveTo>
                    <a:cubicBezTo>
                      <a:pt x="213" y="7"/>
                      <a:pt x="195" y="0"/>
                      <a:pt x="176" y="0"/>
                    </a:cubicBezTo>
                    <a:cubicBezTo>
                      <a:pt x="167" y="0"/>
                      <a:pt x="157" y="2"/>
                      <a:pt x="148" y="6"/>
                    </a:cubicBezTo>
                    <a:cubicBezTo>
                      <a:pt x="121" y="17"/>
                      <a:pt x="103" y="43"/>
                      <a:pt x="103" y="72"/>
                    </a:cubicBezTo>
                    <a:cubicBezTo>
                      <a:pt x="103" y="404"/>
                      <a:pt x="103" y="404"/>
                      <a:pt x="103" y="404"/>
                    </a:cubicBezTo>
                    <a:cubicBezTo>
                      <a:pt x="28" y="480"/>
                      <a:pt x="28" y="480"/>
                      <a:pt x="28" y="480"/>
                    </a:cubicBezTo>
                    <a:cubicBezTo>
                      <a:pt x="0" y="508"/>
                      <a:pt x="0" y="554"/>
                      <a:pt x="28" y="582"/>
                    </a:cubicBezTo>
                    <a:cubicBezTo>
                      <a:pt x="197" y="751"/>
                      <a:pt x="197" y="751"/>
                      <a:pt x="197" y="751"/>
                    </a:cubicBezTo>
                    <a:cubicBezTo>
                      <a:pt x="211" y="765"/>
                      <a:pt x="230" y="772"/>
                      <a:pt x="248" y="772"/>
                    </a:cubicBezTo>
                    <a:cubicBezTo>
                      <a:pt x="267" y="772"/>
                      <a:pt x="285" y="765"/>
                      <a:pt x="299" y="751"/>
                    </a:cubicBezTo>
                    <a:cubicBezTo>
                      <a:pt x="375" y="675"/>
                      <a:pt x="375" y="675"/>
                      <a:pt x="375" y="675"/>
                    </a:cubicBezTo>
                    <a:cubicBezTo>
                      <a:pt x="707" y="675"/>
                      <a:pt x="707" y="675"/>
                      <a:pt x="707" y="675"/>
                    </a:cubicBezTo>
                    <a:cubicBezTo>
                      <a:pt x="736" y="675"/>
                      <a:pt x="762" y="658"/>
                      <a:pt x="773" y="631"/>
                    </a:cubicBezTo>
                    <a:cubicBezTo>
                      <a:pt x="785" y="604"/>
                      <a:pt x="778" y="573"/>
                      <a:pt x="758" y="552"/>
                    </a:cubicBezTo>
                    <a:lnTo>
                      <a:pt x="227" y="21"/>
                    </a:lnTo>
                    <a:close/>
                    <a:moveTo>
                      <a:pt x="341" y="641"/>
                    </a:moveTo>
                    <a:cubicBezTo>
                      <a:pt x="265" y="717"/>
                      <a:pt x="265" y="717"/>
                      <a:pt x="265" y="717"/>
                    </a:cubicBezTo>
                    <a:cubicBezTo>
                      <a:pt x="259" y="723"/>
                      <a:pt x="252" y="724"/>
                      <a:pt x="248" y="724"/>
                    </a:cubicBezTo>
                    <a:cubicBezTo>
                      <a:pt x="245" y="724"/>
                      <a:pt x="237" y="723"/>
                      <a:pt x="231" y="717"/>
                    </a:cubicBezTo>
                    <a:cubicBezTo>
                      <a:pt x="62" y="548"/>
                      <a:pt x="62" y="548"/>
                      <a:pt x="62" y="548"/>
                    </a:cubicBezTo>
                    <a:cubicBezTo>
                      <a:pt x="56" y="542"/>
                      <a:pt x="55" y="534"/>
                      <a:pt x="55" y="531"/>
                    </a:cubicBezTo>
                    <a:cubicBezTo>
                      <a:pt x="55" y="527"/>
                      <a:pt x="56" y="520"/>
                      <a:pt x="62" y="514"/>
                    </a:cubicBezTo>
                    <a:cubicBezTo>
                      <a:pt x="138" y="438"/>
                      <a:pt x="138" y="438"/>
                      <a:pt x="138" y="438"/>
                    </a:cubicBezTo>
                    <a:cubicBezTo>
                      <a:pt x="138" y="438"/>
                      <a:pt x="138" y="438"/>
                      <a:pt x="138" y="438"/>
                    </a:cubicBezTo>
                    <a:cubicBezTo>
                      <a:pt x="341" y="641"/>
                      <a:pt x="341" y="641"/>
                      <a:pt x="341" y="641"/>
                    </a:cubicBezTo>
                    <a:cubicBezTo>
                      <a:pt x="341" y="641"/>
                      <a:pt x="341" y="641"/>
                      <a:pt x="341" y="641"/>
                    </a:cubicBezTo>
                    <a:close/>
                    <a:moveTo>
                      <a:pt x="375" y="627"/>
                    </a:moveTo>
                    <a:cubicBezTo>
                      <a:pt x="371" y="627"/>
                      <a:pt x="368" y="629"/>
                      <a:pt x="364" y="629"/>
                    </a:cubicBezTo>
                    <a:cubicBezTo>
                      <a:pt x="150" y="415"/>
                      <a:pt x="150" y="415"/>
                      <a:pt x="150" y="415"/>
                    </a:cubicBezTo>
                    <a:cubicBezTo>
                      <a:pt x="150" y="411"/>
                      <a:pt x="152" y="408"/>
                      <a:pt x="152" y="404"/>
                    </a:cubicBezTo>
                    <a:cubicBezTo>
                      <a:pt x="152" y="114"/>
                      <a:pt x="152" y="114"/>
                      <a:pt x="152" y="114"/>
                    </a:cubicBezTo>
                    <a:cubicBezTo>
                      <a:pt x="665" y="627"/>
                      <a:pt x="665" y="627"/>
                      <a:pt x="665" y="627"/>
                    </a:cubicBezTo>
                    <a:lnTo>
                      <a:pt x="375" y="627"/>
                    </a:lnTo>
                    <a:close/>
                    <a:moveTo>
                      <a:pt x="729" y="612"/>
                    </a:moveTo>
                    <a:cubicBezTo>
                      <a:pt x="725" y="621"/>
                      <a:pt x="716" y="627"/>
                      <a:pt x="707" y="627"/>
                    </a:cubicBezTo>
                    <a:cubicBezTo>
                      <a:pt x="699" y="627"/>
                      <a:pt x="699" y="627"/>
                      <a:pt x="699" y="627"/>
                    </a:cubicBezTo>
                    <a:cubicBezTo>
                      <a:pt x="152" y="80"/>
                      <a:pt x="152" y="80"/>
                      <a:pt x="152" y="80"/>
                    </a:cubicBezTo>
                    <a:cubicBezTo>
                      <a:pt x="152" y="72"/>
                      <a:pt x="152" y="72"/>
                      <a:pt x="152" y="72"/>
                    </a:cubicBezTo>
                    <a:cubicBezTo>
                      <a:pt x="152" y="63"/>
                      <a:pt x="158" y="54"/>
                      <a:pt x="167" y="50"/>
                    </a:cubicBezTo>
                    <a:cubicBezTo>
                      <a:pt x="170" y="49"/>
                      <a:pt x="173" y="48"/>
                      <a:pt x="176" y="48"/>
                    </a:cubicBezTo>
                    <a:cubicBezTo>
                      <a:pt x="182" y="48"/>
                      <a:pt x="188" y="51"/>
                      <a:pt x="193" y="55"/>
                    </a:cubicBezTo>
                    <a:cubicBezTo>
                      <a:pt x="724" y="586"/>
                      <a:pt x="724" y="586"/>
                      <a:pt x="724" y="586"/>
                    </a:cubicBezTo>
                    <a:cubicBezTo>
                      <a:pt x="731" y="593"/>
                      <a:pt x="733" y="603"/>
                      <a:pt x="729" y="612"/>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52" name="Freeform 7">
                <a:extLst>
                  <a:ext uri="{FF2B5EF4-FFF2-40B4-BE49-F238E27FC236}">
                    <a16:creationId xmlns:a16="http://schemas.microsoft.com/office/drawing/2014/main" id="{8DC5D882-93A6-AFBC-7EF0-17307C8D4475}"/>
                  </a:ext>
                </a:extLst>
              </p:cNvPr>
              <p:cNvSpPr/>
              <p:nvPr/>
            </p:nvSpPr>
            <p:spPr>
              <a:xfrm>
                <a:off x="4989487" y="3223973"/>
                <a:ext cx="204770" cy="204770"/>
              </a:xfrm>
              <a:custGeom>
                <a:avLst/>
                <a:gdLst>
                  <a:gd name="txL" fmla="*/ 0 w 362"/>
                  <a:gd name="txT" fmla="*/ 0 h 362"/>
                  <a:gd name="txR" fmla="*/ 362 w 362"/>
                  <a:gd name="txB" fmla="*/ 362 h 362"/>
                </a:gdLst>
                <a:ahLst/>
                <a:cxnLst>
                  <a:cxn ang="17694720">
                    <a:pos x="102385" y="0"/>
                  </a:cxn>
                  <a:cxn ang="0">
                    <a:pos x="204770" y="102385"/>
                  </a:cxn>
                  <a:cxn ang="5898240">
                    <a:pos x="102385" y="204770"/>
                  </a:cxn>
                  <a:cxn ang="11796480">
                    <a:pos x="0" y="102385"/>
                  </a:cxn>
                  <a:cxn ang="0">
                    <a:pos x="13576" y="27152"/>
                  </a:cxn>
                  <a:cxn ang="0">
                    <a:pos x="13576" y="27152"/>
                  </a:cxn>
                  <a:cxn ang="0">
                    <a:pos x="177618" y="191194"/>
                  </a:cxn>
                  <a:cxn ang="0">
                    <a:pos x="177618" y="191194"/>
                  </a:cxn>
                  <a:cxn ang="0">
                    <a:pos x="191194" y="204770"/>
                  </a:cxn>
                  <a:cxn ang="0">
                    <a:pos x="204770" y="191194"/>
                  </a:cxn>
                  <a:cxn ang="0">
                    <a:pos x="204770" y="191194"/>
                  </a:cxn>
                  <a:cxn ang="0">
                    <a:pos x="14142" y="0"/>
                  </a:cxn>
                  <a:cxn ang="0">
                    <a:pos x="13576" y="0"/>
                  </a:cxn>
                  <a:cxn ang="0">
                    <a:pos x="0" y="13576"/>
                  </a:cxn>
                  <a:cxn ang="0">
                    <a:pos x="13576" y="27152"/>
                  </a:cxn>
                </a:cxnLst>
                <a:rect l="txL" t="txT" r="txR" b="txB"/>
                <a:pathLst>
                  <a:path w="362" h="362">
                    <a:moveTo>
                      <a:pt x="24" y="48"/>
                    </a:moveTo>
                    <a:cubicBezTo>
                      <a:pt x="24" y="48"/>
                      <a:pt x="24" y="48"/>
                      <a:pt x="24" y="48"/>
                    </a:cubicBezTo>
                    <a:cubicBezTo>
                      <a:pt x="184" y="48"/>
                      <a:pt x="314" y="178"/>
                      <a:pt x="314" y="338"/>
                    </a:cubicBezTo>
                    <a:cubicBezTo>
                      <a:pt x="314" y="338"/>
                      <a:pt x="314" y="338"/>
                      <a:pt x="314" y="338"/>
                    </a:cubicBezTo>
                    <a:cubicBezTo>
                      <a:pt x="314" y="351"/>
                      <a:pt x="325" y="362"/>
                      <a:pt x="338" y="362"/>
                    </a:cubicBezTo>
                    <a:cubicBezTo>
                      <a:pt x="351" y="362"/>
                      <a:pt x="362" y="351"/>
                      <a:pt x="362" y="338"/>
                    </a:cubicBezTo>
                    <a:cubicBezTo>
                      <a:pt x="362" y="338"/>
                      <a:pt x="362" y="338"/>
                      <a:pt x="362" y="338"/>
                    </a:cubicBezTo>
                    <a:cubicBezTo>
                      <a:pt x="362" y="151"/>
                      <a:pt x="211" y="0"/>
                      <a:pt x="25" y="0"/>
                    </a:cubicBezTo>
                    <a:cubicBezTo>
                      <a:pt x="25" y="0"/>
                      <a:pt x="24" y="0"/>
                      <a:pt x="24" y="0"/>
                    </a:cubicBezTo>
                    <a:cubicBezTo>
                      <a:pt x="11" y="0"/>
                      <a:pt x="0" y="11"/>
                      <a:pt x="0" y="24"/>
                    </a:cubicBezTo>
                    <a:cubicBezTo>
                      <a:pt x="0" y="37"/>
                      <a:pt x="11" y="48"/>
                      <a:pt x="24" y="48"/>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grpSp>
      <p:cxnSp>
        <p:nvCxnSpPr>
          <p:cNvPr id="15" name="Straight Connector 26">
            <a:extLst>
              <a:ext uri="{FF2B5EF4-FFF2-40B4-BE49-F238E27FC236}">
                <a16:creationId xmlns:a16="http://schemas.microsoft.com/office/drawing/2014/main" id="{59D6DCAC-FD68-767D-0064-F7978F183D3E}"/>
              </a:ext>
            </a:extLst>
          </p:cNvPr>
          <p:cNvCxnSpPr/>
          <p:nvPr/>
        </p:nvCxnSpPr>
        <p:spPr>
          <a:xfrm>
            <a:off x="6096000" y="3489325"/>
            <a:ext cx="0" cy="1249363"/>
          </a:xfrm>
          <a:prstGeom prst="straightConnector1">
            <a:avLst/>
          </a:prstGeom>
          <a:ln w="25402" cap="flat" cmpd="sng">
            <a:solidFill>
              <a:srgbClr val="D9D9D9"/>
            </a:solidFill>
            <a:prstDash val="solid"/>
            <a:miter/>
            <a:headEnd type="none" w="med" len="med"/>
            <a:tailEnd type="none" w="med" len="med"/>
          </a:ln>
        </p:spPr>
      </p:cxnSp>
      <p:sp>
        <p:nvSpPr>
          <p:cNvPr id="16" name="Oval 27">
            <a:extLst>
              <a:ext uri="{FF2B5EF4-FFF2-40B4-BE49-F238E27FC236}">
                <a16:creationId xmlns:a16="http://schemas.microsoft.com/office/drawing/2014/main" id="{6581C59D-55EE-1EF1-8FD8-EE540E81C134}"/>
              </a:ext>
            </a:extLst>
          </p:cNvPr>
          <p:cNvSpPr/>
          <p:nvPr/>
        </p:nvSpPr>
        <p:spPr>
          <a:xfrm>
            <a:off x="6038850" y="4752975"/>
            <a:ext cx="114300" cy="114300"/>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9BBB59">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17" name="Straight Connector 28">
            <a:extLst>
              <a:ext uri="{FF2B5EF4-FFF2-40B4-BE49-F238E27FC236}">
                <a16:creationId xmlns:a16="http://schemas.microsoft.com/office/drawing/2014/main" id="{D94E1215-6D23-F8EA-CDF5-5D0718BA9A09}"/>
              </a:ext>
            </a:extLst>
          </p:cNvPr>
          <p:cNvCxnSpPr/>
          <p:nvPr/>
        </p:nvCxnSpPr>
        <p:spPr>
          <a:xfrm>
            <a:off x="6153150" y="4829175"/>
            <a:ext cx="523875" cy="0"/>
          </a:xfrm>
          <a:prstGeom prst="straightConnector1">
            <a:avLst/>
          </a:prstGeom>
          <a:ln w="25402" cap="flat" cmpd="sng">
            <a:solidFill>
              <a:srgbClr val="D9D9D9"/>
            </a:solidFill>
            <a:prstDash val="solid"/>
            <a:miter/>
            <a:headEnd type="none" w="med" len="med"/>
            <a:tailEnd type="none" w="med" len="med"/>
          </a:ln>
        </p:spPr>
      </p:cxnSp>
      <p:sp>
        <p:nvSpPr>
          <p:cNvPr id="18" name="Rectangle 29">
            <a:extLst>
              <a:ext uri="{FF2B5EF4-FFF2-40B4-BE49-F238E27FC236}">
                <a16:creationId xmlns:a16="http://schemas.microsoft.com/office/drawing/2014/main" id="{7187F9AA-4FE8-6BFB-30A4-D1353C07BC06}"/>
              </a:ext>
            </a:extLst>
          </p:cNvPr>
          <p:cNvSpPr/>
          <p:nvPr/>
        </p:nvSpPr>
        <p:spPr>
          <a:xfrm>
            <a:off x="6677025" y="4302125"/>
            <a:ext cx="1054100" cy="10541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19" name="Straight Connector 31">
            <a:extLst>
              <a:ext uri="{FF2B5EF4-FFF2-40B4-BE49-F238E27FC236}">
                <a16:creationId xmlns:a16="http://schemas.microsoft.com/office/drawing/2014/main" id="{269F2C34-A1C0-3634-CA10-2E42242B0D25}"/>
              </a:ext>
            </a:extLst>
          </p:cNvPr>
          <p:cNvCxnSpPr/>
          <p:nvPr/>
        </p:nvCxnSpPr>
        <p:spPr>
          <a:xfrm>
            <a:off x="6096000" y="4867275"/>
            <a:ext cx="0" cy="1990725"/>
          </a:xfrm>
          <a:prstGeom prst="straightConnector1">
            <a:avLst/>
          </a:prstGeom>
          <a:ln w="25402" cap="flat" cmpd="sng">
            <a:solidFill>
              <a:srgbClr val="D9D9D9"/>
            </a:solidFill>
            <a:prstDash val="solid"/>
            <a:miter/>
            <a:headEnd type="none" w="med" len="med"/>
            <a:tailEnd type="none" w="med" len="med"/>
          </a:ln>
        </p:spPr>
      </p:cxnSp>
      <p:sp>
        <p:nvSpPr>
          <p:cNvPr id="20" name="TextBox 36">
            <a:extLst>
              <a:ext uri="{FF2B5EF4-FFF2-40B4-BE49-F238E27FC236}">
                <a16:creationId xmlns:a16="http://schemas.microsoft.com/office/drawing/2014/main" id="{26705356-9741-17B4-DE7B-0C7E0DC8B7CC}"/>
              </a:ext>
            </a:extLst>
          </p:cNvPr>
          <p:cNvSpPr txBox="1"/>
          <p:nvPr/>
        </p:nvSpPr>
        <p:spPr>
          <a:xfrm>
            <a:off x="7883409" y="4549414"/>
            <a:ext cx="4600958" cy="461665"/>
          </a:xfrm>
          <a:prstGeom prst="rect">
            <a:avLst/>
          </a:prstGeom>
          <a:noFill/>
          <a:ln w="9525">
            <a:noFill/>
          </a:ln>
        </p:spPr>
        <p:txBody>
          <a:bodyPr wrap="square">
            <a:spAutoFit/>
          </a:bodyPr>
          <a:lstStyle/>
          <a:p>
            <a:pPr lvl="0" eaLnBrk="1" hangingPunct="1">
              <a:defRPr/>
            </a:pPr>
            <a:r>
              <a:rPr lang="id-ID" altLang="x-none" sz="2400" b="1" dirty="0">
                <a:solidFill>
                  <a:srgbClr val="7D7D7D"/>
                </a:solidFill>
                <a:ea typeface="Source Sans Pro Light"/>
                <a:cs typeface="Calibri" panose="020F0502020204030204" pitchFamily="34" charset="0"/>
              </a:rPr>
              <a:t> Architecture technique</a:t>
            </a:r>
          </a:p>
        </p:txBody>
      </p:sp>
      <p:grpSp>
        <p:nvGrpSpPr>
          <p:cNvPr id="21" name="Group 45">
            <a:extLst>
              <a:ext uri="{FF2B5EF4-FFF2-40B4-BE49-F238E27FC236}">
                <a16:creationId xmlns:a16="http://schemas.microsoft.com/office/drawing/2014/main" id="{C17E3C51-1530-E756-0877-3D6C85D7E02B}"/>
              </a:ext>
            </a:extLst>
          </p:cNvPr>
          <p:cNvGrpSpPr/>
          <p:nvPr/>
        </p:nvGrpSpPr>
        <p:grpSpPr>
          <a:xfrm>
            <a:off x="6959600" y="4643438"/>
            <a:ext cx="484188" cy="369887"/>
            <a:chOff x="6959727" y="4643880"/>
            <a:chExt cx="484705" cy="370185"/>
          </a:xfrm>
        </p:grpSpPr>
        <p:sp>
          <p:nvSpPr>
            <p:cNvPr id="30742" name="Freeform 5">
              <a:extLst>
                <a:ext uri="{FF2B5EF4-FFF2-40B4-BE49-F238E27FC236}">
                  <a16:creationId xmlns:a16="http://schemas.microsoft.com/office/drawing/2014/main" id="{F722AD8A-B403-93E3-DEA3-36FA4E7F6BA3}"/>
                </a:ext>
              </a:extLst>
            </p:cNvPr>
            <p:cNvSpPr/>
            <p:nvPr/>
          </p:nvSpPr>
          <p:spPr>
            <a:xfrm>
              <a:off x="7019318" y="4700153"/>
              <a:ext cx="306452" cy="240121"/>
            </a:xfrm>
            <a:custGeom>
              <a:avLst/>
              <a:gdLst>
                <a:gd name="txL" fmla="*/ 0 w 1250"/>
                <a:gd name="txT" fmla="*/ 0 h 979"/>
                <a:gd name="txR" fmla="*/ 1250 w 1250"/>
                <a:gd name="txB" fmla="*/ 979 h 979"/>
              </a:gdLst>
              <a:ahLst/>
              <a:cxnLst>
                <a:cxn ang="17694720">
                  <a:pos x="153226" y="0"/>
                </a:cxn>
                <a:cxn ang="0">
                  <a:pos x="306452" y="120061"/>
                </a:cxn>
                <a:cxn ang="5898240">
                  <a:pos x="153226" y="240121"/>
                </a:cxn>
                <a:cxn ang="11796480">
                  <a:pos x="0" y="120061"/>
                </a:cxn>
                <a:cxn ang="0">
                  <a:pos x="274091" y="12264"/>
                </a:cxn>
                <a:cxn ang="0">
                  <a:pos x="153226" y="0"/>
                </a:cxn>
                <a:cxn ang="0">
                  <a:pos x="32361" y="12264"/>
                </a:cxn>
                <a:cxn ang="0">
                  <a:pos x="21329" y="22074"/>
                </a:cxn>
                <a:cxn ang="0">
                  <a:pos x="21329" y="217801"/>
                </a:cxn>
                <a:cxn ang="0">
                  <a:pos x="32361" y="227612"/>
                </a:cxn>
                <a:cxn ang="0">
                  <a:pos x="153226" y="240121"/>
                </a:cxn>
                <a:cxn ang="0">
                  <a:pos x="274091" y="227612"/>
                </a:cxn>
                <a:cxn ang="0">
                  <a:pos x="285123" y="217801"/>
                </a:cxn>
                <a:cxn ang="0">
                  <a:pos x="285123" y="22074"/>
                </a:cxn>
                <a:cxn ang="0">
                  <a:pos x="274091" y="12264"/>
                </a:cxn>
                <a:cxn ang="0">
                  <a:pos x="271149" y="213141"/>
                </a:cxn>
                <a:cxn ang="0">
                  <a:pos x="35303" y="213141"/>
                </a:cxn>
                <a:cxn ang="0">
                  <a:pos x="35303" y="26735"/>
                </a:cxn>
                <a:cxn ang="0">
                  <a:pos x="271149" y="26735"/>
                </a:cxn>
                <a:cxn ang="0">
                  <a:pos x="271149" y="213141"/>
                </a:cxn>
              </a:cxnLst>
              <a:rect l="txL" t="txT" r="txR" b="txB"/>
              <a:pathLst>
                <a:path w="1250" h="979">
                  <a:moveTo>
                    <a:pt x="1118" y="50"/>
                  </a:moveTo>
                  <a:cubicBezTo>
                    <a:pt x="954" y="17"/>
                    <a:pt x="789" y="0"/>
                    <a:pt x="625" y="0"/>
                  </a:cubicBezTo>
                  <a:cubicBezTo>
                    <a:pt x="461" y="0"/>
                    <a:pt x="295" y="17"/>
                    <a:pt x="132" y="50"/>
                  </a:cubicBezTo>
                  <a:cubicBezTo>
                    <a:pt x="111" y="55"/>
                    <a:pt x="94" y="70"/>
                    <a:pt x="87" y="90"/>
                  </a:cubicBezTo>
                  <a:cubicBezTo>
                    <a:pt x="0" y="355"/>
                    <a:pt x="0" y="623"/>
                    <a:pt x="87" y="888"/>
                  </a:cubicBezTo>
                  <a:cubicBezTo>
                    <a:pt x="94" y="908"/>
                    <a:pt x="111" y="924"/>
                    <a:pt x="132" y="928"/>
                  </a:cubicBezTo>
                  <a:cubicBezTo>
                    <a:pt x="295" y="961"/>
                    <a:pt x="461" y="979"/>
                    <a:pt x="625" y="979"/>
                  </a:cubicBezTo>
                  <a:cubicBezTo>
                    <a:pt x="789" y="979"/>
                    <a:pt x="954" y="961"/>
                    <a:pt x="1118" y="928"/>
                  </a:cubicBezTo>
                  <a:cubicBezTo>
                    <a:pt x="1139" y="924"/>
                    <a:pt x="1156" y="908"/>
                    <a:pt x="1163" y="888"/>
                  </a:cubicBezTo>
                  <a:cubicBezTo>
                    <a:pt x="1250" y="623"/>
                    <a:pt x="1250" y="355"/>
                    <a:pt x="1163" y="90"/>
                  </a:cubicBezTo>
                  <a:cubicBezTo>
                    <a:pt x="1156" y="70"/>
                    <a:pt x="1139" y="55"/>
                    <a:pt x="1118" y="50"/>
                  </a:cubicBezTo>
                  <a:close/>
                  <a:moveTo>
                    <a:pt x="1106" y="869"/>
                  </a:moveTo>
                  <a:cubicBezTo>
                    <a:pt x="785" y="935"/>
                    <a:pt x="465" y="935"/>
                    <a:pt x="144" y="869"/>
                  </a:cubicBezTo>
                  <a:cubicBezTo>
                    <a:pt x="61" y="616"/>
                    <a:pt x="61" y="363"/>
                    <a:pt x="144" y="109"/>
                  </a:cubicBezTo>
                  <a:cubicBezTo>
                    <a:pt x="465" y="43"/>
                    <a:pt x="785" y="43"/>
                    <a:pt x="1106" y="109"/>
                  </a:cubicBezTo>
                  <a:cubicBezTo>
                    <a:pt x="1189" y="363"/>
                    <a:pt x="1189" y="616"/>
                    <a:pt x="1106" y="869"/>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3" name="Freeform 6">
              <a:extLst>
                <a:ext uri="{FF2B5EF4-FFF2-40B4-BE49-F238E27FC236}">
                  <a16:creationId xmlns:a16="http://schemas.microsoft.com/office/drawing/2014/main" id="{86F78E47-AF6A-3324-2326-9B5B776080F5}"/>
                </a:ext>
              </a:extLst>
            </p:cNvPr>
            <p:cNvSpPr/>
            <p:nvPr/>
          </p:nvSpPr>
          <p:spPr>
            <a:xfrm>
              <a:off x="6959727" y="4643880"/>
              <a:ext cx="484705" cy="370185"/>
            </a:xfrm>
            <a:custGeom>
              <a:avLst/>
              <a:gdLst>
                <a:gd name="txL" fmla="*/ 0 w 1977"/>
                <a:gd name="txT" fmla="*/ 0 h 1509"/>
                <a:gd name="txR" fmla="*/ 1977 w 1977"/>
                <a:gd name="txB" fmla="*/ 1509 h 1509"/>
              </a:gdLst>
              <a:ahLst/>
              <a:cxnLst>
                <a:cxn ang="17694720">
                  <a:pos x="242353" y="0"/>
                </a:cxn>
                <a:cxn ang="0">
                  <a:pos x="484705" y="185093"/>
                </a:cxn>
                <a:cxn ang="5898240">
                  <a:pos x="242353" y="370185"/>
                </a:cxn>
                <a:cxn ang="11796480">
                  <a:pos x="0" y="185093"/>
                </a:cxn>
                <a:cxn ang="0">
                  <a:pos x="462149" y="34345"/>
                </a:cxn>
                <a:cxn ang="0">
                  <a:pos x="436896" y="11775"/>
                </a:cxn>
                <a:cxn ang="0">
                  <a:pos x="242475" y="0"/>
                </a:cxn>
                <a:cxn ang="0">
                  <a:pos x="47809" y="11775"/>
                </a:cxn>
                <a:cxn ang="0">
                  <a:pos x="22556" y="34345"/>
                </a:cxn>
                <a:cxn ang="0">
                  <a:pos x="22556" y="321121"/>
                </a:cxn>
                <a:cxn ang="0">
                  <a:pos x="47809" y="343691"/>
                </a:cxn>
                <a:cxn ang="0">
                  <a:pos x="141464" y="352277"/>
                </a:cxn>
                <a:cxn ang="0">
                  <a:pos x="138767" y="355466"/>
                </a:cxn>
                <a:cxn ang="0">
                  <a:pos x="242475" y="370185"/>
                </a:cxn>
                <a:cxn ang="0">
                  <a:pos x="345938" y="355466"/>
                </a:cxn>
                <a:cxn ang="0">
                  <a:pos x="343241" y="352277"/>
                </a:cxn>
                <a:cxn ang="0">
                  <a:pos x="436896" y="343691"/>
                </a:cxn>
                <a:cxn ang="0">
                  <a:pos x="462149" y="321121"/>
                </a:cxn>
                <a:cxn ang="0">
                  <a:pos x="462149" y="34345"/>
                </a:cxn>
                <a:cxn ang="0">
                  <a:pos x="433464" y="314252"/>
                </a:cxn>
                <a:cxn ang="0">
                  <a:pos x="51486" y="314252"/>
                </a:cxn>
                <a:cxn ang="0">
                  <a:pos x="51486" y="41213"/>
                </a:cxn>
                <a:cxn ang="0">
                  <a:pos x="433464" y="41213"/>
                </a:cxn>
                <a:cxn ang="0">
                  <a:pos x="433464" y="314252"/>
                </a:cxn>
              </a:cxnLst>
              <a:rect l="txL" t="txT" r="txR" b="txB"/>
              <a:pathLst>
                <a:path w="1977" h="1509">
                  <a:moveTo>
                    <a:pt x="1885" y="140"/>
                  </a:moveTo>
                  <a:cubicBezTo>
                    <a:pt x="1873" y="91"/>
                    <a:pt x="1832" y="54"/>
                    <a:pt x="1782" y="48"/>
                  </a:cubicBezTo>
                  <a:cubicBezTo>
                    <a:pt x="1519" y="16"/>
                    <a:pt x="1252" y="0"/>
                    <a:pt x="989" y="0"/>
                  </a:cubicBezTo>
                  <a:cubicBezTo>
                    <a:pt x="725" y="0"/>
                    <a:pt x="458" y="16"/>
                    <a:pt x="195" y="48"/>
                  </a:cubicBezTo>
                  <a:cubicBezTo>
                    <a:pt x="145" y="54"/>
                    <a:pt x="104" y="91"/>
                    <a:pt x="92" y="140"/>
                  </a:cubicBezTo>
                  <a:cubicBezTo>
                    <a:pt x="0" y="528"/>
                    <a:pt x="0" y="921"/>
                    <a:pt x="92" y="1309"/>
                  </a:cubicBezTo>
                  <a:cubicBezTo>
                    <a:pt x="104" y="1358"/>
                    <a:pt x="145" y="1395"/>
                    <a:pt x="195" y="1401"/>
                  </a:cubicBezTo>
                  <a:cubicBezTo>
                    <a:pt x="322" y="1416"/>
                    <a:pt x="450" y="1428"/>
                    <a:pt x="577" y="1436"/>
                  </a:cubicBezTo>
                  <a:cubicBezTo>
                    <a:pt x="570" y="1440"/>
                    <a:pt x="566" y="1444"/>
                    <a:pt x="566" y="1449"/>
                  </a:cubicBezTo>
                  <a:cubicBezTo>
                    <a:pt x="566" y="1482"/>
                    <a:pt x="755" y="1509"/>
                    <a:pt x="989" y="1509"/>
                  </a:cubicBezTo>
                  <a:cubicBezTo>
                    <a:pt x="1222" y="1509"/>
                    <a:pt x="1411" y="1482"/>
                    <a:pt x="1411" y="1449"/>
                  </a:cubicBezTo>
                  <a:cubicBezTo>
                    <a:pt x="1411" y="1444"/>
                    <a:pt x="1407" y="1440"/>
                    <a:pt x="1400" y="1436"/>
                  </a:cubicBezTo>
                  <a:cubicBezTo>
                    <a:pt x="1528" y="1428"/>
                    <a:pt x="1655" y="1416"/>
                    <a:pt x="1782" y="1401"/>
                  </a:cubicBezTo>
                  <a:cubicBezTo>
                    <a:pt x="1832" y="1395"/>
                    <a:pt x="1873" y="1358"/>
                    <a:pt x="1885" y="1309"/>
                  </a:cubicBezTo>
                  <a:cubicBezTo>
                    <a:pt x="1977" y="921"/>
                    <a:pt x="1977" y="528"/>
                    <a:pt x="1885" y="140"/>
                  </a:cubicBezTo>
                  <a:close/>
                  <a:moveTo>
                    <a:pt x="1768" y="1281"/>
                  </a:moveTo>
                  <a:cubicBezTo>
                    <a:pt x="1248" y="1344"/>
                    <a:pt x="729" y="1344"/>
                    <a:pt x="210" y="1281"/>
                  </a:cubicBezTo>
                  <a:cubicBezTo>
                    <a:pt x="121" y="910"/>
                    <a:pt x="121" y="539"/>
                    <a:pt x="210" y="168"/>
                  </a:cubicBezTo>
                  <a:cubicBezTo>
                    <a:pt x="729" y="105"/>
                    <a:pt x="1248" y="105"/>
                    <a:pt x="1768" y="168"/>
                  </a:cubicBezTo>
                  <a:cubicBezTo>
                    <a:pt x="1856" y="539"/>
                    <a:pt x="1856" y="910"/>
                    <a:pt x="1768" y="1281"/>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4" name="Freeform 7">
              <a:extLst>
                <a:ext uri="{FF2B5EF4-FFF2-40B4-BE49-F238E27FC236}">
                  <a16:creationId xmlns:a16="http://schemas.microsoft.com/office/drawing/2014/main" id="{053325C2-A461-8B71-D26E-88A1239DBA23}"/>
                </a:ext>
              </a:extLst>
            </p:cNvPr>
            <p:cNvSpPr/>
            <p:nvPr/>
          </p:nvSpPr>
          <p:spPr>
            <a:xfrm>
              <a:off x="7335298" y="4717974"/>
              <a:ext cx="44357" cy="44458"/>
            </a:xfrm>
            <a:custGeom>
              <a:avLst/>
              <a:gdLst>
                <a:gd name="txL" fmla="*/ 0 w 181"/>
                <a:gd name="txT" fmla="*/ 0 h 181"/>
                <a:gd name="txR" fmla="*/ 181 w 181"/>
                <a:gd name="txB" fmla="*/ 181 h 181"/>
              </a:gdLst>
              <a:ahLst/>
              <a:cxnLst>
                <a:cxn ang="17694720">
                  <a:pos x="22179" y="0"/>
                </a:cxn>
                <a:cxn ang="0">
                  <a:pos x="44357" y="22229"/>
                </a:cxn>
                <a:cxn ang="5898240">
                  <a:pos x="22179" y="44458"/>
                </a:cxn>
                <a:cxn ang="11796480">
                  <a:pos x="0" y="22229"/>
                </a:cxn>
                <a:cxn ang="0">
                  <a:pos x="22301" y="44458"/>
                </a:cxn>
                <a:cxn ang="0">
                  <a:pos x="44357" y="22106"/>
                </a:cxn>
                <a:cxn ang="0">
                  <a:pos x="22301" y="0"/>
                </a:cxn>
                <a:cxn ang="0">
                  <a:pos x="0" y="22106"/>
                </a:cxn>
                <a:cxn ang="0">
                  <a:pos x="22301" y="44458"/>
                </a:cxn>
                <a:cxn ang="0">
                  <a:pos x="22301" y="14737"/>
                </a:cxn>
                <a:cxn ang="0">
                  <a:pos x="29653" y="22106"/>
                </a:cxn>
                <a:cxn ang="0">
                  <a:pos x="22301" y="29721"/>
                </a:cxn>
                <a:cxn ang="0">
                  <a:pos x="14704" y="22106"/>
                </a:cxn>
                <a:cxn ang="0">
                  <a:pos x="22301" y="14737"/>
                </a:cxn>
              </a:cxnLst>
              <a:rect l="txL" t="txT" r="txR" b="txB"/>
              <a:pathLst>
                <a:path w="181" h="181">
                  <a:moveTo>
                    <a:pt x="91" y="181"/>
                  </a:moveTo>
                  <a:cubicBezTo>
                    <a:pt x="141" y="181"/>
                    <a:pt x="181" y="140"/>
                    <a:pt x="181" y="90"/>
                  </a:cubicBezTo>
                  <a:cubicBezTo>
                    <a:pt x="181" y="40"/>
                    <a:pt x="141" y="0"/>
                    <a:pt x="91" y="0"/>
                  </a:cubicBezTo>
                  <a:cubicBezTo>
                    <a:pt x="41" y="0"/>
                    <a:pt x="0" y="40"/>
                    <a:pt x="0" y="90"/>
                  </a:cubicBezTo>
                  <a:cubicBezTo>
                    <a:pt x="0" y="140"/>
                    <a:pt x="41" y="181"/>
                    <a:pt x="91" y="181"/>
                  </a:cubicBezTo>
                  <a:close/>
                  <a:moveTo>
                    <a:pt x="91" y="60"/>
                  </a:moveTo>
                  <a:cubicBezTo>
                    <a:pt x="107" y="60"/>
                    <a:pt x="121" y="74"/>
                    <a:pt x="121" y="90"/>
                  </a:cubicBezTo>
                  <a:cubicBezTo>
                    <a:pt x="121" y="107"/>
                    <a:pt x="107" y="121"/>
                    <a:pt x="91" y="121"/>
                  </a:cubicBezTo>
                  <a:cubicBezTo>
                    <a:pt x="74" y="121"/>
                    <a:pt x="60" y="107"/>
                    <a:pt x="60" y="90"/>
                  </a:cubicBezTo>
                  <a:cubicBezTo>
                    <a:pt x="60" y="74"/>
                    <a:pt x="74" y="60"/>
                    <a:pt x="91" y="60"/>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5" name="Freeform 8">
              <a:extLst>
                <a:ext uri="{FF2B5EF4-FFF2-40B4-BE49-F238E27FC236}">
                  <a16:creationId xmlns:a16="http://schemas.microsoft.com/office/drawing/2014/main" id="{70C8B8B3-3D09-B29F-BD73-7B4C89D0C27C}"/>
                </a:ext>
              </a:extLst>
            </p:cNvPr>
            <p:cNvSpPr/>
            <p:nvPr/>
          </p:nvSpPr>
          <p:spPr>
            <a:xfrm>
              <a:off x="7320585" y="4910529"/>
              <a:ext cx="59070" cy="14712"/>
            </a:xfrm>
            <a:custGeom>
              <a:avLst/>
              <a:gdLst>
                <a:gd name="txL" fmla="*/ 0 w 241"/>
                <a:gd name="txT" fmla="*/ 0 h 60"/>
                <a:gd name="txR" fmla="*/ 241 w 241"/>
                <a:gd name="txB" fmla="*/ 60 h 60"/>
              </a:gdLst>
              <a:ahLst/>
              <a:cxnLst>
                <a:cxn ang="17694720">
                  <a:pos x="29535" y="0"/>
                </a:cxn>
                <a:cxn ang="0">
                  <a:pos x="59070" y="7356"/>
                </a:cxn>
                <a:cxn ang="5898240">
                  <a:pos x="29535" y="14712"/>
                </a:cxn>
                <a:cxn ang="11796480">
                  <a:pos x="0" y="7356"/>
                </a:cxn>
                <a:cxn ang="0">
                  <a:pos x="51717" y="0"/>
                </a:cxn>
                <a:cxn ang="0">
                  <a:pos x="7353" y="0"/>
                </a:cxn>
                <a:cxn ang="0">
                  <a:pos x="0" y="7356"/>
                </a:cxn>
                <a:cxn ang="0">
                  <a:pos x="7353" y="14712"/>
                </a:cxn>
                <a:cxn ang="0">
                  <a:pos x="51717" y="14712"/>
                </a:cxn>
                <a:cxn ang="0">
                  <a:pos x="59070" y="7356"/>
                </a:cxn>
                <a:cxn ang="0">
                  <a:pos x="51717" y="0"/>
                </a:cxn>
              </a:cxnLst>
              <a:rect l="txL" t="txT" r="txR" b="txB"/>
              <a:pathLst>
                <a:path w="241" h="60">
                  <a:moveTo>
                    <a:pt x="211" y="0"/>
                  </a:moveTo>
                  <a:cubicBezTo>
                    <a:pt x="30" y="0"/>
                    <a:pt x="30" y="0"/>
                    <a:pt x="30" y="0"/>
                  </a:cubicBezTo>
                  <a:cubicBezTo>
                    <a:pt x="13" y="0"/>
                    <a:pt x="0" y="13"/>
                    <a:pt x="0" y="30"/>
                  </a:cubicBezTo>
                  <a:cubicBezTo>
                    <a:pt x="0" y="47"/>
                    <a:pt x="13" y="60"/>
                    <a:pt x="30" y="60"/>
                  </a:cubicBezTo>
                  <a:cubicBezTo>
                    <a:pt x="211" y="60"/>
                    <a:pt x="211" y="60"/>
                    <a:pt x="211" y="60"/>
                  </a:cubicBezTo>
                  <a:cubicBezTo>
                    <a:pt x="228" y="60"/>
                    <a:pt x="241" y="47"/>
                    <a:pt x="241" y="30"/>
                  </a:cubicBezTo>
                  <a:cubicBezTo>
                    <a:pt x="241" y="13"/>
                    <a:pt x="228" y="0"/>
                    <a:pt x="211" y="0"/>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6" name="Freeform 9">
              <a:extLst>
                <a:ext uri="{FF2B5EF4-FFF2-40B4-BE49-F238E27FC236}">
                  <a16:creationId xmlns:a16="http://schemas.microsoft.com/office/drawing/2014/main" id="{31BF94AF-2A0A-743B-9033-2D02BEF9AB36}"/>
                </a:ext>
              </a:extLst>
            </p:cNvPr>
            <p:cNvSpPr/>
            <p:nvPr/>
          </p:nvSpPr>
          <p:spPr>
            <a:xfrm>
              <a:off x="7335298" y="4866171"/>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7"/>
                    <a:pt x="14" y="60"/>
                    <a:pt x="30" y="60"/>
                  </a:cubicBezTo>
                  <a:cubicBezTo>
                    <a:pt x="211" y="60"/>
                    <a:pt x="211" y="60"/>
                    <a:pt x="211" y="60"/>
                  </a:cubicBezTo>
                  <a:cubicBezTo>
                    <a:pt x="228" y="60"/>
                    <a:pt x="242" y="47"/>
                    <a:pt x="242" y="30"/>
                  </a:cubicBezTo>
                  <a:cubicBezTo>
                    <a:pt x="242" y="13"/>
                    <a:pt x="228" y="0"/>
                    <a:pt x="211" y="0"/>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7" name="Freeform 10">
              <a:extLst>
                <a:ext uri="{FF2B5EF4-FFF2-40B4-BE49-F238E27FC236}">
                  <a16:creationId xmlns:a16="http://schemas.microsoft.com/office/drawing/2014/main" id="{F65B7B35-37B6-8E1B-A575-52917527AE1C}"/>
                </a:ext>
              </a:extLst>
            </p:cNvPr>
            <p:cNvSpPr/>
            <p:nvPr/>
          </p:nvSpPr>
          <p:spPr>
            <a:xfrm>
              <a:off x="7335298" y="4821823"/>
              <a:ext cx="59280" cy="14712"/>
            </a:xfrm>
            <a:custGeom>
              <a:avLst/>
              <a:gdLst>
                <a:gd name="txL" fmla="*/ 0 w 242"/>
                <a:gd name="txT" fmla="*/ 0 h 60"/>
                <a:gd name="txR" fmla="*/ 242 w 242"/>
                <a:gd name="txB" fmla="*/ 60 h 60"/>
              </a:gdLst>
              <a:ahLst/>
              <a:cxnLst>
                <a:cxn ang="17694720">
                  <a:pos x="29640" y="0"/>
                </a:cxn>
                <a:cxn ang="0">
                  <a:pos x="59280" y="7356"/>
                </a:cxn>
                <a:cxn ang="5898240">
                  <a:pos x="29640" y="14712"/>
                </a:cxn>
                <a:cxn ang="11796480">
                  <a:pos x="0" y="7356"/>
                </a:cxn>
                <a:cxn ang="0">
                  <a:pos x="51686" y="0"/>
                </a:cxn>
                <a:cxn ang="0">
                  <a:pos x="7349" y="0"/>
                </a:cxn>
                <a:cxn ang="0">
                  <a:pos x="0" y="7356"/>
                </a:cxn>
                <a:cxn ang="0">
                  <a:pos x="7349" y="14712"/>
                </a:cxn>
                <a:cxn ang="0">
                  <a:pos x="51686" y="14712"/>
                </a:cxn>
                <a:cxn ang="0">
                  <a:pos x="59280" y="7356"/>
                </a:cxn>
                <a:cxn ang="0">
                  <a:pos x="51686" y="0"/>
                </a:cxn>
              </a:cxnLst>
              <a:rect l="txL" t="txT" r="txR" b="txB"/>
              <a:pathLst>
                <a:path w="242" h="60">
                  <a:moveTo>
                    <a:pt x="211" y="0"/>
                  </a:moveTo>
                  <a:cubicBezTo>
                    <a:pt x="30" y="0"/>
                    <a:pt x="30" y="0"/>
                    <a:pt x="30" y="0"/>
                  </a:cubicBezTo>
                  <a:cubicBezTo>
                    <a:pt x="14" y="0"/>
                    <a:pt x="0" y="13"/>
                    <a:pt x="0" y="30"/>
                  </a:cubicBezTo>
                  <a:cubicBezTo>
                    <a:pt x="0" y="46"/>
                    <a:pt x="14" y="60"/>
                    <a:pt x="30" y="60"/>
                  </a:cubicBezTo>
                  <a:cubicBezTo>
                    <a:pt x="211" y="60"/>
                    <a:pt x="211" y="60"/>
                    <a:pt x="211" y="60"/>
                  </a:cubicBezTo>
                  <a:cubicBezTo>
                    <a:pt x="228" y="60"/>
                    <a:pt x="242" y="46"/>
                    <a:pt x="242" y="30"/>
                  </a:cubicBezTo>
                  <a:cubicBezTo>
                    <a:pt x="242" y="13"/>
                    <a:pt x="228" y="0"/>
                    <a:pt x="211" y="0"/>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0748" name="Freeform 11">
              <a:extLst>
                <a:ext uri="{FF2B5EF4-FFF2-40B4-BE49-F238E27FC236}">
                  <a16:creationId xmlns:a16="http://schemas.microsoft.com/office/drawing/2014/main" id="{65D5F32A-3C19-703D-5F85-09493107B664}"/>
                </a:ext>
              </a:extLst>
            </p:cNvPr>
            <p:cNvSpPr/>
            <p:nvPr/>
          </p:nvSpPr>
          <p:spPr>
            <a:xfrm>
              <a:off x="7083984" y="4759433"/>
              <a:ext cx="88504" cy="62389"/>
            </a:xfrm>
            <a:custGeom>
              <a:avLst/>
              <a:gdLst>
                <a:gd name="txL" fmla="*/ 0 w 361"/>
                <a:gd name="txT" fmla="*/ 0 h 254"/>
                <a:gd name="txR" fmla="*/ 361 w 361"/>
                <a:gd name="txB" fmla="*/ 254 h 254"/>
              </a:gdLst>
              <a:ahLst/>
              <a:cxnLst>
                <a:cxn ang="17694720">
                  <a:pos x="44252" y="0"/>
                </a:cxn>
                <a:cxn ang="0">
                  <a:pos x="88504" y="31195"/>
                </a:cxn>
                <a:cxn ang="5898240">
                  <a:pos x="44252" y="62389"/>
                </a:cxn>
                <a:cxn ang="11796480">
                  <a:pos x="0" y="31195"/>
                </a:cxn>
                <a:cxn ang="0">
                  <a:pos x="81149" y="0"/>
                </a:cxn>
                <a:cxn ang="0">
                  <a:pos x="13239" y="5404"/>
                </a:cxn>
                <a:cxn ang="0">
                  <a:pos x="4658" y="13509"/>
                </a:cxn>
                <a:cxn ang="0">
                  <a:pos x="0" y="54775"/>
                </a:cxn>
                <a:cxn ang="0">
                  <a:pos x="7110" y="62389"/>
                </a:cxn>
                <a:cxn ang="0">
                  <a:pos x="14710" y="54775"/>
                </a:cxn>
                <a:cxn ang="0">
                  <a:pos x="17161" y="26773"/>
                </a:cxn>
                <a:cxn ang="0">
                  <a:pos x="25497" y="18668"/>
                </a:cxn>
                <a:cxn ang="0">
                  <a:pos x="81149" y="14738"/>
                </a:cxn>
                <a:cxn ang="0">
                  <a:pos x="88504" y="7123"/>
                </a:cxn>
                <a:cxn ang="0">
                  <a:pos x="81149" y="0"/>
                </a:cxn>
              </a:cxnLst>
              <a:rect l="txL" t="txT" r="txR" b="txB"/>
              <a:pathLst>
                <a:path w="361" h="254">
                  <a:moveTo>
                    <a:pt x="331" y="0"/>
                  </a:moveTo>
                  <a:cubicBezTo>
                    <a:pt x="54" y="22"/>
                    <a:pt x="54" y="22"/>
                    <a:pt x="54" y="22"/>
                  </a:cubicBezTo>
                  <a:cubicBezTo>
                    <a:pt x="37" y="24"/>
                    <a:pt x="22" y="39"/>
                    <a:pt x="19" y="55"/>
                  </a:cubicBezTo>
                  <a:cubicBezTo>
                    <a:pt x="0" y="223"/>
                    <a:pt x="0" y="223"/>
                    <a:pt x="0" y="223"/>
                  </a:cubicBezTo>
                  <a:cubicBezTo>
                    <a:pt x="0" y="240"/>
                    <a:pt x="12" y="254"/>
                    <a:pt x="29" y="254"/>
                  </a:cubicBezTo>
                  <a:cubicBezTo>
                    <a:pt x="46" y="254"/>
                    <a:pt x="60" y="240"/>
                    <a:pt x="60" y="223"/>
                  </a:cubicBezTo>
                  <a:cubicBezTo>
                    <a:pt x="70" y="109"/>
                    <a:pt x="70" y="109"/>
                    <a:pt x="70" y="109"/>
                  </a:cubicBezTo>
                  <a:cubicBezTo>
                    <a:pt x="73" y="92"/>
                    <a:pt x="88" y="78"/>
                    <a:pt x="104" y="76"/>
                  </a:cubicBezTo>
                  <a:cubicBezTo>
                    <a:pt x="331" y="60"/>
                    <a:pt x="331" y="60"/>
                    <a:pt x="331" y="60"/>
                  </a:cubicBezTo>
                  <a:cubicBezTo>
                    <a:pt x="347" y="60"/>
                    <a:pt x="361" y="46"/>
                    <a:pt x="361" y="29"/>
                  </a:cubicBezTo>
                  <a:cubicBezTo>
                    <a:pt x="361" y="13"/>
                    <a:pt x="347" y="0"/>
                    <a:pt x="331" y="0"/>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cxnSp>
        <p:nvCxnSpPr>
          <p:cNvPr id="30738" name="Straight Connector 30">
            <a:extLst>
              <a:ext uri="{FF2B5EF4-FFF2-40B4-BE49-F238E27FC236}">
                <a16:creationId xmlns:a16="http://schemas.microsoft.com/office/drawing/2014/main" id="{09B89510-C17B-8575-EEE0-D242F2110336}"/>
              </a:ext>
            </a:extLst>
          </p:cNvPr>
          <p:cNvCxnSpPr/>
          <p:nvPr/>
        </p:nvCxnSpPr>
        <p:spPr>
          <a:xfrm flipH="1">
            <a:off x="6061075" y="0"/>
            <a:ext cx="34925" cy="982980"/>
          </a:xfrm>
          <a:prstGeom prst="straightConnector1">
            <a:avLst/>
          </a:prstGeom>
          <a:ln w="25402" cap="flat" cmpd="sng">
            <a:solidFill>
              <a:srgbClr val="D9D9D9"/>
            </a:solidFill>
            <a:prstDash val="solid"/>
            <a:miter/>
            <a:headEnd type="none" w="med" len="med"/>
            <a:tailEnd type="arrow" w="med" len="med"/>
          </a:ln>
        </p:spPr>
      </p:cxnSp>
      <p:sp>
        <p:nvSpPr>
          <p:cNvPr id="30" name="Rectangle 4">
            <a:extLst>
              <a:ext uri="{FF2B5EF4-FFF2-40B4-BE49-F238E27FC236}">
                <a16:creationId xmlns:a16="http://schemas.microsoft.com/office/drawing/2014/main" id="{105635BB-6011-5451-A35D-7727F3AF6FAB}"/>
              </a:ext>
            </a:extLst>
          </p:cNvPr>
          <p:cNvSpPr/>
          <p:nvPr/>
        </p:nvSpPr>
        <p:spPr>
          <a:xfrm>
            <a:off x="4448175" y="3883025"/>
            <a:ext cx="1054100" cy="85725"/>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1" name="Rectangle 33">
            <a:extLst>
              <a:ext uri="{FF2B5EF4-FFF2-40B4-BE49-F238E27FC236}">
                <a16:creationId xmlns:a16="http://schemas.microsoft.com/office/drawing/2014/main" id="{2FAD7D62-EC65-74C5-C997-9257D0AD8B62}"/>
              </a:ext>
            </a:extLst>
          </p:cNvPr>
          <p:cNvSpPr/>
          <p:nvPr/>
        </p:nvSpPr>
        <p:spPr>
          <a:xfrm>
            <a:off x="6675438" y="5268913"/>
            <a:ext cx="1054100" cy="87312"/>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855003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47"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par>
                          <p:cTn id="18" fill="hold">
                            <p:stCondLst>
                              <p:cond delay="15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par>
                          <p:cTn id="35" fill="hold">
                            <p:stCondLst>
                              <p:cond delay="3000"/>
                            </p:stCondLst>
                            <p:childTnLst>
                              <p:par>
                                <p:cTn id="36" presetID="53" presetClass="entr" presetSubtype="16" fill="hold" nodeType="after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childTnLst>
                          </p:cTn>
                        </p:par>
                        <p:par>
                          <p:cTn id="45" fill="hold">
                            <p:stCondLst>
                              <p:cond delay="4000"/>
                            </p:stCondLst>
                            <p:childTnLst>
                              <p:par>
                                <p:cTn id="46" presetID="22" presetClass="entr" presetSubtype="1" fill="hold" nodeType="after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500"/>
                                        <p:tgtEl>
                                          <p:spTgt spid="15"/>
                                        </p:tgtEl>
                                      </p:cBhvr>
                                    </p:animEffect>
                                  </p:childTnLst>
                                </p:cTn>
                              </p:par>
                            </p:childTnLst>
                          </p:cTn>
                        </p:par>
                        <p:par>
                          <p:cTn id="49" fill="hold">
                            <p:stCondLst>
                              <p:cond delay="4500"/>
                            </p:stCondLst>
                            <p:childTnLst>
                              <p:par>
                                <p:cTn id="50" presetID="53" presetClass="entr" presetSubtype="16" fill="hold" nodeType="after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fltVal val="0"/>
                                          </p:val>
                                        </p:tav>
                                        <p:tav tm="100000">
                                          <p:val>
                                            <p:strVal val="#ppt_w"/>
                                          </p:val>
                                        </p:tav>
                                      </p:tavLst>
                                    </p:anim>
                                    <p:anim calcmode="lin" valueType="num">
                                      <p:cBhvr>
                                        <p:cTn id="53" dur="500" fill="hold"/>
                                        <p:tgtEl>
                                          <p:spTgt spid="16"/>
                                        </p:tgtEl>
                                        <p:attrNameLst>
                                          <p:attrName>ppt_h</p:attrName>
                                        </p:attrNameLst>
                                      </p:cBhvr>
                                      <p:tavLst>
                                        <p:tav tm="0">
                                          <p:val>
                                            <p:fltVal val="0"/>
                                          </p:val>
                                        </p:tav>
                                        <p:tav tm="100000">
                                          <p:val>
                                            <p:strVal val="#ppt_h"/>
                                          </p:val>
                                        </p:tav>
                                      </p:tavLst>
                                    </p:anim>
                                    <p:animEffect transition="in" filter="fade">
                                      <p:cBhvr>
                                        <p:cTn id="54" dur="500"/>
                                        <p:tgtEl>
                                          <p:spTgt spid="16"/>
                                        </p:tgtEl>
                                      </p:cBhvr>
                                    </p:animEffect>
                                  </p:childTnLst>
                                </p:cTn>
                              </p:par>
                            </p:childTnLst>
                          </p:cTn>
                        </p:par>
                        <p:par>
                          <p:cTn id="55" fill="hold">
                            <p:stCondLst>
                              <p:cond delay="5000"/>
                            </p:stCondLst>
                            <p:childTnLst>
                              <p:par>
                                <p:cTn id="56" presetID="53" presetClass="entr" presetSubtype="16" fill="hold" nodeType="afterEffect">
                                  <p:stCondLst>
                                    <p:cond delay="0"/>
                                  </p:stCondLst>
                                  <p:childTnLst>
                                    <p:set>
                                      <p:cBhvr>
                                        <p:cTn id="57" dur="1" fill="hold">
                                          <p:stCondLst>
                                            <p:cond delay="0"/>
                                          </p:stCondLst>
                                        </p:cTn>
                                        <p:tgtEl>
                                          <p:spTgt spid="21"/>
                                        </p:tgtEl>
                                        <p:attrNameLst>
                                          <p:attrName>style.visibility</p:attrName>
                                        </p:attrNameLst>
                                      </p:cBhvr>
                                      <p:to>
                                        <p:strVal val="visible"/>
                                      </p:to>
                                    </p:set>
                                    <p:anim calcmode="lin" valueType="num">
                                      <p:cBhvr>
                                        <p:cTn id="58" dur="500" fill="hold"/>
                                        <p:tgtEl>
                                          <p:spTgt spid="21"/>
                                        </p:tgtEl>
                                        <p:attrNameLst>
                                          <p:attrName>ppt_w</p:attrName>
                                        </p:attrNameLst>
                                      </p:cBhvr>
                                      <p:tavLst>
                                        <p:tav tm="0">
                                          <p:val>
                                            <p:fltVal val="0"/>
                                          </p:val>
                                        </p:tav>
                                        <p:tav tm="100000">
                                          <p:val>
                                            <p:strVal val="#ppt_w"/>
                                          </p:val>
                                        </p:tav>
                                      </p:tavLst>
                                    </p:anim>
                                    <p:anim calcmode="lin" valueType="num">
                                      <p:cBhvr>
                                        <p:cTn id="59" dur="500" fill="hold"/>
                                        <p:tgtEl>
                                          <p:spTgt spid="21"/>
                                        </p:tgtEl>
                                        <p:attrNameLst>
                                          <p:attrName>ppt_h</p:attrName>
                                        </p:attrNameLst>
                                      </p:cBhvr>
                                      <p:tavLst>
                                        <p:tav tm="0">
                                          <p:val>
                                            <p:fltVal val="0"/>
                                          </p:val>
                                        </p:tav>
                                        <p:tav tm="100000">
                                          <p:val>
                                            <p:strVal val="#ppt_h"/>
                                          </p:val>
                                        </p:tav>
                                      </p:tavLst>
                                    </p:anim>
                                    <p:animEffect transition="in" filter="fade">
                                      <p:cBhvr>
                                        <p:cTn id="60" dur="500"/>
                                        <p:tgtEl>
                                          <p:spTgt spid="21"/>
                                        </p:tgtEl>
                                      </p:cBhvr>
                                    </p:animEffect>
                                  </p:childTnLst>
                                </p:cTn>
                              </p:par>
                            </p:childTnLst>
                          </p:cTn>
                        </p:par>
                        <p:par>
                          <p:cTn id="61" fill="hold">
                            <p:stCondLst>
                              <p:cond delay="5500"/>
                            </p:stCondLst>
                            <p:childTnLst>
                              <p:par>
                                <p:cTn id="62" presetID="22" presetClass="entr" presetSubtype="8" fill="hold" nodeType="after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wipe(left)">
                                      <p:cBhvr>
                                        <p:cTn id="64" dur="500"/>
                                        <p:tgtEl>
                                          <p:spTgt spid="17"/>
                                        </p:tgtEl>
                                      </p:cBhvr>
                                    </p:animEffect>
                                  </p:childTnLst>
                                </p:cTn>
                              </p:par>
                            </p:childTnLst>
                          </p:cTn>
                        </p:par>
                        <p:par>
                          <p:cTn id="65" fill="hold">
                            <p:stCondLst>
                              <p:cond delay="6000"/>
                            </p:stCondLst>
                            <p:childTnLst>
                              <p:par>
                                <p:cTn id="66" presetID="10" presetClass="entr" presetSubtype="0" fill="hold" grpId="0" nodeType="after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childTnLst>
                          </p:cTn>
                        </p:par>
                        <p:par>
                          <p:cTn id="72" fill="hold">
                            <p:stCondLst>
                              <p:cond delay="6500"/>
                            </p:stCondLst>
                            <p:childTnLst>
                              <p:par>
                                <p:cTn id="73" presetID="10" presetClass="entr" presetSubtype="0" fill="hold" grpId="0" nodeType="after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childTnLst>
                                </p:cTn>
                              </p:par>
                            </p:childTnLst>
                          </p:cTn>
                        </p:par>
                        <p:par>
                          <p:cTn id="76" fill="hold">
                            <p:stCondLst>
                              <p:cond delay="7000"/>
                            </p:stCondLst>
                            <p:childTnLst>
                              <p:par>
                                <p:cTn id="77" presetID="22" presetClass="entr" presetSubtype="1"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up)">
                                      <p:cBhvr>
                                        <p:cTn id="7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8" grpId="0" animBg="1"/>
      <p:bldP spid="20" grpId="0"/>
      <p:bldP spid="30" grpId="0" animBg="1"/>
      <p:bldP spid="3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C9AAF9-C683-9B22-963F-6D3E2F91DE8E}"/>
            </a:ext>
          </a:extLst>
        </p:cNvPr>
        <p:cNvGrpSpPr/>
        <p:nvPr/>
      </p:nvGrpSpPr>
      <p:grpSpPr>
        <a:xfrm>
          <a:off x="0" y="0"/>
          <a:ext cx="0" cy="0"/>
          <a:chOff x="0" y="0"/>
          <a:chExt cx="0" cy="0"/>
        </a:xfrm>
      </p:grpSpPr>
      <p:cxnSp>
        <p:nvCxnSpPr>
          <p:cNvPr id="31746" name="Straight Connector 10">
            <a:extLst>
              <a:ext uri="{FF2B5EF4-FFF2-40B4-BE49-F238E27FC236}">
                <a16:creationId xmlns:a16="http://schemas.microsoft.com/office/drawing/2014/main" id="{8B1B05A2-20CE-6E8E-FC89-46EBC5B26816}"/>
              </a:ext>
            </a:extLst>
          </p:cNvPr>
          <p:cNvCxnSpPr/>
          <p:nvPr/>
        </p:nvCxnSpPr>
        <p:spPr>
          <a:xfrm>
            <a:off x="6096000" y="0"/>
            <a:ext cx="0" cy="1249363"/>
          </a:xfrm>
          <a:prstGeom prst="straightConnector1">
            <a:avLst/>
          </a:prstGeom>
          <a:ln w="25402" cap="flat" cmpd="sng">
            <a:solidFill>
              <a:srgbClr val="D9D9D9"/>
            </a:solidFill>
            <a:prstDash val="solid"/>
            <a:miter/>
            <a:headEnd type="none" w="med" len="med"/>
            <a:tailEnd type="none" w="med" len="med"/>
          </a:ln>
        </p:spPr>
      </p:cxnSp>
      <p:sp>
        <p:nvSpPr>
          <p:cNvPr id="5" name="Oval 3">
            <a:extLst>
              <a:ext uri="{FF2B5EF4-FFF2-40B4-BE49-F238E27FC236}">
                <a16:creationId xmlns:a16="http://schemas.microsoft.com/office/drawing/2014/main" id="{5BBAD8E9-B6FA-94BB-222E-54B52727DCDC}"/>
              </a:ext>
            </a:extLst>
          </p:cNvPr>
          <p:cNvSpPr/>
          <p:nvPr/>
        </p:nvSpPr>
        <p:spPr>
          <a:xfrm>
            <a:off x="6038850" y="126523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ACC777">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6" name="Straight Connector 9">
            <a:extLst>
              <a:ext uri="{FF2B5EF4-FFF2-40B4-BE49-F238E27FC236}">
                <a16:creationId xmlns:a16="http://schemas.microsoft.com/office/drawing/2014/main" id="{2BACB698-A750-FE0B-CF99-23E512C3510C}"/>
              </a:ext>
            </a:extLst>
          </p:cNvPr>
          <p:cNvCxnSpPr/>
          <p:nvPr/>
        </p:nvCxnSpPr>
        <p:spPr>
          <a:xfrm>
            <a:off x="5514975" y="1339850"/>
            <a:ext cx="523875" cy="0"/>
          </a:xfrm>
          <a:prstGeom prst="straightConnector1">
            <a:avLst/>
          </a:prstGeom>
          <a:ln w="25402" cap="flat" cmpd="sng">
            <a:solidFill>
              <a:srgbClr val="D9D9D9"/>
            </a:solidFill>
            <a:prstDash val="solid"/>
            <a:miter/>
            <a:headEnd type="none" w="med" len="med"/>
            <a:tailEnd type="none" w="med" len="med"/>
          </a:ln>
        </p:spPr>
      </p:cxnSp>
      <p:sp>
        <p:nvSpPr>
          <p:cNvPr id="7" name="Rectangle 13">
            <a:extLst>
              <a:ext uri="{FF2B5EF4-FFF2-40B4-BE49-F238E27FC236}">
                <a16:creationId xmlns:a16="http://schemas.microsoft.com/office/drawing/2014/main" id="{6E3B8239-B15B-FD62-8873-9DC76A4D27FF}"/>
              </a:ext>
            </a:extLst>
          </p:cNvPr>
          <p:cNvSpPr/>
          <p:nvPr/>
        </p:nvSpPr>
        <p:spPr>
          <a:xfrm>
            <a:off x="4448175" y="812800"/>
            <a:ext cx="1054100" cy="10541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8" name="Straight Connector 26">
            <a:extLst>
              <a:ext uri="{FF2B5EF4-FFF2-40B4-BE49-F238E27FC236}">
                <a16:creationId xmlns:a16="http://schemas.microsoft.com/office/drawing/2014/main" id="{1E0336E9-106C-6473-6D2D-9C61D5533A62}"/>
              </a:ext>
            </a:extLst>
          </p:cNvPr>
          <p:cNvCxnSpPr/>
          <p:nvPr/>
        </p:nvCxnSpPr>
        <p:spPr>
          <a:xfrm>
            <a:off x="6096000" y="1385888"/>
            <a:ext cx="0" cy="1249362"/>
          </a:xfrm>
          <a:prstGeom prst="straightConnector1">
            <a:avLst/>
          </a:prstGeom>
          <a:ln w="25402" cap="flat" cmpd="sng">
            <a:solidFill>
              <a:srgbClr val="D9D9D9"/>
            </a:solidFill>
            <a:prstDash val="solid"/>
            <a:miter/>
            <a:headEnd type="none" w="med" len="med"/>
            <a:tailEnd type="none" w="med" len="med"/>
          </a:ln>
        </p:spPr>
      </p:cxnSp>
      <p:sp>
        <p:nvSpPr>
          <p:cNvPr id="9" name="Oval 27">
            <a:extLst>
              <a:ext uri="{FF2B5EF4-FFF2-40B4-BE49-F238E27FC236}">
                <a16:creationId xmlns:a16="http://schemas.microsoft.com/office/drawing/2014/main" id="{FF89CEFF-76C7-0840-8496-0B69F7C8D601}"/>
              </a:ext>
            </a:extLst>
          </p:cNvPr>
          <p:cNvSpPr/>
          <p:nvPr/>
        </p:nvSpPr>
        <p:spPr>
          <a:xfrm>
            <a:off x="6038850" y="2651125"/>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77933C">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10" name="Straight Connector 28">
            <a:extLst>
              <a:ext uri="{FF2B5EF4-FFF2-40B4-BE49-F238E27FC236}">
                <a16:creationId xmlns:a16="http://schemas.microsoft.com/office/drawing/2014/main" id="{78DDF3C5-04DC-2915-B9C2-FFA684A0898E}"/>
              </a:ext>
            </a:extLst>
          </p:cNvPr>
          <p:cNvCxnSpPr/>
          <p:nvPr/>
        </p:nvCxnSpPr>
        <p:spPr>
          <a:xfrm>
            <a:off x="6153150" y="2727325"/>
            <a:ext cx="523875" cy="0"/>
          </a:xfrm>
          <a:prstGeom prst="straightConnector1">
            <a:avLst/>
          </a:prstGeom>
          <a:ln w="25402" cap="flat" cmpd="sng">
            <a:solidFill>
              <a:srgbClr val="D9D9D9"/>
            </a:solidFill>
            <a:prstDash val="solid"/>
            <a:miter/>
            <a:headEnd type="none" w="med" len="med"/>
            <a:tailEnd type="none" w="med" len="med"/>
          </a:ln>
        </p:spPr>
      </p:cxnSp>
      <p:sp>
        <p:nvSpPr>
          <p:cNvPr id="11" name="Rectangle 29">
            <a:extLst>
              <a:ext uri="{FF2B5EF4-FFF2-40B4-BE49-F238E27FC236}">
                <a16:creationId xmlns:a16="http://schemas.microsoft.com/office/drawing/2014/main" id="{7BAD10EC-BA41-DE69-F3AF-2CC300C0C366}"/>
              </a:ext>
            </a:extLst>
          </p:cNvPr>
          <p:cNvSpPr/>
          <p:nvPr/>
        </p:nvSpPr>
        <p:spPr>
          <a:xfrm>
            <a:off x="6677025" y="2200275"/>
            <a:ext cx="1054100" cy="10541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14" name="Straight Connector 66">
            <a:extLst>
              <a:ext uri="{FF2B5EF4-FFF2-40B4-BE49-F238E27FC236}">
                <a16:creationId xmlns:a16="http://schemas.microsoft.com/office/drawing/2014/main" id="{A00F50A1-E14C-36AF-3359-FB2B3F200DA5}"/>
              </a:ext>
            </a:extLst>
          </p:cNvPr>
          <p:cNvCxnSpPr/>
          <p:nvPr/>
        </p:nvCxnSpPr>
        <p:spPr>
          <a:xfrm>
            <a:off x="6096000" y="2760663"/>
            <a:ext cx="0" cy="1249362"/>
          </a:xfrm>
          <a:prstGeom prst="straightConnector1">
            <a:avLst/>
          </a:prstGeom>
          <a:ln w="25402" cap="flat" cmpd="sng">
            <a:solidFill>
              <a:srgbClr val="D9D9D9"/>
            </a:solidFill>
            <a:prstDash val="solid"/>
            <a:miter/>
            <a:headEnd type="none" w="med" len="med"/>
            <a:tailEnd type="none" w="med" len="med"/>
          </a:ln>
        </p:spPr>
      </p:cxnSp>
      <p:sp>
        <p:nvSpPr>
          <p:cNvPr id="17" name="Oval 69">
            <a:extLst>
              <a:ext uri="{FF2B5EF4-FFF2-40B4-BE49-F238E27FC236}">
                <a16:creationId xmlns:a16="http://schemas.microsoft.com/office/drawing/2014/main" id="{06E8FE6B-81B1-59FF-2F64-D1EE032C7CB9}"/>
              </a:ext>
            </a:extLst>
          </p:cNvPr>
          <p:cNvSpPr/>
          <p:nvPr/>
        </p:nvSpPr>
        <p:spPr>
          <a:xfrm>
            <a:off x="6038850" y="4025900"/>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C0D498">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18" name="Straight Connector 70">
            <a:extLst>
              <a:ext uri="{FF2B5EF4-FFF2-40B4-BE49-F238E27FC236}">
                <a16:creationId xmlns:a16="http://schemas.microsoft.com/office/drawing/2014/main" id="{68D2260C-A58E-F95D-C827-FF540301A6B3}"/>
              </a:ext>
            </a:extLst>
          </p:cNvPr>
          <p:cNvCxnSpPr/>
          <p:nvPr/>
        </p:nvCxnSpPr>
        <p:spPr>
          <a:xfrm>
            <a:off x="5514975" y="4100513"/>
            <a:ext cx="523875" cy="0"/>
          </a:xfrm>
          <a:prstGeom prst="straightConnector1">
            <a:avLst/>
          </a:prstGeom>
          <a:ln w="25402" cap="flat" cmpd="sng">
            <a:solidFill>
              <a:srgbClr val="D9D9D9"/>
            </a:solidFill>
            <a:prstDash val="solid"/>
            <a:miter/>
            <a:headEnd type="none" w="med" len="med"/>
            <a:tailEnd type="none" w="med" len="med"/>
          </a:ln>
        </p:spPr>
      </p:cxnSp>
      <p:sp>
        <p:nvSpPr>
          <p:cNvPr id="19" name="Rectangle 71">
            <a:extLst>
              <a:ext uri="{FF2B5EF4-FFF2-40B4-BE49-F238E27FC236}">
                <a16:creationId xmlns:a16="http://schemas.microsoft.com/office/drawing/2014/main" id="{2D5AAC20-07C1-CED3-2FC7-8FC8EBE979B2}"/>
              </a:ext>
            </a:extLst>
          </p:cNvPr>
          <p:cNvSpPr/>
          <p:nvPr/>
        </p:nvSpPr>
        <p:spPr>
          <a:xfrm>
            <a:off x="4448175" y="3573463"/>
            <a:ext cx="1054100" cy="1055687"/>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20" name="Straight Connector 77">
            <a:extLst>
              <a:ext uri="{FF2B5EF4-FFF2-40B4-BE49-F238E27FC236}">
                <a16:creationId xmlns:a16="http://schemas.microsoft.com/office/drawing/2014/main" id="{B9A9DC64-0A55-6B40-D529-8ADF1D698C72}"/>
              </a:ext>
            </a:extLst>
          </p:cNvPr>
          <p:cNvCxnSpPr/>
          <p:nvPr/>
        </p:nvCxnSpPr>
        <p:spPr>
          <a:xfrm>
            <a:off x="6096000" y="4148138"/>
            <a:ext cx="0" cy="1249362"/>
          </a:xfrm>
          <a:prstGeom prst="straightConnector1">
            <a:avLst/>
          </a:prstGeom>
          <a:ln w="25402" cap="flat" cmpd="sng">
            <a:solidFill>
              <a:srgbClr val="D9D9D9"/>
            </a:solidFill>
            <a:prstDash val="solid"/>
            <a:miter/>
            <a:headEnd type="none" w="med" len="med"/>
            <a:tailEnd type="none" w="med" len="med"/>
          </a:ln>
        </p:spPr>
      </p:cxnSp>
      <p:grpSp>
        <p:nvGrpSpPr>
          <p:cNvPr id="21" name="Group 17">
            <a:extLst>
              <a:ext uri="{FF2B5EF4-FFF2-40B4-BE49-F238E27FC236}">
                <a16:creationId xmlns:a16="http://schemas.microsoft.com/office/drawing/2014/main" id="{3BCE1732-1FF6-D771-7A36-5E4E1750BA63}"/>
              </a:ext>
            </a:extLst>
          </p:cNvPr>
          <p:cNvGrpSpPr/>
          <p:nvPr/>
        </p:nvGrpSpPr>
        <p:grpSpPr>
          <a:xfrm>
            <a:off x="4759325" y="1104900"/>
            <a:ext cx="433388" cy="433388"/>
            <a:chOff x="4759241" y="1105079"/>
            <a:chExt cx="432813" cy="432474"/>
          </a:xfrm>
        </p:grpSpPr>
        <p:sp>
          <p:nvSpPr>
            <p:cNvPr id="31772" name="Freeform 5">
              <a:extLst>
                <a:ext uri="{FF2B5EF4-FFF2-40B4-BE49-F238E27FC236}">
                  <a16:creationId xmlns:a16="http://schemas.microsoft.com/office/drawing/2014/main" id="{7E3B357C-86AB-338E-E884-EFFD73A8584C}"/>
                </a:ext>
              </a:extLst>
            </p:cNvPr>
            <p:cNvSpPr/>
            <p:nvPr/>
          </p:nvSpPr>
          <p:spPr>
            <a:xfrm>
              <a:off x="4759241"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073" y="40447"/>
                </a:cxn>
                <a:cxn ang="0">
                  <a:pos x="81073" y="69227"/>
                </a:cxn>
                <a:cxn ang="0">
                  <a:pos x="67821" y="67671"/>
                </a:cxn>
                <a:cxn ang="0">
                  <a:pos x="54569" y="69227"/>
                </a:cxn>
                <a:cxn ang="0">
                  <a:pos x="54569" y="40447"/>
                </a:cxn>
                <a:cxn ang="0">
                  <a:pos x="81073" y="392027"/>
                </a:cxn>
                <a:cxn ang="0">
                  <a:pos x="67821" y="405250"/>
                </a:cxn>
                <a:cxn ang="0">
                  <a:pos x="54569" y="392027"/>
                </a:cxn>
                <a:cxn ang="0">
                  <a:pos x="54569" y="201458"/>
                </a:cxn>
                <a:cxn ang="0">
                  <a:pos x="67821" y="203014"/>
                </a:cxn>
                <a:cxn ang="0">
                  <a:pos x="81073" y="201458"/>
                </a:cxn>
                <a:cxn ang="0">
                  <a:pos x="81073" y="392027"/>
                </a:cxn>
                <a:cxn ang="0">
                  <a:pos x="106799" y="146232"/>
                </a:cxn>
                <a:cxn ang="0">
                  <a:pos x="106019" y="148566"/>
                </a:cxn>
                <a:cxn ang="0">
                  <a:pos x="100562" y="158678"/>
                </a:cxn>
                <a:cxn ang="0">
                  <a:pos x="100562" y="158678"/>
                </a:cxn>
                <a:cxn ang="0">
                  <a:pos x="91987" y="167234"/>
                </a:cxn>
                <a:cxn ang="0">
                  <a:pos x="91987" y="167234"/>
                </a:cxn>
                <a:cxn ang="0">
                  <a:pos x="81073" y="173456"/>
                </a:cxn>
                <a:cxn ang="0">
                  <a:pos x="67821" y="175790"/>
                </a:cxn>
                <a:cxn ang="0">
                  <a:pos x="54569" y="173456"/>
                </a:cxn>
                <a:cxn ang="0">
                  <a:pos x="43655" y="167234"/>
                </a:cxn>
                <a:cxn ang="0">
                  <a:pos x="4287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2875" y="102674"/>
                </a:cxn>
                <a:cxn ang="0">
                  <a:pos x="43655" y="102674"/>
                </a:cxn>
                <a:cxn ang="0">
                  <a:pos x="54569" y="97229"/>
                </a:cxn>
                <a:cxn ang="0">
                  <a:pos x="67821" y="94895"/>
                </a:cxn>
                <a:cxn ang="0">
                  <a:pos x="81073" y="97229"/>
                </a:cxn>
                <a:cxn ang="0">
                  <a:pos x="91987" y="102674"/>
                </a:cxn>
                <a:cxn ang="0">
                  <a:pos x="9198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1773" name="Freeform 6">
              <a:extLst>
                <a:ext uri="{FF2B5EF4-FFF2-40B4-BE49-F238E27FC236}">
                  <a16:creationId xmlns:a16="http://schemas.microsoft.com/office/drawing/2014/main" id="{8A2435F4-9090-A665-5B52-903AE51C4C18}"/>
                </a:ext>
              </a:extLst>
            </p:cNvPr>
            <p:cNvSpPr/>
            <p:nvPr/>
          </p:nvSpPr>
          <p:spPr>
            <a:xfrm>
              <a:off x="5056412"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853" y="40447"/>
                </a:cxn>
                <a:cxn ang="0">
                  <a:pos x="81853" y="69227"/>
                </a:cxn>
                <a:cxn ang="0">
                  <a:pos x="67821" y="67671"/>
                </a:cxn>
                <a:cxn ang="0">
                  <a:pos x="54569" y="69227"/>
                </a:cxn>
                <a:cxn ang="0">
                  <a:pos x="54569" y="40447"/>
                </a:cxn>
                <a:cxn ang="0">
                  <a:pos x="81853" y="392027"/>
                </a:cxn>
                <a:cxn ang="0">
                  <a:pos x="67821" y="405250"/>
                </a:cxn>
                <a:cxn ang="0">
                  <a:pos x="54569" y="392027"/>
                </a:cxn>
                <a:cxn ang="0">
                  <a:pos x="54569" y="201458"/>
                </a:cxn>
                <a:cxn ang="0">
                  <a:pos x="67821" y="203014"/>
                </a:cxn>
                <a:cxn ang="0">
                  <a:pos x="81853" y="201458"/>
                </a:cxn>
                <a:cxn ang="0">
                  <a:pos x="81853" y="392027"/>
                </a:cxn>
                <a:cxn ang="0">
                  <a:pos x="106799" y="146232"/>
                </a:cxn>
                <a:cxn ang="0">
                  <a:pos x="106019" y="148566"/>
                </a:cxn>
                <a:cxn ang="0">
                  <a:pos x="100562" y="158678"/>
                </a:cxn>
                <a:cxn ang="0">
                  <a:pos x="100562" y="158678"/>
                </a:cxn>
                <a:cxn ang="0">
                  <a:pos x="92767" y="167234"/>
                </a:cxn>
                <a:cxn ang="0">
                  <a:pos x="91987" y="167234"/>
                </a:cxn>
                <a:cxn ang="0">
                  <a:pos x="81853" y="173456"/>
                </a:cxn>
                <a:cxn ang="0">
                  <a:pos x="67821" y="175790"/>
                </a:cxn>
                <a:cxn ang="0">
                  <a:pos x="54569" y="173456"/>
                </a:cxn>
                <a:cxn ang="0">
                  <a:pos x="43655" y="167234"/>
                </a:cxn>
                <a:cxn ang="0">
                  <a:pos x="4365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3655" y="102674"/>
                </a:cxn>
                <a:cxn ang="0">
                  <a:pos x="43655" y="102674"/>
                </a:cxn>
                <a:cxn ang="0">
                  <a:pos x="54569" y="97229"/>
                </a:cxn>
                <a:cxn ang="0">
                  <a:pos x="67821" y="94895"/>
                </a:cxn>
                <a:cxn ang="0">
                  <a:pos x="81853" y="97229"/>
                </a:cxn>
                <a:cxn ang="0">
                  <a:pos x="91987" y="102674"/>
                </a:cxn>
                <a:cxn ang="0">
                  <a:pos x="9276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1774" name="Freeform 7">
              <a:extLst>
                <a:ext uri="{FF2B5EF4-FFF2-40B4-BE49-F238E27FC236}">
                  <a16:creationId xmlns:a16="http://schemas.microsoft.com/office/drawing/2014/main" id="{8A5FEBC3-642F-CD83-BAD0-997764382B9A}"/>
                </a:ext>
              </a:extLst>
            </p:cNvPr>
            <p:cNvSpPr/>
            <p:nvPr/>
          </p:nvSpPr>
          <p:spPr>
            <a:xfrm>
              <a:off x="4907996" y="1105079"/>
              <a:ext cx="135312" cy="432474"/>
            </a:xfrm>
            <a:custGeom>
              <a:avLst/>
              <a:gdLst>
                <a:gd name="txL" fmla="*/ 0 w 174"/>
                <a:gd name="txT" fmla="*/ 0 h 556"/>
                <a:gd name="txR" fmla="*/ 174 w 174"/>
                <a:gd name="txB" fmla="*/ 556 h 556"/>
              </a:gdLst>
              <a:ahLst/>
              <a:cxnLst>
                <a:cxn ang="17694720">
                  <a:pos x="67656" y="0"/>
                </a:cxn>
                <a:cxn ang="0">
                  <a:pos x="135312" y="216237"/>
                </a:cxn>
                <a:cxn ang="5898240">
                  <a:pos x="67656" y="432474"/>
                </a:cxn>
                <a:cxn ang="11796480">
                  <a:pos x="0" y="216237"/>
                </a:cxn>
                <a:cxn ang="0">
                  <a:pos x="108094" y="243461"/>
                </a:cxn>
                <a:cxn ang="0">
                  <a:pos x="108094" y="40447"/>
                </a:cxn>
                <a:cxn ang="0">
                  <a:pos x="67656" y="0"/>
                </a:cxn>
                <a:cxn ang="0">
                  <a:pos x="27218" y="40447"/>
                </a:cxn>
                <a:cxn ang="0">
                  <a:pos x="27218" y="243461"/>
                </a:cxn>
                <a:cxn ang="0">
                  <a:pos x="0" y="297131"/>
                </a:cxn>
                <a:cxn ang="0">
                  <a:pos x="27218" y="350802"/>
                </a:cxn>
                <a:cxn ang="0">
                  <a:pos x="27218" y="392027"/>
                </a:cxn>
                <a:cxn ang="0">
                  <a:pos x="67656" y="432474"/>
                </a:cxn>
                <a:cxn ang="0">
                  <a:pos x="108094" y="392027"/>
                </a:cxn>
                <a:cxn ang="0">
                  <a:pos x="108094" y="350802"/>
                </a:cxn>
                <a:cxn ang="0">
                  <a:pos x="135312" y="297131"/>
                </a:cxn>
                <a:cxn ang="0">
                  <a:pos x="108094" y="243461"/>
                </a:cxn>
                <a:cxn ang="0">
                  <a:pos x="54436" y="40447"/>
                </a:cxn>
                <a:cxn ang="0">
                  <a:pos x="67656" y="27224"/>
                </a:cxn>
                <a:cxn ang="0">
                  <a:pos x="80876" y="40447"/>
                </a:cxn>
                <a:cxn ang="0">
                  <a:pos x="80876" y="231016"/>
                </a:cxn>
                <a:cxn ang="0">
                  <a:pos x="67656" y="229460"/>
                </a:cxn>
                <a:cxn ang="0">
                  <a:pos x="54436" y="231016"/>
                </a:cxn>
                <a:cxn ang="0">
                  <a:pos x="54436" y="40447"/>
                </a:cxn>
                <a:cxn ang="0">
                  <a:pos x="80876" y="392027"/>
                </a:cxn>
                <a:cxn ang="0">
                  <a:pos x="67656" y="405250"/>
                </a:cxn>
                <a:cxn ang="0">
                  <a:pos x="54436" y="392027"/>
                </a:cxn>
                <a:cxn ang="0">
                  <a:pos x="54436" y="363247"/>
                </a:cxn>
                <a:cxn ang="0">
                  <a:pos x="67656" y="364803"/>
                </a:cxn>
                <a:cxn ang="0">
                  <a:pos x="80876" y="363247"/>
                </a:cxn>
                <a:cxn ang="0">
                  <a:pos x="80876" y="392027"/>
                </a:cxn>
                <a:cxn ang="0">
                  <a:pos x="106539" y="308799"/>
                </a:cxn>
                <a:cxn ang="0">
                  <a:pos x="105761" y="311132"/>
                </a:cxn>
                <a:cxn ang="0">
                  <a:pos x="100318" y="320466"/>
                </a:cxn>
                <a:cxn ang="0">
                  <a:pos x="100318" y="321244"/>
                </a:cxn>
                <a:cxn ang="0">
                  <a:pos x="91763" y="329800"/>
                </a:cxn>
                <a:cxn ang="0">
                  <a:pos x="91763" y="329800"/>
                </a:cxn>
                <a:cxn ang="0">
                  <a:pos x="80876" y="335245"/>
                </a:cxn>
                <a:cxn ang="0">
                  <a:pos x="67656" y="337579"/>
                </a:cxn>
                <a:cxn ang="0">
                  <a:pos x="54436" y="335245"/>
                </a:cxn>
                <a:cxn ang="0">
                  <a:pos x="43549" y="329800"/>
                </a:cxn>
                <a:cxn ang="0">
                  <a:pos x="43549" y="329800"/>
                </a:cxn>
                <a:cxn ang="0">
                  <a:pos x="34994" y="321244"/>
                </a:cxn>
                <a:cxn ang="0">
                  <a:pos x="34994" y="320466"/>
                </a:cxn>
                <a:cxn ang="0">
                  <a:pos x="29551" y="311132"/>
                </a:cxn>
                <a:cxn ang="0">
                  <a:pos x="28773" y="308799"/>
                </a:cxn>
                <a:cxn ang="0">
                  <a:pos x="27218" y="297131"/>
                </a:cxn>
                <a:cxn ang="0">
                  <a:pos x="28773" y="286242"/>
                </a:cxn>
                <a:cxn ang="0">
                  <a:pos x="29551" y="283908"/>
                </a:cxn>
                <a:cxn ang="0">
                  <a:pos x="34994" y="273796"/>
                </a:cxn>
                <a:cxn ang="0">
                  <a:pos x="34994" y="273796"/>
                </a:cxn>
                <a:cxn ang="0">
                  <a:pos x="43549" y="265240"/>
                </a:cxn>
                <a:cxn ang="0">
                  <a:pos x="43549" y="265240"/>
                </a:cxn>
                <a:cxn ang="0">
                  <a:pos x="54436" y="259018"/>
                </a:cxn>
                <a:cxn ang="0">
                  <a:pos x="67656" y="256684"/>
                </a:cxn>
                <a:cxn ang="0">
                  <a:pos x="80876" y="259018"/>
                </a:cxn>
                <a:cxn ang="0">
                  <a:pos x="91763" y="265240"/>
                </a:cxn>
                <a:cxn ang="0">
                  <a:pos x="91763" y="265240"/>
                </a:cxn>
                <a:cxn ang="0">
                  <a:pos x="100318" y="273796"/>
                </a:cxn>
                <a:cxn ang="0">
                  <a:pos x="100318" y="273796"/>
                </a:cxn>
                <a:cxn ang="0">
                  <a:pos x="105761" y="283908"/>
                </a:cxn>
                <a:cxn ang="0">
                  <a:pos x="106539" y="286242"/>
                </a:cxn>
                <a:cxn ang="0">
                  <a:pos x="108094" y="297131"/>
                </a:cxn>
                <a:cxn ang="0">
                  <a:pos x="106539" y="308799"/>
                </a:cxn>
              </a:cxnLst>
              <a:rect l="txL" t="txT" r="txR" b="tx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sp>
        <p:nvSpPr>
          <p:cNvPr id="25" name="Freeform 11">
            <a:extLst>
              <a:ext uri="{FF2B5EF4-FFF2-40B4-BE49-F238E27FC236}">
                <a16:creationId xmlns:a16="http://schemas.microsoft.com/office/drawing/2014/main" id="{9EFC8BA2-668C-8831-18E0-67B4D926B169}"/>
              </a:ext>
            </a:extLst>
          </p:cNvPr>
          <p:cNvSpPr/>
          <p:nvPr/>
        </p:nvSpPr>
        <p:spPr>
          <a:xfrm>
            <a:off x="6994525" y="2500313"/>
            <a:ext cx="420688" cy="415925"/>
          </a:xfrm>
          <a:custGeom>
            <a:avLst/>
            <a:gdLst>
              <a:gd name="txL" fmla="*/ 0 w 906"/>
              <a:gd name="txT" fmla="*/ 0 h 896"/>
              <a:gd name="txR" fmla="*/ 906 w 906"/>
              <a:gd name="txB" fmla="*/ 896 h 896"/>
            </a:gdLst>
            <a:ahLst/>
            <a:cxnLst>
              <a:cxn ang="17694720">
                <a:pos x="210554" y="0"/>
              </a:cxn>
              <a:cxn ang="0">
                <a:pos x="421108" y="208300"/>
              </a:cxn>
              <a:cxn ang="5898240">
                <a:pos x="210554" y="416600"/>
              </a:cxn>
              <a:cxn ang="11796480">
                <a:pos x="0" y="208300"/>
              </a:cxn>
              <a:cxn ang="0">
                <a:pos x="407164" y="368710"/>
              </a:cxn>
              <a:cxn ang="0">
                <a:pos x="286316" y="320819"/>
              </a:cxn>
              <a:cxn ang="0">
                <a:pos x="336050" y="214344"/>
              </a:cxn>
              <a:cxn ang="0">
                <a:pos x="303049" y="44171"/>
              </a:cxn>
              <a:cxn ang="0">
                <a:pos x="210554" y="0"/>
              </a:cxn>
              <a:cxn ang="0">
                <a:pos x="118059" y="44171"/>
              </a:cxn>
              <a:cxn ang="0">
                <a:pos x="85058" y="214344"/>
              </a:cxn>
              <a:cxn ang="0">
                <a:pos x="134792" y="320819"/>
              </a:cxn>
              <a:cxn ang="0">
                <a:pos x="13944" y="368710"/>
              </a:cxn>
              <a:cxn ang="0">
                <a:pos x="3254" y="398002"/>
              </a:cxn>
              <a:cxn ang="0">
                <a:pos x="28353" y="416600"/>
              </a:cxn>
              <a:cxn ang="0">
                <a:pos x="392755" y="416600"/>
              </a:cxn>
              <a:cxn ang="0">
                <a:pos x="417854" y="398002"/>
              </a:cxn>
              <a:cxn ang="0">
                <a:pos x="407164" y="368710"/>
              </a:cxn>
              <a:cxn ang="0">
                <a:pos x="265865" y="304546"/>
              </a:cxn>
              <a:cxn ang="0">
                <a:pos x="261682" y="310125"/>
              </a:cxn>
              <a:cxn ang="0">
                <a:pos x="159426" y="310125"/>
              </a:cxn>
              <a:cxn ang="0">
                <a:pos x="155243" y="304546"/>
              </a:cxn>
              <a:cxn ang="0">
                <a:pos x="108763" y="139952"/>
              </a:cxn>
              <a:cxn ang="0">
                <a:pos x="210554" y="26038"/>
              </a:cxn>
              <a:cxn ang="0">
                <a:pos x="312345" y="139952"/>
              </a:cxn>
              <a:cxn ang="0">
                <a:pos x="265865" y="304546"/>
              </a:cxn>
              <a:cxn ang="0">
                <a:pos x="28353" y="390563"/>
              </a:cxn>
              <a:cxn ang="0">
                <a:pos x="139905" y="346392"/>
              </a:cxn>
              <a:cxn ang="0">
                <a:pos x="172440" y="339417"/>
              </a:cxn>
              <a:cxn ang="0">
                <a:pos x="210554" y="351506"/>
              </a:cxn>
              <a:cxn ang="0">
                <a:pos x="248668" y="339417"/>
              </a:cxn>
              <a:cxn ang="0">
                <a:pos x="281203" y="346392"/>
              </a:cxn>
              <a:cxn ang="0">
                <a:pos x="392755" y="390563"/>
              </a:cxn>
              <a:cxn ang="0">
                <a:pos x="28353" y="390563"/>
              </a:cxn>
            </a:cxnLst>
            <a:rect l="txL" t="txT" r="txR" b="txB"/>
            <a:pathLst>
              <a:path w="906" h="896">
                <a:moveTo>
                  <a:pt x="876" y="793"/>
                </a:moveTo>
                <a:cubicBezTo>
                  <a:pt x="870" y="790"/>
                  <a:pt x="768" y="723"/>
                  <a:pt x="616" y="690"/>
                </a:cubicBezTo>
                <a:cubicBezTo>
                  <a:pt x="672" y="619"/>
                  <a:pt x="708" y="524"/>
                  <a:pt x="723" y="461"/>
                </a:cubicBezTo>
                <a:cubicBezTo>
                  <a:pt x="744" y="374"/>
                  <a:pt x="736" y="202"/>
                  <a:pt x="652" y="95"/>
                </a:cubicBezTo>
                <a:cubicBezTo>
                  <a:pt x="603" y="33"/>
                  <a:pt x="534" y="0"/>
                  <a:pt x="453" y="0"/>
                </a:cubicBezTo>
                <a:cubicBezTo>
                  <a:pt x="372" y="0"/>
                  <a:pt x="303" y="33"/>
                  <a:pt x="254" y="95"/>
                </a:cubicBezTo>
                <a:cubicBezTo>
                  <a:pt x="170" y="202"/>
                  <a:pt x="162" y="374"/>
                  <a:pt x="183" y="461"/>
                </a:cubicBezTo>
                <a:cubicBezTo>
                  <a:pt x="198" y="524"/>
                  <a:pt x="234" y="619"/>
                  <a:pt x="290" y="690"/>
                </a:cubicBezTo>
                <a:cubicBezTo>
                  <a:pt x="138" y="723"/>
                  <a:pt x="36" y="790"/>
                  <a:pt x="30" y="793"/>
                </a:cubicBezTo>
                <a:cubicBezTo>
                  <a:pt x="9" y="807"/>
                  <a:pt x="0" y="833"/>
                  <a:pt x="7" y="856"/>
                </a:cubicBezTo>
                <a:cubicBezTo>
                  <a:pt x="15" y="880"/>
                  <a:pt x="36" y="896"/>
                  <a:pt x="61" y="896"/>
                </a:cubicBezTo>
                <a:cubicBezTo>
                  <a:pt x="845" y="896"/>
                  <a:pt x="845" y="896"/>
                  <a:pt x="845" y="896"/>
                </a:cubicBezTo>
                <a:cubicBezTo>
                  <a:pt x="870" y="896"/>
                  <a:pt x="891" y="880"/>
                  <a:pt x="899" y="856"/>
                </a:cubicBezTo>
                <a:cubicBezTo>
                  <a:pt x="906" y="833"/>
                  <a:pt x="897" y="807"/>
                  <a:pt x="876" y="793"/>
                </a:cubicBezTo>
                <a:close/>
                <a:moveTo>
                  <a:pt x="572" y="655"/>
                </a:moveTo>
                <a:cubicBezTo>
                  <a:pt x="563" y="667"/>
                  <a:pt x="563" y="667"/>
                  <a:pt x="563" y="667"/>
                </a:cubicBezTo>
                <a:cubicBezTo>
                  <a:pt x="497" y="743"/>
                  <a:pt x="409" y="743"/>
                  <a:pt x="343" y="667"/>
                </a:cubicBezTo>
                <a:cubicBezTo>
                  <a:pt x="334" y="655"/>
                  <a:pt x="334" y="655"/>
                  <a:pt x="334" y="655"/>
                </a:cubicBezTo>
                <a:cubicBezTo>
                  <a:pt x="256" y="556"/>
                  <a:pt x="217" y="426"/>
                  <a:pt x="234" y="301"/>
                </a:cubicBezTo>
                <a:cubicBezTo>
                  <a:pt x="249" y="181"/>
                  <a:pt x="317" y="56"/>
                  <a:pt x="453" y="56"/>
                </a:cubicBezTo>
                <a:cubicBezTo>
                  <a:pt x="589" y="56"/>
                  <a:pt x="657" y="181"/>
                  <a:pt x="672" y="301"/>
                </a:cubicBezTo>
                <a:cubicBezTo>
                  <a:pt x="689" y="426"/>
                  <a:pt x="651" y="556"/>
                  <a:pt x="572" y="655"/>
                </a:cubicBezTo>
                <a:close/>
                <a:moveTo>
                  <a:pt x="61" y="840"/>
                </a:moveTo>
                <a:cubicBezTo>
                  <a:pt x="65" y="837"/>
                  <a:pt x="160" y="775"/>
                  <a:pt x="301" y="745"/>
                </a:cubicBezTo>
                <a:cubicBezTo>
                  <a:pt x="371" y="730"/>
                  <a:pt x="371" y="730"/>
                  <a:pt x="371" y="730"/>
                </a:cubicBezTo>
                <a:cubicBezTo>
                  <a:pt x="396" y="746"/>
                  <a:pt x="423" y="756"/>
                  <a:pt x="453" y="756"/>
                </a:cubicBezTo>
                <a:cubicBezTo>
                  <a:pt x="483" y="756"/>
                  <a:pt x="510" y="746"/>
                  <a:pt x="535" y="730"/>
                </a:cubicBezTo>
                <a:cubicBezTo>
                  <a:pt x="605" y="745"/>
                  <a:pt x="605" y="745"/>
                  <a:pt x="605" y="745"/>
                </a:cubicBezTo>
                <a:cubicBezTo>
                  <a:pt x="745" y="775"/>
                  <a:pt x="840" y="836"/>
                  <a:pt x="845" y="840"/>
                </a:cubicBezTo>
                <a:lnTo>
                  <a:pt x="61" y="840"/>
                </a:ln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6" name="Freeform 15">
            <a:extLst>
              <a:ext uri="{FF2B5EF4-FFF2-40B4-BE49-F238E27FC236}">
                <a16:creationId xmlns:a16="http://schemas.microsoft.com/office/drawing/2014/main" id="{A1A11A89-A8C5-566C-0008-3F04F0412A00}"/>
              </a:ext>
            </a:extLst>
          </p:cNvPr>
          <p:cNvSpPr/>
          <p:nvPr/>
        </p:nvSpPr>
        <p:spPr>
          <a:xfrm>
            <a:off x="4754563" y="3960813"/>
            <a:ext cx="447675" cy="336550"/>
          </a:xfrm>
          <a:custGeom>
            <a:avLst/>
            <a:gdLst>
              <a:gd name="txL" fmla="*/ 0 w 696"/>
              <a:gd name="txT" fmla="*/ 0 h 522"/>
              <a:gd name="txR" fmla="*/ 696 w 696"/>
              <a:gd name="txB" fmla="*/ 522 h 522"/>
            </a:gdLst>
            <a:ahLst/>
            <a:cxnLst>
              <a:cxn ang="17694720">
                <a:pos x="223735" y="0"/>
              </a:cxn>
              <a:cxn ang="0">
                <a:pos x="447470" y="168039"/>
              </a:cxn>
              <a:cxn ang="5898240">
                <a:pos x="223735" y="336078"/>
              </a:cxn>
              <a:cxn ang="11796480">
                <a:pos x="0" y="168039"/>
              </a:cxn>
              <a:cxn ang="0">
                <a:pos x="368391" y="8370"/>
              </a:cxn>
              <a:cxn ang="0">
                <a:pos x="99009" y="0"/>
              </a:cxn>
              <a:cxn ang="0">
                <a:pos x="8358" y="79191"/>
              </a:cxn>
              <a:cxn ang="0">
                <a:pos x="7072" y="117820"/>
              </a:cxn>
              <a:cxn ang="0">
                <a:pos x="223735" y="336078"/>
              </a:cxn>
              <a:cxn ang="0">
                <a:pos x="440398" y="117820"/>
              </a:cxn>
              <a:cxn ang="0">
                <a:pos x="439112" y="79191"/>
              </a:cxn>
              <a:cxn ang="0">
                <a:pos x="192875" y="97862"/>
              </a:cxn>
              <a:cxn ang="0">
                <a:pos x="254595" y="97862"/>
              </a:cxn>
              <a:cxn ang="0">
                <a:pos x="272597" y="30904"/>
              </a:cxn>
              <a:cxn ang="0">
                <a:pos x="265525" y="88848"/>
              </a:cxn>
              <a:cxn ang="0">
                <a:pos x="181945" y="88848"/>
              </a:cxn>
              <a:cxn ang="0">
                <a:pos x="174873" y="30904"/>
              </a:cxn>
              <a:cxn ang="0">
                <a:pos x="181945" y="88848"/>
              </a:cxn>
              <a:cxn ang="0">
                <a:pos x="223735" y="286503"/>
              </a:cxn>
              <a:cxn ang="0">
                <a:pos x="258452" y="112026"/>
              </a:cxn>
              <a:cxn ang="0">
                <a:pos x="341389" y="112026"/>
              </a:cxn>
              <a:cxn ang="0">
                <a:pos x="272597" y="112026"/>
              </a:cxn>
              <a:cxn ang="0">
                <a:pos x="311172" y="69533"/>
              </a:cxn>
              <a:cxn ang="0">
                <a:pos x="276454" y="97862"/>
              </a:cxn>
              <a:cxn ang="0">
                <a:pos x="338817" y="28328"/>
              </a:cxn>
              <a:cxn ang="0">
                <a:pos x="289313" y="28328"/>
              </a:cxn>
              <a:cxn ang="0">
                <a:pos x="192875" y="28328"/>
              </a:cxn>
              <a:cxn ang="0">
                <a:pos x="223735" y="54082"/>
              </a:cxn>
              <a:cxn ang="0">
                <a:pos x="108653" y="28328"/>
              </a:cxn>
              <a:cxn ang="0">
                <a:pos x="135655" y="50219"/>
              </a:cxn>
              <a:cxn ang="0">
                <a:pos x="171016" y="97862"/>
              </a:cxn>
              <a:cxn ang="0">
                <a:pos x="136298" y="69533"/>
              </a:cxn>
              <a:cxn ang="0">
                <a:pos x="208948" y="283928"/>
              </a:cxn>
              <a:cxn ang="0">
                <a:pos x="174873" y="112026"/>
              </a:cxn>
              <a:cxn ang="0">
                <a:pos x="39861" y="112026"/>
              </a:cxn>
              <a:cxn ang="0">
                <a:pos x="177445" y="258819"/>
              </a:cxn>
              <a:cxn ang="0">
                <a:pos x="407609" y="112026"/>
              </a:cxn>
              <a:cxn ang="0">
                <a:pos x="357462" y="112026"/>
              </a:cxn>
              <a:cxn ang="0">
                <a:pos x="322101" y="60520"/>
              </a:cxn>
              <a:cxn ang="0">
                <a:pos x="418539" y="97862"/>
              </a:cxn>
              <a:cxn ang="0">
                <a:pos x="93223" y="33479"/>
              </a:cxn>
              <a:cxn ang="0">
                <a:pos x="88080" y="97862"/>
              </a:cxn>
              <a:cxn ang="0">
                <a:pos x="93223" y="33479"/>
              </a:cxn>
            </a:cxnLst>
            <a:rect l="txL" t="txT" r="txR" b="tx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7" name="Rectangle 35">
            <a:extLst>
              <a:ext uri="{FF2B5EF4-FFF2-40B4-BE49-F238E27FC236}">
                <a16:creationId xmlns:a16="http://schemas.microsoft.com/office/drawing/2014/main" id="{C6BDC74E-FDF6-24AA-E072-74D18AFF0B28}"/>
              </a:ext>
            </a:extLst>
          </p:cNvPr>
          <p:cNvSpPr/>
          <p:nvPr/>
        </p:nvSpPr>
        <p:spPr>
          <a:xfrm>
            <a:off x="4448175" y="1781175"/>
            <a:ext cx="1054100" cy="85725"/>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8" name="Rectangle 38">
            <a:extLst>
              <a:ext uri="{FF2B5EF4-FFF2-40B4-BE49-F238E27FC236}">
                <a16:creationId xmlns:a16="http://schemas.microsoft.com/office/drawing/2014/main" id="{FF611099-55CA-51D3-5E00-256840CDA7D7}"/>
              </a:ext>
            </a:extLst>
          </p:cNvPr>
          <p:cNvSpPr/>
          <p:nvPr/>
        </p:nvSpPr>
        <p:spPr>
          <a:xfrm>
            <a:off x="6675438" y="3167063"/>
            <a:ext cx="1054100" cy="87312"/>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9" name="Rectangle 39">
            <a:extLst>
              <a:ext uri="{FF2B5EF4-FFF2-40B4-BE49-F238E27FC236}">
                <a16:creationId xmlns:a16="http://schemas.microsoft.com/office/drawing/2014/main" id="{BD6727C0-44B3-9563-2E23-99FBB924ED27}"/>
              </a:ext>
            </a:extLst>
          </p:cNvPr>
          <p:cNvSpPr/>
          <p:nvPr/>
        </p:nvSpPr>
        <p:spPr>
          <a:xfrm>
            <a:off x="4448175" y="4541838"/>
            <a:ext cx="1054100" cy="87312"/>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0" name="Isosceles Triangle 1">
            <a:extLst>
              <a:ext uri="{FF2B5EF4-FFF2-40B4-BE49-F238E27FC236}">
                <a16:creationId xmlns:a16="http://schemas.microsoft.com/office/drawing/2014/main" id="{2E6B7AAF-7D7F-6377-D54E-A7A24E5D59A1}"/>
              </a:ext>
            </a:extLst>
          </p:cNvPr>
          <p:cNvSpPr/>
          <p:nvPr/>
        </p:nvSpPr>
        <p:spPr>
          <a:xfrm rot="10799991" flipH="1" flipV="1">
            <a:off x="5953125" y="5394325"/>
            <a:ext cx="265113"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4" name="Rectangle 2">
            <a:extLst>
              <a:ext uri="{FF2B5EF4-FFF2-40B4-BE49-F238E27FC236}">
                <a16:creationId xmlns:a16="http://schemas.microsoft.com/office/drawing/2014/main" id="{B913D601-7BA7-66C8-31F0-E90AA654F150}"/>
              </a:ext>
            </a:extLst>
          </p:cNvPr>
          <p:cNvSpPr>
            <a:spLocks noChangeArrowheads="1"/>
          </p:cNvSpPr>
          <p:nvPr/>
        </p:nvSpPr>
        <p:spPr bwMode="auto">
          <a:xfrm>
            <a:off x="1172412" y="819448"/>
            <a:ext cx="334790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Tokenisation et </a:t>
            </a: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embeddings</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A48F49A-8CD1-CF49-AFC8-197AED35301F}"/>
              </a:ext>
            </a:extLst>
          </p:cNvPr>
          <p:cNvSpPr>
            <a:spLocks noChangeArrowheads="1"/>
          </p:cNvSpPr>
          <p:nvPr/>
        </p:nvSpPr>
        <p:spPr bwMode="auto">
          <a:xfrm>
            <a:off x="7916863" y="2200275"/>
            <a:ext cx="136447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RMSNorm</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a:t>
            </a:r>
          </a:p>
        </p:txBody>
      </p:sp>
      <p:sp>
        <p:nvSpPr>
          <p:cNvPr id="23" name="Rectangle 4">
            <a:extLst>
              <a:ext uri="{FF2B5EF4-FFF2-40B4-BE49-F238E27FC236}">
                <a16:creationId xmlns:a16="http://schemas.microsoft.com/office/drawing/2014/main" id="{B224154F-D668-81A1-F73B-F9F2BEA6DF7F}"/>
              </a:ext>
            </a:extLst>
          </p:cNvPr>
          <p:cNvSpPr>
            <a:spLocks noChangeArrowheads="1"/>
          </p:cNvSpPr>
          <p:nvPr/>
        </p:nvSpPr>
        <p:spPr bwMode="auto">
          <a:xfrm>
            <a:off x="1809317" y="3618508"/>
            <a:ext cx="271099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Self-Attention et </a:t>
            </a: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RoPE</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4993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up)">
                                      <p:cBhvr>
                                        <p:cTn id="30" dur="500"/>
                                        <p:tgtEl>
                                          <p:spTgt spid="8"/>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par>
                          <p:cTn id="48" fill="hold">
                            <p:stCondLst>
                              <p:cond delay="4000"/>
                            </p:stCondLst>
                            <p:childTnLst>
                              <p:par>
                                <p:cTn id="49" presetID="53" presetClass="entr" presetSubtype="16"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childTnLst>
                          </p:cTn>
                        </p:par>
                        <p:par>
                          <p:cTn id="54" fill="hold">
                            <p:stCondLst>
                              <p:cond delay="4500"/>
                            </p:stCondLst>
                            <p:childTnLst>
                              <p:par>
                                <p:cTn id="55" presetID="22" presetClass="entr" presetSubtype="1"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up)">
                                      <p:cBhvr>
                                        <p:cTn id="57" dur="500"/>
                                        <p:tgtEl>
                                          <p:spTgt spid="14"/>
                                        </p:tgtEl>
                                      </p:cBhvr>
                                    </p:animEffect>
                                  </p:childTnLst>
                                </p:cTn>
                              </p:par>
                            </p:childTnLst>
                          </p:cTn>
                        </p:par>
                        <p:par>
                          <p:cTn id="58" fill="hold">
                            <p:stCondLst>
                              <p:cond delay="5000"/>
                            </p:stCondLst>
                            <p:childTnLst>
                              <p:par>
                                <p:cTn id="59" presetID="53" presetClass="entr" presetSubtype="16" fill="hold" nodeType="after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childTnLst>
                          </p:cTn>
                        </p:par>
                        <p:par>
                          <p:cTn id="64" fill="hold">
                            <p:stCondLst>
                              <p:cond delay="5500"/>
                            </p:stCondLst>
                            <p:childTnLst>
                              <p:par>
                                <p:cTn id="65" presetID="22" presetClass="entr" presetSubtype="2" fill="hold"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right)">
                                      <p:cBhvr>
                                        <p:cTn id="67" dur="500"/>
                                        <p:tgtEl>
                                          <p:spTgt spid="18"/>
                                        </p:tgtEl>
                                      </p:cBhvr>
                                    </p:animEffect>
                                  </p:childTnLst>
                                </p:cTn>
                              </p:par>
                            </p:childTnLst>
                          </p:cTn>
                        </p:par>
                        <p:par>
                          <p:cTn id="68" fill="hold">
                            <p:stCondLst>
                              <p:cond delay="6000"/>
                            </p:stCondLst>
                            <p:childTnLst>
                              <p:par>
                                <p:cTn id="69" presetID="10" presetClass="entr" presetSubtype="0" fill="hold" grpId="0" nodeType="after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childTnLst>
                          </p:cTn>
                        </p:par>
                        <p:par>
                          <p:cTn id="75" fill="hold">
                            <p:stCondLst>
                              <p:cond delay="6500"/>
                            </p:stCondLst>
                            <p:childTnLst>
                              <p:par>
                                <p:cTn id="76" presetID="53" presetClass="entr" presetSubtype="16" fill="hold" nodeType="afterEffect">
                                  <p:stCondLst>
                                    <p:cond delay="0"/>
                                  </p:stCondLst>
                                  <p:childTnLst>
                                    <p:set>
                                      <p:cBhvr>
                                        <p:cTn id="77" dur="1" fill="hold">
                                          <p:stCondLst>
                                            <p:cond delay="0"/>
                                          </p:stCondLst>
                                        </p:cTn>
                                        <p:tgtEl>
                                          <p:spTgt spid="26"/>
                                        </p:tgtEl>
                                        <p:attrNameLst>
                                          <p:attrName>style.visibility</p:attrName>
                                        </p:attrNameLst>
                                      </p:cBhvr>
                                      <p:to>
                                        <p:strVal val="visible"/>
                                      </p:to>
                                    </p:set>
                                    <p:anim calcmode="lin" valueType="num">
                                      <p:cBhvr>
                                        <p:cTn id="78" dur="500" fill="hold"/>
                                        <p:tgtEl>
                                          <p:spTgt spid="26"/>
                                        </p:tgtEl>
                                        <p:attrNameLst>
                                          <p:attrName>ppt_w</p:attrName>
                                        </p:attrNameLst>
                                      </p:cBhvr>
                                      <p:tavLst>
                                        <p:tav tm="0">
                                          <p:val>
                                            <p:fltVal val="0"/>
                                          </p:val>
                                        </p:tav>
                                        <p:tav tm="100000">
                                          <p:val>
                                            <p:strVal val="#ppt_w"/>
                                          </p:val>
                                        </p:tav>
                                      </p:tavLst>
                                    </p:anim>
                                    <p:anim calcmode="lin" valueType="num">
                                      <p:cBhvr>
                                        <p:cTn id="79" dur="500" fill="hold"/>
                                        <p:tgtEl>
                                          <p:spTgt spid="26"/>
                                        </p:tgtEl>
                                        <p:attrNameLst>
                                          <p:attrName>ppt_h</p:attrName>
                                        </p:attrNameLst>
                                      </p:cBhvr>
                                      <p:tavLst>
                                        <p:tav tm="0">
                                          <p:val>
                                            <p:fltVal val="0"/>
                                          </p:val>
                                        </p:tav>
                                        <p:tav tm="100000">
                                          <p:val>
                                            <p:strVal val="#ppt_h"/>
                                          </p:val>
                                        </p:tav>
                                      </p:tavLst>
                                    </p:anim>
                                    <p:animEffect transition="in" filter="fade">
                                      <p:cBhvr>
                                        <p:cTn id="80" dur="500"/>
                                        <p:tgtEl>
                                          <p:spTgt spid="26"/>
                                        </p:tgtEl>
                                      </p:cBhvr>
                                    </p:animEffect>
                                  </p:childTnLst>
                                </p:cTn>
                              </p:par>
                            </p:childTnLst>
                          </p:cTn>
                        </p:par>
                        <p:par>
                          <p:cTn id="81" fill="hold">
                            <p:stCondLst>
                              <p:cond delay="7000"/>
                            </p:stCondLst>
                            <p:childTnLst>
                              <p:par>
                                <p:cTn id="82" presetID="22" presetClass="entr" presetSubtype="1"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up)">
                                      <p:cBhvr>
                                        <p:cTn id="84" dur="500"/>
                                        <p:tgtEl>
                                          <p:spTgt spid="20"/>
                                        </p:tgtEl>
                                      </p:cBhvr>
                                    </p:animEffect>
                                  </p:childTnLst>
                                </p:cTn>
                              </p:par>
                            </p:childTnLst>
                          </p:cTn>
                        </p:par>
                        <p:par>
                          <p:cTn id="85" fill="hold">
                            <p:stCondLst>
                              <p:cond delay="7500"/>
                            </p:stCondLst>
                            <p:childTnLst>
                              <p:par>
                                <p:cTn id="86" presetID="42" presetClass="entr" presetSubtype="0" fill="hold" nodeType="after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anim calcmode="lin" valueType="num">
                                      <p:cBhvr>
                                        <p:cTn id="89" dur="500" fill="hold"/>
                                        <p:tgtEl>
                                          <p:spTgt spid="30"/>
                                        </p:tgtEl>
                                        <p:attrNameLst>
                                          <p:attrName>ppt_x</p:attrName>
                                        </p:attrNameLst>
                                      </p:cBhvr>
                                      <p:tavLst>
                                        <p:tav tm="0">
                                          <p:val>
                                            <p:strVal val="#ppt_x"/>
                                          </p:val>
                                        </p:tav>
                                        <p:tav tm="100000">
                                          <p:val>
                                            <p:strVal val="#ppt_x"/>
                                          </p:val>
                                        </p:tav>
                                      </p:tavLst>
                                    </p:anim>
                                    <p:anim calcmode="lin" valueType="num">
                                      <p:cBhvr>
                                        <p:cTn id="90"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9" grpId="0" animBg="1"/>
      <p:bldP spid="27" grpId="0" animBg="1"/>
      <p:bldP spid="28" grpId="0" animBg="1"/>
      <p:bldP spid="29"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66B137-DD55-8F7E-F026-F6C39E491A86}"/>
            </a:ext>
          </a:extLst>
        </p:cNvPr>
        <p:cNvGrpSpPr/>
        <p:nvPr/>
      </p:nvGrpSpPr>
      <p:grpSpPr>
        <a:xfrm>
          <a:off x="0" y="0"/>
          <a:ext cx="0" cy="0"/>
          <a:chOff x="0" y="0"/>
          <a:chExt cx="0" cy="0"/>
        </a:xfrm>
      </p:grpSpPr>
      <p:cxnSp>
        <p:nvCxnSpPr>
          <p:cNvPr id="31746" name="Straight Connector 10">
            <a:extLst>
              <a:ext uri="{FF2B5EF4-FFF2-40B4-BE49-F238E27FC236}">
                <a16:creationId xmlns:a16="http://schemas.microsoft.com/office/drawing/2014/main" id="{12422149-091B-0F51-3F8E-012856DE6DB3}"/>
              </a:ext>
            </a:extLst>
          </p:cNvPr>
          <p:cNvCxnSpPr/>
          <p:nvPr/>
        </p:nvCxnSpPr>
        <p:spPr>
          <a:xfrm>
            <a:off x="6096000" y="0"/>
            <a:ext cx="0" cy="1249363"/>
          </a:xfrm>
          <a:prstGeom prst="straightConnector1">
            <a:avLst/>
          </a:prstGeom>
          <a:ln w="25402" cap="flat" cmpd="sng">
            <a:solidFill>
              <a:srgbClr val="D9D9D9"/>
            </a:solidFill>
            <a:prstDash val="solid"/>
            <a:miter/>
            <a:headEnd type="none" w="med" len="med"/>
            <a:tailEnd type="none" w="med" len="med"/>
          </a:ln>
        </p:spPr>
      </p:cxnSp>
      <p:sp>
        <p:nvSpPr>
          <p:cNvPr id="5" name="Oval 3">
            <a:extLst>
              <a:ext uri="{FF2B5EF4-FFF2-40B4-BE49-F238E27FC236}">
                <a16:creationId xmlns:a16="http://schemas.microsoft.com/office/drawing/2014/main" id="{989852FD-A7BA-18AE-FBB7-BAC137F33CCC}"/>
              </a:ext>
            </a:extLst>
          </p:cNvPr>
          <p:cNvSpPr/>
          <p:nvPr/>
        </p:nvSpPr>
        <p:spPr>
          <a:xfrm>
            <a:off x="6038850" y="1265238"/>
            <a:ext cx="114300" cy="112712"/>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ACC777">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6" name="Straight Connector 9">
            <a:extLst>
              <a:ext uri="{FF2B5EF4-FFF2-40B4-BE49-F238E27FC236}">
                <a16:creationId xmlns:a16="http://schemas.microsoft.com/office/drawing/2014/main" id="{C564E024-7EB3-6CA2-DDD7-664D802E62A7}"/>
              </a:ext>
            </a:extLst>
          </p:cNvPr>
          <p:cNvCxnSpPr/>
          <p:nvPr/>
        </p:nvCxnSpPr>
        <p:spPr>
          <a:xfrm>
            <a:off x="5514975" y="1339850"/>
            <a:ext cx="523875" cy="0"/>
          </a:xfrm>
          <a:prstGeom prst="straightConnector1">
            <a:avLst/>
          </a:prstGeom>
          <a:ln w="25402" cap="flat" cmpd="sng">
            <a:solidFill>
              <a:srgbClr val="D9D9D9"/>
            </a:solidFill>
            <a:prstDash val="solid"/>
            <a:miter/>
            <a:headEnd type="none" w="med" len="med"/>
            <a:tailEnd type="none" w="med" len="med"/>
          </a:ln>
        </p:spPr>
      </p:cxnSp>
      <p:sp>
        <p:nvSpPr>
          <p:cNvPr id="7" name="Rectangle 13">
            <a:extLst>
              <a:ext uri="{FF2B5EF4-FFF2-40B4-BE49-F238E27FC236}">
                <a16:creationId xmlns:a16="http://schemas.microsoft.com/office/drawing/2014/main" id="{DAD5CB51-8025-072B-6F90-59D66A976C55}"/>
              </a:ext>
            </a:extLst>
          </p:cNvPr>
          <p:cNvSpPr/>
          <p:nvPr/>
        </p:nvSpPr>
        <p:spPr>
          <a:xfrm>
            <a:off x="4448175" y="812800"/>
            <a:ext cx="1054100" cy="10541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8" name="Straight Connector 26">
            <a:extLst>
              <a:ext uri="{FF2B5EF4-FFF2-40B4-BE49-F238E27FC236}">
                <a16:creationId xmlns:a16="http://schemas.microsoft.com/office/drawing/2014/main" id="{95005651-5A12-6750-3D02-7866C914FCCB}"/>
              </a:ext>
            </a:extLst>
          </p:cNvPr>
          <p:cNvCxnSpPr/>
          <p:nvPr/>
        </p:nvCxnSpPr>
        <p:spPr>
          <a:xfrm>
            <a:off x="6096000" y="1385888"/>
            <a:ext cx="0" cy="1249362"/>
          </a:xfrm>
          <a:prstGeom prst="straightConnector1">
            <a:avLst/>
          </a:prstGeom>
          <a:ln w="25402" cap="flat" cmpd="sng">
            <a:solidFill>
              <a:srgbClr val="D9D9D9"/>
            </a:solidFill>
            <a:prstDash val="solid"/>
            <a:miter/>
            <a:headEnd type="none" w="med" len="med"/>
            <a:tailEnd type="none" w="med" len="med"/>
          </a:ln>
        </p:spPr>
      </p:cxnSp>
      <p:sp>
        <p:nvSpPr>
          <p:cNvPr id="9" name="Oval 27">
            <a:extLst>
              <a:ext uri="{FF2B5EF4-FFF2-40B4-BE49-F238E27FC236}">
                <a16:creationId xmlns:a16="http://schemas.microsoft.com/office/drawing/2014/main" id="{C2D07D4C-CE50-DCDE-8EF2-1533A20BE4DF}"/>
              </a:ext>
            </a:extLst>
          </p:cNvPr>
          <p:cNvSpPr/>
          <p:nvPr/>
        </p:nvSpPr>
        <p:spPr>
          <a:xfrm>
            <a:off x="6038850" y="2651125"/>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77933C">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10" name="Straight Connector 28">
            <a:extLst>
              <a:ext uri="{FF2B5EF4-FFF2-40B4-BE49-F238E27FC236}">
                <a16:creationId xmlns:a16="http://schemas.microsoft.com/office/drawing/2014/main" id="{BE8F6D31-C423-7DBD-5360-BEE49B721542}"/>
              </a:ext>
            </a:extLst>
          </p:cNvPr>
          <p:cNvCxnSpPr/>
          <p:nvPr/>
        </p:nvCxnSpPr>
        <p:spPr>
          <a:xfrm>
            <a:off x="6153150" y="2727325"/>
            <a:ext cx="523875" cy="0"/>
          </a:xfrm>
          <a:prstGeom prst="straightConnector1">
            <a:avLst/>
          </a:prstGeom>
          <a:ln w="25402" cap="flat" cmpd="sng">
            <a:solidFill>
              <a:srgbClr val="D9D9D9"/>
            </a:solidFill>
            <a:prstDash val="solid"/>
            <a:miter/>
            <a:headEnd type="none" w="med" len="med"/>
            <a:tailEnd type="none" w="med" len="med"/>
          </a:ln>
        </p:spPr>
      </p:cxnSp>
      <p:sp>
        <p:nvSpPr>
          <p:cNvPr id="11" name="Rectangle 29">
            <a:extLst>
              <a:ext uri="{FF2B5EF4-FFF2-40B4-BE49-F238E27FC236}">
                <a16:creationId xmlns:a16="http://schemas.microsoft.com/office/drawing/2014/main" id="{0B5B5DFD-2754-9B28-CDB0-85E194FBC770}"/>
              </a:ext>
            </a:extLst>
          </p:cNvPr>
          <p:cNvSpPr/>
          <p:nvPr/>
        </p:nvSpPr>
        <p:spPr>
          <a:xfrm>
            <a:off x="6677025" y="2200275"/>
            <a:ext cx="1054100" cy="10541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14" name="Straight Connector 66">
            <a:extLst>
              <a:ext uri="{FF2B5EF4-FFF2-40B4-BE49-F238E27FC236}">
                <a16:creationId xmlns:a16="http://schemas.microsoft.com/office/drawing/2014/main" id="{C608626C-DF95-B4C0-8B52-F815D050AA15}"/>
              </a:ext>
            </a:extLst>
          </p:cNvPr>
          <p:cNvCxnSpPr/>
          <p:nvPr/>
        </p:nvCxnSpPr>
        <p:spPr>
          <a:xfrm>
            <a:off x="6096000" y="2760663"/>
            <a:ext cx="0" cy="1249362"/>
          </a:xfrm>
          <a:prstGeom prst="straightConnector1">
            <a:avLst/>
          </a:prstGeom>
          <a:ln w="25402" cap="flat" cmpd="sng">
            <a:solidFill>
              <a:srgbClr val="D9D9D9"/>
            </a:solidFill>
            <a:prstDash val="solid"/>
            <a:miter/>
            <a:headEnd type="none" w="med" len="med"/>
            <a:tailEnd type="none" w="med" len="med"/>
          </a:ln>
        </p:spPr>
      </p:cxnSp>
      <p:sp>
        <p:nvSpPr>
          <p:cNvPr id="17" name="Oval 69">
            <a:extLst>
              <a:ext uri="{FF2B5EF4-FFF2-40B4-BE49-F238E27FC236}">
                <a16:creationId xmlns:a16="http://schemas.microsoft.com/office/drawing/2014/main" id="{D6741C9C-7BF5-7879-A716-4C7A53533959}"/>
              </a:ext>
            </a:extLst>
          </p:cNvPr>
          <p:cNvSpPr/>
          <p:nvPr/>
        </p:nvSpPr>
        <p:spPr>
          <a:xfrm>
            <a:off x="6038850" y="4025900"/>
            <a:ext cx="114300" cy="112713"/>
          </a:xfrm>
          <a:custGeom>
            <a:avLst/>
            <a:gdLst>
              <a:gd name="txL" fmla="*/ 16566 w 113120"/>
              <a:gd name="txT" fmla="*/ 16566 h 113120"/>
              <a:gd name="txR" fmla="*/ 96554 w 113120"/>
              <a:gd name="txB" fmla="*/ 96554 h 113120"/>
            </a:gdLst>
            <a:ahLst/>
            <a:cxnLst>
              <a:cxn ang="17694720">
                <a:pos x="56560" y="0"/>
              </a:cxn>
              <a:cxn ang="0">
                <a:pos x="113120" y="56560"/>
              </a:cxn>
              <a:cxn ang="5898240">
                <a:pos x="56560" y="113120"/>
              </a:cxn>
              <a:cxn ang="11796480">
                <a:pos x="0" y="56560"/>
              </a:cxn>
              <a:cxn ang="17694720">
                <a:pos x="16566" y="16566"/>
              </a:cxn>
              <a:cxn ang="5898240">
                <a:pos x="16566" y="96554"/>
              </a:cxn>
              <a:cxn ang="5898240">
                <a:pos x="96554" y="96554"/>
              </a:cxn>
              <a:cxn ang="17694720">
                <a:pos x="96554" y="16566"/>
              </a:cxn>
            </a:cxnLst>
            <a:rect l="txL" t="txT" r="txR" b="txB"/>
            <a:pathLst>
              <a:path w="113120" h="113120">
                <a:moveTo>
                  <a:pt x="0" y="56560"/>
                </a:moveTo>
                <a:arcTo wR="56560" hR="56560" stAng="-10800000" swAng="-21600000"/>
                <a:close/>
              </a:path>
            </a:pathLst>
          </a:custGeom>
          <a:solidFill>
            <a:srgbClr val="C0D498">
              <a:alpha val="100000"/>
            </a:srgbClr>
          </a:solidFill>
          <a:ln w="50804" cap="flat" cmpd="sng">
            <a:solidFill>
              <a:srgbClr val="D9D9D9">
                <a:alpha val="100000"/>
              </a:srgbClr>
            </a:solidFill>
            <a:prstDash val="solid"/>
            <a:miter/>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cxnSp>
        <p:nvCxnSpPr>
          <p:cNvPr id="18" name="Straight Connector 70">
            <a:extLst>
              <a:ext uri="{FF2B5EF4-FFF2-40B4-BE49-F238E27FC236}">
                <a16:creationId xmlns:a16="http://schemas.microsoft.com/office/drawing/2014/main" id="{AEEEDEF0-59B3-9103-D59B-53215664C3E8}"/>
              </a:ext>
            </a:extLst>
          </p:cNvPr>
          <p:cNvCxnSpPr/>
          <p:nvPr/>
        </p:nvCxnSpPr>
        <p:spPr>
          <a:xfrm>
            <a:off x="5514975" y="4100513"/>
            <a:ext cx="523875" cy="0"/>
          </a:xfrm>
          <a:prstGeom prst="straightConnector1">
            <a:avLst/>
          </a:prstGeom>
          <a:ln w="25402" cap="flat" cmpd="sng">
            <a:solidFill>
              <a:srgbClr val="D9D9D9"/>
            </a:solidFill>
            <a:prstDash val="solid"/>
            <a:miter/>
            <a:headEnd type="none" w="med" len="med"/>
            <a:tailEnd type="none" w="med" len="med"/>
          </a:ln>
        </p:spPr>
      </p:cxnSp>
      <p:sp>
        <p:nvSpPr>
          <p:cNvPr id="19" name="Rectangle 71">
            <a:extLst>
              <a:ext uri="{FF2B5EF4-FFF2-40B4-BE49-F238E27FC236}">
                <a16:creationId xmlns:a16="http://schemas.microsoft.com/office/drawing/2014/main" id="{0D2D489C-D099-6E6B-52A4-E8D9BB465810}"/>
              </a:ext>
            </a:extLst>
          </p:cNvPr>
          <p:cNvSpPr/>
          <p:nvPr/>
        </p:nvSpPr>
        <p:spPr>
          <a:xfrm>
            <a:off x="4448175" y="3573463"/>
            <a:ext cx="1054100" cy="1055687"/>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cxnSp>
        <p:nvCxnSpPr>
          <p:cNvPr id="20" name="Straight Connector 77">
            <a:extLst>
              <a:ext uri="{FF2B5EF4-FFF2-40B4-BE49-F238E27FC236}">
                <a16:creationId xmlns:a16="http://schemas.microsoft.com/office/drawing/2014/main" id="{3FEEB246-2666-5F9D-2241-0743ED0C3969}"/>
              </a:ext>
            </a:extLst>
          </p:cNvPr>
          <p:cNvCxnSpPr/>
          <p:nvPr/>
        </p:nvCxnSpPr>
        <p:spPr>
          <a:xfrm>
            <a:off x="6096000" y="4148138"/>
            <a:ext cx="0" cy="1249362"/>
          </a:xfrm>
          <a:prstGeom prst="straightConnector1">
            <a:avLst/>
          </a:prstGeom>
          <a:ln w="25402" cap="flat" cmpd="sng">
            <a:solidFill>
              <a:srgbClr val="D9D9D9"/>
            </a:solidFill>
            <a:prstDash val="solid"/>
            <a:miter/>
            <a:headEnd type="none" w="med" len="med"/>
            <a:tailEnd type="none" w="med" len="med"/>
          </a:ln>
        </p:spPr>
      </p:cxnSp>
      <p:grpSp>
        <p:nvGrpSpPr>
          <p:cNvPr id="21" name="Group 17">
            <a:extLst>
              <a:ext uri="{FF2B5EF4-FFF2-40B4-BE49-F238E27FC236}">
                <a16:creationId xmlns:a16="http://schemas.microsoft.com/office/drawing/2014/main" id="{E8DCF8CB-CB01-E4DF-F047-4BF3FF43EFAB}"/>
              </a:ext>
            </a:extLst>
          </p:cNvPr>
          <p:cNvGrpSpPr/>
          <p:nvPr/>
        </p:nvGrpSpPr>
        <p:grpSpPr>
          <a:xfrm>
            <a:off x="4759325" y="1104900"/>
            <a:ext cx="433388" cy="433388"/>
            <a:chOff x="4759241" y="1105079"/>
            <a:chExt cx="432813" cy="432474"/>
          </a:xfrm>
        </p:grpSpPr>
        <p:sp>
          <p:nvSpPr>
            <p:cNvPr id="31772" name="Freeform 5">
              <a:extLst>
                <a:ext uri="{FF2B5EF4-FFF2-40B4-BE49-F238E27FC236}">
                  <a16:creationId xmlns:a16="http://schemas.microsoft.com/office/drawing/2014/main" id="{822DEBB9-4E61-26BA-ABB8-A72DCA858E17}"/>
                </a:ext>
              </a:extLst>
            </p:cNvPr>
            <p:cNvSpPr/>
            <p:nvPr/>
          </p:nvSpPr>
          <p:spPr>
            <a:xfrm>
              <a:off x="4759241"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073" y="40447"/>
                </a:cxn>
                <a:cxn ang="0">
                  <a:pos x="81073" y="69227"/>
                </a:cxn>
                <a:cxn ang="0">
                  <a:pos x="67821" y="67671"/>
                </a:cxn>
                <a:cxn ang="0">
                  <a:pos x="54569" y="69227"/>
                </a:cxn>
                <a:cxn ang="0">
                  <a:pos x="54569" y="40447"/>
                </a:cxn>
                <a:cxn ang="0">
                  <a:pos x="81073" y="392027"/>
                </a:cxn>
                <a:cxn ang="0">
                  <a:pos x="67821" y="405250"/>
                </a:cxn>
                <a:cxn ang="0">
                  <a:pos x="54569" y="392027"/>
                </a:cxn>
                <a:cxn ang="0">
                  <a:pos x="54569" y="201458"/>
                </a:cxn>
                <a:cxn ang="0">
                  <a:pos x="67821" y="203014"/>
                </a:cxn>
                <a:cxn ang="0">
                  <a:pos x="81073" y="201458"/>
                </a:cxn>
                <a:cxn ang="0">
                  <a:pos x="81073" y="392027"/>
                </a:cxn>
                <a:cxn ang="0">
                  <a:pos x="106799" y="146232"/>
                </a:cxn>
                <a:cxn ang="0">
                  <a:pos x="106019" y="148566"/>
                </a:cxn>
                <a:cxn ang="0">
                  <a:pos x="100562" y="158678"/>
                </a:cxn>
                <a:cxn ang="0">
                  <a:pos x="100562" y="158678"/>
                </a:cxn>
                <a:cxn ang="0">
                  <a:pos x="91987" y="167234"/>
                </a:cxn>
                <a:cxn ang="0">
                  <a:pos x="91987" y="167234"/>
                </a:cxn>
                <a:cxn ang="0">
                  <a:pos x="81073" y="173456"/>
                </a:cxn>
                <a:cxn ang="0">
                  <a:pos x="67821" y="175790"/>
                </a:cxn>
                <a:cxn ang="0">
                  <a:pos x="54569" y="173456"/>
                </a:cxn>
                <a:cxn ang="0">
                  <a:pos x="43655" y="167234"/>
                </a:cxn>
                <a:cxn ang="0">
                  <a:pos x="4287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2875" y="102674"/>
                </a:cxn>
                <a:cxn ang="0">
                  <a:pos x="43655" y="102674"/>
                </a:cxn>
                <a:cxn ang="0">
                  <a:pos x="54569" y="97229"/>
                </a:cxn>
                <a:cxn ang="0">
                  <a:pos x="67821" y="94895"/>
                </a:cxn>
                <a:cxn ang="0">
                  <a:pos x="81073" y="97229"/>
                </a:cxn>
                <a:cxn ang="0">
                  <a:pos x="91987" y="102674"/>
                </a:cxn>
                <a:cxn ang="0">
                  <a:pos x="9198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7" y="35"/>
                    <a:pt x="87" y="35"/>
                  </a:cubicBezTo>
                  <a:cubicBezTo>
                    <a:pt x="96" y="35"/>
                    <a:pt x="104" y="43"/>
                    <a:pt x="104" y="52"/>
                  </a:cubicBezTo>
                  <a:cubicBezTo>
                    <a:pt x="104" y="89"/>
                    <a:pt x="104" y="89"/>
                    <a:pt x="104" y="89"/>
                  </a:cubicBezTo>
                  <a:cubicBezTo>
                    <a:pt x="99" y="87"/>
                    <a:pt x="93" y="87"/>
                    <a:pt x="87" y="87"/>
                  </a:cubicBezTo>
                  <a:cubicBezTo>
                    <a:pt x="81" y="87"/>
                    <a:pt x="75" y="87"/>
                    <a:pt x="70" y="89"/>
                  </a:cubicBezTo>
                  <a:lnTo>
                    <a:pt x="70" y="52"/>
                  </a:lnTo>
                  <a:close/>
                  <a:moveTo>
                    <a:pt x="104" y="504"/>
                  </a:moveTo>
                  <a:cubicBezTo>
                    <a:pt x="104" y="513"/>
                    <a:pt x="96" y="521"/>
                    <a:pt x="87" y="521"/>
                  </a:cubicBezTo>
                  <a:cubicBezTo>
                    <a:pt x="77" y="521"/>
                    <a:pt x="70" y="513"/>
                    <a:pt x="70" y="504"/>
                  </a:cubicBezTo>
                  <a:cubicBezTo>
                    <a:pt x="70" y="259"/>
                    <a:pt x="70" y="259"/>
                    <a:pt x="70" y="259"/>
                  </a:cubicBezTo>
                  <a:cubicBezTo>
                    <a:pt x="75" y="260"/>
                    <a:pt x="81" y="261"/>
                    <a:pt x="87" y="261"/>
                  </a:cubicBezTo>
                  <a:cubicBezTo>
                    <a:pt x="93" y="261"/>
                    <a:pt x="99" y="260"/>
                    <a:pt x="104" y="259"/>
                  </a:cubicBezTo>
                  <a:lnTo>
                    <a:pt x="104" y="504"/>
                  </a:lnTo>
                  <a:close/>
                  <a:moveTo>
                    <a:pt x="137" y="188"/>
                  </a:moveTo>
                  <a:cubicBezTo>
                    <a:pt x="136" y="189"/>
                    <a:pt x="136" y="190"/>
                    <a:pt x="136" y="191"/>
                  </a:cubicBezTo>
                  <a:cubicBezTo>
                    <a:pt x="134" y="196"/>
                    <a:pt x="132" y="200"/>
                    <a:pt x="129" y="204"/>
                  </a:cubicBezTo>
                  <a:cubicBezTo>
                    <a:pt x="129" y="204"/>
                    <a:pt x="129" y="204"/>
                    <a:pt x="129" y="204"/>
                  </a:cubicBezTo>
                  <a:cubicBezTo>
                    <a:pt x="126" y="208"/>
                    <a:pt x="122" y="212"/>
                    <a:pt x="118" y="215"/>
                  </a:cubicBezTo>
                  <a:cubicBezTo>
                    <a:pt x="118" y="215"/>
                    <a:pt x="118" y="215"/>
                    <a:pt x="118" y="215"/>
                  </a:cubicBezTo>
                  <a:cubicBezTo>
                    <a:pt x="114" y="218"/>
                    <a:pt x="109" y="221"/>
                    <a:pt x="104" y="223"/>
                  </a:cubicBezTo>
                  <a:cubicBezTo>
                    <a:pt x="99" y="225"/>
                    <a:pt x="93" y="226"/>
                    <a:pt x="87" y="226"/>
                  </a:cubicBezTo>
                  <a:cubicBezTo>
                    <a:pt x="81" y="226"/>
                    <a:pt x="75" y="225"/>
                    <a:pt x="70" y="223"/>
                  </a:cubicBezTo>
                  <a:cubicBezTo>
                    <a:pt x="64" y="221"/>
                    <a:pt x="60" y="218"/>
                    <a:pt x="56" y="215"/>
                  </a:cubicBezTo>
                  <a:cubicBezTo>
                    <a:pt x="56" y="215"/>
                    <a:pt x="56" y="215"/>
                    <a:pt x="55" y="215"/>
                  </a:cubicBezTo>
                  <a:cubicBezTo>
                    <a:pt x="51" y="212"/>
                    <a:pt x="48" y="208"/>
                    <a:pt x="45" y="204"/>
                  </a:cubicBezTo>
                  <a:cubicBezTo>
                    <a:pt x="45" y="204"/>
                    <a:pt x="45" y="204"/>
                    <a:pt x="45" y="204"/>
                  </a:cubicBezTo>
                  <a:cubicBezTo>
                    <a:pt x="42" y="200"/>
                    <a:pt x="40" y="196"/>
                    <a:pt x="38" y="191"/>
                  </a:cubicBezTo>
                  <a:cubicBezTo>
                    <a:pt x="38" y="190"/>
                    <a:pt x="37" y="189"/>
                    <a:pt x="37" y="188"/>
                  </a:cubicBezTo>
                  <a:cubicBezTo>
                    <a:pt x="36" y="184"/>
                    <a:pt x="35" y="179"/>
                    <a:pt x="35" y="174"/>
                  </a:cubicBezTo>
                  <a:cubicBezTo>
                    <a:pt x="35" y="169"/>
                    <a:pt x="36" y="164"/>
                    <a:pt x="37" y="159"/>
                  </a:cubicBezTo>
                  <a:cubicBezTo>
                    <a:pt x="37" y="158"/>
                    <a:pt x="38" y="157"/>
                    <a:pt x="38" y="156"/>
                  </a:cubicBezTo>
                  <a:cubicBezTo>
                    <a:pt x="40" y="152"/>
                    <a:pt x="42" y="147"/>
                    <a:pt x="45" y="144"/>
                  </a:cubicBezTo>
                  <a:cubicBezTo>
                    <a:pt x="45" y="143"/>
                    <a:pt x="45" y="143"/>
                    <a:pt x="45" y="143"/>
                  </a:cubicBezTo>
                  <a:cubicBezTo>
                    <a:pt x="48" y="139"/>
                    <a:pt x="51" y="136"/>
                    <a:pt x="55" y="132"/>
                  </a:cubicBezTo>
                  <a:cubicBezTo>
                    <a:pt x="56" y="132"/>
                    <a:pt x="56" y="132"/>
                    <a:pt x="56" y="132"/>
                  </a:cubicBezTo>
                  <a:cubicBezTo>
                    <a:pt x="60" y="129"/>
                    <a:pt x="64" y="127"/>
                    <a:pt x="70" y="125"/>
                  </a:cubicBezTo>
                  <a:cubicBezTo>
                    <a:pt x="75" y="123"/>
                    <a:pt x="81" y="122"/>
                    <a:pt x="87" y="122"/>
                  </a:cubicBezTo>
                  <a:cubicBezTo>
                    <a:pt x="93" y="122"/>
                    <a:pt x="99" y="123"/>
                    <a:pt x="104" y="125"/>
                  </a:cubicBezTo>
                  <a:cubicBezTo>
                    <a:pt x="109" y="127"/>
                    <a:pt x="114" y="129"/>
                    <a:pt x="118" y="132"/>
                  </a:cubicBezTo>
                  <a:cubicBezTo>
                    <a:pt x="118" y="132"/>
                    <a:pt x="118" y="132"/>
                    <a:pt x="118" y="132"/>
                  </a:cubicBezTo>
                  <a:cubicBezTo>
                    <a:pt x="122" y="136"/>
                    <a:pt x="126" y="139"/>
                    <a:pt x="129" y="143"/>
                  </a:cubicBezTo>
                  <a:cubicBezTo>
                    <a:pt x="129" y="143"/>
                    <a:pt x="129" y="143"/>
                    <a:pt x="129" y="144"/>
                  </a:cubicBezTo>
                  <a:cubicBezTo>
                    <a:pt x="132" y="147"/>
                    <a:pt x="134" y="152"/>
                    <a:pt x="136" y="156"/>
                  </a:cubicBezTo>
                  <a:cubicBezTo>
                    <a:pt x="136" y="157"/>
                    <a:pt x="136"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1773" name="Freeform 6">
              <a:extLst>
                <a:ext uri="{FF2B5EF4-FFF2-40B4-BE49-F238E27FC236}">
                  <a16:creationId xmlns:a16="http://schemas.microsoft.com/office/drawing/2014/main" id="{0EBFCBCC-F301-212D-FF4B-2BDFD302FAC2}"/>
                </a:ext>
              </a:extLst>
            </p:cNvPr>
            <p:cNvSpPr/>
            <p:nvPr/>
          </p:nvSpPr>
          <p:spPr>
            <a:xfrm>
              <a:off x="5056412" y="1105079"/>
              <a:ext cx="135642" cy="432474"/>
            </a:xfrm>
            <a:custGeom>
              <a:avLst/>
              <a:gdLst>
                <a:gd name="txL" fmla="*/ 0 w 174"/>
                <a:gd name="txT" fmla="*/ 0 h 556"/>
                <a:gd name="txR" fmla="*/ 174 w 174"/>
                <a:gd name="txB" fmla="*/ 556 h 556"/>
              </a:gdLst>
              <a:ahLst/>
              <a:cxnLst>
                <a:cxn ang="17694720">
                  <a:pos x="67821" y="0"/>
                </a:cxn>
                <a:cxn ang="0">
                  <a:pos x="135642" y="216237"/>
                </a:cxn>
                <a:cxn ang="5898240">
                  <a:pos x="67821" y="432474"/>
                </a:cxn>
                <a:cxn ang="11796480">
                  <a:pos x="0" y="216237"/>
                </a:cxn>
                <a:cxn ang="0">
                  <a:pos x="108358" y="81672"/>
                </a:cxn>
                <a:cxn ang="0">
                  <a:pos x="108358" y="40447"/>
                </a:cxn>
                <a:cxn ang="0">
                  <a:pos x="67821" y="0"/>
                </a:cxn>
                <a:cxn ang="0">
                  <a:pos x="27284" y="40447"/>
                </a:cxn>
                <a:cxn ang="0">
                  <a:pos x="27284" y="81672"/>
                </a:cxn>
                <a:cxn ang="0">
                  <a:pos x="0" y="135343"/>
                </a:cxn>
                <a:cxn ang="0">
                  <a:pos x="27284" y="189013"/>
                </a:cxn>
                <a:cxn ang="0">
                  <a:pos x="27284" y="392027"/>
                </a:cxn>
                <a:cxn ang="0">
                  <a:pos x="67821" y="432474"/>
                </a:cxn>
                <a:cxn ang="0">
                  <a:pos x="108358" y="392027"/>
                </a:cxn>
                <a:cxn ang="0">
                  <a:pos x="108358" y="189013"/>
                </a:cxn>
                <a:cxn ang="0">
                  <a:pos x="135642" y="135343"/>
                </a:cxn>
                <a:cxn ang="0">
                  <a:pos x="108358" y="81672"/>
                </a:cxn>
                <a:cxn ang="0">
                  <a:pos x="54569" y="40447"/>
                </a:cxn>
                <a:cxn ang="0">
                  <a:pos x="67821" y="27224"/>
                </a:cxn>
                <a:cxn ang="0">
                  <a:pos x="81853" y="40447"/>
                </a:cxn>
                <a:cxn ang="0">
                  <a:pos x="81853" y="69227"/>
                </a:cxn>
                <a:cxn ang="0">
                  <a:pos x="67821" y="67671"/>
                </a:cxn>
                <a:cxn ang="0">
                  <a:pos x="54569" y="69227"/>
                </a:cxn>
                <a:cxn ang="0">
                  <a:pos x="54569" y="40447"/>
                </a:cxn>
                <a:cxn ang="0">
                  <a:pos x="81853" y="392027"/>
                </a:cxn>
                <a:cxn ang="0">
                  <a:pos x="67821" y="405250"/>
                </a:cxn>
                <a:cxn ang="0">
                  <a:pos x="54569" y="392027"/>
                </a:cxn>
                <a:cxn ang="0">
                  <a:pos x="54569" y="201458"/>
                </a:cxn>
                <a:cxn ang="0">
                  <a:pos x="67821" y="203014"/>
                </a:cxn>
                <a:cxn ang="0">
                  <a:pos x="81853" y="201458"/>
                </a:cxn>
                <a:cxn ang="0">
                  <a:pos x="81853" y="392027"/>
                </a:cxn>
                <a:cxn ang="0">
                  <a:pos x="106799" y="146232"/>
                </a:cxn>
                <a:cxn ang="0">
                  <a:pos x="106019" y="148566"/>
                </a:cxn>
                <a:cxn ang="0">
                  <a:pos x="100562" y="158678"/>
                </a:cxn>
                <a:cxn ang="0">
                  <a:pos x="100562" y="158678"/>
                </a:cxn>
                <a:cxn ang="0">
                  <a:pos x="92767" y="167234"/>
                </a:cxn>
                <a:cxn ang="0">
                  <a:pos x="91987" y="167234"/>
                </a:cxn>
                <a:cxn ang="0">
                  <a:pos x="81853" y="173456"/>
                </a:cxn>
                <a:cxn ang="0">
                  <a:pos x="67821" y="175790"/>
                </a:cxn>
                <a:cxn ang="0">
                  <a:pos x="54569" y="173456"/>
                </a:cxn>
                <a:cxn ang="0">
                  <a:pos x="43655" y="167234"/>
                </a:cxn>
                <a:cxn ang="0">
                  <a:pos x="43655" y="167234"/>
                </a:cxn>
                <a:cxn ang="0">
                  <a:pos x="35080" y="158678"/>
                </a:cxn>
                <a:cxn ang="0">
                  <a:pos x="35080" y="158678"/>
                </a:cxn>
                <a:cxn ang="0">
                  <a:pos x="29623" y="148566"/>
                </a:cxn>
                <a:cxn ang="0">
                  <a:pos x="28843" y="146232"/>
                </a:cxn>
                <a:cxn ang="0">
                  <a:pos x="27284" y="135343"/>
                </a:cxn>
                <a:cxn ang="0">
                  <a:pos x="28843" y="123675"/>
                </a:cxn>
                <a:cxn ang="0">
                  <a:pos x="29623" y="121342"/>
                </a:cxn>
                <a:cxn ang="0">
                  <a:pos x="35080" y="112008"/>
                </a:cxn>
                <a:cxn ang="0">
                  <a:pos x="35080" y="111230"/>
                </a:cxn>
                <a:cxn ang="0">
                  <a:pos x="43655" y="102674"/>
                </a:cxn>
                <a:cxn ang="0">
                  <a:pos x="43655" y="102674"/>
                </a:cxn>
                <a:cxn ang="0">
                  <a:pos x="54569" y="97229"/>
                </a:cxn>
                <a:cxn ang="0">
                  <a:pos x="67821" y="94895"/>
                </a:cxn>
                <a:cxn ang="0">
                  <a:pos x="81853" y="97229"/>
                </a:cxn>
                <a:cxn ang="0">
                  <a:pos x="91987" y="102674"/>
                </a:cxn>
                <a:cxn ang="0">
                  <a:pos x="92767" y="102674"/>
                </a:cxn>
                <a:cxn ang="0">
                  <a:pos x="100562" y="111230"/>
                </a:cxn>
                <a:cxn ang="0">
                  <a:pos x="100562" y="112008"/>
                </a:cxn>
                <a:cxn ang="0">
                  <a:pos x="106019" y="121342"/>
                </a:cxn>
                <a:cxn ang="0">
                  <a:pos x="106799" y="123675"/>
                </a:cxn>
                <a:cxn ang="0">
                  <a:pos x="108358" y="135343"/>
                </a:cxn>
                <a:cxn ang="0">
                  <a:pos x="106799" y="146232"/>
                </a:cxn>
              </a:cxnLst>
              <a:rect l="txL" t="txT" r="txR" b="txB"/>
              <a:pathLst>
                <a:path w="174" h="556">
                  <a:moveTo>
                    <a:pt x="139" y="105"/>
                  </a:moveTo>
                  <a:cubicBezTo>
                    <a:pt x="139" y="52"/>
                    <a:pt x="139" y="52"/>
                    <a:pt x="139" y="52"/>
                  </a:cubicBezTo>
                  <a:cubicBezTo>
                    <a:pt x="139" y="23"/>
                    <a:pt x="116" y="0"/>
                    <a:pt x="87" y="0"/>
                  </a:cubicBezTo>
                  <a:cubicBezTo>
                    <a:pt x="58" y="0"/>
                    <a:pt x="35" y="23"/>
                    <a:pt x="35" y="52"/>
                  </a:cubicBezTo>
                  <a:cubicBezTo>
                    <a:pt x="35" y="105"/>
                    <a:pt x="35" y="105"/>
                    <a:pt x="35" y="105"/>
                  </a:cubicBezTo>
                  <a:cubicBezTo>
                    <a:pt x="14" y="121"/>
                    <a:pt x="0" y="145"/>
                    <a:pt x="0" y="174"/>
                  </a:cubicBezTo>
                  <a:cubicBezTo>
                    <a:pt x="0" y="202"/>
                    <a:pt x="14" y="227"/>
                    <a:pt x="35" y="243"/>
                  </a:cubicBezTo>
                  <a:cubicBezTo>
                    <a:pt x="35" y="504"/>
                    <a:pt x="35" y="504"/>
                    <a:pt x="35" y="504"/>
                  </a:cubicBezTo>
                  <a:cubicBezTo>
                    <a:pt x="35" y="533"/>
                    <a:pt x="58" y="556"/>
                    <a:pt x="87" y="556"/>
                  </a:cubicBezTo>
                  <a:cubicBezTo>
                    <a:pt x="116" y="556"/>
                    <a:pt x="139" y="533"/>
                    <a:pt x="139" y="504"/>
                  </a:cubicBezTo>
                  <a:cubicBezTo>
                    <a:pt x="139" y="243"/>
                    <a:pt x="139" y="243"/>
                    <a:pt x="139" y="243"/>
                  </a:cubicBezTo>
                  <a:cubicBezTo>
                    <a:pt x="160" y="227"/>
                    <a:pt x="174" y="202"/>
                    <a:pt x="174" y="174"/>
                  </a:cubicBezTo>
                  <a:cubicBezTo>
                    <a:pt x="174" y="145"/>
                    <a:pt x="160" y="121"/>
                    <a:pt x="139" y="105"/>
                  </a:cubicBezTo>
                  <a:close/>
                  <a:moveTo>
                    <a:pt x="70" y="52"/>
                  </a:moveTo>
                  <a:cubicBezTo>
                    <a:pt x="70" y="43"/>
                    <a:pt x="78" y="35"/>
                    <a:pt x="87" y="35"/>
                  </a:cubicBezTo>
                  <a:cubicBezTo>
                    <a:pt x="97" y="35"/>
                    <a:pt x="105" y="43"/>
                    <a:pt x="105" y="52"/>
                  </a:cubicBezTo>
                  <a:cubicBezTo>
                    <a:pt x="105" y="89"/>
                    <a:pt x="105" y="89"/>
                    <a:pt x="105" y="89"/>
                  </a:cubicBezTo>
                  <a:cubicBezTo>
                    <a:pt x="99" y="87"/>
                    <a:pt x="93" y="87"/>
                    <a:pt x="87" y="87"/>
                  </a:cubicBezTo>
                  <a:cubicBezTo>
                    <a:pt x="81" y="87"/>
                    <a:pt x="75" y="87"/>
                    <a:pt x="70" y="89"/>
                  </a:cubicBezTo>
                  <a:lnTo>
                    <a:pt x="70" y="52"/>
                  </a:lnTo>
                  <a:close/>
                  <a:moveTo>
                    <a:pt x="105" y="504"/>
                  </a:moveTo>
                  <a:cubicBezTo>
                    <a:pt x="105" y="513"/>
                    <a:pt x="97" y="521"/>
                    <a:pt x="87" y="521"/>
                  </a:cubicBezTo>
                  <a:cubicBezTo>
                    <a:pt x="78" y="521"/>
                    <a:pt x="70" y="513"/>
                    <a:pt x="70" y="504"/>
                  </a:cubicBezTo>
                  <a:cubicBezTo>
                    <a:pt x="70" y="259"/>
                    <a:pt x="70" y="259"/>
                    <a:pt x="70" y="259"/>
                  </a:cubicBezTo>
                  <a:cubicBezTo>
                    <a:pt x="75" y="260"/>
                    <a:pt x="81" y="261"/>
                    <a:pt x="87" y="261"/>
                  </a:cubicBezTo>
                  <a:cubicBezTo>
                    <a:pt x="93" y="261"/>
                    <a:pt x="99" y="260"/>
                    <a:pt x="105" y="259"/>
                  </a:cubicBezTo>
                  <a:lnTo>
                    <a:pt x="105" y="504"/>
                  </a:lnTo>
                  <a:close/>
                  <a:moveTo>
                    <a:pt x="137" y="188"/>
                  </a:moveTo>
                  <a:cubicBezTo>
                    <a:pt x="137" y="189"/>
                    <a:pt x="136" y="190"/>
                    <a:pt x="136" y="191"/>
                  </a:cubicBezTo>
                  <a:cubicBezTo>
                    <a:pt x="134" y="196"/>
                    <a:pt x="132" y="200"/>
                    <a:pt x="129" y="204"/>
                  </a:cubicBezTo>
                  <a:cubicBezTo>
                    <a:pt x="129" y="204"/>
                    <a:pt x="129" y="204"/>
                    <a:pt x="129" y="204"/>
                  </a:cubicBezTo>
                  <a:cubicBezTo>
                    <a:pt x="126" y="208"/>
                    <a:pt x="123" y="212"/>
                    <a:pt x="119" y="215"/>
                  </a:cubicBezTo>
                  <a:cubicBezTo>
                    <a:pt x="118" y="215"/>
                    <a:pt x="118" y="215"/>
                    <a:pt x="118" y="215"/>
                  </a:cubicBezTo>
                  <a:cubicBezTo>
                    <a:pt x="114" y="218"/>
                    <a:pt x="110" y="221"/>
                    <a:pt x="105" y="223"/>
                  </a:cubicBezTo>
                  <a:cubicBezTo>
                    <a:pt x="99" y="225"/>
                    <a:pt x="93" y="226"/>
                    <a:pt x="87" y="226"/>
                  </a:cubicBezTo>
                  <a:cubicBezTo>
                    <a:pt x="81" y="226"/>
                    <a:pt x="75" y="225"/>
                    <a:pt x="70" y="223"/>
                  </a:cubicBezTo>
                  <a:cubicBezTo>
                    <a:pt x="65" y="221"/>
                    <a:pt x="60" y="218"/>
                    <a:pt x="56" y="215"/>
                  </a:cubicBezTo>
                  <a:cubicBezTo>
                    <a:pt x="56" y="215"/>
                    <a:pt x="56" y="215"/>
                    <a:pt x="56" y="215"/>
                  </a:cubicBezTo>
                  <a:cubicBezTo>
                    <a:pt x="52" y="212"/>
                    <a:pt x="48" y="208"/>
                    <a:pt x="45" y="204"/>
                  </a:cubicBezTo>
                  <a:cubicBezTo>
                    <a:pt x="45" y="204"/>
                    <a:pt x="45" y="204"/>
                    <a:pt x="45" y="204"/>
                  </a:cubicBezTo>
                  <a:cubicBezTo>
                    <a:pt x="42" y="200"/>
                    <a:pt x="40" y="196"/>
                    <a:pt x="38" y="191"/>
                  </a:cubicBezTo>
                  <a:cubicBezTo>
                    <a:pt x="38" y="190"/>
                    <a:pt x="38" y="189"/>
                    <a:pt x="37" y="188"/>
                  </a:cubicBezTo>
                  <a:cubicBezTo>
                    <a:pt x="36" y="184"/>
                    <a:pt x="35" y="179"/>
                    <a:pt x="35" y="174"/>
                  </a:cubicBezTo>
                  <a:cubicBezTo>
                    <a:pt x="35" y="169"/>
                    <a:pt x="36" y="164"/>
                    <a:pt x="37" y="159"/>
                  </a:cubicBezTo>
                  <a:cubicBezTo>
                    <a:pt x="38" y="158"/>
                    <a:pt x="38" y="157"/>
                    <a:pt x="38" y="156"/>
                  </a:cubicBezTo>
                  <a:cubicBezTo>
                    <a:pt x="40" y="152"/>
                    <a:pt x="42" y="147"/>
                    <a:pt x="45" y="144"/>
                  </a:cubicBezTo>
                  <a:cubicBezTo>
                    <a:pt x="45" y="143"/>
                    <a:pt x="45" y="143"/>
                    <a:pt x="45" y="143"/>
                  </a:cubicBezTo>
                  <a:cubicBezTo>
                    <a:pt x="48" y="139"/>
                    <a:pt x="52" y="136"/>
                    <a:pt x="56" y="132"/>
                  </a:cubicBezTo>
                  <a:cubicBezTo>
                    <a:pt x="56" y="132"/>
                    <a:pt x="56" y="132"/>
                    <a:pt x="56" y="132"/>
                  </a:cubicBezTo>
                  <a:cubicBezTo>
                    <a:pt x="60" y="129"/>
                    <a:pt x="65" y="127"/>
                    <a:pt x="70" y="125"/>
                  </a:cubicBezTo>
                  <a:cubicBezTo>
                    <a:pt x="75" y="123"/>
                    <a:pt x="81" y="122"/>
                    <a:pt x="87" y="122"/>
                  </a:cubicBezTo>
                  <a:cubicBezTo>
                    <a:pt x="93" y="122"/>
                    <a:pt x="99" y="123"/>
                    <a:pt x="105" y="125"/>
                  </a:cubicBezTo>
                  <a:cubicBezTo>
                    <a:pt x="110" y="127"/>
                    <a:pt x="114" y="129"/>
                    <a:pt x="118" y="132"/>
                  </a:cubicBezTo>
                  <a:cubicBezTo>
                    <a:pt x="118" y="132"/>
                    <a:pt x="118" y="132"/>
                    <a:pt x="119" y="132"/>
                  </a:cubicBezTo>
                  <a:cubicBezTo>
                    <a:pt x="123" y="136"/>
                    <a:pt x="126" y="139"/>
                    <a:pt x="129" y="143"/>
                  </a:cubicBezTo>
                  <a:cubicBezTo>
                    <a:pt x="129" y="143"/>
                    <a:pt x="129" y="143"/>
                    <a:pt x="129" y="144"/>
                  </a:cubicBezTo>
                  <a:cubicBezTo>
                    <a:pt x="132" y="147"/>
                    <a:pt x="134" y="152"/>
                    <a:pt x="136" y="156"/>
                  </a:cubicBezTo>
                  <a:cubicBezTo>
                    <a:pt x="136" y="157"/>
                    <a:pt x="137" y="158"/>
                    <a:pt x="137" y="159"/>
                  </a:cubicBezTo>
                  <a:cubicBezTo>
                    <a:pt x="138" y="164"/>
                    <a:pt x="139" y="169"/>
                    <a:pt x="139" y="174"/>
                  </a:cubicBezTo>
                  <a:cubicBezTo>
                    <a:pt x="139" y="179"/>
                    <a:pt x="138" y="184"/>
                    <a:pt x="137" y="188"/>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1774" name="Freeform 7">
              <a:extLst>
                <a:ext uri="{FF2B5EF4-FFF2-40B4-BE49-F238E27FC236}">
                  <a16:creationId xmlns:a16="http://schemas.microsoft.com/office/drawing/2014/main" id="{D43ACA38-61FC-A262-B805-6334656746FC}"/>
                </a:ext>
              </a:extLst>
            </p:cNvPr>
            <p:cNvSpPr/>
            <p:nvPr/>
          </p:nvSpPr>
          <p:spPr>
            <a:xfrm>
              <a:off x="4907996" y="1105079"/>
              <a:ext cx="135312" cy="432474"/>
            </a:xfrm>
            <a:custGeom>
              <a:avLst/>
              <a:gdLst>
                <a:gd name="txL" fmla="*/ 0 w 174"/>
                <a:gd name="txT" fmla="*/ 0 h 556"/>
                <a:gd name="txR" fmla="*/ 174 w 174"/>
                <a:gd name="txB" fmla="*/ 556 h 556"/>
              </a:gdLst>
              <a:ahLst/>
              <a:cxnLst>
                <a:cxn ang="17694720">
                  <a:pos x="67656" y="0"/>
                </a:cxn>
                <a:cxn ang="0">
                  <a:pos x="135312" y="216237"/>
                </a:cxn>
                <a:cxn ang="5898240">
                  <a:pos x="67656" y="432474"/>
                </a:cxn>
                <a:cxn ang="11796480">
                  <a:pos x="0" y="216237"/>
                </a:cxn>
                <a:cxn ang="0">
                  <a:pos x="108094" y="243461"/>
                </a:cxn>
                <a:cxn ang="0">
                  <a:pos x="108094" y="40447"/>
                </a:cxn>
                <a:cxn ang="0">
                  <a:pos x="67656" y="0"/>
                </a:cxn>
                <a:cxn ang="0">
                  <a:pos x="27218" y="40447"/>
                </a:cxn>
                <a:cxn ang="0">
                  <a:pos x="27218" y="243461"/>
                </a:cxn>
                <a:cxn ang="0">
                  <a:pos x="0" y="297131"/>
                </a:cxn>
                <a:cxn ang="0">
                  <a:pos x="27218" y="350802"/>
                </a:cxn>
                <a:cxn ang="0">
                  <a:pos x="27218" y="392027"/>
                </a:cxn>
                <a:cxn ang="0">
                  <a:pos x="67656" y="432474"/>
                </a:cxn>
                <a:cxn ang="0">
                  <a:pos x="108094" y="392027"/>
                </a:cxn>
                <a:cxn ang="0">
                  <a:pos x="108094" y="350802"/>
                </a:cxn>
                <a:cxn ang="0">
                  <a:pos x="135312" y="297131"/>
                </a:cxn>
                <a:cxn ang="0">
                  <a:pos x="108094" y="243461"/>
                </a:cxn>
                <a:cxn ang="0">
                  <a:pos x="54436" y="40447"/>
                </a:cxn>
                <a:cxn ang="0">
                  <a:pos x="67656" y="27224"/>
                </a:cxn>
                <a:cxn ang="0">
                  <a:pos x="80876" y="40447"/>
                </a:cxn>
                <a:cxn ang="0">
                  <a:pos x="80876" y="231016"/>
                </a:cxn>
                <a:cxn ang="0">
                  <a:pos x="67656" y="229460"/>
                </a:cxn>
                <a:cxn ang="0">
                  <a:pos x="54436" y="231016"/>
                </a:cxn>
                <a:cxn ang="0">
                  <a:pos x="54436" y="40447"/>
                </a:cxn>
                <a:cxn ang="0">
                  <a:pos x="80876" y="392027"/>
                </a:cxn>
                <a:cxn ang="0">
                  <a:pos x="67656" y="405250"/>
                </a:cxn>
                <a:cxn ang="0">
                  <a:pos x="54436" y="392027"/>
                </a:cxn>
                <a:cxn ang="0">
                  <a:pos x="54436" y="363247"/>
                </a:cxn>
                <a:cxn ang="0">
                  <a:pos x="67656" y="364803"/>
                </a:cxn>
                <a:cxn ang="0">
                  <a:pos x="80876" y="363247"/>
                </a:cxn>
                <a:cxn ang="0">
                  <a:pos x="80876" y="392027"/>
                </a:cxn>
                <a:cxn ang="0">
                  <a:pos x="106539" y="308799"/>
                </a:cxn>
                <a:cxn ang="0">
                  <a:pos x="105761" y="311132"/>
                </a:cxn>
                <a:cxn ang="0">
                  <a:pos x="100318" y="320466"/>
                </a:cxn>
                <a:cxn ang="0">
                  <a:pos x="100318" y="321244"/>
                </a:cxn>
                <a:cxn ang="0">
                  <a:pos x="91763" y="329800"/>
                </a:cxn>
                <a:cxn ang="0">
                  <a:pos x="91763" y="329800"/>
                </a:cxn>
                <a:cxn ang="0">
                  <a:pos x="80876" y="335245"/>
                </a:cxn>
                <a:cxn ang="0">
                  <a:pos x="67656" y="337579"/>
                </a:cxn>
                <a:cxn ang="0">
                  <a:pos x="54436" y="335245"/>
                </a:cxn>
                <a:cxn ang="0">
                  <a:pos x="43549" y="329800"/>
                </a:cxn>
                <a:cxn ang="0">
                  <a:pos x="43549" y="329800"/>
                </a:cxn>
                <a:cxn ang="0">
                  <a:pos x="34994" y="321244"/>
                </a:cxn>
                <a:cxn ang="0">
                  <a:pos x="34994" y="320466"/>
                </a:cxn>
                <a:cxn ang="0">
                  <a:pos x="29551" y="311132"/>
                </a:cxn>
                <a:cxn ang="0">
                  <a:pos x="28773" y="308799"/>
                </a:cxn>
                <a:cxn ang="0">
                  <a:pos x="27218" y="297131"/>
                </a:cxn>
                <a:cxn ang="0">
                  <a:pos x="28773" y="286242"/>
                </a:cxn>
                <a:cxn ang="0">
                  <a:pos x="29551" y="283908"/>
                </a:cxn>
                <a:cxn ang="0">
                  <a:pos x="34994" y="273796"/>
                </a:cxn>
                <a:cxn ang="0">
                  <a:pos x="34994" y="273796"/>
                </a:cxn>
                <a:cxn ang="0">
                  <a:pos x="43549" y="265240"/>
                </a:cxn>
                <a:cxn ang="0">
                  <a:pos x="43549" y="265240"/>
                </a:cxn>
                <a:cxn ang="0">
                  <a:pos x="54436" y="259018"/>
                </a:cxn>
                <a:cxn ang="0">
                  <a:pos x="67656" y="256684"/>
                </a:cxn>
                <a:cxn ang="0">
                  <a:pos x="80876" y="259018"/>
                </a:cxn>
                <a:cxn ang="0">
                  <a:pos x="91763" y="265240"/>
                </a:cxn>
                <a:cxn ang="0">
                  <a:pos x="91763" y="265240"/>
                </a:cxn>
                <a:cxn ang="0">
                  <a:pos x="100318" y="273796"/>
                </a:cxn>
                <a:cxn ang="0">
                  <a:pos x="100318" y="273796"/>
                </a:cxn>
                <a:cxn ang="0">
                  <a:pos x="105761" y="283908"/>
                </a:cxn>
                <a:cxn ang="0">
                  <a:pos x="106539" y="286242"/>
                </a:cxn>
                <a:cxn ang="0">
                  <a:pos x="108094" y="297131"/>
                </a:cxn>
                <a:cxn ang="0">
                  <a:pos x="106539" y="308799"/>
                </a:cxn>
              </a:cxnLst>
              <a:rect l="txL" t="txT" r="txR" b="txB"/>
              <a:pathLst>
                <a:path w="174" h="556">
                  <a:moveTo>
                    <a:pt x="139" y="313"/>
                  </a:moveTo>
                  <a:cubicBezTo>
                    <a:pt x="139" y="52"/>
                    <a:pt x="139" y="52"/>
                    <a:pt x="139" y="52"/>
                  </a:cubicBezTo>
                  <a:cubicBezTo>
                    <a:pt x="139" y="23"/>
                    <a:pt x="116" y="0"/>
                    <a:pt x="87" y="0"/>
                  </a:cubicBezTo>
                  <a:cubicBezTo>
                    <a:pt x="58" y="0"/>
                    <a:pt x="35" y="23"/>
                    <a:pt x="35" y="52"/>
                  </a:cubicBezTo>
                  <a:cubicBezTo>
                    <a:pt x="35" y="313"/>
                    <a:pt x="35" y="313"/>
                    <a:pt x="35" y="313"/>
                  </a:cubicBezTo>
                  <a:cubicBezTo>
                    <a:pt x="14" y="329"/>
                    <a:pt x="0" y="354"/>
                    <a:pt x="0" y="382"/>
                  </a:cubicBezTo>
                  <a:cubicBezTo>
                    <a:pt x="0" y="411"/>
                    <a:pt x="14" y="435"/>
                    <a:pt x="35" y="451"/>
                  </a:cubicBezTo>
                  <a:cubicBezTo>
                    <a:pt x="35" y="504"/>
                    <a:pt x="35" y="504"/>
                    <a:pt x="35" y="504"/>
                  </a:cubicBezTo>
                  <a:cubicBezTo>
                    <a:pt x="35" y="533"/>
                    <a:pt x="58" y="556"/>
                    <a:pt x="87" y="556"/>
                  </a:cubicBezTo>
                  <a:cubicBezTo>
                    <a:pt x="116" y="556"/>
                    <a:pt x="139" y="533"/>
                    <a:pt x="139" y="504"/>
                  </a:cubicBezTo>
                  <a:cubicBezTo>
                    <a:pt x="139" y="451"/>
                    <a:pt x="139" y="451"/>
                    <a:pt x="139" y="451"/>
                  </a:cubicBezTo>
                  <a:cubicBezTo>
                    <a:pt x="160" y="435"/>
                    <a:pt x="174" y="411"/>
                    <a:pt x="174" y="382"/>
                  </a:cubicBezTo>
                  <a:cubicBezTo>
                    <a:pt x="174" y="354"/>
                    <a:pt x="160" y="329"/>
                    <a:pt x="139" y="313"/>
                  </a:cubicBezTo>
                  <a:close/>
                  <a:moveTo>
                    <a:pt x="70" y="52"/>
                  </a:moveTo>
                  <a:cubicBezTo>
                    <a:pt x="70" y="43"/>
                    <a:pt x="77" y="35"/>
                    <a:pt x="87" y="35"/>
                  </a:cubicBezTo>
                  <a:cubicBezTo>
                    <a:pt x="97" y="35"/>
                    <a:pt x="104" y="43"/>
                    <a:pt x="104" y="52"/>
                  </a:cubicBezTo>
                  <a:cubicBezTo>
                    <a:pt x="104" y="297"/>
                    <a:pt x="104" y="297"/>
                    <a:pt x="104" y="297"/>
                  </a:cubicBezTo>
                  <a:cubicBezTo>
                    <a:pt x="99" y="296"/>
                    <a:pt x="93" y="295"/>
                    <a:pt x="87" y="295"/>
                  </a:cubicBezTo>
                  <a:cubicBezTo>
                    <a:pt x="81" y="295"/>
                    <a:pt x="75" y="296"/>
                    <a:pt x="70" y="297"/>
                  </a:cubicBezTo>
                  <a:lnTo>
                    <a:pt x="70" y="52"/>
                  </a:lnTo>
                  <a:close/>
                  <a:moveTo>
                    <a:pt x="104" y="504"/>
                  </a:moveTo>
                  <a:cubicBezTo>
                    <a:pt x="104" y="513"/>
                    <a:pt x="97" y="521"/>
                    <a:pt x="87" y="521"/>
                  </a:cubicBezTo>
                  <a:cubicBezTo>
                    <a:pt x="77" y="521"/>
                    <a:pt x="70" y="513"/>
                    <a:pt x="70" y="504"/>
                  </a:cubicBezTo>
                  <a:cubicBezTo>
                    <a:pt x="70" y="467"/>
                    <a:pt x="70" y="467"/>
                    <a:pt x="70" y="467"/>
                  </a:cubicBezTo>
                  <a:cubicBezTo>
                    <a:pt x="75" y="469"/>
                    <a:pt x="81" y="469"/>
                    <a:pt x="87" y="469"/>
                  </a:cubicBezTo>
                  <a:cubicBezTo>
                    <a:pt x="93" y="469"/>
                    <a:pt x="99" y="469"/>
                    <a:pt x="104" y="467"/>
                  </a:cubicBezTo>
                  <a:lnTo>
                    <a:pt x="104" y="504"/>
                  </a:lnTo>
                  <a:close/>
                  <a:moveTo>
                    <a:pt x="137" y="397"/>
                  </a:moveTo>
                  <a:cubicBezTo>
                    <a:pt x="137" y="398"/>
                    <a:pt x="136" y="399"/>
                    <a:pt x="136" y="400"/>
                  </a:cubicBezTo>
                  <a:cubicBezTo>
                    <a:pt x="134" y="404"/>
                    <a:pt x="132" y="409"/>
                    <a:pt x="129" y="412"/>
                  </a:cubicBezTo>
                  <a:cubicBezTo>
                    <a:pt x="129" y="412"/>
                    <a:pt x="129" y="413"/>
                    <a:pt x="129" y="413"/>
                  </a:cubicBezTo>
                  <a:cubicBezTo>
                    <a:pt x="126" y="417"/>
                    <a:pt x="123" y="420"/>
                    <a:pt x="118" y="424"/>
                  </a:cubicBezTo>
                  <a:cubicBezTo>
                    <a:pt x="118" y="424"/>
                    <a:pt x="118" y="424"/>
                    <a:pt x="118" y="424"/>
                  </a:cubicBezTo>
                  <a:cubicBezTo>
                    <a:pt x="114" y="427"/>
                    <a:pt x="109" y="429"/>
                    <a:pt x="104" y="431"/>
                  </a:cubicBezTo>
                  <a:cubicBezTo>
                    <a:pt x="99" y="433"/>
                    <a:pt x="93" y="434"/>
                    <a:pt x="87" y="434"/>
                  </a:cubicBezTo>
                  <a:cubicBezTo>
                    <a:pt x="81" y="434"/>
                    <a:pt x="75" y="433"/>
                    <a:pt x="70" y="431"/>
                  </a:cubicBezTo>
                  <a:cubicBezTo>
                    <a:pt x="65" y="429"/>
                    <a:pt x="60" y="427"/>
                    <a:pt x="56" y="424"/>
                  </a:cubicBezTo>
                  <a:cubicBezTo>
                    <a:pt x="56" y="424"/>
                    <a:pt x="56" y="424"/>
                    <a:pt x="56" y="424"/>
                  </a:cubicBezTo>
                  <a:cubicBezTo>
                    <a:pt x="51" y="420"/>
                    <a:pt x="48" y="417"/>
                    <a:pt x="45" y="413"/>
                  </a:cubicBezTo>
                  <a:cubicBezTo>
                    <a:pt x="45" y="413"/>
                    <a:pt x="45" y="412"/>
                    <a:pt x="45" y="412"/>
                  </a:cubicBezTo>
                  <a:cubicBezTo>
                    <a:pt x="42" y="409"/>
                    <a:pt x="40" y="404"/>
                    <a:pt x="38" y="400"/>
                  </a:cubicBezTo>
                  <a:cubicBezTo>
                    <a:pt x="38" y="399"/>
                    <a:pt x="37" y="398"/>
                    <a:pt x="37" y="397"/>
                  </a:cubicBezTo>
                  <a:cubicBezTo>
                    <a:pt x="36" y="392"/>
                    <a:pt x="35" y="387"/>
                    <a:pt x="35" y="382"/>
                  </a:cubicBezTo>
                  <a:cubicBezTo>
                    <a:pt x="35" y="377"/>
                    <a:pt x="36" y="372"/>
                    <a:pt x="37" y="368"/>
                  </a:cubicBezTo>
                  <a:cubicBezTo>
                    <a:pt x="37" y="367"/>
                    <a:pt x="38" y="366"/>
                    <a:pt x="38" y="365"/>
                  </a:cubicBezTo>
                  <a:cubicBezTo>
                    <a:pt x="40" y="360"/>
                    <a:pt x="42" y="356"/>
                    <a:pt x="45" y="352"/>
                  </a:cubicBezTo>
                  <a:cubicBezTo>
                    <a:pt x="45" y="352"/>
                    <a:pt x="45" y="352"/>
                    <a:pt x="45" y="352"/>
                  </a:cubicBezTo>
                  <a:cubicBezTo>
                    <a:pt x="48" y="348"/>
                    <a:pt x="51" y="344"/>
                    <a:pt x="56" y="341"/>
                  </a:cubicBezTo>
                  <a:cubicBezTo>
                    <a:pt x="56" y="341"/>
                    <a:pt x="56" y="341"/>
                    <a:pt x="56" y="341"/>
                  </a:cubicBezTo>
                  <a:cubicBezTo>
                    <a:pt x="60" y="338"/>
                    <a:pt x="65" y="335"/>
                    <a:pt x="70" y="333"/>
                  </a:cubicBezTo>
                  <a:cubicBezTo>
                    <a:pt x="75" y="331"/>
                    <a:pt x="81" y="330"/>
                    <a:pt x="87" y="330"/>
                  </a:cubicBezTo>
                  <a:cubicBezTo>
                    <a:pt x="93" y="330"/>
                    <a:pt x="99" y="331"/>
                    <a:pt x="104" y="333"/>
                  </a:cubicBezTo>
                  <a:cubicBezTo>
                    <a:pt x="109" y="335"/>
                    <a:pt x="114" y="338"/>
                    <a:pt x="118" y="341"/>
                  </a:cubicBezTo>
                  <a:cubicBezTo>
                    <a:pt x="118" y="341"/>
                    <a:pt x="118" y="341"/>
                    <a:pt x="118" y="341"/>
                  </a:cubicBezTo>
                  <a:cubicBezTo>
                    <a:pt x="123" y="344"/>
                    <a:pt x="126" y="348"/>
                    <a:pt x="129" y="352"/>
                  </a:cubicBezTo>
                  <a:cubicBezTo>
                    <a:pt x="129" y="352"/>
                    <a:pt x="129" y="352"/>
                    <a:pt x="129" y="352"/>
                  </a:cubicBezTo>
                  <a:cubicBezTo>
                    <a:pt x="132" y="356"/>
                    <a:pt x="134" y="360"/>
                    <a:pt x="136" y="365"/>
                  </a:cubicBezTo>
                  <a:cubicBezTo>
                    <a:pt x="136" y="366"/>
                    <a:pt x="137" y="367"/>
                    <a:pt x="137" y="368"/>
                  </a:cubicBezTo>
                  <a:cubicBezTo>
                    <a:pt x="138" y="372"/>
                    <a:pt x="139" y="377"/>
                    <a:pt x="139" y="382"/>
                  </a:cubicBezTo>
                  <a:cubicBezTo>
                    <a:pt x="139" y="387"/>
                    <a:pt x="138" y="392"/>
                    <a:pt x="137" y="397"/>
                  </a:cubicBez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grpSp>
      <p:sp>
        <p:nvSpPr>
          <p:cNvPr id="25" name="Freeform 11">
            <a:extLst>
              <a:ext uri="{FF2B5EF4-FFF2-40B4-BE49-F238E27FC236}">
                <a16:creationId xmlns:a16="http://schemas.microsoft.com/office/drawing/2014/main" id="{B3AC1F75-E58B-54CA-C2EE-CA3C4C6D9CC9}"/>
              </a:ext>
            </a:extLst>
          </p:cNvPr>
          <p:cNvSpPr/>
          <p:nvPr/>
        </p:nvSpPr>
        <p:spPr>
          <a:xfrm>
            <a:off x="6994525" y="2500313"/>
            <a:ext cx="420688" cy="415925"/>
          </a:xfrm>
          <a:custGeom>
            <a:avLst/>
            <a:gdLst>
              <a:gd name="txL" fmla="*/ 0 w 906"/>
              <a:gd name="txT" fmla="*/ 0 h 896"/>
              <a:gd name="txR" fmla="*/ 906 w 906"/>
              <a:gd name="txB" fmla="*/ 896 h 896"/>
            </a:gdLst>
            <a:ahLst/>
            <a:cxnLst>
              <a:cxn ang="17694720">
                <a:pos x="210554" y="0"/>
              </a:cxn>
              <a:cxn ang="0">
                <a:pos x="421108" y="208300"/>
              </a:cxn>
              <a:cxn ang="5898240">
                <a:pos x="210554" y="416600"/>
              </a:cxn>
              <a:cxn ang="11796480">
                <a:pos x="0" y="208300"/>
              </a:cxn>
              <a:cxn ang="0">
                <a:pos x="407164" y="368710"/>
              </a:cxn>
              <a:cxn ang="0">
                <a:pos x="286316" y="320819"/>
              </a:cxn>
              <a:cxn ang="0">
                <a:pos x="336050" y="214344"/>
              </a:cxn>
              <a:cxn ang="0">
                <a:pos x="303049" y="44171"/>
              </a:cxn>
              <a:cxn ang="0">
                <a:pos x="210554" y="0"/>
              </a:cxn>
              <a:cxn ang="0">
                <a:pos x="118059" y="44171"/>
              </a:cxn>
              <a:cxn ang="0">
                <a:pos x="85058" y="214344"/>
              </a:cxn>
              <a:cxn ang="0">
                <a:pos x="134792" y="320819"/>
              </a:cxn>
              <a:cxn ang="0">
                <a:pos x="13944" y="368710"/>
              </a:cxn>
              <a:cxn ang="0">
                <a:pos x="3254" y="398002"/>
              </a:cxn>
              <a:cxn ang="0">
                <a:pos x="28353" y="416600"/>
              </a:cxn>
              <a:cxn ang="0">
                <a:pos x="392755" y="416600"/>
              </a:cxn>
              <a:cxn ang="0">
                <a:pos x="417854" y="398002"/>
              </a:cxn>
              <a:cxn ang="0">
                <a:pos x="407164" y="368710"/>
              </a:cxn>
              <a:cxn ang="0">
                <a:pos x="265865" y="304546"/>
              </a:cxn>
              <a:cxn ang="0">
                <a:pos x="261682" y="310125"/>
              </a:cxn>
              <a:cxn ang="0">
                <a:pos x="159426" y="310125"/>
              </a:cxn>
              <a:cxn ang="0">
                <a:pos x="155243" y="304546"/>
              </a:cxn>
              <a:cxn ang="0">
                <a:pos x="108763" y="139952"/>
              </a:cxn>
              <a:cxn ang="0">
                <a:pos x="210554" y="26038"/>
              </a:cxn>
              <a:cxn ang="0">
                <a:pos x="312345" y="139952"/>
              </a:cxn>
              <a:cxn ang="0">
                <a:pos x="265865" y="304546"/>
              </a:cxn>
              <a:cxn ang="0">
                <a:pos x="28353" y="390563"/>
              </a:cxn>
              <a:cxn ang="0">
                <a:pos x="139905" y="346392"/>
              </a:cxn>
              <a:cxn ang="0">
                <a:pos x="172440" y="339417"/>
              </a:cxn>
              <a:cxn ang="0">
                <a:pos x="210554" y="351506"/>
              </a:cxn>
              <a:cxn ang="0">
                <a:pos x="248668" y="339417"/>
              </a:cxn>
              <a:cxn ang="0">
                <a:pos x="281203" y="346392"/>
              </a:cxn>
              <a:cxn ang="0">
                <a:pos x="392755" y="390563"/>
              </a:cxn>
              <a:cxn ang="0">
                <a:pos x="28353" y="390563"/>
              </a:cxn>
            </a:cxnLst>
            <a:rect l="txL" t="txT" r="txR" b="txB"/>
            <a:pathLst>
              <a:path w="906" h="896">
                <a:moveTo>
                  <a:pt x="876" y="793"/>
                </a:moveTo>
                <a:cubicBezTo>
                  <a:pt x="870" y="790"/>
                  <a:pt x="768" y="723"/>
                  <a:pt x="616" y="690"/>
                </a:cubicBezTo>
                <a:cubicBezTo>
                  <a:pt x="672" y="619"/>
                  <a:pt x="708" y="524"/>
                  <a:pt x="723" y="461"/>
                </a:cubicBezTo>
                <a:cubicBezTo>
                  <a:pt x="744" y="374"/>
                  <a:pt x="736" y="202"/>
                  <a:pt x="652" y="95"/>
                </a:cubicBezTo>
                <a:cubicBezTo>
                  <a:pt x="603" y="33"/>
                  <a:pt x="534" y="0"/>
                  <a:pt x="453" y="0"/>
                </a:cubicBezTo>
                <a:cubicBezTo>
                  <a:pt x="372" y="0"/>
                  <a:pt x="303" y="33"/>
                  <a:pt x="254" y="95"/>
                </a:cubicBezTo>
                <a:cubicBezTo>
                  <a:pt x="170" y="202"/>
                  <a:pt x="162" y="374"/>
                  <a:pt x="183" y="461"/>
                </a:cubicBezTo>
                <a:cubicBezTo>
                  <a:pt x="198" y="524"/>
                  <a:pt x="234" y="619"/>
                  <a:pt x="290" y="690"/>
                </a:cubicBezTo>
                <a:cubicBezTo>
                  <a:pt x="138" y="723"/>
                  <a:pt x="36" y="790"/>
                  <a:pt x="30" y="793"/>
                </a:cubicBezTo>
                <a:cubicBezTo>
                  <a:pt x="9" y="807"/>
                  <a:pt x="0" y="833"/>
                  <a:pt x="7" y="856"/>
                </a:cubicBezTo>
                <a:cubicBezTo>
                  <a:pt x="15" y="880"/>
                  <a:pt x="36" y="896"/>
                  <a:pt x="61" y="896"/>
                </a:cubicBezTo>
                <a:cubicBezTo>
                  <a:pt x="845" y="896"/>
                  <a:pt x="845" y="896"/>
                  <a:pt x="845" y="896"/>
                </a:cubicBezTo>
                <a:cubicBezTo>
                  <a:pt x="870" y="896"/>
                  <a:pt x="891" y="880"/>
                  <a:pt x="899" y="856"/>
                </a:cubicBezTo>
                <a:cubicBezTo>
                  <a:pt x="906" y="833"/>
                  <a:pt x="897" y="807"/>
                  <a:pt x="876" y="793"/>
                </a:cubicBezTo>
                <a:close/>
                <a:moveTo>
                  <a:pt x="572" y="655"/>
                </a:moveTo>
                <a:cubicBezTo>
                  <a:pt x="563" y="667"/>
                  <a:pt x="563" y="667"/>
                  <a:pt x="563" y="667"/>
                </a:cubicBezTo>
                <a:cubicBezTo>
                  <a:pt x="497" y="743"/>
                  <a:pt x="409" y="743"/>
                  <a:pt x="343" y="667"/>
                </a:cubicBezTo>
                <a:cubicBezTo>
                  <a:pt x="334" y="655"/>
                  <a:pt x="334" y="655"/>
                  <a:pt x="334" y="655"/>
                </a:cubicBezTo>
                <a:cubicBezTo>
                  <a:pt x="256" y="556"/>
                  <a:pt x="217" y="426"/>
                  <a:pt x="234" y="301"/>
                </a:cubicBezTo>
                <a:cubicBezTo>
                  <a:pt x="249" y="181"/>
                  <a:pt x="317" y="56"/>
                  <a:pt x="453" y="56"/>
                </a:cubicBezTo>
                <a:cubicBezTo>
                  <a:pt x="589" y="56"/>
                  <a:pt x="657" y="181"/>
                  <a:pt x="672" y="301"/>
                </a:cubicBezTo>
                <a:cubicBezTo>
                  <a:pt x="689" y="426"/>
                  <a:pt x="651" y="556"/>
                  <a:pt x="572" y="655"/>
                </a:cubicBezTo>
                <a:close/>
                <a:moveTo>
                  <a:pt x="61" y="840"/>
                </a:moveTo>
                <a:cubicBezTo>
                  <a:pt x="65" y="837"/>
                  <a:pt x="160" y="775"/>
                  <a:pt x="301" y="745"/>
                </a:cubicBezTo>
                <a:cubicBezTo>
                  <a:pt x="371" y="730"/>
                  <a:pt x="371" y="730"/>
                  <a:pt x="371" y="730"/>
                </a:cubicBezTo>
                <a:cubicBezTo>
                  <a:pt x="396" y="746"/>
                  <a:pt x="423" y="756"/>
                  <a:pt x="453" y="756"/>
                </a:cubicBezTo>
                <a:cubicBezTo>
                  <a:pt x="483" y="756"/>
                  <a:pt x="510" y="746"/>
                  <a:pt x="535" y="730"/>
                </a:cubicBezTo>
                <a:cubicBezTo>
                  <a:pt x="605" y="745"/>
                  <a:pt x="605" y="745"/>
                  <a:pt x="605" y="745"/>
                </a:cubicBezTo>
                <a:cubicBezTo>
                  <a:pt x="745" y="775"/>
                  <a:pt x="840" y="836"/>
                  <a:pt x="845" y="840"/>
                </a:cubicBezTo>
                <a:lnTo>
                  <a:pt x="61" y="840"/>
                </a:ln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6" name="Freeform 15">
            <a:extLst>
              <a:ext uri="{FF2B5EF4-FFF2-40B4-BE49-F238E27FC236}">
                <a16:creationId xmlns:a16="http://schemas.microsoft.com/office/drawing/2014/main" id="{006E853D-0F6D-C229-1186-FC77917B043F}"/>
              </a:ext>
            </a:extLst>
          </p:cNvPr>
          <p:cNvSpPr/>
          <p:nvPr/>
        </p:nvSpPr>
        <p:spPr>
          <a:xfrm>
            <a:off x="4754563" y="3960813"/>
            <a:ext cx="447675" cy="336550"/>
          </a:xfrm>
          <a:custGeom>
            <a:avLst/>
            <a:gdLst>
              <a:gd name="txL" fmla="*/ 0 w 696"/>
              <a:gd name="txT" fmla="*/ 0 h 522"/>
              <a:gd name="txR" fmla="*/ 696 w 696"/>
              <a:gd name="txB" fmla="*/ 522 h 522"/>
            </a:gdLst>
            <a:ahLst/>
            <a:cxnLst>
              <a:cxn ang="17694720">
                <a:pos x="223735" y="0"/>
              </a:cxn>
              <a:cxn ang="0">
                <a:pos x="447470" y="168039"/>
              </a:cxn>
              <a:cxn ang="5898240">
                <a:pos x="223735" y="336078"/>
              </a:cxn>
              <a:cxn ang="11796480">
                <a:pos x="0" y="168039"/>
              </a:cxn>
              <a:cxn ang="0">
                <a:pos x="368391" y="8370"/>
              </a:cxn>
              <a:cxn ang="0">
                <a:pos x="99009" y="0"/>
              </a:cxn>
              <a:cxn ang="0">
                <a:pos x="8358" y="79191"/>
              </a:cxn>
              <a:cxn ang="0">
                <a:pos x="7072" y="117820"/>
              </a:cxn>
              <a:cxn ang="0">
                <a:pos x="223735" y="336078"/>
              </a:cxn>
              <a:cxn ang="0">
                <a:pos x="440398" y="117820"/>
              </a:cxn>
              <a:cxn ang="0">
                <a:pos x="439112" y="79191"/>
              </a:cxn>
              <a:cxn ang="0">
                <a:pos x="192875" y="97862"/>
              </a:cxn>
              <a:cxn ang="0">
                <a:pos x="254595" y="97862"/>
              </a:cxn>
              <a:cxn ang="0">
                <a:pos x="272597" y="30904"/>
              </a:cxn>
              <a:cxn ang="0">
                <a:pos x="265525" y="88848"/>
              </a:cxn>
              <a:cxn ang="0">
                <a:pos x="181945" y="88848"/>
              </a:cxn>
              <a:cxn ang="0">
                <a:pos x="174873" y="30904"/>
              </a:cxn>
              <a:cxn ang="0">
                <a:pos x="181945" y="88848"/>
              </a:cxn>
              <a:cxn ang="0">
                <a:pos x="223735" y="286503"/>
              </a:cxn>
              <a:cxn ang="0">
                <a:pos x="258452" y="112026"/>
              </a:cxn>
              <a:cxn ang="0">
                <a:pos x="341389" y="112026"/>
              </a:cxn>
              <a:cxn ang="0">
                <a:pos x="272597" y="112026"/>
              </a:cxn>
              <a:cxn ang="0">
                <a:pos x="311172" y="69533"/>
              </a:cxn>
              <a:cxn ang="0">
                <a:pos x="276454" y="97862"/>
              </a:cxn>
              <a:cxn ang="0">
                <a:pos x="338817" y="28328"/>
              </a:cxn>
              <a:cxn ang="0">
                <a:pos x="289313" y="28328"/>
              </a:cxn>
              <a:cxn ang="0">
                <a:pos x="192875" y="28328"/>
              </a:cxn>
              <a:cxn ang="0">
                <a:pos x="223735" y="54082"/>
              </a:cxn>
              <a:cxn ang="0">
                <a:pos x="108653" y="28328"/>
              </a:cxn>
              <a:cxn ang="0">
                <a:pos x="135655" y="50219"/>
              </a:cxn>
              <a:cxn ang="0">
                <a:pos x="171016" y="97862"/>
              </a:cxn>
              <a:cxn ang="0">
                <a:pos x="136298" y="69533"/>
              </a:cxn>
              <a:cxn ang="0">
                <a:pos x="208948" y="283928"/>
              </a:cxn>
              <a:cxn ang="0">
                <a:pos x="174873" y="112026"/>
              </a:cxn>
              <a:cxn ang="0">
                <a:pos x="39861" y="112026"/>
              </a:cxn>
              <a:cxn ang="0">
                <a:pos x="177445" y="258819"/>
              </a:cxn>
              <a:cxn ang="0">
                <a:pos x="407609" y="112026"/>
              </a:cxn>
              <a:cxn ang="0">
                <a:pos x="357462" y="112026"/>
              </a:cxn>
              <a:cxn ang="0">
                <a:pos x="322101" y="60520"/>
              </a:cxn>
              <a:cxn ang="0">
                <a:pos x="418539" y="97862"/>
              </a:cxn>
              <a:cxn ang="0">
                <a:pos x="93223" y="33479"/>
              </a:cxn>
              <a:cxn ang="0">
                <a:pos x="88080" y="97862"/>
              </a:cxn>
              <a:cxn ang="0">
                <a:pos x="93223" y="33479"/>
              </a:cxn>
            </a:cxnLst>
            <a:rect l="txL" t="txT" r="txR" b="txB"/>
            <a:pathLst>
              <a:path w="696" h="522">
                <a:moveTo>
                  <a:pt x="683" y="123"/>
                </a:moveTo>
                <a:cubicBezTo>
                  <a:pt x="573" y="13"/>
                  <a:pt x="573" y="13"/>
                  <a:pt x="573" y="13"/>
                </a:cubicBezTo>
                <a:cubicBezTo>
                  <a:pt x="565" y="5"/>
                  <a:pt x="554" y="0"/>
                  <a:pt x="542" y="0"/>
                </a:cubicBezTo>
                <a:cubicBezTo>
                  <a:pt x="154" y="0"/>
                  <a:pt x="154" y="0"/>
                  <a:pt x="154" y="0"/>
                </a:cubicBezTo>
                <a:cubicBezTo>
                  <a:pt x="142" y="0"/>
                  <a:pt x="131" y="5"/>
                  <a:pt x="123" y="13"/>
                </a:cubicBezTo>
                <a:cubicBezTo>
                  <a:pt x="13" y="123"/>
                  <a:pt x="13" y="123"/>
                  <a:pt x="13" y="123"/>
                </a:cubicBezTo>
                <a:cubicBezTo>
                  <a:pt x="4" y="132"/>
                  <a:pt x="0" y="143"/>
                  <a:pt x="0" y="154"/>
                </a:cubicBezTo>
                <a:cubicBezTo>
                  <a:pt x="0" y="165"/>
                  <a:pt x="4" y="175"/>
                  <a:pt x="11" y="183"/>
                </a:cubicBezTo>
                <a:cubicBezTo>
                  <a:pt x="315" y="507"/>
                  <a:pt x="315" y="507"/>
                  <a:pt x="315" y="507"/>
                </a:cubicBezTo>
                <a:cubicBezTo>
                  <a:pt x="324" y="516"/>
                  <a:pt x="336" y="522"/>
                  <a:pt x="348" y="522"/>
                </a:cubicBezTo>
                <a:cubicBezTo>
                  <a:pt x="360" y="522"/>
                  <a:pt x="372" y="516"/>
                  <a:pt x="381" y="507"/>
                </a:cubicBezTo>
                <a:cubicBezTo>
                  <a:pt x="685" y="183"/>
                  <a:pt x="685" y="183"/>
                  <a:pt x="685" y="183"/>
                </a:cubicBezTo>
                <a:cubicBezTo>
                  <a:pt x="692" y="175"/>
                  <a:pt x="696" y="164"/>
                  <a:pt x="696" y="154"/>
                </a:cubicBezTo>
                <a:cubicBezTo>
                  <a:pt x="696" y="143"/>
                  <a:pt x="692" y="132"/>
                  <a:pt x="683" y="123"/>
                </a:cubicBezTo>
                <a:close/>
                <a:moveTo>
                  <a:pt x="396" y="152"/>
                </a:moveTo>
                <a:cubicBezTo>
                  <a:pt x="300" y="152"/>
                  <a:pt x="300" y="152"/>
                  <a:pt x="300" y="152"/>
                </a:cubicBezTo>
                <a:cubicBezTo>
                  <a:pt x="348" y="112"/>
                  <a:pt x="348" y="112"/>
                  <a:pt x="348" y="112"/>
                </a:cubicBezTo>
                <a:lnTo>
                  <a:pt x="396" y="152"/>
                </a:lnTo>
                <a:close/>
                <a:moveTo>
                  <a:pt x="365" y="98"/>
                </a:moveTo>
                <a:cubicBezTo>
                  <a:pt x="424" y="48"/>
                  <a:pt x="424" y="48"/>
                  <a:pt x="424" y="48"/>
                </a:cubicBezTo>
                <a:cubicBezTo>
                  <a:pt x="468" y="92"/>
                  <a:pt x="468" y="92"/>
                  <a:pt x="468" y="92"/>
                </a:cubicBezTo>
                <a:cubicBezTo>
                  <a:pt x="413" y="138"/>
                  <a:pt x="413" y="138"/>
                  <a:pt x="413" y="138"/>
                </a:cubicBezTo>
                <a:lnTo>
                  <a:pt x="365" y="98"/>
                </a:lnTo>
                <a:close/>
                <a:moveTo>
                  <a:pt x="283" y="138"/>
                </a:moveTo>
                <a:cubicBezTo>
                  <a:pt x="228" y="92"/>
                  <a:pt x="228" y="92"/>
                  <a:pt x="228" y="92"/>
                </a:cubicBezTo>
                <a:cubicBezTo>
                  <a:pt x="272" y="48"/>
                  <a:pt x="272" y="48"/>
                  <a:pt x="272" y="48"/>
                </a:cubicBezTo>
                <a:cubicBezTo>
                  <a:pt x="331" y="98"/>
                  <a:pt x="331" y="98"/>
                  <a:pt x="331" y="98"/>
                </a:cubicBezTo>
                <a:lnTo>
                  <a:pt x="283" y="138"/>
                </a:lnTo>
                <a:close/>
                <a:moveTo>
                  <a:pt x="402" y="174"/>
                </a:moveTo>
                <a:cubicBezTo>
                  <a:pt x="348" y="445"/>
                  <a:pt x="348" y="445"/>
                  <a:pt x="348" y="445"/>
                </a:cubicBezTo>
                <a:cubicBezTo>
                  <a:pt x="294" y="174"/>
                  <a:pt x="294" y="174"/>
                  <a:pt x="294" y="174"/>
                </a:cubicBezTo>
                <a:lnTo>
                  <a:pt x="402" y="174"/>
                </a:lnTo>
                <a:close/>
                <a:moveTo>
                  <a:pt x="424" y="174"/>
                </a:moveTo>
                <a:cubicBezTo>
                  <a:pt x="531" y="174"/>
                  <a:pt x="531" y="174"/>
                  <a:pt x="531" y="174"/>
                </a:cubicBezTo>
                <a:cubicBezTo>
                  <a:pt x="371" y="441"/>
                  <a:pt x="371" y="441"/>
                  <a:pt x="371" y="441"/>
                </a:cubicBezTo>
                <a:lnTo>
                  <a:pt x="424" y="174"/>
                </a:lnTo>
                <a:close/>
                <a:moveTo>
                  <a:pt x="430" y="152"/>
                </a:moveTo>
                <a:cubicBezTo>
                  <a:pt x="484" y="108"/>
                  <a:pt x="484" y="108"/>
                  <a:pt x="484" y="108"/>
                </a:cubicBezTo>
                <a:cubicBezTo>
                  <a:pt x="528" y="152"/>
                  <a:pt x="528" y="152"/>
                  <a:pt x="528" y="152"/>
                </a:cubicBezTo>
                <a:lnTo>
                  <a:pt x="430" y="152"/>
                </a:lnTo>
                <a:close/>
                <a:moveTo>
                  <a:pt x="450" y="44"/>
                </a:moveTo>
                <a:cubicBezTo>
                  <a:pt x="527" y="44"/>
                  <a:pt x="527" y="44"/>
                  <a:pt x="527" y="44"/>
                </a:cubicBezTo>
                <a:cubicBezTo>
                  <a:pt x="485" y="78"/>
                  <a:pt x="485" y="78"/>
                  <a:pt x="485" y="78"/>
                </a:cubicBezTo>
                <a:lnTo>
                  <a:pt x="450" y="44"/>
                </a:lnTo>
                <a:close/>
                <a:moveTo>
                  <a:pt x="348" y="84"/>
                </a:moveTo>
                <a:cubicBezTo>
                  <a:pt x="300" y="44"/>
                  <a:pt x="300" y="44"/>
                  <a:pt x="300" y="44"/>
                </a:cubicBezTo>
                <a:cubicBezTo>
                  <a:pt x="396" y="44"/>
                  <a:pt x="396" y="44"/>
                  <a:pt x="396" y="44"/>
                </a:cubicBezTo>
                <a:lnTo>
                  <a:pt x="348" y="84"/>
                </a:lnTo>
                <a:close/>
                <a:moveTo>
                  <a:pt x="211" y="78"/>
                </a:moveTo>
                <a:cubicBezTo>
                  <a:pt x="169" y="44"/>
                  <a:pt x="169" y="44"/>
                  <a:pt x="169" y="44"/>
                </a:cubicBezTo>
                <a:cubicBezTo>
                  <a:pt x="246" y="44"/>
                  <a:pt x="246" y="44"/>
                  <a:pt x="246" y="44"/>
                </a:cubicBezTo>
                <a:lnTo>
                  <a:pt x="211" y="78"/>
                </a:lnTo>
                <a:close/>
                <a:moveTo>
                  <a:pt x="212" y="108"/>
                </a:moveTo>
                <a:cubicBezTo>
                  <a:pt x="266" y="152"/>
                  <a:pt x="266" y="152"/>
                  <a:pt x="266" y="152"/>
                </a:cubicBezTo>
                <a:cubicBezTo>
                  <a:pt x="168" y="152"/>
                  <a:pt x="168" y="152"/>
                  <a:pt x="168" y="152"/>
                </a:cubicBezTo>
                <a:lnTo>
                  <a:pt x="212" y="108"/>
                </a:lnTo>
                <a:close/>
                <a:moveTo>
                  <a:pt x="272" y="174"/>
                </a:moveTo>
                <a:cubicBezTo>
                  <a:pt x="325" y="441"/>
                  <a:pt x="325" y="441"/>
                  <a:pt x="325" y="441"/>
                </a:cubicBezTo>
                <a:cubicBezTo>
                  <a:pt x="165" y="174"/>
                  <a:pt x="165" y="174"/>
                  <a:pt x="165" y="174"/>
                </a:cubicBezTo>
                <a:lnTo>
                  <a:pt x="272" y="174"/>
                </a:lnTo>
                <a:close/>
                <a:moveTo>
                  <a:pt x="276" y="402"/>
                </a:moveTo>
                <a:cubicBezTo>
                  <a:pt x="62" y="174"/>
                  <a:pt x="62" y="174"/>
                  <a:pt x="62" y="174"/>
                </a:cubicBezTo>
                <a:cubicBezTo>
                  <a:pt x="140" y="174"/>
                  <a:pt x="140" y="174"/>
                  <a:pt x="140" y="174"/>
                </a:cubicBezTo>
                <a:lnTo>
                  <a:pt x="276" y="402"/>
                </a:lnTo>
                <a:close/>
                <a:moveTo>
                  <a:pt x="556" y="174"/>
                </a:moveTo>
                <a:cubicBezTo>
                  <a:pt x="634" y="174"/>
                  <a:pt x="634" y="174"/>
                  <a:pt x="634" y="174"/>
                </a:cubicBezTo>
                <a:cubicBezTo>
                  <a:pt x="420" y="402"/>
                  <a:pt x="420" y="402"/>
                  <a:pt x="420" y="402"/>
                </a:cubicBezTo>
                <a:lnTo>
                  <a:pt x="556" y="174"/>
                </a:lnTo>
                <a:close/>
                <a:moveTo>
                  <a:pt x="559" y="152"/>
                </a:moveTo>
                <a:cubicBezTo>
                  <a:pt x="501" y="94"/>
                  <a:pt x="501" y="94"/>
                  <a:pt x="501" y="94"/>
                </a:cubicBezTo>
                <a:cubicBezTo>
                  <a:pt x="551" y="52"/>
                  <a:pt x="551" y="52"/>
                  <a:pt x="551" y="52"/>
                </a:cubicBezTo>
                <a:cubicBezTo>
                  <a:pt x="651" y="152"/>
                  <a:pt x="651" y="152"/>
                  <a:pt x="651" y="152"/>
                </a:cubicBezTo>
                <a:lnTo>
                  <a:pt x="559" y="152"/>
                </a:lnTo>
                <a:close/>
                <a:moveTo>
                  <a:pt x="145" y="52"/>
                </a:moveTo>
                <a:cubicBezTo>
                  <a:pt x="195" y="94"/>
                  <a:pt x="195" y="94"/>
                  <a:pt x="195" y="94"/>
                </a:cubicBezTo>
                <a:cubicBezTo>
                  <a:pt x="137" y="152"/>
                  <a:pt x="137" y="152"/>
                  <a:pt x="137" y="152"/>
                </a:cubicBezTo>
                <a:cubicBezTo>
                  <a:pt x="44" y="152"/>
                  <a:pt x="44" y="152"/>
                  <a:pt x="44" y="152"/>
                </a:cubicBezTo>
                <a:lnTo>
                  <a:pt x="145" y="52"/>
                </a:lnTo>
                <a:close/>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7" name="Rectangle 35">
            <a:extLst>
              <a:ext uri="{FF2B5EF4-FFF2-40B4-BE49-F238E27FC236}">
                <a16:creationId xmlns:a16="http://schemas.microsoft.com/office/drawing/2014/main" id="{7D217002-C188-4A0B-59DA-34F6387EF081}"/>
              </a:ext>
            </a:extLst>
          </p:cNvPr>
          <p:cNvSpPr/>
          <p:nvPr/>
        </p:nvSpPr>
        <p:spPr>
          <a:xfrm>
            <a:off x="4448175" y="1781175"/>
            <a:ext cx="1054100" cy="85725"/>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8" name="Rectangle 38">
            <a:extLst>
              <a:ext uri="{FF2B5EF4-FFF2-40B4-BE49-F238E27FC236}">
                <a16:creationId xmlns:a16="http://schemas.microsoft.com/office/drawing/2014/main" id="{5EBBFCDE-E752-07C7-22DE-80DCF8B3465E}"/>
              </a:ext>
            </a:extLst>
          </p:cNvPr>
          <p:cNvSpPr/>
          <p:nvPr/>
        </p:nvSpPr>
        <p:spPr>
          <a:xfrm>
            <a:off x="6675438" y="3167063"/>
            <a:ext cx="1054100" cy="87312"/>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9" name="Rectangle 39">
            <a:extLst>
              <a:ext uri="{FF2B5EF4-FFF2-40B4-BE49-F238E27FC236}">
                <a16:creationId xmlns:a16="http://schemas.microsoft.com/office/drawing/2014/main" id="{5471F4AB-B431-21D5-80E3-CB89187DF57D}"/>
              </a:ext>
            </a:extLst>
          </p:cNvPr>
          <p:cNvSpPr/>
          <p:nvPr/>
        </p:nvSpPr>
        <p:spPr>
          <a:xfrm>
            <a:off x="4448175" y="4541838"/>
            <a:ext cx="1054100" cy="87312"/>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0" name="Isosceles Triangle 1">
            <a:extLst>
              <a:ext uri="{FF2B5EF4-FFF2-40B4-BE49-F238E27FC236}">
                <a16:creationId xmlns:a16="http://schemas.microsoft.com/office/drawing/2014/main" id="{83FE2578-17EB-1AA2-1E02-8889BE7D7BD6}"/>
              </a:ext>
            </a:extLst>
          </p:cNvPr>
          <p:cNvSpPr/>
          <p:nvPr/>
        </p:nvSpPr>
        <p:spPr>
          <a:xfrm rot="10799991" flipH="1" flipV="1">
            <a:off x="5953125" y="5394325"/>
            <a:ext cx="265113" cy="155575"/>
          </a:xfrm>
          <a:custGeom>
            <a:avLst/>
            <a:gdLst>
              <a:gd name="txL" fmla="*/ 65988 w 263950"/>
              <a:gd name="txT" fmla="*/ 77902 h 155804"/>
              <a:gd name="txR" fmla="*/ 197963 w 263950"/>
              <a:gd name="txB" fmla="*/ 155804 h 155804"/>
            </a:gdLst>
            <a:ahLst/>
            <a:cxnLst>
              <a:cxn ang="17694720">
                <a:pos x="131975" y="0"/>
              </a:cxn>
              <a:cxn ang="0">
                <a:pos x="263950" y="77902"/>
              </a:cxn>
              <a:cxn ang="5898240">
                <a:pos x="131975" y="155804"/>
              </a:cxn>
              <a:cxn ang="11796480">
                <a:pos x="0" y="77902"/>
              </a:cxn>
              <a:cxn ang="17694720">
                <a:pos x="131975" y="0"/>
              </a:cxn>
              <a:cxn ang="11796480">
                <a:pos x="65988" y="77902"/>
              </a:cxn>
              <a:cxn ang="5898240">
                <a:pos x="0" y="155804"/>
              </a:cxn>
              <a:cxn ang="5898240">
                <a:pos x="131975" y="155804"/>
              </a:cxn>
              <a:cxn ang="5898240">
                <a:pos x="263950" y="155804"/>
              </a:cxn>
              <a:cxn ang="0">
                <a:pos x="197963" y="77902"/>
              </a:cxn>
            </a:cxnLst>
            <a:rect l="txL" t="txT" r="txR" b="txB"/>
            <a:pathLst>
              <a:path w="263950" h="155804">
                <a:moveTo>
                  <a:pt x="0" y="155804"/>
                </a:moveTo>
                <a:lnTo>
                  <a:pt x="131975" y="0"/>
                </a:lnTo>
                <a:lnTo>
                  <a:pt x="263950" y="155804"/>
                </a:lnTo>
                <a:lnTo>
                  <a:pt x="0" y="155804"/>
                </a:lnTo>
                <a:close/>
              </a:path>
            </a:pathLst>
          </a:custGeom>
          <a:solidFill>
            <a:srgbClr val="D9D9D9">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altLang="en-US" sz="18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 name="Rectangle 1">
            <a:extLst>
              <a:ext uri="{FF2B5EF4-FFF2-40B4-BE49-F238E27FC236}">
                <a16:creationId xmlns:a16="http://schemas.microsoft.com/office/drawing/2014/main" id="{064BE731-994B-296B-9624-339C6A8EE1FE}"/>
              </a:ext>
            </a:extLst>
          </p:cNvPr>
          <p:cNvSpPr>
            <a:spLocks noChangeArrowheads="1"/>
          </p:cNvSpPr>
          <p:nvPr/>
        </p:nvSpPr>
        <p:spPr bwMode="auto">
          <a:xfrm>
            <a:off x="257611" y="878185"/>
            <a:ext cx="426270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Feed</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a:t>
            </a: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Forward</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Network avec </a:t>
            </a:r>
            <a:r>
              <a:rPr kumimoji="0" lang="fr-FR" altLang="fr-FR" sz="1800" b="1" i="0" u="none" strike="noStrike" cap="none" normalizeH="0" baseline="0" dirty="0" err="1">
                <a:ln>
                  <a:noFill/>
                </a:ln>
                <a:solidFill>
                  <a:schemeClr val="tx1">
                    <a:lumMod val="50000"/>
                    <a:lumOff val="50000"/>
                  </a:schemeClr>
                </a:solidFill>
                <a:effectLst/>
                <a:latin typeface="Arial" panose="020B0604020202020204" pitchFamily="34" charset="0"/>
              </a:rPr>
              <a:t>SwiGLU</a:t>
            </a: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4AD4AA02-F792-00B1-05C1-87080E8BB01D}"/>
              </a:ext>
            </a:extLst>
          </p:cNvPr>
          <p:cNvSpPr>
            <a:spLocks noChangeArrowheads="1"/>
          </p:cNvSpPr>
          <p:nvPr/>
        </p:nvSpPr>
        <p:spPr bwMode="auto">
          <a:xfrm>
            <a:off x="7754047" y="2245816"/>
            <a:ext cx="29418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Entraînement du modèle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41032E54-0F6C-3501-BE7A-CA0F4174FCBA}"/>
              </a:ext>
            </a:extLst>
          </p:cNvPr>
          <p:cNvSpPr>
            <a:spLocks noChangeArrowheads="1"/>
          </p:cNvSpPr>
          <p:nvPr/>
        </p:nvSpPr>
        <p:spPr bwMode="auto">
          <a:xfrm>
            <a:off x="1711156" y="3638848"/>
            <a:ext cx="277511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fr-FR" altLang="fr-FR" sz="1800" b="1" i="0" u="none" strike="noStrike" cap="none" normalizeH="0" baseline="0" dirty="0">
                <a:ln>
                  <a:noFill/>
                </a:ln>
                <a:solidFill>
                  <a:schemeClr val="tx1">
                    <a:lumMod val="50000"/>
                    <a:lumOff val="50000"/>
                  </a:schemeClr>
                </a:solidFill>
                <a:effectLst/>
                <a:latin typeface="Arial" panose="020B0604020202020204" pitchFamily="34" charset="0"/>
              </a:rPr>
              <a:t>Évolution des versions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09925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right)">
                                      <p:cBhvr>
                                        <p:cTn id="13" dur="500"/>
                                        <p:tgtEl>
                                          <p:spTgt spid="6"/>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up)">
                                      <p:cBhvr>
                                        <p:cTn id="30" dur="500"/>
                                        <p:tgtEl>
                                          <p:spTgt spid="8"/>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50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par>
                          <p:cTn id="48" fill="hold">
                            <p:stCondLst>
                              <p:cond delay="4000"/>
                            </p:stCondLst>
                            <p:childTnLst>
                              <p:par>
                                <p:cTn id="49" presetID="53" presetClass="entr" presetSubtype="16"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500" fill="hold"/>
                                        <p:tgtEl>
                                          <p:spTgt spid="25"/>
                                        </p:tgtEl>
                                        <p:attrNameLst>
                                          <p:attrName>ppt_w</p:attrName>
                                        </p:attrNameLst>
                                      </p:cBhvr>
                                      <p:tavLst>
                                        <p:tav tm="0">
                                          <p:val>
                                            <p:fltVal val="0"/>
                                          </p:val>
                                        </p:tav>
                                        <p:tav tm="100000">
                                          <p:val>
                                            <p:strVal val="#ppt_w"/>
                                          </p:val>
                                        </p:tav>
                                      </p:tavLst>
                                    </p:anim>
                                    <p:anim calcmode="lin" valueType="num">
                                      <p:cBhvr>
                                        <p:cTn id="52" dur="500" fill="hold"/>
                                        <p:tgtEl>
                                          <p:spTgt spid="25"/>
                                        </p:tgtEl>
                                        <p:attrNameLst>
                                          <p:attrName>ppt_h</p:attrName>
                                        </p:attrNameLst>
                                      </p:cBhvr>
                                      <p:tavLst>
                                        <p:tav tm="0">
                                          <p:val>
                                            <p:fltVal val="0"/>
                                          </p:val>
                                        </p:tav>
                                        <p:tav tm="100000">
                                          <p:val>
                                            <p:strVal val="#ppt_h"/>
                                          </p:val>
                                        </p:tav>
                                      </p:tavLst>
                                    </p:anim>
                                    <p:animEffect transition="in" filter="fade">
                                      <p:cBhvr>
                                        <p:cTn id="53" dur="500"/>
                                        <p:tgtEl>
                                          <p:spTgt spid="25"/>
                                        </p:tgtEl>
                                      </p:cBhvr>
                                    </p:animEffect>
                                  </p:childTnLst>
                                </p:cTn>
                              </p:par>
                            </p:childTnLst>
                          </p:cTn>
                        </p:par>
                        <p:par>
                          <p:cTn id="54" fill="hold">
                            <p:stCondLst>
                              <p:cond delay="4500"/>
                            </p:stCondLst>
                            <p:childTnLst>
                              <p:par>
                                <p:cTn id="55" presetID="22" presetClass="entr" presetSubtype="1"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up)">
                                      <p:cBhvr>
                                        <p:cTn id="57" dur="500"/>
                                        <p:tgtEl>
                                          <p:spTgt spid="14"/>
                                        </p:tgtEl>
                                      </p:cBhvr>
                                    </p:animEffect>
                                  </p:childTnLst>
                                </p:cTn>
                              </p:par>
                            </p:childTnLst>
                          </p:cTn>
                        </p:par>
                        <p:par>
                          <p:cTn id="58" fill="hold">
                            <p:stCondLst>
                              <p:cond delay="5000"/>
                            </p:stCondLst>
                            <p:childTnLst>
                              <p:par>
                                <p:cTn id="59" presetID="53" presetClass="entr" presetSubtype="16" fill="hold" nodeType="after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childTnLst>
                          </p:cTn>
                        </p:par>
                        <p:par>
                          <p:cTn id="64" fill="hold">
                            <p:stCondLst>
                              <p:cond delay="5500"/>
                            </p:stCondLst>
                            <p:childTnLst>
                              <p:par>
                                <p:cTn id="65" presetID="22" presetClass="entr" presetSubtype="2" fill="hold"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right)">
                                      <p:cBhvr>
                                        <p:cTn id="67" dur="500"/>
                                        <p:tgtEl>
                                          <p:spTgt spid="18"/>
                                        </p:tgtEl>
                                      </p:cBhvr>
                                    </p:animEffect>
                                  </p:childTnLst>
                                </p:cTn>
                              </p:par>
                            </p:childTnLst>
                          </p:cTn>
                        </p:par>
                        <p:par>
                          <p:cTn id="68" fill="hold">
                            <p:stCondLst>
                              <p:cond delay="6000"/>
                            </p:stCondLst>
                            <p:childTnLst>
                              <p:par>
                                <p:cTn id="69" presetID="10" presetClass="entr" presetSubtype="0" fill="hold" grpId="0" nodeType="after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childTnLst>
                          </p:cTn>
                        </p:par>
                        <p:par>
                          <p:cTn id="75" fill="hold">
                            <p:stCondLst>
                              <p:cond delay="6500"/>
                            </p:stCondLst>
                            <p:childTnLst>
                              <p:par>
                                <p:cTn id="76" presetID="53" presetClass="entr" presetSubtype="16" fill="hold" nodeType="afterEffect">
                                  <p:stCondLst>
                                    <p:cond delay="0"/>
                                  </p:stCondLst>
                                  <p:childTnLst>
                                    <p:set>
                                      <p:cBhvr>
                                        <p:cTn id="77" dur="1" fill="hold">
                                          <p:stCondLst>
                                            <p:cond delay="0"/>
                                          </p:stCondLst>
                                        </p:cTn>
                                        <p:tgtEl>
                                          <p:spTgt spid="26"/>
                                        </p:tgtEl>
                                        <p:attrNameLst>
                                          <p:attrName>style.visibility</p:attrName>
                                        </p:attrNameLst>
                                      </p:cBhvr>
                                      <p:to>
                                        <p:strVal val="visible"/>
                                      </p:to>
                                    </p:set>
                                    <p:anim calcmode="lin" valueType="num">
                                      <p:cBhvr>
                                        <p:cTn id="78" dur="500" fill="hold"/>
                                        <p:tgtEl>
                                          <p:spTgt spid="26"/>
                                        </p:tgtEl>
                                        <p:attrNameLst>
                                          <p:attrName>ppt_w</p:attrName>
                                        </p:attrNameLst>
                                      </p:cBhvr>
                                      <p:tavLst>
                                        <p:tav tm="0">
                                          <p:val>
                                            <p:fltVal val="0"/>
                                          </p:val>
                                        </p:tav>
                                        <p:tav tm="100000">
                                          <p:val>
                                            <p:strVal val="#ppt_w"/>
                                          </p:val>
                                        </p:tav>
                                      </p:tavLst>
                                    </p:anim>
                                    <p:anim calcmode="lin" valueType="num">
                                      <p:cBhvr>
                                        <p:cTn id="79" dur="500" fill="hold"/>
                                        <p:tgtEl>
                                          <p:spTgt spid="26"/>
                                        </p:tgtEl>
                                        <p:attrNameLst>
                                          <p:attrName>ppt_h</p:attrName>
                                        </p:attrNameLst>
                                      </p:cBhvr>
                                      <p:tavLst>
                                        <p:tav tm="0">
                                          <p:val>
                                            <p:fltVal val="0"/>
                                          </p:val>
                                        </p:tav>
                                        <p:tav tm="100000">
                                          <p:val>
                                            <p:strVal val="#ppt_h"/>
                                          </p:val>
                                        </p:tav>
                                      </p:tavLst>
                                    </p:anim>
                                    <p:animEffect transition="in" filter="fade">
                                      <p:cBhvr>
                                        <p:cTn id="80" dur="500"/>
                                        <p:tgtEl>
                                          <p:spTgt spid="26"/>
                                        </p:tgtEl>
                                      </p:cBhvr>
                                    </p:animEffect>
                                  </p:childTnLst>
                                </p:cTn>
                              </p:par>
                            </p:childTnLst>
                          </p:cTn>
                        </p:par>
                        <p:par>
                          <p:cTn id="81" fill="hold">
                            <p:stCondLst>
                              <p:cond delay="7000"/>
                            </p:stCondLst>
                            <p:childTnLst>
                              <p:par>
                                <p:cTn id="82" presetID="22" presetClass="entr" presetSubtype="1" fill="hold" nodeType="after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wipe(up)">
                                      <p:cBhvr>
                                        <p:cTn id="84" dur="500"/>
                                        <p:tgtEl>
                                          <p:spTgt spid="20"/>
                                        </p:tgtEl>
                                      </p:cBhvr>
                                    </p:animEffect>
                                  </p:childTnLst>
                                </p:cTn>
                              </p:par>
                            </p:childTnLst>
                          </p:cTn>
                        </p:par>
                        <p:par>
                          <p:cTn id="85" fill="hold">
                            <p:stCondLst>
                              <p:cond delay="7500"/>
                            </p:stCondLst>
                            <p:childTnLst>
                              <p:par>
                                <p:cTn id="86" presetID="42" presetClass="entr" presetSubtype="0" fill="hold" nodeType="after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anim calcmode="lin" valueType="num">
                                      <p:cBhvr>
                                        <p:cTn id="89" dur="500" fill="hold"/>
                                        <p:tgtEl>
                                          <p:spTgt spid="30"/>
                                        </p:tgtEl>
                                        <p:attrNameLst>
                                          <p:attrName>ppt_x</p:attrName>
                                        </p:attrNameLst>
                                      </p:cBhvr>
                                      <p:tavLst>
                                        <p:tav tm="0">
                                          <p:val>
                                            <p:strVal val="#ppt_x"/>
                                          </p:val>
                                        </p:tav>
                                        <p:tav tm="100000">
                                          <p:val>
                                            <p:strVal val="#ppt_x"/>
                                          </p:val>
                                        </p:tav>
                                      </p:tavLst>
                                    </p:anim>
                                    <p:anim calcmode="lin" valueType="num">
                                      <p:cBhvr>
                                        <p:cTn id="90"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9" grpId="0" animBg="1"/>
      <p:bldP spid="27" grpId="0" animBg="1"/>
      <p:bldP spid="28" grpId="0" animBg="1"/>
      <p:bldP spid="2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D3F7DF-0CE2-12E2-C57A-D28DC0A1F1CC}"/>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8FD551F4-9321-B458-99BA-8770FA2C50A0}"/>
              </a:ext>
            </a:extLst>
          </p:cNvPr>
          <p:cNvSpPr txBox="1"/>
          <p:nvPr/>
        </p:nvSpPr>
        <p:spPr>
          <a:xfrm>
            <a:off x="654798" y="346632"/>
            <a:ext cx="9840748" cy="769441"/>
          </a:xfrm>
          <a:prstGeom prst="rect">
            <a:avLst/>
          </a:prstGeom>
          <a:noFill/>
          <a:ln w="9525">
            <a:noFill/>
          </a:ln>
        </p:spPr>
        <p:txBody>
          <a:bodyPr wrap="square">
            <a:spAutoFit/>
          </a:bodyPr>
          <a:lstStyle/>
          <a:p>
            <a:r>
              <a:rPr lang="fr-FR" sz="4400" b="1" dirty="0">
                <a:solidFill>
                  <a:schemeClr val="tx1">
                    <a:lumMod val="50000"/>
                    <a:lumOff val="50000"/>
                  </a:schemeClr>
                </a:solidFill>
              </a:rPr>
              <a:t>Introduction — </a:t>
            </a:r>
            <a:r>
              <a:rPr lang="fr-FR" sz="4400" b="1" dirty="0" err="1">
                <a:solidFill>
                  <a:schemeClr val="tx1">
                    <a:lumMod val="50000"/>
                    <a:lumOff val="50000"/>
                  </a:schemeClr>
                </a:solidFill>
              </a:rPr>
              <a:t>LLaMA</a:t>
            </a:r>
            <a:endParaRPr lang="fr-FR" sz="4400" dirty="0">
              <a:solidFill>
                <a:schemeClr val="tx1">
                  <a:lumMod val="50000"/>
                  <a:lumOff val="50000"/>
                </a:schemeClr>
              </a:solidFill>
            </a:endParaRPr>
          </a:p>
        </p:txBody>
      </p:sp>
      <p:sp>
        <p:nvSpPr>
          <p:cNvPr id="3" name="Rectangle 24">
            <a:extLst>
              <a:ext uri="{FF2B5EF4-FFF2-40B4-BE49-F238E27FC236}">
                <a16:creationId xmlns:a16="http://schemas.microsoft.com/office/drawing/2014/main" id="{EA299BCD-6A0E-7784-92C9-4A2CD56CE3C2}"/>
              </a:ext>
            </a:extLst>
          </p:cNvPr>
          <p:cNvSpPr/>
          <p:nvPr/>
        </p:nvSpPr>
        <p:spPr>
          <a:xfrm>
            <a:off x="462455" y="1355834"/>
            <a:ext cx="11161986" cy="2554545"/>
          </a:xfrm>
          <a:prstGeom prst="rect">
            <a:avLst/>
          </a:prstGeom>
          <a:noFill/>
          <a:ln w="9525">
            <a:noFill/>
          </a:ln>
        </p:spPr>
        <p:txBody>
          <a:bodyPr wrap="square">
            <a:spAutoFit/>
          </a:bodyPr>
          <a:lstStyle/>
          <a:p>
            <a:r>
              <a:rPr lang="fr-FR" sz="1600" dirty="0" err="1"/>
              <a:t>LLaMA</a:t>
            </a:r>
            <a:r>
              <a:rPr lang="fr-FR" sz="1600" dirty="0"/>
              <a:t> est un modèle de langage développé par </a:t>
            </a:r>
            <a:r>
              <a:rPr lang="fr-FR" sz="1600" b="1" dirty="0"/>
              <a:t>Meta AI</a:t>
            </a:r>
            <a:r>
              <a:rPr lang="fr-FR" sz="1600" dirty="0"/>
              <a:t>. La première version a été publiée en </a:t>
            </a:r>
            <a:r>
              <a:rPr lang="fr-FR" sz="1600" b="1" dirty="0"/>
              <a:t>février 2023</a:t>
            </a:r>
            <a:r>
              <a:rPr lang="fr-FR" sz="1600" dirty="0"/>
              <a:t>.</a:t>
            </a:r>
          </a:p>
          <a:p>
            <a:endParaRPr lang="fr-FR" sz="1600" dirty="0"/>
          </a:p>
          <a:p>
            <a:r>
              <a:rPr lang="fr-FR" sz="1600" dirty="0"/>
              <a:t>Il s’agit d’un modèle de type </a:t>
            </a:r>
            <a:r>
              <a:rPr lang="fr-FR" sz="1600" b="1" dirty="0"/>
              <a:t>Transformer </a:t>
            </a:r>
            <a:r>
              <a:rPr lang="fr-FR" sz="1600" b="1" dirty="0" err="1"/>
              <a:t>decoder-only</a:t>
            </a:r>
            <a:r>
              <a:rPr lang="fr-FR" sz="1600" dirty="0"/>
              <a:t>, c’est-à-dire qu’il génère le texte de gauche à droite en prédisant le prochain </a:t>
            </a:r>
            <a:r>
              <a:rPr lang="fr-FR" sz="1600" dirty="0" err="1"/>
              <a:t>token</a:t>
            </a:r>
            <a:r>
              <a:rPr lang="fr-FR" sz="1600" dirty="0"/>
              <a:t> à partir des </a:t>
            </a:r>
            <a:r>
              <a:rPr lang="fr-FR" sz="1600" dirty="0" err="1"/>
              <a:t>tokens</a:t>
            </a:r>
            <a:r>
              <a:rPr lang="fr-FR" sz="1600" dirty="0"/>
              <a:t> précédents.</a:t>
            </a:r>
          </a:p>
          <a:p>
            <a:endParaRPr lang="fr-FR" sz="1600" dirty="0"/>
          </a:p>
          <a:p>
            <a:r>
              <a:rPr lang="fr-FR" sz="1600" dirty="0" err="1"/>
              <a:t>LLaMA</a:t>
            </a:r>
            <a:r>
              <a:rPr lang="fr-FR" sz="1600" dirty="0"/>
              <a:t> a été conçu pour offrir de bonnes performances tout en utilisant moins de paramètres que certains très grands modèles propriétaires.</a:t>
            </a:r>
          </a:p>
          <a:p>
            <a:endParaRPr lang="fr-FR" sz="1600" dirty="0"/>
          </a:p>
          <a:p>
            <a:r>
              <a:rPr lang="fr-FR" sz="1600" dirty="0"/>
              <a:t>Son objectif principal est de rendre les grands modèles de langage plus accessibles pour la recherche, l’expérimentation et le développement d’applications.</a:t>
            </a:r>
          </a:p>
        </p:txBody>
      </p:sp>
      <p:sp>
        <p:nvSpPr>
          <p:cNvPr id="4" name="Rectangle 2">
            <a:extLst>
              <a:ext uri="{FF2B5EF4-FFF2-40B4-BE49-F238E27FC236}">
                <a16:creationId xmlns:a16="http://schemas.microsoft.com/office/drawing/2014/main" id="{D699F537-B3D6-DC61-5162-3EAC185DD721}"/>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B51E62F7-7DE3-3485-34B2-C0DB7584D1F5}"/>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32E6F1B4-B3B8-3CB5-7785-AC8C2B720A13}"/>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1BF35B89-4740-F8E9-B9C8-F9E991C865B4}"/>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5FBF4360-65A1-BBB8-4ACC-7454EE75E652}"/>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0C9CDEC5-1F7C-D389-5CDC-182AD859BB50}"/>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B32AC127-303E-244D-E47C-02CA7BADB973}"/>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6F5330BF-BB03-E0AC-96C5-171EA0A50DAB}"/>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777F51C8-9760-9EEC-1528-6E0E2B225BDA}"/>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8641287A-ADCB-A3E9-CB22-0382F046A3B3}"/>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8DD5AD5D-154F-10C7-E7A2-1EEE0ECBBDD9}"/>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3DC63A1D-F739-8C64-EFD5-6ED5F4733AFE}"/>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7D2A6E64-FE0B-D5D6-842D-73203B471CB2}"/>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BD7D27C8-E2FA-EB49-604A-13544AC5962E}"/>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32663822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E248A65-67C3-3E38-57FF-8C010F3CE078}"/>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C51F08D6-E82F-29E3-DB0E-8BB2CFCE296D}"/>
              </a:ext>
            </a:extLst>
          </p:cNvPr>
          <p:cNvSpPr txBox="1"/>
          <p:nvPr/>
        </p:nvSpPr>
        <p:spPr>
          <a:xfrm>
            <a:off x="364866" y="382468"/>
            <a:ext cx="10630236" cy="646331"/>
          </a:xfrm>
          <a:prstGeom prst="rect">
            <a:avLst/>
          </a:prstGeom>
          <a:noFill/>
          <a:ln w="9525">
            <a:noFill/>
          </a:ln>
        </p:spPr>
        <p:txBody>
          <a:bodyPr wrap="square">
            <a:spAutoFit/>
          </a:bodyPr>
          <a:lstStyle/>
          <a:p>
            <a:r>
              <a:rPr lang="fr-FR" sz="3600" b="1" dirty="0">
                <a:solidFill>
                  <a:schemeClr val="tx1">
                    <a:lumMod val="50000"/>
                    <a:lumOff val="50000"/>
                  </a:schemeClr>
                </a:solidFill>
              </a:rPr>
              <a:t>Architecture technique — </a:t>
            </a:r>
            <a:r>
              <a:rPr lang="fr-FR" sz="3600" b="1" dirty="0" err="1">
                <a:solidFill>
                  <a:schemeClr val="tx1">
                    <a:lumMod val="50000"/>
                    <a:lumOff val="50000"/>
                  </a:schemeClr>
                </a:solidFill>
              </a:rPr>
              <a:t>Decoder-only</a:t>
            </a:r>
            <a:r>
              <a:rPr lang="fr-FR" sz="3600" b="1" dirty="0">
                <a:solidFill>
                  <a:schemeClr val="tx1">
                    <a:lumMod val="50000"/>
                    <a:lumOff val="50000"/>
                  </a:schemeClr>
                </a:solidFill>
              </a:rPr>
              <a:t> Transformer</a:t>
            </a:r>
            <a:endParaRPr lang="fr-FR" sz="3600" dirty="0">
              <a:solidFill>
                <a:schemeClr val="tx1">
                  <a:lumMod val="50000"/>
                  <a:lumOff val="50000"/>
                </a:schemeClr>
              </a:solidFill>
            </a:endParaRPr>
          </a:p>
        </p:txBody>
      </p:sp>
      <p:sp>
        <p:nvSpPr>
          <p:cNvPr id="3" name="Rectangle 24">
            <a:extLst>
              <a:ext uri="{FF2B5EF4-FFF2-40B4-BE49-F238E27FC236}">
                <a16:creationId xmlns:a16="http://schemas.microsoft.com/office/drawing/2014/main" id="{728C549B-8C69-031A-90CF-5E204BF0A989}"/>
              </a:ext>
            </a:extLst>
          </p:cNvPr>
          <p:cNvSpPr/>
          <p:nvPr/>
        </p:nvSpPr>
        <p:spPr>
          <a:xfrm>
            <a:off x="515006" y="1620937"/>
            <a:ext cx="11161986" cy="830997"/>
          </a:xfrm>
          <a:prstGeom prst="rect">
            <a:avLst/>
          </a:prstGeom>
          <a:noFill/>
          <a:ln w="9525">
            <a:noFill/>
          </a:ln>
        </p:spPr>
        <p:txBody>
          <a:bodyPr wrap="square">
            <a:spAutoFit/>
          </a:bodyPr>
          <a:lstStyle/>
          <a:p>
            <a:r>
              <a:rPr lang="fr-FR" sz="1600" dirty="0" err="1"/>
              <a:t>LLaMA</a:t>
            </a:r>
            <a:r>
              <a:rPr lang="fr-FR" sz="1600" dirty="0"/>
              <a:t> utilise une architecture </a:t>
            </a:r>
            <a:r>
              <a:rPr lang="fr-FR" sz="1600" b="1" dirty="0"/>
              <a:t>Transformer </a:t>
            </a:r>
            <a:r>
              <a:rPr lang="fr-FR" sz="1600" b="1" dirty="0" err="1"/>
              <a:t>decoder-only</a:t>
            </a:r>
            <a:r>
              <a:rPr lang="fr-FR" sz="1600" dirty="0"/>
              <a:t>.</a:t>
            </a:r>
          </a:p>
          <a:p>
            <a:endParaRPr lang="fr-FR" sz="1600" dirty="0"/>
          </a:p>
          <a:p>
            <a:r>
              <a:rPr lang="fr-FR" sz="1600" dirty="0"/>
              <a:t>Cela signifie que le modèle ne possède pas d’encodeur séparé. Il reçoit une séquence de </a:t>
            </a:r>
            <a:r>
              <a:rPr lang="fr-FR" sz="1600" dirty="0" err="1"/>
              <a:t>tokens</a:t>
            </a:r>
            <a:r>
              <a:rPr lang="fr-FR" sz="1600" dirty="0"/>
              <a:t> et prédit le </a:t>
            </a:r>
            <a:r>
              <a:rPr lang="fr-FR" sz="1600" dirty="0" err="1"/>
              <a:t>token</a:t>
            </a:r>
            <a:r>
              <a:rPr lang="fr-FR" sz="1600" dirty="0"/>
              <a:t> suivant.</a:t>
            </a:r>
          </a:p>
        </p:txBody>
      </p:sp>
      <p:sp>
        <p:nvSpPr>
          <p:cNvPr id="4" name="Rectangle 2">
            <a:extLst>
              <a:ext uri="{FF2B5EF4-FFF2-40B4-BE49-F238E27FC236}">
                <a16:creationId xmlns:a16="http://schemas.microsoft.com/office/drawing/2014/main" id="{266A0ADE-F00C-BE5D-91BF-2DC1E26C3CD4}"/>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EA352650-89B2-BB59-41D1-386DB7D86588}"/>
              </a:ext>
            </a:extLst>
          </p:cNvPr>
          <p:cNvSpPr/>
          <p:nvPr/>
        </p:nvSpPr>
        <p:spPr>
          <a:xfrm rot="-5399996">
            <a:off x="4014790" y="4746449"/>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EC56C180-720A-279A-EEC6-924B64A7B8CA}"/>
              </a:ext>
            </a:extLst>
          </p:cNvPr>
          <p:cNvSpPr/>
          <p:nvPr/>
        </p:nvSpPr>
        <p:spPr>
          <a:xfrm rot="-5399996">
            <a:off x="6614312" y="5252242"/>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58829D73-D27B-14A0-4064-BB9FB844A72A}"/>
              </a:ext>
            </a:extLst>
          </p:cNvPr>
          <p:cNvSpPr/>
          <p:nvPr/>
        </p:nvSpPr>
        <p:spPr>
          <a:xfrm rot="-5399996">
            <a:off x="8429632" y="5137149"/>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C87448D5-A257-5928-39B0-4E9695F03473}"/>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92AB5195-4B6B-4A2E-8987-FF66DF4A39C3}"/>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A504165A-668B-04B1-D967-2D5BD3D03CC4}"/>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F48897E0-5209-1973-DB94-ACB3C7CA3C8A}"/>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E62D1DCA-EB9A-22DA-D80B-D9EBBAAFABE6}"/>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C353D1B0-6C92-AFAF-6D8A-407C836F2E27}"/>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D8C51F8F-16F9-7A2E-D6E3-88A4238DE55B}"/>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52DA50C1-1DF3-FC83-B24C-452505B832DC}"/>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739FBE87-492E-62DA-CBF7-D945ADCBD486}"/>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2EA03E75-681D-E446-8039-7E7DE277BC28}"/>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82699835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58A830-741C-206C-D030-77276F18E5B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2A06679-19FB-F493-9985-1000ABF5D827}"/>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E7D0ED0C-B621-4AC9-C45E-E9F2A5571FB7}"/>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1F454431-E572-19BE-5DD4-EAB76176A6AB}"/>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CB4DC8CE-654E-49F1-468D-FC5C7F90A894}"/>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A13E8FCD-F410-567F-1805-29144A4DF5F5}"/>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4B02FCDA-5968-A80C-F25E-D9CD329916F4}"/>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E410379D-4CC7-79D3-8241-53EF17E20DA2}"/>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5A2C81DA-8A47-A6CA-D5A2-8579A209A6B9}"/>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C799BD0D-7676-0117-B305-4B29C6B41DF4}"/>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8221B2ED-948D-D677-227B-925B32781F9F}"/>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93AB1100-2A3A-C8EB-BC92-56176EC56CBE}"/>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565D1065-E429-DD85-156B-016749C7EFF3}"/>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62A78AA6-243F-06B5-A633-4A7F4A74651B}"/>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FC6C5EE3-BF39-3A7F-CECC-80D6F5CC15C5}"/>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pic>
        <p:nvPicPr>
          <p:cNvPr id="12" name="Image 11">
            <a:extLst>
              <a:ext uri="{FF2B5EF4-FFF2-40B4-BE49-F238E27FC236}">
                <a16:creationId xmlns:a16="http://schemas.microsoft.com/office/drawing/2014/main" id="{F18A687F-4A6B-1C3D-9F1E-9E4109EC1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6943759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nodePh="1">
                                  <p:stCondLst>
                                    <p:cond delay="0"/>
                                  </p:stCondLst>
                                  <p:endCondLst>
                                    <p:cond evt="begin" delay="0">
                                      <p:tn val="40"/>
                                    </p:cond>
                                  </p:end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8" grpId="0"/>
      <p:bldP spid="18" grpId="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4263A38-5D6C-EE35-B44B-476DDA0F8C07}"/>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6E6D945A-3A0F-7661-9F9D-36F7997B2AE5}"/>
              </a:ext>
            </a:extLst>
          </p:cNvPr>
          <p:cNvSpPr txBox="1"/>
          <p:nvPr/>
        </p:nvSpPr>
        <p:spPr>
          <a:xfrm>
            <a:off x="654798" y="346632"/>
            <a:ext cx="9840748" cy="769441"/>
          </a:xfrm>
          <a:prstGeom prst="rect">
            <a:avLst/>
          </a:prstGeom>
          <a:noFill/>
          <a:ln w="9525">
            <a:noFill/>
          </a:ln>
        </p:spPr>
        <p:txBody>
          <a:bodyPr wrap="square">
            <a:spAutoFit/>
          </a:bodyPr>
          <a:lstStyle/>
          <a:p>
            <a:pPr lvl="0"/>
            <a:r>
              <a:rPr lang="fr-FR" sz="4400" b="1" dirty="0">
                <a:solidFill>
                  <a:schemeClr val="tx1">
                    <a:lumMod val="50000"/>
                    <a:lumOff val="50000"/>
                  </a:schemeClr>
                </a:solidFill>
              </a:rPr>
              <a:t>Tokenisation et </a:t>
            </a:r>
            <a:r>
              <a:rPr lang="fr-FR" sz="4400" b="1" dirty="0" err="1">
                <a:solidFill>
                  <a:schemeClr val="tx1">
                    <a:lumMod val="50000"/>
                    <a:lumOff val="50000"/>
                  </a:schemeClr>
                </a:solidFill>
              </a:rPr>
              <a:t>embeddings</a:t>
            </a:r>
            <a:endParaRPr kumimoji="0" lang="fr-FR" sz="4400" b="1" i="0" u="none" strike="noStrike" kern="1200" cap="none" spc="0" normalizeH="0" baseline="0" noProof="0" dirty="0">
              <a:ln>
                <a:noFill/>
              </a:ln>
              <a:solidFill>
                <a:schemeClr val="tx1">
                  <a:lumMod val="50000"/>
                  <a:lumOff val="50000"/>
                </a:schemeClr>
              </a:solidFill>
              <a:effectLst/>
              <a:uLnTx/>
              <a:uFillTx/>
            </a:endParaRPr>
          </a:p>
        </p:txBody>
      </p:sp>
      <p:sp>
        <p:nvSpPr>
          <p:cNvPr id="3" name="Rectangle 24">
            <a:extLst>
              <a:ext uri="{FF2B5EF4-FFF2-40B4-BE49-F238E27FC236}">
                <a16:creationId xmlns:a16="http://schemas.microsoft.com/office/drawing/2014/main" id="{03D2518F-5704-14A3-FA36-56585B0116B4}"/>
              </a:ext>
            </a:extLst>
          </p:cNvPr>
          <p:cNvSpPr/>
          <p:nvPr/>
        </p:nvSpPr>
        <p:spPr>
          <a:xfrm>
            <a:off x="462455" y="1355834"/>
            <a:ext cx="11161986" cy="3539430"/>
          </a:xfrm>
          <a:prstGeom prst="rect">
            <a:avLst/>
          </a:prstGeom>
          <a:noFill/>
          <a:ln w="9525">
            <a:noFill/>
          </a:ln>
        </p:spPr>
        <p:txBody>
          <a:bodyPr wrap="square">
            <a:spAutoFit/>
          </a:bodyPr>
          <a:lstStyle/>
          <a:p>
            <a:r>
              <a:rPr lang="fr-FR" sz="1600" dirty="0"/>
              <a:t>Avant d’être traité par </a:t>
            </a:r>
            <a:r>
              <a:rPr lang="fr-FR" sz="1600" dirty="0" err="1"/>
              <a:t>LLaMA</a:t>
            </a:r>
            <a:r>
              <a:rPr lang="fr-FR" sz="1600" dirty="0"/>
              <a:t>, le texte est découpé en petites unités appelées </a:t>
            </a:r>
            <a:r>
              <a:rPr lang="fr-FR" sz="1600" b="1" dirty="0" err="1"/>
              <a:t>tokens</a:t>
            </a:r>
            <a:r>
              <a:rPr lang="fr-FR" sz="1600" dirty="0"/>
              <a:t>.</a:t>
            </a:r>
          </a:p>
          <a:p>
            <a:pPr marL="742950" lvl="1" indent="-285750">
              <a:buFont typeface="Arial" panose="020B0604020202020204" pitchFamily="34" charset="0"/>
              <a:buChar char="•"/>
            </a:pPr>
            <a:r>
              <a:rPr lang="fr-FR" sz="1600" dirty="0"/>
              <a:t>Un </a:t>
            </a:r>
            <a:r>
              <a:rPr lang="fr-FR" sz="1600" dirty="0" err="1"/>
              <a:t>token</a:t>
            </a:r>
            <a:r>
              <a:rPr lang="fr-FR" sz="1600" dirty="0"/>
              <a:t> peut être :</a:t>
            </a:r>
          </a:p>
          <a:p>
            <a:pPr marL="742950" lvl="1" indent="-285750">
              <a:buFont typeface="Arial" panose="020B0604020202020204" pitchFamily="34" charset="0"/>
              <a:buChar char="•"/>
            </a:pPr>
            <a:r>
              <a:rPr lang="fr-FR" sz="1600" dirty="0"/>
              <a:t>un mot complet ; </a:t>
            </a:r>
          </a:p>
          <a:p>
            <a:pPr marL="742950" lvl="1" indent="-285750">
              <a:buFont typeface="Arial" panose="020B0604020202020204" pitchFamily="34" charset="0"/>
              <a:buChar char="•"/>
            </a:pPr>
            <a:r>
              <a:rPr lang="fr-FR" sz="1600" dirty="0"/>
              <a:t>une partie de mot ; </a:t>
            </a:r>
          </a:p>
          <a:p>
            <a:pPr marL="742950" lvl="1" indent="-285750">
              <a:buFont typeface="Arial" panose="020B0604020202020204" pitchFamily="34" charset="0"/>
              <a:buChar char="•"/>
            </a:pPr>
            <a:r>
              <a:rPr lang="fr-FR" sz="1600" dirty="0"/>
              <a:t>un symbole ; </a:t>
            </a:r>
          </a:p>
          <a:p>
            <a:pPr marL="742950" lvl="1" indent="-285750">
              <a:buFont typeface="Arial" panose="020B0604020202020204" pitchFamily="34" charset="0"/>
              <a:buChar char="•"/>
            </a:pPr>
            <a:r>
              <a:rPr lang="fr-FR" sz="1600" dirty="0"/>
              <a:t>un espace ; </a:t>
            </a:r>
          </a:p>
          <a:p>
            <a:pPr marL="742950" lvl="1" indent="-285750">
              <a:buFont typeface="Arial" panose="020B0604020202020204" pitchFamily="34" charset="0"/>
              <a:buChar char="•"/>
            </a:pPr>
            <a:r>
              <a:rPr lang="fr-FR" sz="1600" dirty="0"/>
              <a:t>un élément de ponctuation.</a:t>
            </a:r>
          </a:p>
          <a:p>
            <a:pPr lvl="1"/>
            <a:endParaRPr lang="fr-FR" sz="1600" dirty="0"/>
          </a:p>
          <a:p>
            <a:r>
              <a:rPr lang="fr-FR" sz="1600" dirty="0"/>
              <a:t>Ensuite, chaque </a:t>
            </a:r>
            <a:r>
              <a:rPr lang="fr-FR" sz="1600" dirty="0" err="1"/>
              <a:t>token</a:t>
            </a:r>
            <a:r>
              <a:rPr lang="fr-FR" sz="1600" dirty="0"/>
              <a:t> est remplacé par un identifiant numérique.</a:t>
            </a:r>
          </a:p>
          <a:p>
            <a:endParaRPr lang="fr-FR" sz="1600" dirty="0"/>
          </a:p>
          <a:p>
            <a:r>
              <a:rPr lang="fr-FR" sz="1600" dirty="0"/>
              <a:t>Après cette étape, chaque identifiant est transformé en vecteur numérique appelé </a:t>
            </a:r>
            <a:r>
              <a:rPr lang="fr-FR" sz="1600" b="1" dirty="0" err="1"/>
              <a:t>embedding</a:t>
            </a:r>
            <a:r>
              <a:rPr lang="fr-FR" sz="1600" dirty="0"/>
              <a:t>.</a:t>
            </a:r>
          </a:p>
          <a:p>
            <a:endParaRPr lang="fr-FR" sz="1600" dirty="0"/>
          </a:p>
          <a:p>
            <a:r>
              <a:rPr lang="fr-FR" sz="1600" dirty="0"/>
              <a:t>Les </a:t>
            </a:r>
            <a:r>
              <a:rPr lang="fr-FR" sz="1600" dirty="0" err="1"/>
              <a:t>embeddings</a:t>
            </a:r>
            <a:r>
              <a:rPr lang="fr-FR" sz="1600" dirty="0"/>
              <a:t> permettent au modèle de représenter les mots sous forme de nombres afin d’effectuer des calculs.</a:t>
            </a:r>
          </a:p>
          <a:p>
            <a:endParaRPr lang="fr-FR" sz="1600" dirty="0"/>
          </a:p>
        </p:txBody>
      </p:sp>
      <p:sp>
        <p:nvSpPr>
          <p:cNvPr id="4" name="Rectangle 2">
            <a:extLst>
              <a:ext uri="{FF2B5EF4-FFF2-40B4-BE49-F238E27FC236}">
                <a16:creationId xmlns:a16="http://schemas.microsoft.com/office/drawing/2014/main" id="{0977B544-9EAC-FA99-2410-12AB1F3A72B7}"/>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47DCA675-4F25-058A-AC77-564196109FF0}"/>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575BB3DE-8A7D-1C22-2B44-12FD3B5CE206}"/>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47BCC91D-DDA1-D5AE-84F6-BC177D7951EC}"/>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37F4B68F-3FB9-FC3B-0740-88E73EB1EBDA}"/>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9128E517-4F0F-1A90-D4BE-FF622A8B32D2}"/>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8D4CA452-F2F7-3994-C3BD-CC3E4C91951E}"/>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2E990A0F-6A22-5861-33A8-F5264F91BFEE}"/>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D15E397D-3293-C775-796B-AD2A4F7CE604}"/>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2A3CCB43-BA88-84BA-1E70-DC44CA4327EC}"/>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F0B98A6C-8776-34C7-72DF-02DAEBC902F7}"/>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12F2023F-5DE8-B7FB-EDCE-086D1DBFF653}"/>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A6C6C912-686A-9907-37BC-1FBFE1DE27A4}"/>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126C36D4-14D7-494A-814D-D37F590FBBA6}"/>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178153418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62F03C1-B1CB-F69F-7180-7660B7420A1F}"/>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BBCB838F-E9DB-87BA-F73E-FD95FD0246DF}"/>
              </a:ext>
            </a:extLst>
          </p:cNvPr>
          <p:cNvSpPr txBox="1"/>
          <p:nvPr/>
        </p:nvSpPr>
        <p:spPr>
          <a:xfrm>
            <a:off x="654798" y="346632"/>
            <a:ext cx="9840748" cy="769441"/>
          </a:xfrm>
          <a:prstGeom prst="rect">
            <a:avLst/>
          </a:prstGeom>
          <a:noFill/>
          <a:ln w="9525">
            <a:noFill/>
          </a:ln>
        </p:spPr>
        <p:txBody>
          <a:bodyPr wrap="square">
            <a:spAutoFit/>
          </a:bodyPr>
          <a:lstStyle/>
          <a:p>
            <a:pPr lvl="0"/>
            <a:r>
              <a:rPr lang="fr-FR" sz="4400" b="1" dirty="0" err="1">
                <a:solidFill>
                  <a:schemeClr val="tx1">
                    <a:lumMod val="50000"/>
                    <a:lumOff val="50000"/>
                  </a:schemeClr>
                </a:solidFill>
              </a:rPr>
              <a:t>RMSNorm</a:t>
            </a:r>
            <a:r>
              <a:rPr lang="fr-FR" sz="4400" b="1" dirty="0">
                <a:solidFill>
                  <a:schemeClr val="tx1">
                    <a:lumMod val="50000"/>
                    <a:lumOff val="50000"/>
                  </a:schemeClr>
                </a:solidFill>
              </a:rPr>
              <a:t> — Normalisation</a:t>
            </a:r>
            <a:endParaRPr kumimoji="0" lang="fr-FR" sz="4400" b="1" i="0" u="none" strike="noStrike" kern="1200" cap="none" spc="0" normalizeH="0" baseline="0" noProof="0" dirty="0">
              <a:ln>
                <a:noFill/>
              </a:ln>
              <a:solidFill>
                <a:schemeClr val="tx1">
                  <a:lumMod val="50000"/>
                  <a:lumOff val="50000"/>
                </a:schemeClr>
              </a:solidFill>
              <a:effectLst/>
              <a:uLnTx/>
              <a:uFillTx/>
            </a:endParaRPr>
          </a:p>
        </p:txBody>
      </p:sp>
      <p:sp>
        <p:nvSpPr>
          <p:cNvPr id="3" name="Rectangle 24">
            <a:extLst>
              <a:ext uri="{FF2B5EF4-FFF2-40B4-BE49-F238E27FC236}">
                <a16:creationId xmlns:a16="http://schemas.microsoft.com/office/drawing/2014/main" id="{721127B8-5E90-9B68-B635-41F3ED006C55}"/>
              </a:ext>
            </a:extLst>
          </p:cNvPr>
          <p:cNvSpPr/>
          <p:nvPr/>
        </p:nvSpPr>
        <p:spPr>
          <a:xfrm>
            <a:off x="462455" y="1355834"/>
            <a:ext cx="11161986" cy="3539430"/>
          </a:xfrm>
          <a:prstGeom prst="rect">
            <a:avLst/>
          </a:prstGeom>
          <a:noFill/>
          <a:ln w="9525">
            <a:noFill/>
          </a:ln>
        </p:spPr>
        <p:txBody>
          <a:bodyPr wrap="square">
            <a:spAutoFit/>
          </a:bodyPr>
          <a:lstStyle/>
          <a:p>
            <a:r>
              <a:rPr lang="fr-FR" sz="1600" dirty="0"/>
              <a:t>Dans un réseau profond, les valeurs numériques peuvent devenir trop grandes ou instables après plusieurs couches.</a:t>
            </a:r>
          </a:p>
          <a:p>
            <a:endParaRPr lang="fr-FR" sz="1600" dirty="0"/>
          </a:p>
          <a:p>
            <a:r>
              <a:rPr lang="fr-FR" sz="1600" dirty="0"/>
              <a:t>Pour éviter ce problème, </a:t>
            </a:r>
            <a:r>
              <a:rPr lang="fr-FR" sz="1600" dirty="0" err="1"/>
              <a:t>LLaMA</a:t>
            </a:r>
            <a:r>
              <a:rPr lang="fr-FR" sz="1600" dirty="0"/>
              <a:t> utilise une technique appelée </a:t>
            </a:r>
            <a:r>
              <a:rPr lang="fr-FR" sz="1600" b="1" dirty="0" err="1"/>
              <a:t>RMSNorm</a:t>
            </a:r>
            <a:r>
              <a:rPr lang="fr-FR" sz="1600" dirty="0"/>
              <a:t>.</a:t>
            </a:r>
          </a:p>
          <a:p>
            <a:endParaRPr lang="fr-FR" sz="1600" dirty="0"/>
          </a:p>
          <a:p>
            <a:r>
              <a:rPr lang="fr-FR" sz="1600" dirty="0" err="1"/>
              <a:t>RMSNorm</a:t>
            </a:r>
            <a:r>
              <a:rPr lang="fr-FR" sz="1600" dirty="0"/>
              <a:t> permet de normaliser les vecteurs avant les calculs importants.</a:t>
            </a:r>
          </a:p>
          <a:p>
            <a:endParaRPr lang="fr-FR" sz="1600" dirty="0"/>
          </a:p>
          <a:p>
            <a:r>
              <a:rPr lang="fr-FR" sz="1600" dirty="0"/>
              <a:t>    Elle est utilisée avant :</a:t>
            </a:r>
          </a:p>
          <a:p>
            <a:pPr marL="742950" lvl="1" indent="-285750">
              <a:buFont typeface="Arial" panose="020B0604020202020204" pitchFamily="34" charset="0"/>
              <a:buChar char="•"/>
            </a:pPr>
            <a:r>
              <a:rPr lang="fr-FR" sz="1600" dirty="0"/>
              <a:t>le mécanisme de Self-Attention ; </a:t>
            </a:r>
          </a:p>
          <a:p>
            <a:pPr marL="742950" lvl="1" indent="-285750">
              <a:buFont typeface="Arial" panose="020B0604020202020204" pitchFamily="34" charset="0"/>
              <a:buChar char="•"/>
            </a:pPr>
            <a:r>
              <a:rPr lang="fr-FR" sz="1600" dirty="0"/>
              <a:t>le réseau </a:t>
            </a:r>
            <a:r>
              <a:rPr lang="fr-FR" sz="1600" dirty="0" err="1"/>
              <a:t>Feed</a:t>
            </a:r>
            <a:r>
              <a:rPr lang="fr-FR" sz="1600" dirty="0"/>
              <a:t> </a:t>
            </a:r>
            <a:r>
              <a:rPr lang="fr-FR" sz="1600" dirty="0" err="1"/>
              <a:t>Forward</a:t>
            </a:r>
            <a:r>
              <a:rPr lang="fr-FR" sz="1600" dirty="0"/>
              <a:t> Network. </a:t>
            </a:r>
          </a:p>
          <a:p>
            <a:pPr marL="742950" lvl="1" indent="-285750">
              <a:buFont typeface="Arial" panose="020B0604020202020204" pitchFamily="34" charset="0"/>
              <a:buChar char="•"/>
            </a:pPr>
            <a:endParaRPr lang="fr-FR" sz="1600" dirty="0"/>
          </a:p>
          <a:p>
            <a:pPr lvl="1"/>
            <a:r>
              <a:rPr lang="fr-FR" sz="1600" b="1" dirty="0"/>
              <a:t>Formule simplifiée :</a:t>
            </a:r>
          </a:p>
          <a:p>
            <a:pPr lvl="1"/>
            <a:br>
              <a:rPr lang="fr-FR" sz="1600" dirty="0"/>
            </a:br>
            <a:r>
              <a:rPr lang="fr-FR" sz="1600" dirty="0"/>
              <a:t>	RMS(x) = racine de la moyenne des carrés de x</a:t>
            </a:r>
          </a:p>
          <a:p>
            <a:pPr lvl="1"/>
            <a:r>
              <a:rPr lang="fr-FR" sz="1600" dirty="0"/>
              <a:t>	Sortie = x / RMS(x)</a:t>
            </a:r>
          </a:p>
        </p:txBody>
      </p:sp>
      <p:sp>
        <p:nvSpPr>
          <p:cNvPr id="4" name="Rectangle 2">
            <a:extLst>
              <a:ext uri="{FF2B5EF4-FFF2-40B4-BE49-F238E27FC236}">
                <a16:creationId xmlns:a16="http://schemas.microsoft.com/office/drawing/2014/main" id="{63DCC5B8-B27C-24E0-1220-9A0A97209258}"/>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45663722-CEC8-8AD6-1E77-842523843F1E}"/>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6AF2AC7D-564A-DE67-1365-C91BE5329A3B}"/>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226BF4AD-694E-50E2-A613-52ACE55B494A}"/>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FC850978-2B12-205A-42BF-95E121AD1932}"/>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D0637874-73AD-7B33-BD11-67B892E8DE51}"/>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409EEC32-0695-A02A-4B4B-0644282D8170}"/>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28467375-BF45-E9ED-BB52-72E6B7B9BDAA}"/>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C101CEC5-5B27-6F3D-F1D0-89BBF65B8408}"/>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2C2C63E1-EFD7-6ACC-6D8A-1BD583C394FA}"/>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4D3D3399-019F-9676-8C8F-6178DB809435}"/>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7D54B391-987B-3C81-F337-8FE8B6968460}"/>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419BF5E0-2BC6-B473-4270-22362980CAEB}"/>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4102A388-2835-98B7-AB4C-CB8B4457026F}"/>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3392835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8AACC6-CD6A-C4F0-E192-BB3BB8E63E32}"/>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1E6EBC49-A437-5F7C-8908-ACFA01BE29BE}"/>
              </a:ext>
            </a:extLst>
          </p:cNvPr>
          <p:cNvSpPr txBox="1"/>
          <p:nvPr/>
        </p:nvSpPr>
        <p:spPr>
          <a:xfrm>
            <a:off x="654798" y="346632"/>
            <a:ext cx="9840748" cy="769441"/>
          </a:xfrm>
          <a:prstGeom prst="rect">
            <a:avLst/>
          </a:prstGeom>
          <a:noFill/>
          <a:ln w="9525">
            <a:noFill/>
          </a:ln>
        </p:spPr>
        <p:txBody>
          <a:bodyPr wrap="square">
            <a:spAutoFit/>
          </a:bodyPr>
          <a:lstStyle/>
          <a:p>
            <a:pPr lvl="0"/>
            <a:r>
              <a:rPr lang="fr-FR" sz="4400" b="1" dirty="0">
                <a:solidFill>
                  <a:schemeClr val="tx1">
                    <a:lumMod val="50000"/>
                    <a:lumOff val="50000"/>
                  </a:schemeClr>
                </a:solidFill>
              </a:rPr>
              <a:t>Self-Attention causale</a:t>
            </a:r>
            <a:endParaRPr kumimoji="0" lang="fr-FR" sz="4400" b="1" i="0" u="none" strike="noStrike" kern="1200" cap="none" spc="0" normalizeH="0" baseline="0" noProof="0" dirty="0">
              <a:ln>
                <a:noFill/>
              </a:ln>
              <a:solidFill>
                <a:schemeClr val="tx1">
                  <a:lumMod val="50000"/>
                  <a:lumOff val="50000"/>
                </a:schemeClr>
              </a:solidFill>
              <a:effectLst/>
              <a:uLnTx/>
              <a:uFillTx/>
            </a:endParaRPr>
          </a:p>
        </p:txBody>
      </p:sp>
      <p:sp>
        <p:nvSpPr>
          <p:cNvPr id="3" name="Rectangle 24">
            <a:extLst>
              <a:ext uri="{FF2B5EF4-FFF2-40B4-BE49-F238E27FC236}">
                <a16:creationId xmlns:a16="http://schemas.microsoft.com/office/drawing/2014/main" id="{332A1B2F-F98A-69DD-D352-F906440E7F56}"/>
              </a:ext>
            </a:extLst>
          </p:cNvPr>
          <p:cNvSpPr/>
          <p:nvPr/>
        </p:nvSpPr>
        <p:spPr>
          <a:xfrm>
            <a:off x="462455" y="1355834"/>
            <a:ext cx="11161986" cy="3046988"/>
          </a:xfrm>
          <a:prstGeom prst="rect">
            <a:avLst/>
          </a:prstGeom>
          <a:noFill/>
          <a:ln w="9525">
            <a:noFill/>
          </a:ln>
        </p:spPr>
        <p:txBody>
          <a:bodyPr wrap="square">
            <a:spAutoFit/>
          </a:bodyPr>
          <a:lstStyle/>
          <a:p>
            <a:r>
              <a:rPr lang="fr-FR" sz="1600" dirty="0"/>
              <a:t>La Self-Attention permet au modèle de déterminer quels </a:t>
            </a:r>
            <a:r>
              <a:rPr lang="fr-FR" sz="1600" dirty="0" err="1"/>
              <a:t>tokens</a:t>
            </a:r>
            <a:r>
              <a:rPr lang="fr-FR" sz="1600" dirty="0"/>
              <a:t> sont importants dans le contexte.</a:t>
            </a:r>
          </a:p>
          <a:p>
            <a:endParaRPr lang="fr-FR" sz="1600" dirty="0"/>
          </a:p>
          <a:p>
            <a:r>
              <a:rPr lang="fr-FR" sz="1600" dirty="0"/>
              <a:t>Chaque </a:t>
            </a:r>
            <a:r>
              <a:rPr lang="fr-FR" sz="1600" dirty="0" err="1"/>
              <a:t>token</a:t>
            </a:r>
            <a:r>
              <a:rPr lang="fr-FR" sz="1600" dirty="0"/>
              <a:t> produit trois vecteurs :</a:t>
            </a:r>
          </a:p>
          <a:p>
            <a:pPr marL="742950" lvl="1" indent="-285750">
              <a:buFont typeface="Arial" panose="020B0604020202020204" pitchFamily="34" charset="0"/>
              <a:buChar char="•"/>
            </a:pPr>
            <a:r>
              <a:rPr lang="fr-FR" sz="1600" b="1" dirty="0">
                <a:solidFill>
                  <a:srgbClr val="FF0000"/>
                </a:solidFill>
              </a:rPr>
              <a:t>Q</a:t>
            </a:r>
            <a:r>
              <a:rPr lang="fr-FR" sz="1600" dirty="0"/>
              <a:t>, </a:t>
            </a:r>
            <a:r>
              <a:rPr lang="fr-FR" sz="1600" dirty="0" err="1"/>
              <a:t>Query</a:t>
            </a:r>
            <a:r>
              <a:rPr lang="fr-FR" sz="1600" dirty="0"/>
              <a:t> : ce que le </a:t>
            </a:r>
            <a:r>
              <a:rPr lang="fr-FR" sz="1600" dirty="0" err="1"/>
              <a:t>token</a:t>
            </a:r>
            <a:r>
              <a:rPr lang="fr-FR" sz="1600" dirty="0"/>
              <a:t> cherche ; </a:t>
            </a:r>
          </a:p>
          <a:p>
            <a:pPr marL="742950" lvl="1" indent="-285750">
              <a:buFont typeface="Arial" panose="020B0604020202020204" pitchFamily="34" charset="0"/>
              <a:buChar char="•"/>
            </a:pPr>
            <a:r>
              <a:rPr lang="fr-FR" sz="1600" b="1" dirty="0">
                <a:solidFill>
                  <a:srgbClr val="FF0000"/>
                </a:solidFill>
              </a:rPr>
              <a:t>K</a:t>
            </a:r>
            <a:r>
              <a:rPr lang="fr-FR" sz="1600" dirty="0"/>
              <a:t>, Key : ce que chaque </a:t>
            </a:r>
            <a:r>
              <a:rPr lang="fr-FR" sz="1600" dirty="0" err="1"/>
              <a:t>token</a:t>
            </a:r>
            <a:r>
              <a:rPr lang="fr-FR" sz="1600" dirty="0"/>
              <a:t> propose comme information ; </a:t>
            </a:r>
          </a:p>
          <a:p>
            <a:pPr marL="742950" lvl="1" indent="-285750">
              <a:buFont typeface="Arial" panose="020B0604020202020204" pitchFamily="34" charset="0"/>
              <a:buChar char="•"/>
            </a:pPr>
            <a:r>
              <a:rPr lang="fr-FR" sz="1600" b="1" dirty="0">
                <a:solidFill>
                  <a:srgbClr val="FF0000"/>
                </a:solidFill>
              </a:rPr>
              <a:t>V</a:t>
            </a:r>
            <a:r>
              <a:rPr lang="fr-FR" sz="1600" dirty="0"/>
              <a:t>, Value : l’information réellement transmise. </a:t>
            </a:r>
          </a:p>
          <a:p>
            <a:pPr marL="742950" lvl="1" indent="-285750">
              <a:buFont typeface="Arial" panose="020B0604020202020204" pitchFamily="34" charset="0"/>
              <a:buChar char="•"/>
            </a:pPr>
            <a:endParaRPr lang="fr-FR" sz="1600" dirty="0"/>
          </a:p>
          <a:p>
            <a:r>
              <a:rPr lang="fr-FR" sz="1600" dirty="0"/>
              <a:t>Le modèle compare les vecteurs Q et K pour calculer l’importance des </a:t>
            </a:r>
            <a:r>
              <a:rPr lang="fr-FR" sz="1600" dirty="0" err="1"/>
              <a:t>tokens</a:t>
            </a:r>
            <a:r>
              <a:rPr lang="fr-FR" sz="1600" dirty="0"/>
              <a:t> précédents, puis utilise les vecteurs V pour produire une nouvelle représentation.</a:t>
            </a:r>
          </a:p>
          <a:p>
            <a:endParaRPr lang="fr-FR" sz="1600" dirty="0"/>
          </a:p>
          <a:p>
            <a:r>
              <a:rPr lang="fr-FR" sz="1600" dirty="0" err="1"/>
              <a:t>LLaMA</a:t>
            </a:r>
            <a:r>
              <a:rPr lang="fr-FR" sz="1600" dirty="0"/>
              <a:t> utilise une attention </a:t>
            </a:r>
            <a:r>
              <a:rPr lang="fr-FR" sz="1600" b="1" dirty="0"/>
              <a:t>causale</a:t>
            </a:r>
            <a:r>
              <a:rPr lang="fr-FR" sz="1600" dirty="0"/>
              <a:t>.</a:t>
            </a:r>
            <a:br>
              <a:rPr lang="fr-FR" sz="1600" dirty="0"/>
            </a:br>
            <a:r>
              <a:rPr lang="fr-FR" sz="1600" dirty="0"/>
              <a:t>Cela signifie qu’un </a:t>
            </a:r>
            <a:r>
              <a:rPr lang="fr-FR" sz="1600" dirty="0" err="1"/>
              <a:t>token</a:t>
            </a:r>
            <a:r>
              <a:rPr lang="fr-FR" sz="1600" dirty="0"/>
              <a:t> ne peut regarder que les </a:t>
            </a:r>
            <a:r>
              <a:rPr lang="fr-FR" sz="1600" dirty="0" err="1"/>
              <a:t>tokens</a:t>
            </a:r>
            <a:r>
              <a:rPr lang="fr-FR" sz="1600" dirty="0"/>
              <a:t> précédents, jamais les </a:t>
            </a:r>
            <a:r>
              <a:rPr lang="fr-FR" sz="1600" dirty="0" err="1"/>
              <a:t>tokens</a:t>
            </a:r>
            <a:r>
              <a:rPr lang="fr-FR" sz="1600" dirty="0"/>
              <a:t> futurs.</a:t>
            </a:r>
          </a:p>
        </p:txBody>
      </p:sp>
      <p:sp>
        <p:nvSpPr>
          <p:cNvPr id="4" name="Rectangle 2">
            <a:extLst>
              <a:ext uri="{FF2B5EF4-FFF2-40B4-BE49-F238E27FC236}">
                <a16:creationId xmlns:a16="http://schemas.microsoft.com/office/drawing/2014/main" id="{19D51C83-B621-73D3-0B9F-1F16E4EF15C5}"/>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471A33E7-2B70-0E13-BE4B-0E68BA14A64F}"/>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52E72984-1384-B9FD-B1ED-43C1A256516E}"/>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7E196FE9-05EA-8973-DE62-009365274188}"/>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63214053-9D64-40C0-B4C9-B30E4E795C8E}"/>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A44C6834-B61A-6D5F-8D15-496B1AAB6F8A}"/>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4F6A7DE1-55BB-5737-5903-CF6B0F002C7C}"/>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B6F597ED-BAEB-F524-4FD5-A3B0D1A67E3A}"/>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DF84680C-B34E-2553-44B5-54D9633C4ED9}"/>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23B5407F-A9A2-7E5B-43B8-76A0E32C9D30}"/>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06743E55-0CC8-7A8B-0EC5-22449C653D98}"/>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4AD73E0A-14C6-67DB-0E54-D3549295331D}"/>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A7E5CCB9-DDC0-8372-E93B-3B8FD4106057}"/>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C9138C4E-A81B-2307-F279-11C314272426}"/>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2334837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10C7524-61FD-B5E2-B6A5-6BCE8BF4E400}"/>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98AE55A5-09C1-1C90-9FCF-2D43547B11E8}"/>
              </a:ext>
            </a:extLst>
          </p:cNvPr>
          <p:cNvSpPr txBox="1"/>
          <p:nvPr/>
        </p:nvSpPr>
        <p:spPr>
          <a:xfrm>
            <a:off x="654798" y="346632"/>
            <a:ext cx="9840748" cy="769441"/>
          </a:xfrm>
          <a:prstGeom prst="rect">
            <a:avLst/>
          </a:prstGeom>
          <a:noFill/>
          <a:ln w="9525">
            <a:noFill/>
          </a:ln>
        </p:spPr>
        <p:txBody>
          <a:bodyPr wrap="square">
            <a:spAutoFit/>
          </a:bodyPr>
          <a:lstStyle/>
          <a:p>
            <a:r>
              <a:rPr lang="fr-FR" sz="4400" b="1" dirty="0" err="1">
                <a:solidFill>
                  <a:schemeClr val="tx1">
                    <a:lumMod val="50000"/>
                    <a:lumOff val="50000"/>
                  </a:schemeClr>
                </a:solidFill>
              </a:rPr>
              <a:t>RoPE</a:t>
            </a:r>
            <a:r>
              <a:rPr lang="fr-FR" sz="4400" b="1" dirty="0">
                <a:solidFill>
                  <a:schemeClr val="tx1">
                    <a:lumMod val="50000"/>
                    <a:lumOff val="50000"/>
                  </a:schemeClr>
                </a:solidFill>
              </a:rPr>
              <a:t> — Rotary Position </a:t>
            </a:r>
            <a:r>
              <a:rPr lang="fr-FR" sz="4400" b="1" dirty="0" err="1">
                <a:solidFill>
                  <a:schemeClr val="tx1">
                    <a:lumMod val="50000"/>
                    <a:lumOff val="50000"/>
                  </a:schemeClr>
                </a:solidFill>
              </a:rPr>
              <a:t>Embedding</a:t>
            </a:r>
            <a:endParaRPr lang="fr-FR" sz="4400" dirty="0">
              <a:solidFill>
                <a:schemeClr val="tx1">
                  <a:lumMod val="50000"/>
                  <a:lumOff val="50000"/>
                </a:schemeClr>
              </a:solidFill>
            </a:endParaRPr>
          </a:p>
        </p:txBody>
      </p:sp>
      <p:sp>
        <p:nvSpPr>
          <p:cNvPr id="3" name="Rectangle 24">
            <a:extLst>
              <a:ext uri="{FF2B5EF4-FFF2-40B4-BE49-F238E27FC236}">
                <a16:creationId xmlns:a16="http://schemas.microsoft.com/office/drawing/2014/main" id="{B1540E30-9A0A-110A-9405-8A1FEEA2FEBD}"/>
              </a:ext>
            </a:extLst>
          </p:cNvPr>
          <p:cNvSpPr/>
          <p:nvPr/>
        </p:nvSpPr>
        <p:spPr>
          <a:xfrm>
            <a:off x="462455" y="1355834"/>
            <a:ext cx="11161986" cy="2062103"/>
          </a:xfrm>
          <a:prstGeom prst="rect">
            <a:avLst/>
          </a:prstGeom>
          <a:noFill/>
          <a:ln w="9525">
            <a:noFill/>
          </a:ln>
        </p:spPr>
        <p:txBody>
          <a:bodyPr wrap="square">
            <a:spAutoFit/>
          </a:bodyPr>
          <a:lstStyle/>
          <a:p>
            <a:r>
              <a:rPr lang="fr-FR" sz="1600" dirty="0"/>
              <a:t>Un Transformer doit connaître l’ordre des mots dans une phrase.</a:t>
            </a:r>
            <a:br>
              <a:rPr lang="fr-FR" sz="1600" dirty="0"/>
            </a:br>
            <a:r>
              <a:rPr lang="fr-FR" sz="1600" dirty="0"/>
              <a:t>Sinon, il ne peut pas distinguer deux phrases contenant les mêmes mots dans un ordre différent.</a:t>
            </a:r>
          </a:p>
          <a:p>
            <a:endParaRPr lang="fr-FR" sz="1600" dirty="0"/>
          </a:p>
          <a:p>
            <a:r>
              <a:rPr lang="fr-FR" sz="1600" dirty="0" err="1"/>
              <a:t>LLaMA</a:t>
            </a:r>
            <a:r>
              <a:rPr lang="fr-FR" sz="1600" dirty="0"/>
              <a:t> utilise une méthode appelée </a:t>
            </a:r>
            <a:r>
              <a:rPr lang="fr-FR" sz="1600" b="1" dirty="0" err="1"/>
              <a:t>RoPE</a:t>
            </a:r>
            <a:r>
              <a:rPr lang="fr-FR" sz="1600" dirty="0"/>
              <a:t>, ou </a:t>
            </a:r>
            <a:r>
              <a:rPr lang="fr-FR" sz="1600" b="1" dirty="0"/>
              <a:t>Rotary Position </a:t>
            </a:r>
            <a:r>
              <a:rPr lang="fr-FR" sz="1600" b="1" dirty="0" err="1"/>
              <a:t>Embedding</a:t>
            </a:r>
            <a:r>
              <a:rPr lang="fr-FR" sz="1600" dirty="0"/>
              <a:t>.</a:t>
            </a:r>
          </a:p>
          <a:p>
            <a:endParaRPr lang="fr-FR" sz="1600" dirty="0"/>
          </a:p>
          <a:p>
            <a:r>
              <a:rPr lang="fr-FR" sz="1600" dirty="0" err="1"/>
              <a:t>RoPE</a:t>
            </a:r>
            <a:r>
              <a:rPr lang="fr-FR" sz="1600" dirty="0"/>
              <a:t> encode la position des </a:t>
            </a:r>
            <a:r>
              <a:rPr lang="fr-FR" sz="1600" dirty="0" err="1"/>
              <a:t>tokens</a:t>
            </a:r>
            <a:r>
              <a:rPr lang="fr-FR" sz="1600" dirty="0"/>
              <a:t> en appliquant une rotation aux vecteurs utilisés dans l’attention.</a:t>
            </a:r>
          </a:p>
          <a:p>
            <a:endParaRPr lang="fr-FR" sz="1600" dirty="0"/>
          </a:p>
          <a:p>
            <a:r>
              <a:rPr lang="fr-FR" sz="1600" dirty="0"/>
              <a:t>Ainsi, le modèle comprend non seulement le sens des </a:t>
            </a:r>
            <a:r>
              <a:rPr lang="fr-FR" sz="1600" dirty="0" err="1"/>
              <a:t>tokens</a:t>
            </a:r>
            <a:r>
              <a:rPr lang="fr-FR" sz="1600" dirty="0"/>
              <a:t>, mais aussi leur position dans la séquence.</a:t>
            </a:r>
          </a:p>
        </p:txBody>
      </p:sp>
      <p:sp>
        <p:nvSpPr>
          <p:cNvPr id="4" name="Rectangle 2">
            <a:extLst>
              <a:ext uri="{FF2B5EF4-FFF2-40B4-BE49-F238E27FC236}">
                <a16:creationId xmlns:a16="http://schemas.microsoft.com/office/drawing/2014/main" id="{CF290710-309D-CC23-7DC2-41E767C16530}"/>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57CDA0B2-3191-8FEA-35A3-216AB33EC999}"/>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8D7EE3CB-C39B-FEEB-5697-2D1C6AB57888}"/>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CB6C3BC7-91FD-5122-427A-BC5F43F10D31}"/>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8865AC83-B52F-85A4-E703-B6A7FF55C968}"/>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3BFC80D0-5790-2884-869E-2C548A991C2D}"/>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6E6DA2F2-4FD6-514B-643A-A4BB66E83FFB}"/>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274EDE19-7F68-F1AD-63E9-89575F0859A8}"/>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969EFFD4-7B0A-A937-C07A-F5BBEFD308A3}"/>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D88C24CF-C913-2E8F-48DF-64009CB57E13}"/>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74A396DC-B075-746C-B4B9-0CA214C9818D}"/>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B03C076B-6C46-524A-9AE4-151DC844D8A8}"/>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9BD2E42D-795D-793D-D6BC-BEC0737964B0}"/>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ABE981BE-F80F-D822-F2B0-3111374BBD18}"/>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2868154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7A7CB27-018F-0F6D-2D74-512C3A09F415}"/>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57B97EDC-A055-3015-70E0-2CDEE94C6012}"/>
              </a:ext>
            </a:extLst>
          </p:cNvPr>
          <p:cNvSpPr txBox="1"/>
          <p:nvPr/>
        </p:nvSpPr>
        <p:spPr>
          <a:xfrm>
            <a:off x="654798" y="346632"/>
            <a:ext cx="9840748" cy="769441"/>
          </a:xfrm>
          <a:prstGeom prst="rect">
            <a:avLst/>
          </a:prstGeom>
          <a:noFill/>
          <a:ln w="9525">
            <a:noFill/>
          </a:ln>
        </p:spPr>
        <p:txBody>
          <a:bodyPr wrap="square">
            <a:spAutoFit/>
          </a:bodyPr>
          <a:lstStyle/>
          <a:p>
            <a:r>
              <a:rPr lang="en-US" sz="4400" b="1" dirty="0">
                <a:solidFill>
                  <a:schemeClr val="tx1">
                    <a:lumMod val="50000"/>
                    <a:lumOff val="50000"/>
                  </a:schemeClr>
                </a:solidFill>
              </a:rPr>
              <a:t>Feed Forward Network avec </a:t>
            </a:r>
            <a:r>
              <a:rPr lang="en-US" sz="4400" b="1" dirty="0" err="1">
                <a:solidFill>
                  <a:schemeClr val="tx1">
                    <a:lumMod val="50000"/>
                    <a:lumOff val="50000"/>
                  </a:schemeClr>
                </a:solidFill>
              </a:rPr>
              <a:t>SwiGLU</a:t>
            </a:r>
            <a:endParaRPr lang="en-US" sz="4400" dirty="0">
              <a:solidFill>
                <a:schemeClr val="tx1">
                  <a:lumMod val="50000"/>
                  <a:lumOff val="50000"/>
                </a:schemeClr>
              </a:solidFill>
            </a:endParaRPr>
          </a:p>
        </p:txBody>
      </p:sp>
      <p:sp>
        <p:nvSpPr>
          <p:cNvPr id="3" name="Rectangle 24">
            <a:extLst>
              <a:ext uri="{FF2B5EF4-FFF2-40B4-BE49-F238E27FC236}">
                <a16:creationId xmlns:a16="http://schemas.microsoft.com/office/drawing/2014/main" id="{C182BF93-6EE3-1CCB-94FF-2DEBA43B90B5}"/>
              </a:ext>
            </a:extLst>
          </p:cNvPr>
          <p:cNvSpPr/>
          <p:nvPr/>
        </p:nvSpPr>
        <p:spPr>
          <a:xfrm>
            <a:off x="462455" y="1355834"/>
            <a:ext cx="11161986" cy="3785652"/>
          </a:xfrm>
          <a:prstGeom prst="rect">
            <a:avLst/>
          </a:prstGeom>
          <a:noFill/>
          <a:ln w="9525">
            <a:noFill/>
          </a:ln>
        </p:spPr>
        <p:txBody>
          <a:bodyPr wrap="square">
            <a:spAutoFit/>
          </a:bodyPr>
          <a:lstStyle/>
          <a:p>
            <a:r>
              <a:rPr lang="fr-FR" sz="1600" dirty="0"/>
              <a:t>Après l’étape d’attention, chaque </a:t>
            </a:r>
            <a:r>
              <a:rPr lang="fr-FR" sz="1600" dirty="0" err="1"/>
              <a:t>token</a:t>
            </a:r>
            <a:r>
              <a:rPr lang="fr-FR" sz="1600" dirty="0"/>
              <a:t> passe dans un réseau appelé </a:t>
            </a:r>
            <a:r>
              <a:rPr lang="fr-FR" sz="1600" b="1" dirty="0" err="1"/>
              <a:t>Feed</a:t>
            </a:r>
            <a:r>
              <a:rPr lang="fr-FR" sz="1600" b="1" dirty="0"/>
              <a:t> </a:t>
            </a:r>
            <a:r>
              <a:rPr lang="fr-FR" sz="1600" b="1" dirty="0" err="1"/>
              <a:t>Forward</a:t>
            </a:r>
            <a:r>
              <a:rPr lang="fr-FR" sz="1600" b="1" dirty="0"/>
              <a:t> Network</a:t>
            </a:r>
            <a:r>
              <a:rPr lang="fr-FR" sz="1600" dirty="0"/>
              <a:t>, ou </a:t>
            </a:r>
            <a:r>
              <a:rPr lang="fr-FR" sz="1600" b="1" dirty="0"/>
              <a:t>FFN</a:t>
            </a:r>
            <a:r>
              <a:rPr lang="fr-FR" sz="1600" dirty="0"/>
              <a:t>.</a:t>
            </a:r>
          </a:p>
          <a:p>
            <a:endParaRPr lang="fr-FR" sz="1600" dirty="0"/>
          </a:p>
          <a:p>
            <a:r>
              <a:rPr lang="fr-FR" sz="1600" dirty="0"/>
              <a:t>Le rôle du FFN est de transformer et enrichir l’information de chaque </a:t>
            </a:r>
            <a:r>
              <a:rPr lang="fr-FR" sz="1600" dirty="0" err="1"/>
              <a:t>token</a:t>
            </a:r>
            <a:r>
              <a:rPr lang="fr-FR" sz="1600" dirty="0"/>
              <a:t> séparément.</a:t>
            </a:r>
          </a:p>
          <a:p>
            <a:endParaRPr lang="fr-FR" sz="1600" dirty="0"/>
          </a:p>
          <a:p>
            <a:r>
              <a:rPr lang="fr-FR" sz="1600" dirty="0" err="1"/>
              <a:t>LLaMA</a:t>
            </a:r>
            <a:r>
              <a:rPr lang="fr-FR" sz="1600" dirty="0"/>
              <a:t> utilise une activation appelée </a:t>
            </a:r>
            <a:r>
              <a:rPr lang="fr-FR" sz="1600" b="1" dirty="0" err="1"/>
              <a:t>SwiGLU</a:t>
            </a:r>
            <a:r>
              <a:rPr lang="fr-FR" sz="1600" dirty="0"/>
              <a:t>.</a:t>
            </a:r>
          </a:p>
          <a:p>
            <a:endParaRPr lang="fr-FR" sz="1600" dirty="0"/>
          </a:p>
          <a:p>
            <a:r>
              <a:rPr lang="fr-FR" sz="1600" dirty="0" err="1"/>
              <a:t>SwiGLU</a:t>
            </a:r>
            <a:r>
              <a:rPr lang="fr-FR" sz="1600" dirty="0"/>
              <a:t> permet au modèle de mieux apprendre des relations complexes dans les données.</a:t>
            </a:r>
          </a:p>
          <a:p>
            <a:endParaRPr lang="fr-FR" sz="1600" dirty="0"/>
          </a:p>
          <a:p>
            <a:r>
              <a:rPr lang="fr-FR" sz="1600" b="1" dirty="0"/>
              <a:t>Fonctionnement simplifié :</a:t>
            </a:r>
            <a:br>
              <a:rPr lang="fr-FR" sz="1600" dirty="0"/>
            </a:br>
            <a:r>
              <a:rPr lang="fr-FR" sz="1600" dirty="0"/>
              <a:t>	Entrée → Expansion → Activation </a:t>
            </a:r>
            <a:r>
              <a:rPr lang="fr-FR" sz="1600" dirty="0" err="1"/>
              <a:t>SwiGLU</a:t>
            </a:r>
            <a:r>
              <a:rPr lang="fr-FR" sz="1600" dirty="0"/>
              <a:t> → Projection → Sortie</a:t>
            </a:r>
          </a:p>
          <a:p>
            <a:endParaRPr lang="fr-FR" sz="1600" dirty="0"/>
          </a:p>
          <a:p>
            <a:r>
              <a:rPr lang="fr-FR" sz="1600" b="1" dirty="0"/>
              <a:t>Rôle du FFN :</a:t>
            </a:r>
            <a:endParaRPr lang="fr-FR" sz="1600" dirty="0"/>
          </a:p>
          <a:p>
            <a:pPr marL="742950" lvl="1" indent="-285750">
              <a:buFont typeface="Arial" panose="020B0604020202020204" pitchFamily="34" charset="0"/>
              <a:buChar char="•"/>
            </a:pPr>
            <a:r>
              <a:rPr lang="fr-FR" sz="1600" dirty="0"/>
              <a:t>ajouter de la non-linéarité ; </a:t>
            </a:r>
          </a:p>
          <a:p>
            <a:pPr marL="742950" lvl="1" indent="-285750">
              <a:buFont typeface="Arial" panose="020B0604020202020204" pitchFamily="34" charset="0"/>
              <a:buChar char="•"/>
            </a:pPr>
            <a:r>
              <a:rPr lang="fr-FR" sz="1600" dirty="0"/>
              <a:t>améliorer la représentation des </a:t>
            </a:r>
            <a:r>
              <a:rPr lang="fr-FR" sz="1600" dirty="0" err="1"/>
              <a:t>tokens</a:t>
            </a:r>
            <a:r>
              <a:rPr lang="fr-FR" sz="1600" dirty="0"/>
              <a:t> ; </a:t>
            </a:r>
          </a:p>
          <a:p>
            <a:pPr marL="742950" lvl="1" indent="-285750">
              <a:buFont typeface="Arial" panose="020B0604020202020204" pitchFamily="34" charset="0"/>
              <a:buChar char="•"/>
            </a:pPr>
            <a:r>
              <a:rPr lang="fr-FR" sz="1600" dirty="0"/>
              <a:t>renforcer la capacité du modèle à apprendre des motifs complexes.</a:t>
            </a:r>
          </a:p>
        </p:txBody>
      </p:sp>
      <p:sp>
        <p:nvSpPr>
          <p:cNvPr id="4" name="Rectangle 2">
            <a:extLst>
              <a:ext uri="{FF2B5EF4-FFF2-40B4-BE49-F238E27FC236}">
                <a16:creationId xmlns:a16="http://schemas.microsoft.com/office/drawing/2014/main" id="{388151C6-E8AE-BBDD-5F9C-19EFB8D6AB63}"/>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7B3E84D2-7B17-BB2D-986D-BE2A90178578}"/>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DCC01186-2834-BCD7-1C5C-0D1F8DF109B8}"/>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BA8BBCAD-7ED3-6A89-89D1-569FA611E8B1}"/>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BEEEF77F-9B59-C26F-6394-1E75B4A6D33B}"/>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2288AE54-709B-EB88-C614-E2EC17139A4E}"/>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7F761835-DF28-6E49-0915-054758B0F689}"/>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48369563-2B81-9807-ABC6-D7BDF8C5B80F}"/>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9292959A-A88E-63F1-8E5A-48D8EE1AE4E2}"/>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3DDC51E2-7B53-D7DC-A977-D5BFE37A6CC1}"/>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F25CAD46-76FA-22FB-523C-2BA1D58AE84A}"/>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8781E065-C199-AA72-E7D5-AEC7DFD194AB}"/>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62E6D946-9E06-A4A9-416D-0A4444E18C82}"/>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CEBB3D9C-0B01-266C-4933-E5EAC888370C}"/>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113568039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387C59D-6C79-AD1A-447A-7ED05A0A0383}"/>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BDA0DFEA-D30A-275C-91BB-81D7AC7A6D05}"/>
              </a:ext>
            </a:extLst>
          </p:cNvPr>
          <p:cNvSpPr txBox="1"/>
          <p:nvPr/>
        </p:nvSpPr>
        <p:spPr>
          <a:xfrm>
            <a:off x="654798" y="346632"/>
            <a:ext cx="9840748" cy="769441"/>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4400" b="1" i="0" u="none" strike="noStrike" kern="1200" cap="none" spc="0" normalizeH="0" baseline="0" noProof="0" dirty="0" err="1">
                <a:ln>
                  <a:noFill/>
                </a:ln>
                <a:solidFill>
                  <a:prstClr val="black">
                    <a:lumMod val="50000"/>
                    <a:lumOff val="50000"/>
                  </a:prstClr>
                </a:solidFill>
                <a:effectLst/>
                <a:uLnTx/>
                <a:uFillTx/>
                <a:latin typeface="Calibri" panose="020F0502020204030204" pitchFamily="34" charset="0"/>
                <a:ea typeface="+mn-ea"/>
                <a:cs typeface="+mn-cs"/>
              </a:rPr>
              <a:t>RoPE</a:t>
            </a:r>
            <a:r>
              <a:rPr kumimoji="0" lang="fr-FR" sz="4400" b="1"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mn-cs"/>
              </a:rPr>
              <a:t> — Rotary Position </a:t>
            </a:r>
            <a:r>
              <a:rPr kumimoji="0" lang="fr-FR" sz="4400" b="1" i="0" u="none" strike="noStrike" kern="1200" cap="none" spc="0" normalizeH="0" baseline="0" noProof="0" dirty="0" err="1">
                <a:ln>
                  <a:noFill/>
                </a:ln>
                <a:solidFill>
                  <a:prstClr val="black">
                    <a:lumMod val="50000"/>
                    <a:lumOff val="50000"/>
                  </a:prstClr>
                </a:solidFill>
                <a:effectLst/>
                <a:uLnTx/>
                <a:uFillTx/>
                <a:latin typeface="Calibri" panose="020F0502020204030204" pitchFamily="34" charset="0"/>
                <a:ea typeface="+mn-ea"/>
                <a:cs typeface="+mn-cs"/>
              </a:rPr>
              <a:t>Embedding</a:t>
            </a:r>
            <a:endParaRPr kumimoji="0" lang="fr-FR" sz="4400" b="0"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mn-cs"/>
            </a:endParaRPr>
          </a:p>
        </p:txBody>
      </p:sp>
      <p:sp>
        <p:nvSpPr>
          <p:cNvPr id="3" name="Rectangle 24">
            <a:extLst>
              <a:ext uri="{FF2B5EF4-FFF2-40B4-BE49-F238E27FC236}">
                <a16:creationId xmlns:a16="http://schemas.microsoft.com/office/drawing/2014/main" id="{CDAF64B6-83D7-7AD9-416D-7F8D61D394A3}"/>
              </a:ext>
            </a:extLst>
          </p:cNvPr>
          <p:cNvSpPr/>
          <p:nvPr/>
        </p:nvSpPr>
        <p:spPr>
          <a:xfrm>
            <a:off x="462455" y="1355834"/>
            <a:ext cx="11161986" cy="2062103"/>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Un Transformer doit connaître l’ordre des mots dans une phrase.</a:t>
            </a:r>
            <a:b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b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Sinon, il ne peut pas distinguer deux phrases contenant les mêmes mots dans un ordre différent.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LLaMA</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utilise une méthode appelée </a:t>
            </a:r>
            <a:r>
              <a:rPr kumimoji="0" lang="fr-FR"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RoPE</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ou </a:t>
            </a:r>
            <a:r>
              <a:rPr kumimoji="0" lang="fr-FR"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Rotary Position </a:t>
            </a:r>
            <a:r>
              <a:rPr kumimoji="0" lang="fr-FR"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Embedding</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RoPE</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encode la position des </a:t>
            </a: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tokens</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en appliquant une rotation aux vecteurs utilisés dans l’attention.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Ainsi, le modèle comprend non seulement le sens des </a:t>
            </a: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tokens</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mais aussi leur position dans la séquence.</a:t>
            </a:r>
          </a:p>
        </p:txBody>
      </p:sp>
      <p:sp>
        <p:nvSpPr>
          <p:cNvPr id="4" name="Rectangle 2">
            <a:extLst>
              <a:ext uri="{FF2B5EF4-FFF2-40B4-BE49-F238E27FC236}">
                <a16:creationId xmlns:a16="http://schemas.microsoft.com/office/drawing/2014/main" id="{4D1248FF-EF19-1837-7FEC-51CE1C22AC26}"/>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29A64517-3660-6AD8-1065-27A5B52976CE}"/>
              </a:ext>
            </a:extLst>
          </p:cNvPr>
          <p:cNvSpPr/>
          <p:nvPr/>
        </p:nvSpPr>
        <p:spPr>
          <a:xfrm rot="-5399996">
            <a:off x="4038603" y="4471986"/>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A71F28E1-FB99-CA84-5541-1CB7DA451A67}"/>
              </a:ext>
            </a:extLst>
          </p:cNvPr>
          <p:cNvSpPr/>
          <p:nvPr/>
        </p:nvSpPr>
        <p:spPr>
          <a:xfrm rot="-5399996">
            <a:off x="6580977" y="494905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E04E0BD8-E6D4-46E7-AE1A-FF8C3D3DE5ED}"/>
              </a:ext>
            </a:extLst>
          </p:cNvPr>
          <p:cNvSpPr/>
          <p:nvPr/>
        </p:nvSpPr>
        <p:spPr>
          <a:xfrm rot="-5399996">
            <a:off x="8043697" y="3563980"/>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517ABEC2-BAC2-BD83-3AA9-FCB325C65E20}"/>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32A1E9F2-8FD3-EE5A-6449-DC3481975BA8}"/>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446FFCA2-9811-F869-017B-0A535431A456}"/>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28E2FBB0-CBA3-88AD-FB60-F08B28BAEB1E}"/>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CEA47333-E015-685B-A758-A031C20AF48E}"/>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5D9F1637-3232-168C-FF0B-E29901479E1A}"/>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3E3F5590-A4E3-03B6-723F-2646D5494094}"/>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036ED2FD-96DD-E653-BAA9-8C63D4F8A404}"/>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CED8B4AD-DAE0-7F4D-3372-5C778384179D}"/>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DCEF8311-35BF-8B7D-8D69-00F088EB0DE9}"/>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pic>
        <p:nvPicPr>
          <p:cNvPr id="12" name="Image 11">
            <a:extLst>
              <a:ext uri="{FF2B5EF4-FFF2-40B4-BE49-F238E27FC236}">
                <a16:creationId xmlns:a16="http://schemas.microsoft.com/office/drawing/2014/main" id="{12B177EB-317A-0F0F-66C8-03B976C25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7370413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C60FE4-4FE3-3B18-2CD6-72FD5EB7EBE3}"/>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F30B76BB-E37A-A38D-AE90-79AF31DEA279}"/>
              </a:ext>
            </a:extLst>
          </p:cNvPr>
          <p:cNvSpPr txBox="1"/>
          <p:nvPr/>
        </p:nvSpPr>
        <p:spPr>
          <a:xfrm>
            <a:off x="654798" y="346632"/>
            <a:ext cx="9840748" cy="769441"/>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4400" b="1" i="0" u="none" strike="noStrike" kern="1200" cap="none" spc="0" normalizeH="0" baseline="0" noProof="0" dirty="0" err="1">
                <a:ln>
                  <a:noFill/>
                </a:ln>
                <a:solidFill>
                  <a:prstClr val="black">
                    <a:lumMod val="50000"/>
                    <a:lumOff val="50000"/>
                  </a:prstClr>
                </a:solidFill>
                <a:effectLst/>
                <a:uLnTx/>
                <a:uFillTx/>
                <a:latin typeface="Calibri" panose="020F0502020204030204" pitchFamily="34" charset="0"/>
                <a:ea typeface="+mn-ea"/>
                <a:cs typeface="+mn-cs"/>
              </a:rPr>
              <a:t>RoPE</a:t>
            </a:r>
            <a:r>
              <a:rPr kumimoji="0" lang="fr-FR" sz="4400" b="1"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mn-cs"/>
              </a:rPr>
              <a:t> — Rotary Position </a:t>
            </a:r>
            <a:r>
              <a:rPr kumimoji="0" lang="fr-FR" sz="4400" b="1" i="0" u="none" strike="noStrike" kern="1200" cap="none" spc="0" normalizeH="0" baseline="0" noProof="0" dirty="0" err="1">
                <a:ln>
                  <a:noFill/>
                </a:ln>
                <a:solidFill>
                  <a:prstClr val="black">
                    <a:lumMod val="50000"/>
                    <a:lumOff val="50000"/>
                  </a:prstClr>
                </a:solidFill>
                <a:effectLst/>
                <a:uLnTx/>
                <a:uFillTx/>
                <a:latin typeface="Calibri" panose="020F0502020204030204" pitchFamily="34" charset="0"/>
                <a:ea typeface="+mn-ea"/>
                <a:cs typeface="+mn-cs"/>
              </a:rPr>
              <a:t>Embedding</a:t>
            </a:r>
            <a:endParaRPr kumimoji="0" lang="fr-FR" sz="4400" b="0" i="0" u="none" strike="noStrike" kern="1200" cap="none" spc="0" normalizeH="0" baseline="0" noProof="0" dirty="0">
              <a:ln>
                <a:noFill/>
              </a:ln>
              <a:solidFill>
                <a:prstClr val="black">
                  <a:lumMod val="50000"/>
                  <a:lumOff val="50000"/>
                </a:prstClr>
              </a:solidFill>
              <a:effectLst/>
              <a:uLnTx/>
              <a:uFillTx/>
              <a:latin typeface="Calibri" panose="020F0502020204030204" pitchFamily="34" charset="0"/>
              <a:ea typeface="+mn-ea"/>
              <a:cs typeface="+mn-cs"/>
            </a:endParaRPr>
          </a:p>
        </p:txBody>
      </p:sp>
      <p:sp>
        <p:nvSpPr>
          <p:cNvPr id="3" name="Rectangle 24">
            <a:extLst>
              <a:ext uri="{FF2B5EF4-FFF2-40B4-BE49-F238E27FC236}">
                <a16:creationId xmlns:a16="http://schemas.microsoft.com/office/drawing/2014/main" id="{59B7142D-AC9B-E7C3-3D24-E3ECE71336C1}"/>
              </a:ext>
            </a:extLst>
          </p:cNvPr>
          <p:cNvSpPr/>
          <p:nvPr/>
        </p:nvSpPr>
        <p:spPr>
          <a:xfrm>
            <a:off x="462455" y="1355834"/>
            <a:ext cx="11161986" cy="2062103"/>
          </a:xfrm>
          <a:prstGeom prst="rect">
            <a:avLst/>
          </a:prstGeom>
          <a:noFill/>
          <a:ln w="9525">
            <a:no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Un Transformer doit connaître l’ordre des mots dans une phrase.</a:t>
            </a:r>
            <a:b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b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Sinon, il ne peut pas distinguer deux phrases contenant les mêmes mots dans un ordre différent.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LLaMA</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utilise une méthode appelée </a:t>
            </a:r>
            <a:r>
              <a:rPr kumimoji="0" lang="fr-FR"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RoPE</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ou </a:t>
            </a:r>
            <a:r>
              <a:rPr kumimoji="0" lang="fr-FR" sz="1600" b="1"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Rotary Position </a:t>
            </a:r>
            <a:r>
              <a:rPr kumimoji="0" lang="fr-FR" sz="1600" b="1"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Embedding</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RoPE</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encode la position des </a:t>
            </a: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tokens</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en appliquant une rotation aux vecteurs utilisés dans l’attention.</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Ainsi, le modèle comprend non seulement le sens des </a:t>
            </a:r>
            <a:r>
              <a:rPr kumimoji="0" lang="fr-FR" sz="16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mn-cs"/>
              </a:rPr>
              <a:t>tokens</a:t>
            </a:r>
            <a:r>
              <a:rPr kumimoji="0" lang="fr-FR"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 mais aussi leur position dans la séquence.</a:t>
            </a:r>
          </a:p>
        </p:txBody>
      </p:sp>
      <p:sp>
        <p:nvSpPr>
          <p:cNvPr id="4" name="Rectangle 2">
            <a:extLst>
              <a:ext uri="{FF2B5EF4-FFF2-40B4-BE49-F238E27FC236}">
                <a16:creationId xmlns:a16="http://schemas.microsoft.com/office/drawing/2014/main" id="{899A10B6-747C-2AA6-DBB0-171C78ACDB2D}"/>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3CBFE5F3-BA3F-1BC3-3A84-481A34191CD7}"/>
              </a:ext>
            </a:extLst>
          </p:cNvPr>
          <p:cNvSpPr/>
          <p:nvPr/>
        </p:nvSpPr>
        <p:spPr>
          <a:xfrm rot="-5399996">
            <a:off x="3816577" y="3124986"/>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B24A5992-82AF-3A78-1F0B-9A67C73B59A4}"/>
              </a:ext>
            </a:extLst>
          </p:cNvPr>
          <p:cNvSpPr/>
          <p:nvPr/>
        </p:nvSpPr>
        <p:spPr>
          <a:xfrm rot="-5399996">
            <a:off x="6553036" y="4472778"/>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C074EFCA-5586-040B-C8AE-391DAFD4651B}"/>
              </a:ext>
            </a:extLst>
          </p:cNvPr>
          <p:cNvSpPr/>
          <p:nvPr/>
        </p:nvSpPr>
        <p:spPr>
          <a:xfrm rot="-5399996">
            <a:off x="8205733" y="4015605"/>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36B5DD69-A232-ED95-B253-EA2F35FFC122}"/>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18039B0A-ABA5-7843-C35E-D1B41863CA7F}"/>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9A8F7296-9B01-C43F-8E03-999FACCEFF8F}"/>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EE50C0CF-501E-8853-D26F-6430D4F05338}"/>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921CCDF5-0988-9B52-38C8-4D794C13AB06}"/>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78770155-54B0-57D8-F5FB-51098D608E1B}"/>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AEF69E8E-8E61-37FD-CE73-8E89D84709EA}"/>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B7763439-E7E8-EB1B-A903-83C034B4EAC7}"/>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EA955413-5100-320A-8C04-3E2A16E3D64D}"/>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E6683ADA-6B45-C4FB-F073-DC0743BD358E}"/>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pic>
        <p:nvPicPr>
          <p:cNvPr id="12" name="Image 11">
            <a:extLst>
              <a:ext uri="{FF2B5EF4-FFF2-40B4-BE49-F238E27FC236}">
                <a16:creationId xmlns:a16="http://schemas.microsoft.com/office/drawing/2014/main" id="{F8BC134F-A40F-9EF6-409B-E33A7FEE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135758835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43D373-AA91-3C5C-C6BC-0C89B5F35CB3}"/>
            </a:ext>
          </a:extLst>
        </p:cNvPr>
        <p:cNvGrpSpPr/>
        <p:nvPr/>
      </p:nvGrpSpPr>
      <p:grpSpPr>
        <a:xfrm>
          <a:off x="0" y="0"/>
          <a:ext cx="0" cy="0"/>
          <a:chOff x="0" y="0"/>
          <a:chExt cx="0" cy="0"/>
        </a:xfrm>
      </p:grpSpPr>
      <p:sp>
        <p:nvSpPr>
          <p:cNvPr id="2" name="TextBox 23">
            <a:extLst>
              <a:ext uri="{FF2B5EF4-FFF2-40B4-BE49-F238E27FC236}">
                <a16:creationId xmlns:a16="http://schemas.microsoft.com/office/drawing/2014/main" id="{564DE880-237E-082E-3928-D3780C569FF5}"/>
              </a:ext>
            </a:extLst>
          </p:cNvPr>
          <p:cNvSpPr txBox="1"/>
          <p:nvPr/>
        </p:nvSpPr>
        <p:spPr>
          <a:xfrm>
            <a:off x="654798" y="346632"/>
            <a:ext cx="9840748" cy="769441"/>
          </a:xfrm>
          <a:prstGeom prst="rect">
            <a:avLst/>
          </a:prstGeom>
          <a:noFill/>
          <a:ln w="9525">
            <a:noFill/>
          </a:ln>
        </p:spPr>
        <p:txBody>
          <a:bodyPr wrap="square">
            <a:spAutoFit/>
          </a:bodyPr>
          <a:lstStyle/>
          <a:p>
            <a:r>
              <a:rPr lang="fr-FR" sz="4400" b="1" dirty="0">
                <a:solidFill>
                  <a:schemeClr val="tx1">
                    <a:lumMod val="50000"/>
                    <a:lumOff val="50000"/>
                  </a:schemeClr>
                </a:solidFill>
              </a:rPr>
              <a:t>Conclusion générale</a:t>
            </a:r>
          </a:p>
        </p:txBody>
      </p:sp>
      <p:sp>
        <p:nvSpPr>
          <p:cNvPr id="3" name="Rectangle 24">
            <a:extLst>
              <a:ext uri="{FF2B5EF4-FFF2-40B4-BE49-F238E27FC236}">
                <a16:creationId xmlns:a16="http://schemas.microsoft.com/office/drawing/2014/main" id="{4A12FCE8-93D5-A772-DEC8-8640D303CE14}"/>
              </a:ext>
            </a:extLst>
          </p:cNvPr>
          <p:cNvSpPr/>
          <p:nvPr/>
        </p:nvSpPr>
        <p:spPr>
          <a:xfrm>
            <a:off x="462455" y="1355834"/>
            <a:ext cx="11161986" cy="3293209"/>
          </a:xfrm>
          <a:prstGeom prst="rect">
            <a:avLst/>
          </a:prstGeom>
          <a:noFill/>
          <a:ln w="9525">
            <a:noFill/>
          </a:ln>
        </p:spPr>
        <p:txBody>
          <a:bodyPr wrap="square">
            <a:spAutoFit/>
          </a:bodyPr>
          <a:lstStyle/>
          <a:p>
            <a:r>
              <a:rPr lang="fr-FR" sz="1600" dirty="0"/>
              <a:t>En conclusion, </a:t>
            </a:r>
            <a:r>
              <a:rPr lang="fr-FR" sz="1600" b="1" dirty="0" err="1"/>
              <a:t>PaLM</a:t>
            </a:r>
            <a:r>
              <a:rPr lang="fr-FR" sz="1600" b="1" dirty="0"/>
              <a:t>, Codex et </a:t>
            </a:r>
            <a:r>
              <a:rPr lang="fr-FR" sz="1600" b="1" dirty="0" err="1"/>
              <a:t>LLaMA</a:t>
            </a:r>
            <a:r>
              <a:rPr lang="fr-FR" sz="1600" dirty="0"/>
              <a:t> représentent trois approches différentes des grands modèles de langage.</a:t>
            </a:r>
          </a:p>
          <a:p>
            <a:endParaRPr lang="fr-FR" sz="1600" dirty="0"/>
          </a:p>
          <a:p>
            <a:r>
              <a:rPr lang="fr-FR" sz="1600" b="1" dirty="0" err="1">
                <a:solidFill>
                  <a:srgbClr val="FF0000"/>
                </a:solidFill>
              </a:rPr>
              <a:t>PaLM</a:t>
            </a:r>
            <a:r>
              <a:rPr lang="fr-FR" sz="1600" dirty="0"/>
              <a:t>, développé par Google, montre l’importance de la puissance de calcul, du passage à grande échelle et de l’infrastructure </a:t>
            </a:r>
            <a:r>
              <a:rPr lang="fr-FR" sz="1600" b="1" dirty="0" err="1"/>
              <a:t>Pathways</a:t>
            </a:r>
            <a:r>
              <a:rPr lang="fr-FR" sz="1600" dirty="0"/>
              <a:t> pour améliorer le raisonnement, la compréhension du langage et la génération de texte.</a:t>
            </a:r>
          </a:p>
          <a:p>
            <a:endParaRPr lang="fr-FR" sz="1600" dirty="0"/>
          </a:p>
          <a:p>
            <a:r>
              <a:rPr lang="fr-FR" sz="1600" b="1" dirty="0">
                <a:solidFill>
                  <a:srgbClr val="FF0000"/>
                </a:solidFill>
              </a:rPr>
              <a:t>Codex</a:t>
            </a:r>
            <a:r>
              <a:rPr lang="fr-FR" sz="1600" dirty="0"/>
              <a:t>, développé par </a:t>
            </a:r>
            <a:r>
              <a:rPr lang="fr-FR" sz="1600" dirty="0" err="1"/>
              <a:t>OpenAI</a:t>
            </a:r>
            <a:r>
              <a:rPr lang="fr-FR" sz="1600" dirty="0"/>
              <a:t>, montre qu’un modèle peut devenir très performant lorsqu’il est spécialisé dans un domaine précis. Grâce à son entraînement sur du code, il a ouvert la voie aux assistants de programmation modernes comme GitHub </a:t>
            </a:r>
            <a:r>
              <a:rPr lang="fr-FR" sz="1600" dirty="0" err="1"/>
              <a:t>Copilot</a:t>
            </a:r>
            <a:r>
              <a:rPr lang="fr-FR" sz="1600" dirty="0"/>
              <a:t>.</a:t>
            </a:r>
          </a:p>
          <a:p>
            <a:endParaRPr lang="fr-FR" sz="1600" dirty="0"/>
          </a:p>
          <a:p>
            <a:r>
              <a:rPr lang="fr-FR" sz="1600" b="1" dirty="0" err="1">
                <a:solidFill>
                  <a:srgbClr val="FF0000"/>
                </a:solidFill>
              </a:rPr>
              <a:t>LLaMA</a:t>
            </a:r>
            <a:r>
              <a:rPr lang="fr-FR" sz="1600" dirty="0"/>
              <a:t>, développé par Meta AI, met l’accent sur l’efficacité, l’accessibilité et l’adaptation. Il a fortement contribué à la démocratisation des </a:t>
            </a:r>
            <a:r>
              <a:rPr lang="fr-FR" sz="1600" dirty="0" err="1"/>
              <a:t>LLMs</a:t>
            </a:r>
            <a:r>
              <a:rPr lang="fr-FR" sz="1600" dirty="0"/>
              <a:t> et au développement de modèles ouverts et personnalisables.</a:t>
            </a:r>
          </a:p>
          <a:p>
            <a:endParaRPr lang="fr-FR" sz="1600" dirty="0"/>
          </a:p>
          <a:p>
            <a:r>
              <a:rPr lang="fr-FR" sz="1600" dirty="0"/>
              <a:t>Ainsi, ces trois modèles montrent que le futur de l’intelligence artificielle ne repose pas sur une seule stratégie. Il combine plusieurs directions : </a:t>
            </a:r>
            <a:r>
              <a:rPr lang="fr-FR" sz="1600" b="1" dirty="0"/>
              <a:t>la grande échelle avec </a:t>
            </a:r>
            <a:r>
              <a:rPr lang="fr-FR" sz="1600" b="1" dirty="0" err="1"/>
              <a:t>PaLM</a:t>
            </a:r>
            <a:r>
              <a:rPr lang="fr-FR" sz="1600" b="1" dirty="0"/>
              <a:t>, la spécialisation avec Codex, et l’accessibilité avec </a:t>
            </a:r>
            <a:r>
              <a:rPr lang="fr-FR" sz="1600" b="1" dirty="0" err="1"/>
              <a:t>LLaMA</a:t>
            </a:r>
            <a:r>
              <a:rPr lang="fr-FR" sz="1600" dirty="0"/>
              <a:t>.</a:t>
            </a:r>
          </a:p>
        </p:txBody>
      </p:sp>
      <p:sp>
        <p:nvSpPr>
          <p:cNvPr id="4" name="Rectangle 2">
            <a:extLst>
              <a:ext uri="{FF2B5EF4-FFF2-40B4-BE49-F238E27FC236}">
                <a16:creationId xmlns:a16="http://schemas.microsoft.com/office/drawing/2014/main" id="{53187C5E-5027-CA4B-54F5-A0DAA84DA002}"/>
              </a:ext>
            </a:extLst>
          </p:cNvPr>
          <p:cNvSpPr/>
          <p:nvPr/>
        </p:nvSpPr>
        <p:spPr>
          <a:xfrm rot="-5399996">
            <a:off x="2752725" y="5546725"/>
            <a:ext cx="588963" cy="2032000"/>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5" name="Rectangle 44">
            <a:extLst>
              <a:ext uri="{FF2B5EF4-FFF2-40B4-BE49-F238E27FC236}">
                <a16:creationId xmlns:a16="http://schemas.microsoft.com/office/drawing/2014/main" id="{34C9960D-B5E8-C0EF-48D8-4A052D643147}"/>
              </a:ext>
            </a:extLst>
          </p:cNvPr>
          <p:cNvSpPr/>
          <p:nvPr/>
        </p:nvSpPr>
        <p:spPr>
          <a:xfrm rot="-5399996">
            <a:off x="4005263" y="5607050"/>
            <a:ext cx="2105025" cy="2076450"/>
          </a:xfrm>
          <a:prstGeom prst="rect">
            <a:avLst/>
          </a:prstGeom>
          <a:solidFill>
            <a:srgbClr val="88A945"/>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6" name="Rectangle 45">
            <a:extLst>
              <a:ext uri="{FF2B5EF4-FFF2-40B4-BE49-F238E27FC236}">
                <a16:creationId xmlns:a16="http://schemas.microsoft.com/office/drawing/2014/main" id="{2B104242-B8AA-5A37-6D0A-E29462BD21A5}"/>
              </a:ext>
            </a:extLst>
          </p:cNvPr>
          <p:cNvSpPr/>
          <p:nvPr/>
        </p:nvSpPr>
        <p:spPr>
          <a:xfrm rot="-5399996">
            <a:off x="6605588" y="5675313"/>
            <a:ext cx="1012825" cy="2032000"/>
          </a:xfrm>
          <a:prstGeom prst="rect">
            <a:avLst/>
          </a:prstGeom>
          <a:solidFill>
            <a:srgbClr val="9BBB59"/>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46">
            <a:extLst>
              <a:ext uri="{FF2B5EF4-FFF2-40B4-BE49-F238E27FC236}">
                <a16:creationId xmlns:a16="http://schemas.microsoft.com/office/drawing/2014/main" id="{64E2A765-2854-3208-EC66-A8D89042A8F9}"/>
              </a:ext>
            </a:extLst>
          </p:cNvPr>
          <p:cNvSpPr/>
          <p:nvPr/>
        </p:nvSpPr>
        <p:spPr>
          <a:xfrm rot="-5399996">
            <a:off x="8448675" y="5538788"/>
            <a:ext cx="1409700" cy="2032000"/>
          </a:xfrm>
          <a:prstGeom prst="rect">
            <a:avLst/>
          </a:prstGeom>
          <a:solidFill>
            <a:srgbClr val="ACC777"/>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8" name="Rectangle 47">
            <a:extLst>
              <a:ext uri="{FF2B5EF4-FFF2-40B4-BE49-F238E27FC236}">
                <a16:creationId xmlns:a16="http://schemas.microsoft.com/office/drawing/2014/main" id="{854BDD56-2649-4874-994A-7F0E36F72A4C}"/>
              </a:ext>
            </a:extLst>
          </p:cNvPr>
          <p:cNvSpPr/>
          <p:nvPr/>
        </p:nvSpPr>
        <p:spPr>
          <a:xfrm rot="-5399996">
            <a:off x="10847388" y="5513388"/>
            <a:ext cx="655637" cy="2032000"/>
          </a:xfrm>
          <a:prstGeom prst="rect">
            <a:avLst/>
          </a:prstGeom>
          <a:solidFill>
            <a:srgbClr val="C0D49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9" name="Rectangle 48">
            <a:extLst>
              <a:ext uri="{FF2B5EF4-FFF2-40B4-BE49-F238E27FC236}">
                <a16:creationId xmlns:a16="http://schemas.microsoft.com/office/drawing/2014/main" id="{D4C93E52-E3E4-DE2D-FF33-F7349F255E8A}"/>
              </a:ext>
            </a:extLst>
          </p:cNvPr>
          <p:cNvSpPr/>
          <p:nvPr/>
        </p:nvSpPr>
        <p:spPr>
          <a:xfrm rot="-5399996">
            <a:off x="584200" y="5410200"/>
            <a:ext cx="862013" cy="2032000"/>
          </a:xfrm>
          <a:prstGeom prst="rect">
            <a:avLst/>
          </a:prstGeom>
          <a:solidFill>
            <a:srgbClr val="D0DFB3"/>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nvGrpSpPr>
          <p:cNvPr id="10" name="Group 5">
            <a:extLst>
              <a:ext uri="{FF2B5EF4-FFF2-40B4-BE49-F238E27FC236}">
                <a16:creationId xmlns:a16="http://schemas.microsoft.com/office/drawing/2014/main" id="{E48D569E-A84E-8AAE-E5A6-D7DAF27C5B5C}"/>
              </a:ext>
            </a:extLst>
          </p:cNvPr>
          <p:cNvGrpSpPr/>
          <p:nvPr/>
        </p:nvGrpSpPr>
        <p:grpSpPr>
          <a:xfrm>
            <a:off x="0" y="6737350"/>
            <a:ext cx="12192000" cy="133350"/>
            <a:chOff x="0" y="6736614"/>
            <a:chExt cx="12191996" cy="134343"/>
          </a:xfrm>
        </p:grpSpPr>
        <p:sp>
          <p:nvSpPr>
            <p:cNvPr id="33806" name="Rectangle 50">
              <a:extLst>
                <a:ext uri="{FF2B5EF4-FFF2-40B4-BE49-F238E27FC236}">
                  <a16:creationId xmlns:a16="http://schemas.microsoft.com/office/drawing/2014/main" id="{245A8BF2-B3A5-9078-5654-2FF81C743DB8}"/>
                </a:ext>
              </a:extLst>
            </p:cNvPr>
            <p:cNvSpPr/>
            <p:nvPr/>
          </p:nvSpPr>
          <p:spPr>
            <a:xfrm rot="-5399996">
              <a:off x="2980839" y="5787791"/>
              <a:ext cx="134334" cy="2031997"/>
            </a:xfrm>
            <a:prstGeom prst="rect">
              <a:avLst/>
            </a:prstGeom>
            <a:solidFill>
              <a:srgbClr val="596E2D"/>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7" name="Rectangle 51">
              <a:extLst>
                <a:ext uri="{FF2B5EF4-FFF2-40B4-BE49-F238E27FC236}">
                  <a16:creationId xmlns:a16="http://schemas.microsoft.com/office/drawing/2014/main" id="{357F30F1-FABF-9FB5-91B3-3E0D9EDFB5F6}"/>
                </a:ext>
              </a:extLst>
            </p:cNvPr>
            <p:cNvSpPr/>
            <p:nvPr/>
          </p:nvSpPr>
          <p:spPr>
            <a:xfrm rot="-5399996">
              <a:off x="5012837" y="5787782"/>
              <a:ext cx="134334" cy="2031997"/>
            </a:xfrm>
            <a:prstGeom prst="rect">
              <a:avLst/>
            </a:prstGeom>
            <a:solidFill>
              <a:srgbClr val="667F34"/>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8" name="Rectangle 52">
              <a:extLst>
                <a:ext uri="{FF2B5EF4-FFF2-40B4-BE49-F238E27FC236}">
                  <a16:creationId xmlns:a16="http://schemas.microsoft.com/office/drawing/2014/main" id="{4B35901B-510D-220F-8032-F2EE9AA851FE}"/>
                </a:ext>
              </a:extLst>
            </p:cNvPr>
            <p:cNvSpPr/>
            <p:nvPr/>
          </p:nvSpPr>
          <p:spPr>
            <a:xfrm rot="-5399996">
              <a:off x="7044835" y="5787782"/>
              <a:ext cx="134334" cy="2031997"/>
            </a:xfrm>
            <a:prstGeom prst="rect">
              <a:avLst/>
            </a:prstGeom>
            <a:solidFill>
              <a:srgbClr val="77933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09" name="Rectangle 53">
              <a:extLst>
                <a:ext uri="{FF2B5EF4-FFF2-40B4-BE49-F238E27FC236}">
                  <a16:creationId xmlns:a16="http://schemas.microsoft.com/office/drawing/2014/main" id="{B8245444-799F-F180-C9C5-94833489AB22}"/>
                </a:ext>
              </a:extLst>
            </p:cNvPr>
            <p:cNvSpPr/>
            <p:nvPr/>
          </p:nvSpPr>
          <p:spPr>
            <a:xfrm rot="-5399996">
              <a:off x="9076833" y="5787791"/>
              <a:ext cx="134334" cy="2031997"/>
            </a:xfrm>
            <a:prstGeom prst="rect">
              <a:avLst/>
            </a:prstGeom>
            <a:solidFill>
              <a:srgbClr val="87A946"/>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0" name="Rectangle 54">
              <a:extLst>
                <a:ext uri="{FF2B5EF4-FFF2-40B4-BE49-F238E27FC236}">
                  <a16:creationId xmlns:a16="http://schemas.microsoft.com/office/drawing/2014/main" id="{F02D5730-0EAE-4BB2-BC59-6893C538610B}"/>
                </a:ext>
              </a:extLst>
            </p:cNvPr>
            <p:cNvSpPr/>
            <p:nvPr/>
          </p:nvSpPr>
          <p:spPr>
            <a:xfrm rot="-5399996">
              <a:off x="11108830" y="5787791"/>
              <a:ext cx="134334" cy="2031997"/>
            </a:xfrm>
            <a:prstGeom prst="rect">
              <a:avLst/>
            </a:prstGeom>
            <a:solidFill>
              <a:srgbClr val="99B958"/>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33811" name="Rectangle 55">
              <a:extLst>
                <a:ext uri="{FF2B5EF4-FFF2-40B4-BE49-F238E27FC236}">
                  <a16:creationId xmlns:a16="http://schemas.microsoft.com/office/drawing/2014/main" id="{71A72531-7730-A41F-7CE0-D76348A6B653}"/>
                </a:ext>
              </a:extLst>
            </p:cNvPr>
            <p:cNvSpPr/>
            <p:nvPr/>
          </p:nvSpPr>
          <p:spPr>
            <a:xfrm rot="-5399996">
              <a:off x="948831" y="5787791"/>
              <a:ext cx="134334" cy="2031997"/>
            </a:xfrm>
            <a:prstGeom prst="rect">
              <a:avLst/>
            </a:prstGeom>
            <a:solidFill>
              <a:srgbClr val="A4C16C"/>
            </a:solidFill>
            <a:ln w="9525">
              <a:noFill/>
            </a:ln>
          </p:spPr>
          <p:txBody>
            <a:bodyPr anchor="ctr" anchorCtr="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id-ID" altLang="x-none"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mn-cs"/>
              </a:endParaRPr>
            </a:p>
          </p:txBody>
        </p:sp>
      </p:grpSp>
      <p:sp>
        <p:nvSpPr>
          <p:cNvPr id="18" name="Rectangle 6">
            <a:extLst>
              <a:ext uri="{FF2B5EF4-FFF2-40B4-BE49-F238E27FC236}">
                <a16:creationId xmlns:a16="http://schemas.microsoft.com/office/drawing/2014/main" id="{DBCA9708-DAFB-8F94-C944-C2AB4B6DAFF2}"/>
              </a:ext>
            </a:extLst>
          </p:cNvPr>
          <p:cNvSpPr/>
          <p:nvPr/>
        </p:nvSpPr>
        <p:spPr>
          <a:xfrm rot="8655446">
            <a:off x="1039374" y="2980152"/>
            <a:ext cx="10544175" cy="646331"/>
          </a:xfrm>
          <a:prstGeom prst="rect">
            <a:avLst/>
          </a:prstGeom>
          <a:noFill/>
          <a:ln w="9525">
            <a:noFill/>
          </a:ln>
        </p:spPr>
        <p:txBody>
          <a:bodyPr>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id-ID" sz="1800" b="0" i="0" u="none" strike="noStrike" kern="1200" cap="none" spc="0" normalizeH="0" baseline="0" noProof="0" dirty="0">
              <a:ln>
                <a:noFill/>
              </a:ln>
              <a:solidFill>
                <a:srgbClr val="000000"/>
              </a:solidFill>
              <a:effectLst/>
              <a:uLnTx/>
              <a:uFillTx/>
              <a:latin typeface="Calibri" panose="020F0502020204030204"/>
              <a:ea typeface="Calibri" panose="020F0502020204030204"/>
              <a:cs typeface="Calibri" panose="020F0502020204030204"/>
            </a:endParaRPr>
          </a:p>
          <a:p>
            <a:pPr marL="742950" marR="0" lvl="1" indent="-285750" algn="l" defTabSz="914400" rtl="0" eaLnBrk="1" fontAlgn="base" latinLnBrk="0" hangingPunct="1">
              <a:lnSpc>
                <a:spcPct val="100000"/>
              </a:lnSpc>
              <a:spcBef>
                <a:spcPct val="0"/>
              </a:spcBef>
              <a:spcAft>
                <a:spcPct val="0"/>
              </a:spcAft>
              <a:buClrTx/>
              <a:buSzPct val="100000"/>
              <a:buFont typeface="Courier New" panose="02070309020205020404" pitchFamily="49" charset="0"/>
              <a:buChar char="o"/>
              <a:tabLst/>
              <a:defRPr/>
            </a:pPr>
            <a:endParaRPr kumimoji="0" lang="id-ID" altLang="x-none"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15144741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ppt_x</p:attrName>
                                        </p:attrNameLst>
                                      </p:cBhvr>
                                      <p:tavLst>
                                        <p:tav tm="0">
                                          <p:val>
                                            <p:strVal val="#ppt_x"/>
                                          </p:val>
                                        </p:tav>
                                        <p:tav tm="100000">
                                          <p:val>
                                            <p:strVal val="#ppt_x"/>
                                          </p:val>
                                        </p:tav>
                                      </p:tavLst>
                                    </p:anim>
                                    <p:anim calcmode="lin" valueType="num">
                                      <p:cBhvr>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ppt_x</p:attrName>
                                        </p:attrNameLst>
                                      </p:cBhvr>
                                      <p:tavLst>
                                        <p:tav tm="0">
                                          <p:val>
                                            <p:strVal val="#ppt_x"/>
                                          </p:val>
                                        </p:tav>
                                        <p:tav tm="100000">
                                          <p:val>
                                            <p:strVal val="#ppt_x"/>
                                          </p:val>
                                        </p:tav>
                                      </p:tavLst>
                                    </p:anim>
                                    <p:anim calcmode="lin" valueType="num">
                                      <p:cBhvr>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10" presetClass="entr" presetSubtype="0"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nodePh="1">
                                  <p:stCondLst>
                                    <p:cond delay="0"/>
                                  </p:stCondLst>
                                  <p:endCondLst>
                                    <p:cond evt="begin" delay="0">
                                      <p:tn val="49"/>
                                    </p:cond>
                                  </p:end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animBg="1"/>
      <p:bldP spid="5" grpId="0" animBg="1"/>
      <p:bldP spid="6" grpId="0" animBg="1"/>
      <p:bldP spid="7" grpId="0" animBg="1"/>
      <p:bldP spid="8" grpId="0" animBg="1"/>
      <p:bldP spid="9" grpId="0" animBg="1"/>
      <p:bldP spid="18" grpId="0"/>
      <p:bldP spid="18" grpId="1"/>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728D3C"/>
        </a:solidFill>
        <a:effectLst/>
      </p:bgPr>
    </p:bg>
    <p:spTree>
      <p:nvGrpSpPr>
        <p:cNvPr id="1" name=""/>
        <p:cNvGrpSpPr/>
        <p:nvPr/>
      </p:nvGrpSpPr>
      <p:grpSpPr>
        <a:xfrm>
          <a:off x="0" y="0"/>
          <a:ext cx="0" cy="0"/>
          <a:chOff x="0" y="0"/>
          <a:chExt cx="0" cy="0"/>
        </a:xfrm>
      </p:grpSpPr>
      <p:sp>
        <p:nvSpPr>
          <p:cNvPr id="2" name="Rectangle 135"/>
          <p:cNvSpPr/>
          <p:nvPr/>
        </p:nvSpPr>
        <p:spPr>
          <a:xfrm rot="-5399996">
            <a:off x="-2413000" y="2413000"/>
            <a:ext cx="6858000" cy="2032000"/>
          </a:xfrm>
          <a:prstGeom prst="rect">
            <a:avLst/>
          </a:prstGeom>
          <a:gradFill rotWithShape="0">
            <a:gsLst>
              <a:gs pos="0">
                <a:srgbClr val="728D3C"/>
              </a:gs>
              <a:gs pos="100000">
                <a:srgbClr val="D0DFB3"/>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 name="Rectangle 112"/>
          <p:cNvSpPr/>
          <p:nvPr/>
        </p:nvSpPr>
        <p:spPr>
          <a:xfrm rot="-5399996">
            <a:off x="-381000" y="2413000"/>
            <a:ext cx="6858000" cy="2032000"/>
          </a:xfrm>
          <a:prstGeom prst="rect">
            <a:avLst/>
          </a:prstGeom>
          <a:gradFill rotWithShape="0">
            <a:gsLst>
              <a:gs pos="0">
                <a:srgbClr val="3C4A1E"/>
              </a:gs>
              <a:gs pos="100000">
                <a:srgbClr val="77933C"/>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4" name="Rectangle 113"/>
          <p:cNvSpPr/>
          <p:nvPr/>
        </p:nvSpPr>
        <p:spPr>
          <a:xfrm rot="-5399996">
            <a:off x="1651000" y="2413000"/>
            <a:ext cx="6858000" cy="2032000"/>
          </a:xfrm>
          <a:prstGeom prst="rect">
            <a:avLst/>
          </a:prstGeom>
          <a:gradFill rotWithShape="0">
            <a:gsLst>
              <a:gs pos="0">
                <a:srgbClr val="445523"/>
              </a:gs>
              <a:gs pos="100000">
                <a:srgbClr val="88A945"/>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5" name="Rectangle 114"/>
          <p:cNvSpPr/>
          <p:nvPr/>
        </p:nvSpPr>
        <p:spPr>
          <a:xfrm rot="-5399996">
            <a:off x="3683000" y="2413000"/>
            <a:ext cx="6858000" cy="2032000"/>
          </a:xfrm>
          <a:prstGeom prst="rect">
            <a:avLst/>
          </a:prstGeom>
          <a:gradFill rotWithShape="0">
            <a:gsLst>
              <a:gs pos="0">
                <a:srgbClr val="4F6228"/>
              </a:gs>
              <a:gs pos="100000">
                <a:srgbClr val="9BBB59"/>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6" name="Rectangle 115"/>
          <p:cNvSpPr/>
          <p:nvPr/>
        </p:nvSpPr>
        <p:spPr>
          <a:xfrm rot="-5399996">
            <a:off x="5715000" y="2413000"/>
            <a:ext cx="6858000" cy="2032000"/>
          </a:xfrm>
          <a:prstGeom prst="rect">
            <a:avLst/>
          </a:prstGeom>
          <a:gradFill rotWithShape="0">
            <a:gsLst>
              <a:gs pos="0">
                <a:srgbClr val="5A712E"/>
              </a:gs>
              <a:gs pos="100000">
                <a:srgbClr val="ACC777"/>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7" name="Rectangle 116"/>
          <p:cNvSpPr/>
          <p:nvPr/>
        </p:nvSpPr>
        <p:spPr>
          <a:xfrm rot="-5399996">
            <a:off x="7747000" y="2413000"/>
            <a:ext cx="6858000" cy="2032000"/>
          </a:xfrm>
          <a:prstGeom prst="rect">
            <a:avLst/>
          </a:prstGeom>
          <a:gradFill rotWithShape="0">
            <a:gsLst>
              <a:gs pos="0">
                <a:srgbClr val="678036"/>
              </a:gs>
              <a:gs pos="100000">
                <a:srgbClr val="C0D498"/>
              </a:gs>
            </a:gsLst>
            <a:lin ang="0"/>
            <a:tileRect/>
          </a:gra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8" name="Freeform 13"/>
          <p:cNvSpPr/>
          <p:nvPr/>
        </p:nvSpPr>
        <p:spPr>
          <a:xfrm>
            <a:off x="10164763" y="5621338"/>
            <a:ext cx="2027237" cy="1482725"/>
          </a:xfrm>
          <a:custGeom>
            <a:avLst/>
            <a:gdLst>
              <a:gd name="txL" fmla="*/ 0 w 1276"/>
              <a:gd name="txT" fmla="*/ 0 h 933"/>
              <a:gd name="txR" fmla="*/ 1276 w 1276"/>
              <a:gd name="txB" fmla="*/ 933 h 933"/>
            </a:gdLst>
            <a:ahLst/>
            <a:cxnLst>
              <a:cxn ang="17694720">
                <a:pos x="1013750" y="0"/>
              </a:cxn>
              <a:cxn ang="0">
                <a:pos x="2027499" y="741245"/>
              </a:cxn>
              <a:cxn ang="5898240">
                <a:pos x="1013750" y="1482489"/>
              </a:cxn>
              <a:cxn ang="11796480">
                <a:pos x="0" y="741245"/>
              </a:cxn>
              <a:cxn ang="0">
                <a:pos x="1954407" y="1188534"/>
              </a:cxn>
              <a:cxn ang="0">
                <a:pos x="1940107" y="1188534"/>
              </a:cxn>
              <a:cxn ang="0">
                <a:pos x="1916273" y="1188534"/>
              </a:cxn>
              <a:cxn ang="0">
                <a:pos x="1924217" y="343213"/>
              </a:cxn>
              <a:cxn ang="0">
                <a:pos x="1935340" y="343213"/>
              </a:cxn>
              <a:cxn ang="0">
                <a:pos x="1940107" y="340035"/>
              </a:cxn>
              <a:cxn ang="0">
                <a:pos x="1935340" y="293955"/>
              </a:cxn>
              <a:cxn ang="0">
                <a:pos x="1916273" y="289189"/>
              </a:cxn>
              <a:cxn ang="0">
                <a:pos x="1894027" y="286011"/>
              </a:cxn>
              <a:cxn ang="0">
                <a:pos x="1878138" y="0"/>
              </a:cxn>
              <a:cxn ang="0">
                <a:pos x="1862248" y="286011"/>
              </a:cxn>
              <a:cxn ang="0">
                <a:pos x="1840003" y="286011"/>
              </a:cxn>
              <a:cxn ang="0">
                <a:pos x="1816169" y="289189"/>
              </a:cxn>
              <a:cxn ang="0">
                <a:pos x="1812991" y="336857"/>
              </a:cxn>
              <a:cxn ang="0">
                <a:pos x="1816169" y="340035"/>
              </a:cxn>
              <a:cxn ang="0">
                <a:pos x="1828880" y="340035"/>
              </a:cxn>
              <a:cxn ang="0">
                <a:pos x="1701764" y="1047117"/>
              </a:cxn>
              <a:cxn ang="0">
                <a:pos x="1047117" y="788118"/>
              </a:cxn>
              <a:cxn ang="0">
                <a:pos x="1058240" y="780174"/>
              </a:cxn>
              <a:cxn ang="0">
                <a:pos x="970848" y="683248"/>
              </a:cxn>
              <a:cxn ang="0">
                <a:pos x="985148" y="675303"/>
              </a:cxn>
              <a:cxn ang="0">
                <a:pos x="962903" y="667358"/>
              </a:cxn>
              <a:cxn ang="0">
                <a:pos x="966081" y="645113"/>
              </a:cxn>
              <a:cxn ang="0">
                <a:pos x="962903" y="618101"/>
              </a:cxn>
              <a:cxn ang="0">
                <a:pos x="943836" y="602212"/>
              </a:cxn>
              <a:cxn ang="0">
                <a:pos x="931124" y="599034"/>
              </a:cxn>
              <a:cxn ang="0">
                <a:pos x="904112" y="599034"/>
              </a:cxn>
              <a:cxn ang="0">
                <a:pos x="892989" y="602212"/>
              </a:cxn>
              <a:cxn ang="0">
                <a:pos x="877100" y="621279"/>
              </a:cxn>
              <a:cxn ang="0">
                <a:pos x="870744" y="633990"/>
              </a:cxn>
              <a:cxn ang="0">
                <a:pos x="870744" y="656236"/>
              </a:cxn>
              <a:cxn ang="0">
                <a:pos x="877100" y="672125"/>
              </a:cxn>
              <a:cxn ang="0">
                <a:pos x="854855" y="675303"/>
              </a:cxn>
              <a:cxn ang="0">
                <a:pos x="870744" y="683248"/>
              </a:cxn>
              <a:cxn ang="0">
                <a:pos x="824665" y="780174"/>
              </a:cxn>
              <a:cxn ang="0">
                <a:pos x="654647" y="780174"/>
              </a:cxn>
              <a:cxn ang="0">
                <a:pos x="638758" y="780174"/>
              </a:cxn>
              <a:cxn ang="0">
                <a:pos x="570433" y="737272"/>
              </a:cxn>
              <a:cxn ang="0">
                <a:pos x="581555" y="729327"/>
              </a:cxn>
              <a:cxn ang="0">
                <a:pos x="324146" y="710260"/>
              </a:cxn>
              <a:cxn ang="0">
                <a:pos x="308256" y="661003"/>
              </a:cxn>
              <a:cxn ang="0">
                <a:pos x="281244" y="621279"/>
              </a:cxn>
              <a:cxn ang="0">
                <a:pos x="246287" y="586322"/>
              </a:cxn>
              <a:cxn ang="0">
                <a:pos x="224042" y="572021"/>
              </a:cxn>
              <a:cxn ang="0">
                <a:pos x="181140" y="556132"/>
              </a:cxn>
              <a:cxn ang="0">
                <a:pos x="177962" y="552954"/>
              </a:cxn>
              <a:cxn ang="0">
                <a:pos x="154128" y="548187"/>
              </a:cxn>
              <a:cxn ang="0">
                <a:pos x="146183" y="548187"/>
              </a:cxn>
              <a:cxn ang="0">
                <a:pos x="139828" y="548187"/>
              </a:cxn>
              <a:cxn ang="0">
                <a:pos x="123938" y="417893"/>
              </a:cxn>
              <a:cxn ang="0">
                <a:pos x="115993" y="548187"/>
              </a:cxn>
              <a:cxn ang="0">
                <a:pos x="108049" y="548187"/>
              </a:cxn>
              <a:cxn ang="0">
                <a:pos x="81036" y="552954"/>
              </a:cxn>
              <a:cxn ang="0">
                <a:pos x="81036" y="552954"/>
              </a:cxn>
              <a:cxn ang="0">
                <a:pos x="58791" y="564077"/>
              </a:cxn>
              <a:cxn ang="0">
                <a:pos x="34957" y="572021"/>
              </a:cxn>
              <a:cxn ang="0">
                <a:pos x="0" y="594267"/>
              </a:cxn>
              <a:cxn ang="0">
                <a:pos x="2027499" y="1482489"/>
              </a:cxn>
              <a:cxn ang="0">
                <a:pos x="1959174" y="1174233"/>
              </a:cxn>
            </a:cxnLst>
            <a:rect l="txL" t="txT" r="txR" b="tx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rgbClr val="C0D498">
              <a:alpha val="100000"/>
            </a:srgbClr>
          </a:solidFill>
          <a:ln w="9525">
            <a:noFill/>
          </a:ln>
        </p:spPr>
        <p:txBody>
          <a:bodyPr/>
          <a:lstStyle/>
          <a:p>
            <a:endParaRPr lang="fr-FR" altLang="en-US"/>
          </a:p>
        </p:txBody>
      </p:sp>
      <p:sp>
        <p:nvSpPr>
          <p:cNvPr id="9" name="Freeform 14"/>
          <p:cNvSpPr/>
          <p:nvPr/>
        </p:nvSpPr>
        <p:spPr>
          <a:xfrm>
            <a:off x="8129588" y="4600575"/>
            <a:ext cx="2035175" cy="2503488"/>
          </a:xfrm>
          <a:custGeom>
            <a:avLst/>
            <a:gdLst>
              <a:gd name="txL" fmla="*/ 0 w 1281"/>
              <a:gd name="txT" fmla="*/ 0 h 1576"/>
              <a:gd name="txR" fmla="*/ 1281 w 1281"/>
              <a:gd name="txB" fmla="*/ 1576 h 1576"/>
            </a:gdLst>
            <a:ahLst/>
            <a:cxnLst>
              <a:cxn ang="17694720">
                <a:pos x="1017723" y="0"/>
              </a:cxn>
              <a:cxn ang="0">
                <a:pos x="2035445" y="1252092"/>
              </a:cxn>
              <a:cxn ang="5898240">
                <a:pos x="1017723" y="2504184"/>
              </a:cxn>
              <a:cxn ang="11796480">
                <a:pos x="0" y="1252092"/>
              </a:cxn>
              <a:cxn ang="0">
                <a:pos x="1981421" y="1682697"/>
              </a:cxn>
              <a:cxn ang="0">
                <a:pos x="1689054" y="1758967"/>
              </a:cxn>
              <a:cxn ang="0">
                <a:pos x="1604840" y="1007394"/>
              </a:cxn>
              <a:cxn ang="0">
                <a:pos x="1396687" y="1272748"/>
              </a:cxn>
              <a:cxn ang="0">
                <a:pos x="1320417" y="486218"/>
              </a:cxn>
              <a:cxn ang="0">
                <a:pos x="1401454" y="470329"/>
              </a:cxn>
              <a:cxn ang="0">
                <a:pos x="1401454" y="419483"/>
              </a:cxn>
              <a:cxn ang="0">
                <a:pos x="1404632" y="389293"/>
              </a:cxn>
              <a:cxn ang="0">
                <a:pos x="1396687" y="141416"/>
              </a:cxn>
              <a:cxn ang="0">
                <a:pos x="1393509" y="227220"/>
              </a:cxn>
              <a:cxn ang="0">
                <a:pos x="1263215" y="176373"/>
              </a:cxn>
              <a:cxn ang="0">
                <a:pos x="1255271" y="230398"/>
              </a:cxn>
              <a:cxn ang="0">
                <a:pos x="1128155" y="181140"/>
              </a:cxn>
              <a:cxn ang="0">
                <a:pos x="1117032" y="141416"/>
              </a:cxn>
              <a:cxn ang="0">
                <a:pos x="989916" y="243109"/>
              </a:cxn>
              <a:cxn ang="0">
                <a:pos x="977204" y="243109"/>
              </a:cxn>
              <a:cxn ang="0">
                <a:pos x="977204" y="141416"/>
              </a:cxn>
              <a:cxn ang="0">
                <a:pos x="851677" y="243109"/>
              </a:cxn>
              <a:cxn ang="0">
                <a:pos x="838966" y="243109"/>
              </a:cxn>
              <a:cxn ang="0">
                <a:pos x="835788" y="0"/>
              </a:cxn>
              <a:cxn ang="0">
                <a:pos x="827843" y="230398"/>
              </a:cxn>
              <a:cxn ang="0">
                <a:pos x="792886" y="300311"/>
              </a:cxn>
              <a:cxn ang="0">
                <a:pos x="743629" y="303489"/>
              </a:cxn>
              <a:cxn ang="0">
                <a:pos x="711850" y="303489"/>
              </a:cxn>
              <a:cxn ang="0">
                <a:pos x="681660" y="308256"/>
              </a:cxn>
              <a:cxn ang="0">
                <a:pos x="654647" y="311434"/>
              </a:cxn>
              <a:cxn ang="0">
                <a:pos x="627635" y="316201"/>
              </a:cxn>
              <a:cxn ang="0">
                <a:pos x="581556" y="327324"/>
              </a:cxn>
              <a:cxn ang="0">
                <a:pos x="562488" y="330501"/>
              </a:cxn>
              <a:cxn ang="0">
                <a:pos x="551366" y="338446"/>
              </a:cxn>
              <a:cxn ang="0">
                <a:pos x="543421" y="343213"/>
              </a:cxn>
              <a:cxn ang="0">
                <a:pos x="543421" y="343213"/>
              </a:cxn>
              <a:cxn ang="0">
                <a:pos x="535476" y="351158"/>
              </a:cxn>
              <a:cxn ang="0">
                <a:pos x="538654" y="362280"/>
              </a:cxn>
              <a:cxn ang="0">
                <a:pos x="535476" y="354336"/>
              </a:cxn>
              <a:cxn ang="0">
                <a:pos x="535476" y="362280"/>
              </a:cxn>
              <a:cxn ang="0">
                <a:pos x="538654" y="365458"/>
              </a:cxn>
              <a:cxn ang="0">
                <a:pos x="543421" y="370225"/>
              </a:cxn>
              <a:cxn ang="0">
                <a:pos x="546599" y="378170"/>
              </a:cxn>
              <a:cxn ang="0">
                <a:pos x="559310" y="381348"/>
              </a:cxn>
              <a:cxn ang="0">
                <a:pos x="570433" y="384526"/>
              </a:cxn>
              <a:cxn ang="0">
                <a:pos x="584734" y="389293"/>
              </a:cxn>
              <a:cxn ang="0">
                <a:pos x="600623" y="392470"/>
              </a:cxn>
              <a:cxn ang="0">
                <a:pos x="619691" y="397237"/>
              </a:cxn>
              <a:cxn ang="0">
                <a:pos x="635580" y="400415"/>
              </a:cxn>
              <a:cxn ang="0">
                <a:pos x="638758" y="492574"/>
              </a:cxn>
              <a:cxn ang="0">
                <a:pos x="638758" y="589500"/>
              </a:cxn>
              <a:cxn ang="0">
                <a:pos x="638758" y="635580"/>
              </a:cxn>
              <a:cxn ang="0">
                <a:pos x="635580" y="2002076"/>
              </a:cxn>
              <a:cxn ang="0">
                <a:pos x="143006" y="608568"/>
              </a:cxn>
              <a:cxn ang="0">
                <a:pos x="15890" y="1944874"/>
              </a:cxn>
              <a:cxn ang="0">
                <a:pos x="2035445" y="2504184"/>
              </a:cxn>
              <a:cxn ang="0">
                <a:pos x="559310" y="362280"/>
              </a:cxn>
              <a:cxn ang="0">
                <a:pos x="543421" y="357514"/>
              </a:cxn>
              <a:cxn ang="0">
                <a:pos x="543421" y="362280"/>
              </a:cxn>
              <a:cxn ang="0">
                <a:pos x="651470" y="316201"/>
              </a:cxn>
              <a:cxn ang="0">
                <a:pos x="654647" y="327324"/>
              </a:cxn>
              <a:cxn ang="0">
                <a:pos x="665770" y="335268"/>
              </a:cxn>
              <a:cxn ang="0">
                <a:pos x="678482" y="311434"/>
              </a:cxn>
              <a:cxn ang="0">
                <a:pos x="681660" y="324146"/>
              </a:cxn>
            </a:cxnLst>
            <a:rect l="txL" t="txT" r="txR" b="tx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rgbClr val="ACC777">
              <a:alpha val="100000"/>
            </a:srgbClr>
          </a:solidFill>
          <a:ln w="9525">
            <a:noFill/>
          </a:ln>
        </p:spPr>
        <p:txBody>
          <a:bodyPr/>
          <a:lstStyle/>
          <a:p>
            <a:endParaRPr lang="fr-FR" altLang="en-US"/>
          </a:p>
        </p:txBody>
      </p:sp>
      <p:sp>
        <p:nvSpPr>
          <p:cNvPr id="10" name="Freeform 15"/>
          <p:cNvSpPr/>
          <p:nvPr/>
        </p:nvSpPr>
        <p:spPr>
          <a:xfrm>
            <a:off x="6097588" y="5208588"/>
            <a:ext cx="2032000" cy="1895475"/>
          </a:xfrm>
          <a:custGeom>
            <a:avLst/>
            <a:gdLst>
              <a:gd name="txL" fmla="*/ 0 w 1278"/>
              <a:gd name="txT" fmla="*/ 0 h 1193"/>
              <a:gd name="txR" fmla="*/ 1278 w 1278"/>
              <a:gd name="txB" fmla="*/ 1193 h 1193"/>
            </a:gdLst>
            <a:ahLst/>
            <a:cxnLst>
              <a:cxn ang="17694720">
                <a:pos x="1015336" y="0"/>
              </a:cxn>
              <a:cxn ang="0">
                <a:pos x="2030672" y="947808"/>
              </a:cxn>
              <a:cxn ang="5898240">
                <a:pos x="1015336" y="1895615"/>
              </a:cxn>
              <a:cxn ang="11796480">
                <a:pos x="0" y="947808"/>
              </a:cxn>
              <a:cxn ang="0">
                <a:pos x="2030672" y="1328361"/>
              </a:cxn>
              <a:cxn ang="0">
                <a:pos x="2019549" y="1301348"/>
              </a:cxn>
              <a:cxn ang="0">
                <a:pos x="1989359" y="1304526"/>
              </a:cxn>
              <a:cxn ang="0">
                <a:pos x="1973470" y="1282281"/>
              </a:cxn>
              <a:cxn ang="0">
                <a:pos x="1916268" y="1112264"/>
              </a:cxn>
              <a:cxn ang="0">
                <a:pos x="1854299" y="1101141"/>
              </a:cxn>
              <a:cxn ang="0">
                <a:pos x="1789152" y="1034405"/>
              </a:cxn>
              <a:cxn ang="0">
                <a:pos x="1708116" y="950191"/>
              </a:cxn>
              <a:cxn ang="0">
                <a:pos x="1696994" y="931124"/>
              </a:cxn>
              <a:cxn ang="0">
                <a:pos x="1673159" y="899345"/>
              </a:cxn>
              <a:cxn ang="0">
                <a:pos x="1665215" y="923179"/>
              </a:cxn>
              <a:cxn ang="0">
                <a:pos x="1642969" y="942246"/>
              </a:cxn>
              <a:cxn ang="0">
                <a:pos x="1642969" y="993093"/>
              </a:cxn>
              <a:cxn ang="0">
                <a:pos x="1519032" y="1088429"/>
              </a:cxn>
              <a:cxn ang="0">
                <a:pos x="1469774" y="1104319"/>
              </a:cxn>
              <a:cxn ang="0">
                <a:pos x="1404628" y="1309293"/>
              </a:cxn>
              <a:cxn ang="0">
                <a:pos x="1372849" y="1282281"/>
              </a:cxn>
              <a:cxn ang="0">
                <a:pos x="1350603" y="1331538"/>
              </a:cxn>
              <a:cxn ang="0">
                <a:pos x="1323591" y="1301348"/>
              </a:cxn>
              <a:cxn ang="0">
                <a:pos x="1293401" y="1336305"/>
              </a:cxn>
              <a:cxn ang="0">
                <a:pos x="1193298" y="50846"/>
              </a:cxn>
              <a:cxn ang="0">
                <a:pos x="707081" y="1358551"/>
              </a:cxn>
              <a:cxn ang="0">
                <a:pos x="684835" y="1174233"/>
              </a:cxn>
              <a:cxn ang="0">
                <a:pos x="641934" y="1201245"/>
              </a:cxn>
              <a:cxn ang="0">
                <a:pos x="600621" y="891400"/>
              </a:cxn>
              <a:cxn ang="0">
                <a:pos x="595854" y="869155"/>
              </a:cxn>
              <a:cxn ang="0">
                <a:pos x="584732" y="904111"/>
              </a:cxn>
              <a:cxn ang="0">
                <a:pos x="557720" y="761106"/>
              </a:cxn>
              <a:cxn ang="0">
                <a:pos x="541830" y="552954"/>
              </a:cxn>
              <a:cxn ang="0">
                <a:pos x="514818" y="591089"/>
              </a:cxn>
              <a:cxn ang="0">
                <a:pos x="495751" y="761106"/>
              </a:cxn>
              <a:cxn ang="0">
                <a:pos x="468739" y="891400"/>
              </a:cxn>
              <a:cxn ang="0">
                <a:pos x="460794" y="869155"/>
              </a:cxn>
              <a:cxn ang="0">
                <a:pos x="457616" y="904111"/>
              </a:cxn>
              <a:cxn ang="0">
                <a:pos x="427426" y="1101141"/>
              </a:cxn>
              <a:cxn ang="0">
                <a:pos x="427426" y="1104319"/>
              </a:cxn>
              <a:cxn ang="0">
                <a:pos x="414715" y="1204423"/>
              </a:cxn>
              <a:cxn ang="0">
                <a:pos x="387703" y="1131331"/>
              </a:cxn>
              <a:cxn ang="0">
                <a:pos x="368635" y="912056"/>
              </a:cxn>
              <a:cxn ang="0">
                <a:pos x="330501" y="1128153"/>
              </a:cxn>
              <a:cxn ang="0">
                <a:pos x="308255" y="1188533"/>
              </a:cxn>
              <a:cxn ang="0">
                <a:pos x="276476" y="1093196"/>
              </a:cxn>
              <a:cxn ang="0">
                <a:pos x="273299" y="1088429"/>
              </a:cxn>
              <a:cxn ang="0">
                <a:pos x="268532" y="977203"/>
              </a:cxn>
              <a:cxn ang="0">
                <a:pos x="265354" y="969258"/>
              </a:cxn>
              <a:cxn ang="0">
                <a:pos x="249464" y="885044"/>
              </a:cxn>
              <a:cxn ang="0">
                <a:pos x="235164" y="869155"/>
              </a:cxn>
              <a:cxn ang="0">
                <a:pos x="195440" y="761106"/>
              </a:cxn>
              <a:cxn ang="0">
                <a:pos x="195440" y="737272"/>
              </a:cxn>
              <a:cxn ang="0">
                <a:pos x="192262" y="483040"/>
              </a:cxn>
              <a:cxn ang="0">
                <a:pos x="154128" y="737272"/>
              </a:cxn>
              <a:cxn ang="0">
                <a:pos x="149361" y="756339"/>
              </a:cxn>
              <a:cxn ang="0">
                <a:pos x="111226" y="880277"/>
              </a:cxn>
              <a:cxn ang="0">
                <a:pos x="95337" y="872332"/>
              </a:cxn>
              <a:cxn ang="0">
                <a:pos x="76269" y="969258"/>
              </a:cxn>
              <a:cxn ang="0">
                <a:pos x="65147" y="1185355"/>
              </a:cxn>
              <a:cxn ang="0">
                <a:pos x="27012" y="1174233"/>
              </a:cxn>
              <a:cxn ang="0">
                <a:pos x="11123" y="1347428"/>
              </a:cxn>
            </a:cxnLst>
            <a:rect l="txL" t="txT" r="txR" b="tx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rgbClr val="9BBB59">
              <a:alpha val="100000"/>
            </a:srgbClr>
          </a:solidFill>
          <a:ln w="9525">
            <a:noFill/>
          </a:ln>
        </p:spPr>
        <p:txBody>
          <a:bodyPr/>
          <a:lstStyle/>
          <a:p>
            <a:endParaRPr lang="fr-FR" altLang="en-US"/>
          </a:p>
        </p:txBody>
      </p:sp>
      <p:sp>
        <p:nvSpPr>
          <p:cNvPr id="11" name="Freeform 16"/>
          <p:cNvSpPr/>
          <p:nvPr/>
        </p:nvSpPr>
        <p:spPr>
          <a:xfrm>
            <a:off x="4070350" y="4843463"/>
            <a:ext cx="2027238" cy="2260600"/>
          </a:xfrm>
          <a:custGeom>
            <a:avLst/>
            <a:gdLst>
              <a:gd name="txL" fmla="*/ 0 w 1276"/>
              <a:gd name="txT" fmla="*/ 0 h 1423"/>
              <a:gd name="txR" fmla="*/ 1276 w 1276"/>
              <a:gd name="txB" fmla="*/ 1423 h 1423"/>
            </a:gdLst>
            <a:ahLst/>
            <a:cxnLst>
              <a:cxn ang="17694720">
                <a:pos x="1013750" y="0"/>
              </a:cxn>
              <a:cxn ang="0">
                <a:pos x="2027499" y="1130537"/>
              </a:cxn>
              <a:cxn ang="5898240">
                <a:pos x="1013750" y="2261073"/>
              </a:cxn>
              <a:cxn ang="11796480">
                <a:pos x="0" y="1130537"/>
              </a:cxn>
              <a:cxn ang="0">
                <a:pos x="1973475" y="840553"/>
              </a:cxn>
              <a:cxn ang="0">
                <a:pos x="1946463" y="837376"/>
              </a:cxn>
              <a:cxn ang="0">
                <a:pos x="1900383" y="802419"/>
              </a:cxn>
              <a:cxn ang="0">
                <a:pos x="1862248" y="767462"/>
              </a:cxn>
              <a:cxn ang="0">
                <a:pos x="1824114" y="732505"/>
              </a:cxn>
              <a:cxn ang="0">
                <a:pos x="1789157" y="697548"/>
              </a:cxn>
              <a:cxn ang="0">
                <a:pos x="1657274" y="689603"/>
              </a:cxn>
              <a:cxn ang="0">
                <a:pos x="1596894" y="710260"/>
              </a:cxn>
              <a:cxn ang="0">
                <a:pos x="1565115" y="732505"/>
              </a:cxn>
              <a:cxn ang="0">
                <a:pos x="1558759" y="764284"/>
              </a:cxn>
              <a:cxn ang="0">
                <a:pos x="1523802" y="786529"/>
              </a:cxn>
              <a:cxn ang="0">
                <a:pos x="1492023" y="802419"/>
              </a:cxn>
              <a:cxn ang="0">
                <a:pos x="1488845" y="832609"/>
              </a:cxn>
              <a:cxn ang="0">
                <a:pos x="1450710" y="840553"/>
              </a:cxn>
              <a:cxn ang="0">
                <a:pos x="1334717" y="848498"/>
              </a:cxn>
              <a:cxn ang="0">
                <a:pos x="1334717" y="945424"/>
              </a:cxn>
              <a:cxn ang="0">
                <a:pos x="1215546" y="1391918"/>
              </a:cxn>
              <a:cxn ang="0">
                <a:pos x="1212368" y="864388"/>
              </a:cxn>
              <a:cxn ang="0">
                <a:pos x="1096375" y="856443"/>
              </a:cxn>
              <a:cxn ang="0">
                <a:pos x="1061418" y="848498"/>
              </a:cxn>
              <a:cxn ang="0">
                <a:pos x="1050295" y="818308"/>
              </a:cxn>
              <a:cxn ang="0">
                <a:pos x="1026461" y="797652"/>
              </a:cxn>
              <a:cxn ang="0">
                <a:pos x="993093" y="778585"/>
              </a:cxn>
              <a:cxn ang="0">
                <a:pos x="980382" y="748395"/>
              </a:cxn>
              <a:cxn ang="0">
                <a:pos x="953369" y="724560"/>
              </a:cxn>
              <a:cxn ang="0">
                <a:pos x="888223" y="705493"/>
              </a:cxn>
              <a:cxn ang="0">
                <a:pos x="765873" y="713438"/>
              </a:cxn>
              <a:cxn ang="0">
                <a:pos x="730917" y="748395"/>
              </a:cxn>
              <a:cxn ang="0">
                <a:pos x="692782" y="783351"/>
              </a:cxn>
              <a:cxn ang="0">
                <a:pos x="653058" y="813541"/>
              </a:cxn>
              <a:cxn ang="0">
                <a:pos x="611745" y="848498"/>
              </a:cxn>
              <a:cxn ang="0">
                <a:pos x="606979" y="851676"/>
              </a:cxn>
              <a:cxn ang="0">
                <a:pos x="511642" y="521175"/>
              </a:cxn>
              <a:cxn ang="0">
                <a:pos x="419483" y="435372"/>
              </a:cxn>
              <a:cxn ang="0">
                <a:pos x="319379" y="370225"/>
              </a:cxn>
              <a:cxn ang="0">
                <a:pos x="284422" y="521175"/>
              </a:cxn>
              <a:cxn ang="0">
                <a:pos x="287600" y="405182"/>
              </a:cxn>
              <a:cxn ang="0">
                <a:pos x="284422" y="400415"/>
              </a:cxn>
              <a:cxn ang="0">
                <a:pos x="287600" y="338446"/>
              </a:cxn>
              <a:cxn ang="0">
                <a:pos x="284422" y="338446"/>
              </a:cxn>
              <a:cxn ang="0">
                <a:pos x="287600" y="276477"/>
              </a:cxn>
              <a:cxn ang="0">
                <a:pos x="284422" y="273299"/>
              </a:cxn>
              <a:cxn ang="0">
                <a:pos x="184318" y="173195"/>
              </a:cxn>
              <a:cxn ang="0">
                <a:pos x="46080" y="165251"/>
              </a:cxn>
              <a:cxn ang="0">
                <a:pos x="46080" y="49257"/>
              </a:cxn>
              <a:cxn ang="0">
                <a:pos x="46080" y="14301"/>
              </a:cxn>
              <a:cxn ang="0">
                <a:pos x="46080" y="0"/>
              </a:cxn>
              <a:cxn ang="0">
                <a:pos x="0" y="2261073"/>
              </a:cxn>
              <a:cxn ang="0">
                <a:pos x="2027499" y="848498"/>
              </a:cxn>
            </a:cxnLst>
            <a:rect l="txL" t="txT" r="txR" b="tx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rgbClr val="88A945">
              <a:alpha val="100000"/>
            </a:srgbClr>
          </a:solidFill>
          <a:ln w="9525">
            <a:noFill/>
          </a:ln>
        </p:spPr>
        <p:txBody>
          <a:bodyPr/>
          <a:lstStyle/>
          <a:p>
            <a:endParaRPr lang="fr-FR" altLang="en-US"/>
          </a:p>
        </p:txBody>
      </p:sp>
      <p:sp>
        <p:nvSpPr>
          <p:cNvPr id="12" name="Freeform 17"/>
          <p:cNvSpPr/>
          <p:nvPr/>
        </p:nvSpPr>
        <p:spPr>
          <a:xfrm>
            <a:off x="2035175" y="4360863"/>
            <a:ext cx="2035175" cy="2743200"/>
          </a:xfrm>
          <a:custGeom>
            <a:avLst/>
            <a:gdLst>
              <a:gd name="txL" fmla="*/ 0 w 1281"/>
              <a:gd name="txT" fmla="*/ 0 h 1727"/>
              <a:gd name="txR" fmla="*/ 1281 w 1281"/>
              <a:gd name="txB" fmla="*/ 1727 h 1727"/>
            </a:gdLst>
            <a:ahLst/>
            <a:cxnLst>
              <a:cxn ang="17694720">
                <a:pos x="1017723" y="0"/>
              </a:cxn>
              <a:cxn ang="0">
                <a:pos x="2035445" y="1372057"/>
              </a:cxn>
              <a:cxn ang="5898240">
                <a:pos x="1017723" y="2744114"/>
              </a:cxn>
              <a:cxn ang="11796480">
                <a:pos x="0" y="1372057"/>
              </a:cxn>
              <a:cxn ang="0">
                <a:pos x="2035445" y="2744114"/>
              </a:cxn>
              <a:cxn ang="0">
                <a:pos x="1897206" y="483040"/>
              </a:cxn>
              <a:cxn ang="0">
                <a:pos x="1897206" y="451261"/>
              </a:cxn>
              <a:cxn ang="0">
                <a:pos x="1897206" y="421071"/>
              </a:cxn>
              <a:cxn ang="0">
                <a:pos x="1716066" y="200208"/>
              </a:cxn>
              <a:cxn ang="0">
                <a:pos x="1704943" y="127116"/>
              </a:cxn>
              <a:cxn ang="0">
                <a:pos x="1689054" y="146183"/>
              </a:cxn>
              <a:cxn ang="0">
                <a:pos x="1689054" y="19067"/>
              </a:cxn>
              <a:cxn ang="0">
                <a:pos x="1685876" y="0"/>
              </a:cxn>
              <a:cxn ang="0">
                <a:pos x="1673164" y="146183"/>
              </a:cxn>
              <a:cxn ang="0">
                <a:pos x="1673164" y="19067"/>
              </a:cxn>
              <a:cxn ang="0">
                <a:pos x="1665220" y="0"/>
              </a:cxn>
              <a:cxn ang="0">
                <a:pos x="1654097" y="146183"/>
              </a:cxn>
              <a:cxn ang="0">
                <a:pos x="1654097" y="19067"/>
              </a:cxn>
              <a:cxn ang="0">
                <a:pos x="1650919" y="0"/>
              </a:cxn>
              <a:cxn ang="0">
                <a:pos x="1638207" y="146183"/>
              </a:cxn>
              <a:cxn ang="0">
                <a:pos x="1638207" y="19067"/>
              </a:cxn>
              <a:cxn ang="0">
                <a:pos x="1631852" y="0"/>
              </a:cxn>
              <a:cxn ang="0">
                <a:pos x="1619140" y="146183"/>
              </a:cxn>
              <a:cxn ang="0">
                <a:pos x="1619140" y="19067"/>
              </a:cxn>
              <a:cxn ang="0">
                <a:pos x="1615962" y="0"/>
              </a:cxn>
              <a:cxn ang="0">
                <a:pos x="1604840" y="146183"/>
              </a:cxn>
              <a:cxn ang="0">
                <a:pos x="1588950" y="127116"/>
              </a:cxn>
              <a:cxn ang="0">
                <a:pos x="1588950" y="408360"/>
              </a:cxn>
              <a:cxn ang="0">
                <a:pos x="1588950" y="448083"/>
              </a:cxn>
              <a:cxn ang="0">
                <a:pos x="1542870" y="483040"/>
              </a:cxn>
              <a:cxn ang="0">
                <a:pos x="1542870" y="497341"/>
              </a:cxn>
              <a:cxn ang="0">
                <a:pos x="1542870" y="532298"/>
              </a:cxn>
              <a:cxn ang="0">
                <a:pos x="1542870" y="640346"/>
              </a:cxn>
              <a:cxn ang="0">
                <a:pos x="1538104" y="656236"/>
              </a:cxn>
              <a:cxn ang="0">
                <a:pos x="1480901" y="1172644"/>
              </a:cxn>
              <a:cxn ang="0">
                <a:pos x="1293405" y="818308"/>
              </a:cxn>
              <a:cxn ang="0">
                <a:pos x="1185357" y="613334"/>
              </a:cxn>
              <a:cxn ang="0">
                <a:pos x="1142455" y="818308"/>
              </a:cxn>
              <a:cxn ang="0">
                <a:pos x="966082" y="613334"/>
              </a:cxn>
              <a:cxn ang="0">
                <a:pos x="885045" y="818308"/>
              </a:cxn>
              <a:cxn ang="0">
                <a:pos x="815131" y="1898793"/>
              </a:cxn>
              <a:cxn ang="0">
                <a:pos x="727739" y="1906738"/>
              </a:cxn>
              <a:cxn ang="0">
                <a:pos x="684837" y="1909916"/>
              </a:cxn>
              <a:cxn ang="0">
                <a:pos x="654647" y="1874959"/>
              </a:cxn>
              <a:cxn ang="0">
                <a:pos x="587912" y="1917861"/>
              </a:cxn>
              <a:cxn ang="0">
                <a:pos x="587912" y="1922628"/>
              </a:cxn>
              <a:cxn ang="0">
                <a:pos x="587912" y="1906738"/>
              </a:cxn>
              <a:cxn ang="0">
                <a:pos x="511642" y="1887671"/>
              </a:cxn>
              <a:cxn ang="0">
                <a:pos x="495752" y="1909916"/>
              </a:cxn>
              <a:cxn ang="0">
                <a:pos x="427428" y="1901971"/>
              </a:cxn>
              <a:cxn ang="0">
                <a:pos x="222453" y="1895616"/>
              </a:cxn>
              <a:cxn ang="0">
                <a:pos x="0" y="1922628"/>
              </a:cxn>
            </a:cxnLst>
            <a:rect l="txL" t="txT" r="txR" b="tx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rgbClr val="77933C">
              <a:alpha val="100000"/>
            </a:srgbClr>
          </a:solidFill>
          <a:ln w="9525">
            <a:noFill/>
          </a:ln>
        </p:spPr>
        <p:txBody>
          <a:bodyPr/>
          <a:lstStyle/>
          <a:p>
            <a:endParaRPr lang="fr-FR" altLang="en-US"/>
          </a:p>
        </p:txBody>
      </p:sp>
      <p:sp>
        <p:nvSpPr>
          <p:cNvPr id="13" name="Freeform 18"/>
          <p:cNvSpPr/>
          <p:nvPr/>
        </p:nvSpPr>
        <p:spPr>
          <a:xfrm>
            <a:off x="3175" y="4449763"/>
            <a:ext cx="2032000" cy="2654300"/>
          </a:xfrm>
          <a:custGeom>
            <a:avLst/>
            <a:gdLst>
              <a:gd name="txL" fmla="*/ 0 w 1279"/>
              <a:gd name="txT" fmla="*/ 0 h 1671"/>
              <a:gd name="txR" fmla="*/ 1279 w 1279"/>
              <a:gd name="txB" fmla="*/ 1671 h 1671"/>
            </a:gdLst>
            <a:ahLst/>
            <a:cxnLst>
              <a:cxn ang="17694720">
                <a:pos x="1016132" y="0"/>
              </a:cxn>
              <a:cxn ang="0">
                <a:pos x="2032263" y="1327567"/>
              </a:cxn>
              <a:cxn ang="5898240">
                <a:pos x="1016132" y="2655134"/>
              </a:cxn>
              <a:cxn ang="11796480">
                <a:pos x="0" y="1327567"/>
              </a:cxn>
              <a:cxn ang="0">
                <a:pos x="1482487" y="1569882"/>
              </a:cxn>
              <a:cxn ang="0">
                <a:pos x="1131330" y="1482490"/>
              </a:cxn>
              <a:cxn ang="0">
                <a:pos x="916822" y="1917862"/>
              </a:cxn>
              <a:cxn ang="0">
                <a:pos x="481451" y="2122836"/>
              </a:cxn>
              <a:cxn ang="0">
                <a:pos x="365458" y="821487"/>
              </a:cxn>
              <a:cxn ang="0">
                <a:pos x="308256" y="802419"/>
              </a:cxn>
              <a:cxn ang="0">
                <a:pos x="381347" y="791297"/>
              </a:cxn>
              <a:cxn ang="0">
                <a:pos x="335268" y="772229"/>
              </a:cxn>
              <a:cxn ang="0">
                <a:pos x="308256" y="764285"/>
              </a:cxn>
              <a:cxn ang="0">
                <a:pos x="305078" y="686426"/>
              </a:cxn>
              <a:cxn ang="0">
                <a:pos x="289188" y="678481"/>
              </a:cxn>
              <a:cxn ang="0">
                <a:pos x="324145" y="675303"/>
              </a:cxn>
              <a:cxn ang="0">
                <a:pos x="346390" y="675303"/>
              </a:cxn>
              <a:cxn ang="0">
                <a:pos x="370225" y="664181"/>
              </a:cxn>
              <a:cxn ang="0">
                <a:pos x="373403" y="651469"/>
              </a:cxn>
              <a:cxn ang="0">
                <a:pos x="300311" y="632402"/>
              </a:cxn>
              <a:cxn ang="0">
                <a:pos x="273299" y="602212"/>
              </a:cxn>
              <a:cxn ang="0">
                <a:pos x="266943" y="389293"/>
              </a:cxn>
              <a:cxn ang="0">
                <a:pos x="258998" y="231987"/>
              </a:cxn>
              <a:cxn ang="0">
                <a:pos x="251054" y="100104"/>
              </a:cxn>
              <a:cxn ang="0">
                <a:pos x="246287" y="0"/>
              </a:cxn>
              <a:cxn ang="0">
                <a:pos x="243109" y="0"/>
              </a:cxn>
              <a:cxn ang="0">
                <a:pos x="239931" y="103282"/>
              </a:cxn>
              <a:cxn ang="0">
                <a:pos x="235164" y="231987"/>
              </a:cxn>
              <a:cxn ang="0">
                <a:pos x="231986" y="594267"/>
              </a:cxn>
              <a:cxn ang="0">
                <a:pos x="219275" y="613334"/>
              </a:cxn>
              <a:cxn ang="0">
                <a:pos x="185907" y="637169"/>
              </a:cxn>
              <a:cxn ang="0">
                <a:pos x="127116" y="664181"/>
              </a:cxn>
              <a:cxn ang="0">
                <a:pos x="150950" y="675303"/>
              </a:cxn>
              <a:cxn ang="0">
                <a:pos x="177962" y="678481"/>
              </a:cxn>
              <a:cxn ang="0">
                <a:pos x="204974" y="678481"/>
              </a:cxn>
              <a:cxn ang="0">
                <a:pos x="189085" y="697549"/>
              </a:cxn>
              <a:cxn ang="0">
                <a:pos x="192263" y="764285"/>
              </a:cxn>
              <a:cxn ang="0">
                <a:pos x="158895" y="772229"/>
              </a:cxn>
              <a:cxn ang="0">
                <a:pos x="119171" y="791297"/>
              </a:cxn>
              <a:cxn ang="0">
                <a:pos x="192263" y="805597"/>
              </a:cxn>
              <a:cxn ang="0">
                <a:pos x="135060" y="826254"/>
              </a:cxn>
              <a:cxn ang="0">
                <a:pos x="42902" y="2118069"/>
              </a:cxn>
              <a:cxn ang="0">
                <a:pos x="200207" y="791297"/>
              </a:cxn>
              <a:cxn ang="0">
                <a:pos x="192263" y="791297"/>
              </a:cxn>
              <a:cxn ang="0">
                <a:pos x="192263" y="902523"/>
              </a:cxn>
              <a:cxn ang="0">
                <a:pos x="189085" y="1042351"/>
              </a:cxn>
              <a:cxn ang="0">
                <a:pos x="219275" y="1269570"/>
              </a:cxn>
              <a:cxn ang="0">
                <a:pos x="197029" y="1293405"/>
              </a:cxn>
              <a:cxn ang="0">
                <a:pos x="189085" y="1488845"/>
              </a:cxn>
              <a:cxn ang="0">
                <a:pos x="224042" y="1701765"/>
              </a:cxn>
              <a:cxn ang="0">
                <a:pos x="192263" y="1887672"/>
              </a:cxn>
              <a:cxn ang="0">
                <a:pos x="204974" y="1882905"/>
              </a:cxn>
              <a:cxn ang="0">
                <a:pos x="289188" y="1042351"/>
              </a:cxn>
              <a:cxn ang="0">
                <a:pos x="300311" y="1269570"/>
              </a:cxn>
              <a:cxn ang="0">
                <a:pos x="316200" y="1488845"/>
              </a:cxn>
              <a:cxn ang="0">
                <a:pos x="316200" y="1520624"/>
              </a:cxn>
              <a:cxn ang="0">
                <a:pos x="292366" y="1882905"/>
              </a:cxn>
            </a:cxnLst>
            <a:rect l="txL" t="txT" r="txR" b="tx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rgbClr val="D0DFB3">
              <a:alpha val="100000"/>
            </a:srgbClr>
          </a:solidFill>
          <a:ln w="9525">
            <a:noFill/>
          </a:ln>
        </p:spPr>
        <p:txBody>
          <a:bodyPr/>
          <a:lstStyle/>
          <a:p>
            <a:endParaRPr lang="fr-FR" altLang="en-US"/>
          </a:p>
        </p:txBody>
      </p:sp>
      <p:grpSp>
        <p:nvGrpSpPr>
          <p:cNvPr id="349198" name="Group 30"/>
          <p:cNvGrpSpPr/>
          <p:nvPr/>
        </p:nvGrpSpPr>
        <p:grpSpPr>
          <a:xfrm>
            <a:off x="0" y="6762750"/>
            <a:ext cx="12192000" cy="341313"/>
            <a:chOff x="0" y="6762307"/>
            <a:chExt cx="12191996" cy="342086"/>
          </a:xfrm>
        </p:grpSpPr>
        <p:sp>
          <p:nvSpPr>
            <p:cNvPr id="349200" name="Rectangle 31"/>
            <p:cNvSpPr/>
            <p:nvPr/>
          </p:nvSpPr>
          <p:spPr>
            <a:xfrm rot="-5399996">
              <a:off x="2876973" y="5917352"/>
              <a:ext cx="342067" cy="2031997"/>
            </a:xfrm>
            <a:prstGeom prst="rect">
              <a:avLst/>
            </a:prstGeom>
            <a:solidFill>
              <a:srgbClr val="596E2D"/>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9201" name="Rectangle 32"/>
            <p:cNvSpPr/>
            <p:nvPr/>
          </p:nvSpPr>
          <p:spPr>
            <a:xfrm rot="-5399996">
              <a:off x="4908971" y="5917352"/>
              <a:ext cx="342067" cy="2031997"/>
            </a:xfrm>
            <a:prstGeom prst="rect">
              <a:avLst/>
            </a:prstGeom>
            <a:solidFill>
              <a:srgbClr val="667F34"/>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9202" name="Rectangle 33"/>
            <p:cNvSpPr/>
            <p:nvPr/>
          </p:nvSpPr>
          <p:spPr>
            <a:xfrm rot="-5399996">
              <a:off x="6940969" y="5917361"/>
              <a:ext cx="342067" cy="2031997"/>
            </a:xfrm>
            <a:prstGeom prst="rect">
              <a:avLst/>
            </a:prstGeom>
            <a:solidFill>
              <a:srgbClr val="77933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9203" name="Rectangle 34"/>
            <p:cNvSpPr/>
            <p:nvPr/>
          </p:nvSpPr>
          <p:spPr>
            <a:xfrm rot="-5399996">
              <a:off x="8972962" y="5917347"/>
              <a:ext cx="342077" cy="2031997"/>
            </a:xfrm>
            <a:prstGeom prst="rect">
              <a:avLst/>
            </a:prstGeom>
            <a:solidFill>
              <a:srgbClr val="87A946"/>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9204" name="Rectangle 35"/>
            <p:cNvSpPr/>
            <p:nvPr/>
          </p:nvSpPr>
          <p:spPr>
            <a:xfrm rot="-5399996">
              <a:off x="11004959" y="5917347"/>
              <a:ext cx="342077" cy="2031997"/>
            </a:xfrm>
            <a:prstGeom prst="rect">
              <a:avLst/>
            </a:prstGeom>
            <a:solidFill>
              <a:srgbClr val="99B958"/>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sp>
          <p:nvSpPr>
            <p:cNvPr id="349205" name="Rectangle 36"/>
            <p:cNvSpPr/>
            <p:nvPr/>
          </p:nvSpPr>
          <p:spPr>
            <a:xfrm rot="-5399996">
              <a:off x="844969" y="5917357"/>
              <a:ext cx="342058" cy="2031997"/>
            </a:xfrm>
            <a:prstGeom prst="rect">
              <a:avLst/>
            </a:prstGeom>
            <a:solidFill>
              <a:srgbClr val="A4C16C"/>
            </a:solidFill>
            <a:ln w="9525">
              <a:noFill/>
            </a:ln>
          </p:spPr>
          <p:txBody>
            <a:bodyPr anchor="ctr" anchorCtr="1"/>
            <a:lstStyle/>
            <a:p>
              <a:pPr algn="ctr" eaLnBrk="1" hangingPunct="1"/>
              <a:endParaRPr lang="id-ID" altLang="x-none" dirty="0">
                <a:solidFill>
                  <a:srgbClr val="FFFFFF"/>
                </a:solidFill>
                <a:latin typeface="Calibri" panose="020F0502020204030204" pitchFamily="34" charset="0"/>
              </a:endParaRPr>
            </a:p>
          </p:txBody>
        </p:sp>
      </p:grpSp>
      <p:sp>
        <p:nvSpPr>
          <p:cNvPr id="21" name="TextBox 1"/>
          <p:cNvSpPr txBox="1"/>
          <p:nvPr/>
        </p:nvSpPr>
        <p:spPr>
          <a:xfrm>
            <a:off x="2742883" y="3044825"/>
            <a:ext cx="6367145" cy="768350"/>
          </a:xfrm>
          <a:prstGeom prst="rect">
            <a:avLst/>
          </a:prstGeom>
          <a:noFill/>
          <a:ln w="9525">
            <a:noFill/>
          </a:ln>
        </p:spPr>
        <p:txBody>
          <a:bodyPr wrap="none">
            <a:spAutoFit/>
          </a:bodyPr>
          <a:lstStyle/>
          <a:p>
            <a:pPr eaLnBrk="1" hangingPunct="1"/>
            <a:r>
              <a:rPr lang="fr-FR" altLang="id-ID" sz="4400" b="1" dirty="0">
                <a:solidFill>
                  <a:srgbClr val="FFFFFF"/>
                </a:solidFill>
                <a:latin typeface="Calibri" panose="020F0502020204030204" pitchFamily="34" charset="0"/>
              </a:rPr>
              <a:t>Merci pour votre attention</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900" decel="100000" fill="hold"/>
                                        <p:tgtEl>
                                          <p:spTgt spid="1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10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900" decel="100000" fill="hold"/>
                                        <p:tgtEl>
                                          <p:spTgt spid="2"/>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2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900" decel="100000" fill="hold"/>
                                        <p:tgtEl>
                                          <p:spTgt spid="12"/>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30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anim calcmode="lin" valueType="num">
                                      <p:cBhvr>
                                        <p:cTn id="26" dur="1000" fill="hold"/>
                                        <p:tgtEl>
                                          <p:spTgt spid="3"/>
                                        </p:tgtEl>
                                        <p:attrNameLst>
                                          <p:attrName>ppt_x</p:attrName>
                                        </p:attrNameLst>
                                      </p:cBhvr>
                                      <p:tavLst>
                                        <p:tav tm="0">
                                          <p:val>
                                            <p:strVal val="#ppt_x"/>
                                          </p:val>
                                        </p:tav>
                                        <p:tav tm="100000">
                                          <p:val>
                                            <p:strVal val="#ppt_x"/>
                                          </p:val>
                                        </p:tav>
                                      </p:tavLst>
                                    </p:anim>
                                    <p:anim calcmode="lin" valueType="num">
                                      <p:cBhvr>
                                        <p:cTn id="27" dur="900" decel="100000" fill="hold"/>
                                        <p:tgtEl>
                                          <p:spTgt spid="3"/>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4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900" decel="100000" fill="hold"/>
                                        <p:tgtEl>
                                          <p:spTgt spid="11"/>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50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900" decel="100000" fill="hold"/>
                                        <p:tgtEl>
                                          <p:spTgt spid="4"/>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6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900" decel="100000" fill="hold"/>
                                        <p:tgtEl>
                                          <p:spTgt spid="10"/>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7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anim calcmode="lin" valueType="num">
                                      <p:cBhvr>
                                        <p:cTn id="50" dur="1000" fill="hold"/>
                                        <p:tgtEl>
                                          <p:spTgt spid="5"/>
                                        </p:tgtEl>
                                        <p:attrNameLst>
                                          <p:attrName>ppt_x</p:attrName>
                                        </p:attrNameLst>
                                      </p:cBhvr>
                                      <p:tavLst>
                                        <p:tav tm="0">
                                          <p:val>
                                            <p:strVal val="#ppt_x"/>
                                          </p:val>
                                        </p:tav>
                                        <p:tav tm="100000">
                                          <p:val>
                                            <p:strVal val="#ppt_x"/>
                                          </p:val>
                                        </p:tav>
                                      </p:tavLst>
                                    </p:anim>
                                    <p:anim calcmode="lin" valueType="num">
                                      <p:cBhvr>
                                        <p:cTn id="51" dur="900" decel="100000" fill="hold"/>
                                        <p:tgtEl>
                                          <p:spTgt spid="5"/>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80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1000"/>
                                        <p:tgtEl>
                                          <p:spTgt spid="9"/>
                                        </p:tgtEl>
                                      </p:cBhvr>
                                    </p:animEffect>
                                    <p:anim calcmode="lin" valueType="num">
                                      <p:cBhvr>
                                        <p:cTn id="56" dur="1000" fill="hold"/>
                                        <p:tgtEl>
                                          <p:spTgt spid="9"/>
                                        </p:tgtEl>
                                        <p:attrNameLst>
                                          <p:attrName>ppt_x</p:attrName>
                                        </p:attrNameLst>
                                      </p:cBhvr>
                                      <p:tavLst>
                                        <p:tav tm="0">
                                          <p:val>
                                            <p:strVal val="#ppt_x"/>
                                          </p:val>
                                        </p:tav>
                                        <p:tav tm="100000">
                                          <p:val>
                                            <p:strVal val="#ppt_x"/>
                                          </p:val>
                                        </p:tav>
                                      </p:tavLst>
                                    </p:anim>
                                    <p:anim calcmode="lin" valueType="num">
                                      <p:cBhvr>
                                        <p:cTn id="57" dur="900" decel="100000" fill="hold"/>
                                        <p:tgtEl>
                                          <p:spTgt spid="9"/>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par>
                                <p:cTn id="59" presetID="37" presetClass="entr" presetSubtype="0" fill="hold" grpId="0" nodeType="withEffect">
                                  <p:stCondLst>
                                    <p:cond delay="900"/>
                                  </p:stCondLst>
                                  <p:childTnLst>
                                    <p:set>
                                      <p:cBhvr>
                                        <p:cTn id="60" dur="1" fill="hold">
                                          <p:stCondLst>
                                            <p:cond delay="0"/>
                                          </p:stCondLst>
                                        </p:cTn>
                                        <p:tgtEl>
                                          <p:spTgt spid="6"/>
                                        </p:tgtEl>
                                        <p:attrNameLst>
                                          <p:attrName>style.visibility</p:attrName>
                                        </p:attrNameLst>
                                      </p:cBhvr>
                                      <p:to>
                                        <p:strVal val="visible"/>
                                      </p:to>
                                    </p:set>
                                    <p:animEffect transition="in" filter="fade">
                                      <p:cBhvr>
                                        <p:cTn id="61" dur="1000"/>
                                        <p:tgtEl>
                                          <p:spTgt spid="6"/>
                                        </p:tgtEl>
                                      </p:cBhvr>
                                    </p:animEffect>
                                    <p:anim calcmode="lin" valueType="num">
                                      <p:cBhvr>
                                        <p:cTn id="62" dur="1000" fill="hold"/>
                                        <p:tgtEl>
                                          <p:spTgt spid="6"/>
                                        </p:tgtEl>
                                        <p:attrNameLst>
                                          <p:attrName>ppt_x</p:attrName>
                                        </p:attrNameLst>
                                      </p:cBhvr>
                                      <p:tavLst>
                                        <p:tav tm="0">
                                          <p:val>
                                            <p:strVal val="#ppt_x"/>
                                          </p:val>
                                        </p:tav>
                                        <p:tav tm="100000">
                                          <p:val>
                                            <p:strVal val="#ppt_x"/>
                                          </p:val>
                                        </p:tav>
                                      </p:tavLst>
                                    </p:anim>
                                    <p:anim calcmode="lin" valueType="num">
                                      <p:cBhvr>
                                        <p:cTn id="63" dur="900" decel="100000" fill="hold"/>
                                        <p:tgtEl>
                                          <p:spTgt spid="6"/>
                                        </p:tgtEl>
                                        <p:attrNameLst>
                                          <p:attrName>ppt_y</p:attrName>
                                        </p:attrNameLst>
                                      </p:cBhvr>
                                      <p:tavLst>
                                        <p:tav tm="0">
                                          <p:val>
                                            <p:strVal val="#ppt_y+1"/>
                                          </p:val>
                                        </p:tav>
                                        <p:tav tm="100000">
                                          <p:val>
                                            <p:strVal val="#ppt_y-.03"/>
                                          </p:val>
                                        </p:tav>
                                      </p:tavLst>
                                    </p:anim>
                                    <p:anim calcmode="lin" valueType="num">
                                      <p:cBhvr>
                                        <p:cTn id="64"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65" presetID="37" presetClass="entr" presetSubtype="0" fill="hold" nodeType="withEffect">
                                  <p:stCondLst>
                                    <p:cond delay="100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1000"/>
                                        <p:tgtEl>
                                          <p:spTgt spid="8"/>
                                        </p:tgtEl>
                                      </p:cBhvr>
                                    </p:animEffect>
                                    <p:anim calcmode="lin" valueType="num">
                                      <p:cBhvr>
                                        <p:cTn id="68" dur="1000" fill="hold"/>
                                        <p:tgtEl>
                                          <p:spTgt spid="8"/>
                                        </p:tgtEl>
                                        <p:attrNameLst>
                                          <p:attrName>ppt_x</p:attrName>
                                        </p:attrNameLst>
                                      </p:cBhvr>
                                      <p:tavLst>
                                        <p:tav tm="0">
                                          <p:val>
                                            <p:strVal val="#ppt_x"/>
                                          </p:val>
                                        </p:tav>
                                        <p:tav tm="100000">
                                          <p:val>
                                            <p:strVal val="#ppt_x"/>
                                          </p:val>
                                        </p:tav>
                                      </p:tavLst>
                                    </p:anim>
                                    <p:anim calcmode="lin" valueType="num">
                                      <p:cBhvr>
                                        <p:cTn id="69" dur="900" decel="100000" fill="hold"/>
                                        <p:tgtEl>
                                          <p:spTgt spid="8"/>
                                        </p:tgtEl>
                                        <p:attrNameLst>
                                          <p:attrName>ppt_y</p:attrName>
                                        </p:attrNameLst>
                                      </p:cBhvr>
                                      <p:tavLst>
                                        <p:tav tm="0">
                                          <p:val>
                                            <p:strVal val="#ppt_y+1"/>
                                          </p:val>
                                        </p:tav>
                                        <p:tav tm="100000">
                                          <p:val>
                                            <p:strVal val="#ppt_y-.03"/>
                                          </p:val>
                                        </p:tav>
                                      </p:tavLst>
                                    </p:anim>
                                    <p:anim calcmode="lin" valueType="num">
                                      <p:cBhvr>
                                        <p:cTn id="70"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71" presetID="37" presetClass="entr" presetSubtype="0" fill="hold" grpId="0" nodeType="withEffect">
                                  <p:stCondLst>
                                    <p:cond delay="1100"/>
                                  </p:stCondLst>
                                  <p:childTnLst>
                                    <p:set>
                                      <p:cBhvr>
                                        <p:cTn id="72" dur="1" fill="hold">
                                          <p:stCondLst>
                                            <p:cond delay="0"/>
                                          </p:stCondLst>
                                        </p:cTn>
                                        <p:tgtEl>
                                          <p:spTgt spid="7"/>
                                        </p:tgtEl>
                                        <p:attrNameLst>
                                          <p:attrName>style.visibility</p:attrName>
                                        </p:attrNameLst>
                                      </p:cBhvr>
                                      <p:to>
                                        <p:strVal val="visible"/>
                                      </p:to>
                                    </p:set>
                                    <p:animEffect transition="in" filter="fade">
                                      <p:cBhvr>
                                        <p:cTn id="73" dur="1000"/>
                                        <p:tgtEl>
                                          <p:spTgt spid="7"/>
                                        </p:tgtEl>
                                      </p:cBhvr>
                                    </p:animEffect>
                                    <p:anim calcmode="lin" valueType="num">
                                      <p:cBhvr>
                                        <p:cTn id="74" dur="1000" fill="hold"/>
                                        <p:tgtEl>
                                          <p:spTgt spid="7"/>
                                        </p:tgtEl>
                                        <p:attrNameLst>
                                          <p:attrName>ppt_x</p:attrName>
                                        </p:attrNameLst>
                                      </p:cBhvr>
                                      <p:tavLst>
                                        <p:tav tm="0">
                                          <p:val>
                                            <p:strVal val="#ppt_x"/>
                                          </p:val>
                                        </p:tav>
                                        <p:tav tm="100000">
                                          <p:val>
                                            <p:strVal val="#ppt_x"/>
                                          </p:val>
                                        </p:tav>
                                      </p:tavLst>
                                    </p:anim>
                                    <p:anim calcmode="lin" valueType="num">
                                      <p:cBhvr>
                                        <p:cTn id="75" dur="900" decel="100000" fill="hold"/>
                                        <p:tgtEl>
                                          <p:spTgt spid="7"/>
                                        </p:tgtEl>
                                        <p:attrNameLst>
                                          <p:attrName>ppt_y</p:attrName>
                                        </p:attrNameLst>
                                      </p:cBhvr>
                                      <p:tavLst>
                                        <p:tav tm="0">
                                          <p:val>
                                            <p:strVal val="#ppt_y+1"/>
                                          </p:val>
                                        </p:tav>
                                        <p:tav tm="100000">
                                          <p:val>
                                            <p:strVal val="#ppt_y-.03"/>
                                          </p:val>
                                        </p:tav>
                                      </p:tavLst>
                                    </p:anim>
                                    <p:anim calcmode="lin" valueType="num">
                                      <p:cBhvr>
                                        <p:cTn id="7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77" fill="hold">
                            <p:stCondLst>
                              <p:cond delay="1000"/>
                            </p:stCondLst>
                            <p:childTnLst>
                              <p:par>
                                <p:cTn id="78" presetID="10" presetClass="entr" presetSubtype="0" fill="hold" grpId="0" nodeType="after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bldLvl="0" animBg="1"/>
      <p:bldP spid="7" grpId="0" animBg="1"/>
      <p:bldP spid="2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5603</Words>
  <Application>Microsoft Office PowerPoint</Application>
  <PresentationFormat>Grand écran</PresentationFormat>
  <Paragraphs>501</Paragraphs>
  <Slides>74</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74</vt:i4>
      </vt:variant>
    </vt:vector>
  </HeadingPairs>
  <TitlesOfParts>
    <vt:vector size="82" baseType="lpstr">
      <vt:lpstr>Arial</vt:lpstr>
      <vt:lpstr>Calibri</vt:lpstr>
      <vt:lpstr>Courier New</vt:lpstr>
      <vt:lpstr>Open Sans</vt:lpstr>
      <vt:lpstr>quote-cjk-patch</vt:lpstr>
      <vt:lpstr>Segoe UI</vt:lpstr>
      <vt:lpstr>Source Sans Pro Light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AbuSina</dc:creator>
  <cp:lastModifiedBy>rim mazgout</cp:lastModifiedBy>
  <cp:revision>40</cp:revision>
  <dcterms:created xsi:type="dcterms:W3CDTF">2014-09-15T07:14:00Z</dcterms:created>
  <dcterms:modified xsi:type="dcterms:W3CDTF">2026-05-03T04:28:43Z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4F07672925BD4C6E9BB72ED00A52B9F5_12</vt:lpwstr>
  </property>
  <property fmtid="{D5CDD505-2E9C-101B-9397-08002B2CF9AE}" pid="3" name="KSOProductBuildVer">
    <vt:lpwstr>1036-12.2.0.20795</vt:lpwstr>
  </property>
</Properties>
</file>